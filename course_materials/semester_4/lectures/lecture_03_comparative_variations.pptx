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Презентация предназначена для экспертного сопоставления трех альтернативных стилистических вариаций первых трех слайдов Лекции №3.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Место лекции в курсе: Раздел 2 «Особенности термодинамики наноструктур» дисциплины «Физические основы нанотехнологий» (бакалавриат, 3 курс ГУАП). Лекция закладывает фундамент жидкофазного синтеза, устойчивости золей и наноколлоидов.</a:t>
            </a:r>
          </a:p>
          <a:p>
            <a:r>
              <a:t>2. Соответствие РПД: Темы №7 и №8 календарного плана (термодинамика границ раздела, ДЭС, теория ДЛФО).</a:t>
            </a:r>
          </a:p>
          <a:p>
            <a:r>
              <a:t>3. Обратите внимание студентов: все университетские реквизиты кафедры и преподавателя зафиксированы на титульном листе и далее на рабочих слайдах не повторяются.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Постановка проблемы: Переход к наномасштабу 1–100 нм сопровождается колоссальным ростом удельной поверхности. Это порождает 6 критических барьеров: слипание (агрегацию), гравитационный осадок, старение при хранении, сдвиговое разрушение при транспорте, сложность сепарации и несовместимость с матрицами.</a:t>
            </a:r>
          </a:p>
          <a:p>
            <a:r>
              <a:t>2. Подлинный научный эталон: Справа представлен рубиновый золь золота Майкла Фарадея (1857 г.), стабильный уже более 170 лет благодаря защитному ДЭС, в контрасте с незащищенным оксидом железа Fe3O4, скоагулировавшим в осадок.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Фокус раздела: Открываем разбор первого и фундаментального барьера — агрегации наночастиц.</a:t>
            </a:r>
          </a:p>
          <a:p>
            <a:r>
              <a:t>2. Бритва Оккама: Слайд-разделитель содержит только ключевой физический тезис в 1–2 предложениях, акцентируя внимание на избытке свободной энергии Гиббса ΔGs = σ · S &gt; 0.</a:t>
            </a:r>
          </a:p>
          <a:p>
            <a:r>
              <a:t>3. Дорожная карта: В данном блоке мы последовательно разберем геометрический взрыв поверхности, анатомию ДЭС и расчет потенциального барьера теории ДЛФО.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Вариация 2 (Инженерная инфографика): Модульная композиция с контейнером и бейджами акцентирует внимание на структурированности курса. Все реквизиты указаны однократно.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Вариация 2: Цветовые бейджи барьеров создают мгновенную визуальную навигацию по технологическим вызовам.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Вариация 2: Разделитель с акцентной карточкой тезиса и нумерованными шагами 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Вариация 3 (Deep Navy Hero): Полноэкранный темно-синий фон #002C5F обеспечивает максимальный контраст и монументальный университетский статус на широкоформатных проекторах.</a:t>
            </a:r>
          </a:p>
          <a:p>
            <a:r>
              <a:t>2. Реквизиты преподавателя и кафедры строго зафиксированы однократно на титуле.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Вариация 3: Высококонтрастная подача технологических барьеров с глубоким темно-синим акцентом в шапке и баннере вывода.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Вариация 3: Темный разделитель раздела служит мощным когнитивным переключателем внимания в потоковой лекции, подготавливая студентов к глубокому физико-математическому анализу.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показывает, что вариант T1 обеспечивает максимальную академическую строгость, а T3 — наивысший контраст.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Вариация P2 дает максимальную скорость считывания формул благодаря индивидуальным цветным бейджам.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Темный вариант S3 идеален при переходе к сложным теоретическим разделам (ДЛФО, ДЭС).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Сводная рекомендация подтверждает полную валидацию всех требований технического задания R1–R5.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ap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3017520" cy="5117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1645920"/>
            <a:ext cx="10728655" cy="27432"/>
          </a:xfrm>
          <a:prstGeom prst="rect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A6978"/>
                </a:solidFill>
                <a:latin typeface="Arial"/>
              </a:defRPr>
            </a:pPr>
            <a:r>
              <a:t>СРАВНИТЕЛЬНАЯ ЭКСПЕРТИЗА МАКЕТОВ • СЕМЕСТР 4 • ВЕХА M4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72865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2C5F"/>
                </a:solidFill>
                <a:latin typeface="Arial"/>
              </a:defRPr>
            </a:pPr>
            <a:r>
              <a:t>Сравнительный анализ дизайн-вариаций оформления первых трех слайдов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A"/>
                </a:solidFill>
                <a:latin typeface="Arial"/>
              </a:defRPr>
            </a:pPr>
            <a:r>
              <a:t>Курс «Физические основы нанотехнологий» • Лекция №3 • ГУАП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2C5F"/>
                </a:solidFill>
                <a:latin typeface="Arial"/>
              </a:defRPr>
            </a:pPr>
            <a:r>
              <a:t>Разработчик курса: доцент Попов Д.А.</a:t>
            </a:r>
          </a:p>
          <a:p>
            <a:pPr>
              <a:defRPr sz="1200">
                <a:solidFill>
                  <a:srgbClr val="5A6978"/>
                </a:solidFill>
                <a:latin typeface="Arial"/>
              </a:defRPr>
            </a:pPr>
            <a:r>
              <a:t>Кафедра №3 «Физики и нанотехнологий» ГУАП | Санкт-Петербург,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uap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3017520" cy="5117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1645920"/>
            <a:ext cx="10728655" cy="27432"/>
          </a:xfrm>
          <a:prstGeom prst="rect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A6978"/>
                </a:solidFill>
                <a:latin typeface="Arial"/>
              </a:defRPr>
            </a:pPr>
            <a:r>
              <a:t>КУРС «ФИЗИЧЕСКИЕ ОСНОВЫ НАНОТЕХНОЛОГИЙ» • 3 КУРС • ЛЕКЦИЯ №3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72865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2C5F"/>
                </a:solidFill>
                <a:latin typeface="Arial"/>
              </a:defRPr>
            </a:pPr>
            <a:r>
              <a:t>Термодинамика дисперсных систем и коллоидных растворов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AAA"/>
                </a:solidFill>
                <a:latin typeface="Arial"/>
              </a:defRPr>
            </a:pPr>
            <a:r>
              <a:rPr sz="1600" b="1">
                <a:solidFill>
                  <a:srgbClr val="005AAA"/>
                </a:solidFill>
                <a:latin typeface="Arial"/>
              </a:rPr>
              <a:t>Часть 2: Поверхностная энергия, двойной электрический слой (</a:t>
            </a:r>
            <a:r>
              <a:rPr sz="1600" b="1">
                <a:solidFill>
                  <a:srgbClr val="005AAA"/>
                </a:solidFill>
                <a:latin typeface="Arial"/>
              </a:rPr>
              <a:t>ДЭС</a:t>
            </a:r>
            <a:r>
              <a:rPr sz="1600" b="1">
                <a:solidFill>
                  <a:srgbClr val="005AAA"/>
                </a:solidFill>
                <a:latin typeface="Arial"/>
              </a:rPr>
              <a:t>) и устойчивость коллоидов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2C5F"/>
                </a:solidFill>
                <a:latin typeface="Arial"/>
              </a:defRPr>
            </a:pPr>
            <a:r>
              <a:t>Преподаватель: доцент Попов Д.А.</a:t>
            </a:r>
          </a:p>
          <a:p>
            <a:pPr>
              <a:defRPr sz="1200">
                <a:solidFill>
                  <a:srgbClr val="5A6978"/>
                </a:solidFill>
                <a:latin typeface="Arial"/>
              </a:defRPr>
            </a:pPr>
            <a:r>
              <a:t>Кафедра №3 «Физики и нанотехнологий» ГУАП | Санкт-Петербург,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921240" cy="62179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spcAft>
                <a:spcPts val="100"/>
              </a:spcAft>
              <a:defRPr sz="2100" b="1">
                <a:solidFill>
                  <a:srgbClr val="002C5F"/>
                </a:solidFill>
                <a:latin typeface="Arial"/>
              </a:defRPr>
            </a:pPr>
            <a:r>
              <a:t>Шесть технологических барьеров нанодисперсных систем</a:t>
            </a:r>
          </a:p>
          <a:p>
            <a:pPr algn="l">
              <a:defRPr sz="1150" i="1">
                <a:solidFill>
                  <a:srgbClr val="5A6978"/>
                </a:solidFill>
                <a:latin typeface="Arial"/>
              </a:defRPr>
            </a:pPr>
            <a:r>
              <a:t>Фронтальные вызовы нанотехнологий при переходе к масштабу 1–100 нм</a:t>
            </a:r>
          </a:p>
        </p:txBody>
      </p:sp>
      <p:pic>
        <p:nvPicPr>
          <p:cNvPr id="3" name="Picture 2" descr="gua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84048"/>
            <a:ext cx="1014984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969264"/>
            <a:ext cx="11094415" cy="1828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aggre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62456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856" y="132588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E70F47"/>
                </a:solidFill>
                <a:latin typeface="Arial"/>
              </a:defRPr>
            </a:pPr>
            <a:r>
              <a:t>Агрегация / Слипание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ΔGs = σ · S &gt; 0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Ван-дер-ваальсово схлопывание незащищенных частиц в монолит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edimen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362456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31335" y="132588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002C5F"/>
                </a:solidFill>
                <a:latin typeface="Arial"/>
              </a:defRPr>
            </a:pPr>
            <a:r>
              <a:t>Седиментация / Осадок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v = 2 r² Δρ g / (9 η)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Гравитационное оседание агломератов по закону Стокса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stor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16936"/>
            <a:ext cx="420624" cy="420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3856" y="288036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FF6418"/>
                </a:solidFill>
                <a:latin typeface="Arial"/>
              </a:defRPr>
            </a:pPr>
            <a:r>
              <a:t>Хранение / Старение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Sr = S∞ exp(2σVm / rRT)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Созревание Оствальда и диффузионная коалесценция золей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78892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trans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916936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31335" y="288036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9269C9"/>
                </a:solidFill>
                <a:latin typeface="Arial"/>
              </a:defRPr>
            </a:pPr>
            <a:r>
              <a:t>Транспорт / Доставка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ΔP = 8 η L Q / (π R⁴)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rPr sz="900">
                <a:solidFill>
                  <a:srgbClr val="242834"/>
                </a:solidFill>
                <a:latin typeface="Arial"/>
              </a:rPr>
              <a:t>Сдвиговая коагуляция в потоке и сжатие </a:t>
            </a:r>
            <a:r>
              <a:rPr sz="900" b="1">
                <a:solidFill>
                  <a:srgbClr val="005AAA"/>
                </a:solidFill>
                <a:latin typeface="Arial"/>
              </a:rPr>
              <a:t>ДЭС</a:t>
            </a:r>
            <a:r>
              <a:rPr sz="900">
                <a:solidFill>
                  <a:srgbClr val="242834"/>
                </a:solidFill>
                <a:latin typeface="Arial"/>
              </a:rPr>
              <a:t> при высоком сдвиге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pa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471416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443484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00BEF3"/>
                </a:solidFill>
                <a:latin typeface="Arial"/>
              </a:defRPr>
            </a:pPr>
            <a:r>
              <a:t>Сепарация / Калибровка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J = ΔP / [μ (Rm + Rp)]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Полидисперсность синтеза и забивание мембранных фильтров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434340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processabil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4471416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31335" y="443484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009A49"/>
                </a:solidFill>
                <a:latin typeface="Arial"/>
              </a:defRPr>
            </a:pPr>
            <a:r>
              <a:t>Технологичность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σтг = σтж + σжг cos θ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Смачиваемость, реология и интеграция в композитную матрицу</a:t>
            </a:r>
          </a:p>
        </p:txBody>
      </p:sp>
      <p:pic>
        <p:nvPicPr>
          <p:cNvPr id="23" name="Picture 22" descr="fig_01_split_faraday_vs_fe3o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1234440"/>
            <a:ext cx="5559552" cy="31272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80760" y="5349240"/>
            <a:ext cx="5559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A6978"/>
                </a:solidFill>
                <a:latin typeface="Arial"/>
              </a:defRPr>
            </a:pPr>
            <a:r>
              <a:rPr sz="1000" i="1">
                <a:solidFill>
                  <a:srgbClr val="5A6978"/>
                </a:solidFill>
                <a:latin typeface="Arial"/>
              </a:rPr>
              <a:t>Научная верификация: Золь золота Фарадея (1857 г.) vs Агрегат наночастиц Fe3O4 (сканирующая и просвечивающая ЭМ — </a:t>
            </a:r>
            <a:r>
              <a:rPr sz="1000" i="1" b="1">
                <a:solidFill>
                  <a:srgbClr val="005AAA"/>
                </a:solidFill>
                <a:latin typeface="Arial"/>
              </a:rPr>
              <a:t>СЭМ</a:t>
            </a:r>
            <a:r>
              <a:rPr sz="1000" i="1">
                <a:solidFill>
                  <a:srgbClr val="5A6978"/>
                </a:solidFill>
                <a:latin typeface="Arial"/>
              </a:rPr>
              <a:t>/</a:t>
            </a:r>
            <a:r>
              <a:rPr sz="1000" i="1" b="1">
                <a:solidFill>
                  <a:srgbClr val="005AAA"/>
                </a:solidFill>
                <a:latin typeface="Arial"/>
              </a:rPr>
              <a:t>ПЭМ</a:t>
            </a:r>
            <a:r>
              <a:rPr sz="1000" i="1">
                <a:solidFill>
                  <a:srgbClr val="5A6978"/>
                </a:solidFill>
                <a:latin typeface="Arial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EEF4FA"/>
          </a:solidFill>
          <a:ln w="1524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[ВЫВОД] Без электростатической или стерической защиты любая наносистема неизбежно разрушается.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con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32588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2761488"/>
            <a:ext cx="94484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70F47"/>
                </a:solidFill>
                <a:latin typeface="Arial"/>
              </a:defRPr>
            </a:pPr>
            <a:r>
              <a:t>ТЕХНОЛОГИЧЕСКИЙ БАРЬЕР №1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27248"/>
            <a:ext cx="10362895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002C5F"/>
                </a:solidFill>
                <a:latin typeface="Arial"/>
              </a:defRPr>
            </a:pPr>
            <a:r>
              <a:t>Слипание и термодинамическая агрегация наночастиц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78224"/>
            <a:ext cx="10180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>
                <a:solidFill>
                  <a:srgbClr val="242834"/>
                </a:solidFill>
                <a:latin typeface="Arial"/>
              </a:defRPr>
            </a:pPr>
            <a:r>
              <a:t>Колоссальная удельная поверхность создает избыточную свободную энергию ΔGs = σ · S &gt; 0, стремящуюся скоагулировать незащищенный золь в плотный осадок.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78127" y="5074920"/>
            <a:ext cx="29260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150" b="1">
                <a:solidFill>
                  <a:srgbClr val="002C5F"/>
                </a:solidFill>
                <a:latin typeface="Arial"/>
              </a:defRPr>
            </a:pPr>
            <a:r>
              <a:t>1. Геометрия поверхности и термодинамика Гиббса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5074920"/>
            <a:ext cx="29260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150" b="1">
                <a:solidFill>
                  <a:srgbClr val="002C5F"/>
                </a:solidFill>
                <a:latin typeface="Arial"/>
              </a:defRPr>
            </a:pPr>
            <a:r>
              <a:rPr sz="1150" b="1">
                <a:solidFill>
                  <a:srgbClr val="002C5F"/>
                </a:solidFill>
                <a:latin typeface="Arial"/>
              </a:rPr>
              <a:t>2. Строение мицеллы и двойной электрический слой (</a:t>
            </a:r>
            <a:r>
              <a:rPr sz="1150" b="1">
                <a:solidFill>
                  <a:srgbClr val="005AAA"/>
                </a:solidFill>
                <a:latin typeface="Arial"/>
              </a:rPr>
              <a:t>ДЭС</a:t>
            </a:r>
            <a:r>
              <a:rPr sz="1150" b="1">
                <a:solidFill>
                  <a:srgbClr val="002C5F"/>
                </a:solidFill>
                <a:latin typeface="Arial"/>
              </a:rPr>
              <a:t>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87487" y="5074920"/>
            <a:ext cx="2926080" cy="457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150" b="1">
                <a:solidFill>
                  <a:srgbClr val="002C5F"/>
                </a:solidFill>
                <a:latin typeface="Arial"/>
              </a:defRPr>
            </a:pPr>
            <a:r>
              <a:rPr sz="1150" b="1">
                <a:solidFill>
                  <a:srgbClr val="002C5F"/>
                </a:solidFill>
                <a:latin typeface="Arial"/>
              </a:rPr>
              <a:t>3. Барьер Дерягина–Ландау–Фервея–Овербека (</a:t>
            </a:r>
            <a:r>
              <a:rPr sz="1150" b="1">
                <a:solidFill>
                  <a:srgbClr val="005AAA"/>
                </a:solidFill>
                <a:latin typeface="Arial"/>
              </a:rPr>
              <a:t>ДЛФО</a:t>
            </a:r>
            <a:r>
              <a:rPr sz="1150" b="1">
                <a:solidFill>
                  <a:srgbClr val="002C5F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uap_logo_extra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77240"/>
            <a:ext cx="2926080" cy="49626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35040" y="777240"/>
            <a:ext cx="5120640" cy="420624"/>
          </a:xfrm>
          <a:prstGeom prst="roundRect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КУРС «ФИЗИЧЕСКИЕ ОСНОВЫ НАНОТЕХНОЛОГИЙ» • 3 КУРС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62895" cy="27432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02C5F"/>
                </a:solidFill>
                <a:latin typeface="Arial"/>
              </a:defRPr>
            </a:pPr>
            <a:r>
              <a:t>Термодинамика дисперсных систем и коллоидных растворов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9601200" cy="50292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00B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50" b="1">
                <a:solidFill>
                  <a:srgbClr val="005AAA"/>
                </a:solidFill>
                <a:latin typeface="Arial"/>
              </a:defRPr>
            </a:pPr>
            <a:r>
              <a:rPr sz="1350" b="1">
                <a:solidFill>
                  <a:srgbClr val="005AAA"/>
                </a:solidFill>
                <a:latin typeface="Arial"/>
              </a:rPr>
              <a:t>  Часть 2: Поверхностная энергия, двойной электрический слой (</a:t>
            </a:r>
            <a:r>
              <a:rPr sz="1350" b="1">
                <a:solidFill>
                  <a:srgbClr val="005AAA"/>
                </a:solidFill>
                <a:latin typeface="Arial"/>
              </a:rPr>
              <a:t>ДЭС</a:t>
            </a:r>
            <a:r>
              <a:rPr sz="1350" b="1">
                <a:solidFill>
                  <a:srgbClr val="005AAA"/>
                </a:solidFill>
                <a:latin typeface="Arial"/>
              </a:rPr>
              <a:t>) и устойчивость коллоидов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1036289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2C5F"/>
                </a:solidFill>
                <a:latin typeface="Arial"/>
              </a:defRPr>
            </a:pPr>
            <a:r>
              <a:t>Преподаватель: доцент Попов Д.А.</a:t>
            </a:r>
          </a:p>
          <a:p>
            <a:pPr>
              <a:spcBef>
                <a:spcPts val="400"/>
              </a:spcBef>
              <a:defRPr sz="1200">
                <a:solidFill>
                  <a:srgbClr val="5A6978"/>
                </a:solidFill>
                <a:latin typeface="Arial"/>
              </a:defRPr>
            </a:pPr>
            <a:r>
              <a:t>Кафедра №3 «Физики и нанотехнологий» ГУАП | Санкт-Петербург, 2026</a:t>
            </a:r>
          </a:p>
          <a:p>
            <a:pPr>
              <a:spcBef>
                <a:spcPts val="600"/>
              </a:spcBef>
              <a:defRPr sz="1100" b="1">
                <a:solidFill>
                  <a:srgbClr val="009A49"/>
                </a:solidFill>
                <a:latin typeface="Arial"/>
              </a:defRPr>
            </a:pPr>
            <a:r>
              <a:t>Статус дисциплины: Обязательный общепрофессиональный модуль бакалавриата (03.03.01)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921240" cy="62179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spcAft>
                <a:spcPts val="100"/>
              </a:spcAft>
              <a:defRPr sz="2100" b="1">
                <a:solidFill>
                  <a:srgbClr val="002C5F"/>
                </a:solidFill>
                <a:latin typeface="Arial"/>
              </a:defRPr>
            </a:pPr>
            <a:r>
              <a:t>Шесть технологических барьеров нанодисперсных систем</a:t>
            </a:r>
          </a:p>
          <a:p>
            <a:pPr algn="l">
              <a:defRPr sz="1150" i="1">
                <a:solidFill>
                  <a:srgbClr val="5A6978"/>
                </a:solidFill>
                <a:latin typeface="Arial"/>
              </a:defRPr>
            </a:pPr>
            <a:r>
              <a:t>Инфографическая карта физических вызовов и управляющих уравнений наноматериалов</a:t>
            </a:r>
          </a:p>
        </p:txBody>
      </p:sp>
      <p:pic>
        <p:nvPicPr>
          <p:cNvPr id="3" name="Picture 2" descr="gua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84048"/>
            <a:ext cx="1014984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969264"/>
            <a:ext cx="11094415" cy="1828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307592"/>
            <a:ext cx="2414015" cy="219456"/>
          </a:xfrm>
          <a:prstGeom prst="roundRect">
            <a:avLst/>
          </a:prstGeom>
          <a:solidFill>
            <a:srgbClr val="E70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БАРЬЕР 1: СЛИПАНИЕ</a:t>
            </a:r>
          </a:p>
        </p:txBody>
      </p:sp>
      <p:pic>
        <p:nvPicPr>
          <p:cNvPr id="7" name="Picture 6" descr="icon_aggre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2144" y="1563624"/>
            <a:ext cx="1883663" cy="101498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002C5F"/>
                </a:solidFill>
                <a:latin typeface="Arial"/>
              </a:defRPr>
            </a:pPr>
            <a:r>
              <a:t>ΔGs = σ · S &gt; 0</a:t>
            </a:r>
          </a:p>
          <a:p>
            <a:pPr>
              <a:spcBef>
                <a:spcPts val="200"/>
              </a:spcBef>
              <a:defRPr sz="880">
                <a:solidFill>
                  <a:srgbClr val="242834"/>
                </a:solidFill>
                <a:latin typeface="Arial"/>
              </a:defRPr>
            </a:pPr>
            <a:r>
              <a:t>Ван-дер-ваальсово схлопывание незащищенных частиц в монолит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3444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307592"/>
            <a:ext cx="2414015" cy="219456"/>
          </a:xfrm>
          <a:prstGeom prst="round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БАРЬЕР 2: ОСАДОК</a:t>
            </a:r>
          </a:p>
        </p:txBody>
      </p:sp>
      <p:pic>
        <p:nvPicPr>
          <p:cNvPr id="11" name="Picture 10" descr="icon_sedimen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00200"/>
            <a:ext cx="438912" cy="438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49624" y="1563624"/>
            <a:ext cx="1883663" cy="101498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002C5F"/>
                </a:solidFill>
                <a:latin typeface="Arial"/>
              </a:defRPr>
            </a:pPr>
            <a:r>
              <a:t>v = 2 r² Δρ g / (9 η)</a:t>
            </a:r>
          </a:p>
          <a:p>
            <a:pPr>
              <a:spcBef>
                <a:spcPts val="200"/>
              </a:spcBef>
              <a:defRPr sz="880">
                <a:solidFill>
                  <a:srgbClr val="242834"/>
                </a:solidFill>
                <a:latin typeface="Arial"/>
              </a:defRPr>
            </a:pPr>
            <a:r>
              <a:t>Гравитационное оседание агломератов по закону Стокса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862072"/>
            <a:ext cx="2414015" cy="219456"/>
          </a:xfrm>
          <a:prstGeom prst="roundRect">
            <a:avLst/>
          </a:prstGeom>
          <a:solidFill>
            <a:srgbClr val="FF6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БАРЬЕР 3: СТАРЕНИЕ</a:t>
            </a:r>
          </a:p>
        </p:txBody>
      </p:sp>
      <p:pic>
        <p:nvPicPr>
          <p:cNvPr id="15" name="Picture 14" descr="icon_stor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79"/>
            <a:ext cx="438912" cy="4389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144" y="3118103"/>
            <a:ext cx="1883663" cy="101498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002C5F"/>
                </a:solidFill>
                <a:latin typeface="Arial"/>
              </a:defRPr>
            </a:pPr>
            <a:r>
              <a:t>Sr = S∞ exp(2σVm / rRT)</a:t>
            </a:r>
          </a:p>
          <a:p>
            <a:pPr>
              <a:spcBef>
                <a:spcPts val="200"/>
              </a:spcBef>
              <a:defRPr sz="880">
                <a:solidFill>
                  <a:srgbClr val="242834"/>
                </a:solidFill>
                <a:latin typeface="Arial"/>
              </a:defRPr>
            </a:pPr>
            <a:r>
              <a:t>Созревание Оствальда и диффузионная коалесценция золей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78892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19272" y="2862072"/>
            <a:ext cx="2414015" cy="219456"/>
          </a:xfrm>
          <a:prstGeom prst="roundRect">
            <a:avLst/>
          </a:prstGeom>
          <a:solidFill>
            <a:srgbClr val="926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БАРЬЕР 4: ТРАНСПОРТ</a:t>
            </a:r>
          </a:p>
        </p:txBody>
      </p:sp>
      <p:pic>
        <p:nvPicPr>
          <p:cNvPr id="19" name="Picture 18" descr="icon_trans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154679"/>
            <a:ext cx="438912" cy="4389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49624" y="3118103"/>
            <a:ext cx="1883663" cy="101498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002C5F"/>
                </a:solidFill>
                <a:latin typeface="Arial"/>
              </a:defRPr>
            </a:pPr>
            <a:r>
              <a:t>ΔP = 8 η L Q / (π R⁴)</a:t>
            </a:r>
          </a:p>
          <a:p>
            <a:pPr>
              <a:spcBef>
                <a:spcPts val="200"/>
              </a:spcBef>
              <a:defRPr sz="880">
                <a:solidFill>
                  <a:srgbClr val="242834"/>
                </a:solidFill>
                <a:latin typeface="Arial"/>
              </a:defRPr>
            </a:pPr>
            <a:r>
              <a:rPr sz="880">
                <a:solidFill>
                  <a:srgbClr val="242834"/>
                </a:solidFill>
                <a:latin typeface="Arial"/>
              </a:rPr>
              <a:t>Сдвиговая коагуляция в потоке и сжатие </a:t>
            </a:r>
            <a:r>
              <a:rPr sz="880" b="1">
                <a:solidFill>
                  <a:srgbClr val="005AAA"/>
                </a:solidFill>
                <a:latin typeface="Arial"/>
              </a:rPr>
              <a:t>ДЭС</a:t>
            </a:r>
            <a:r>
              <a:rPr sz="880">
                <a:solidFill>
                  <a:srgbClr val="242834"/>
                </a:solidFill>
                <a:latin typeface="Arial"/>
              </a:rPr>
              <a:t> при высоком сдвиге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4416552"/>
            <a:ext cx="2414015" cy="219456"/>
          </a:xfrm>
          <a:prstGeom prst="roundRect">
            <a:avLst/>
          </a:prstGeom>
          <a:solidFill>
            <a:srgbClr val="00B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БАРЬЕР 5: СЕПАРАЦИЯ</a:t>
            </a:r>
          </a:p>
        </p:txBody>
      </p:sp>
      <p:pic>
        <p:nvPicPr>
          <p:cNvPr id="23" name="Picture 22" descr="icon_sepa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709160"/>
            <a:ext cx="438912" cy="4389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144" y="4672584"/>
            <a:ext cx="1883663" cy="101498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002C5F"/>
                </a:solidFill>
                <a:latin typeface="Arial"/>
              </a:defRPr>
            </a:pPr>
            <a:r>
              <a:t>J = ΔP / [μ (Rm + Rp)]</a:t>
            </a:r>
          </a:p>
          <a:p>
            <a:pPr>
              <a:spcBef>
                <a:spcPts val="200"/>
              </a:spcBef>
              <a:defRPr sz="880">
                <a:solidFill>
                  <a:srgbClr val="242834"/>
                </a:solidFill>
                <a:latin typeface="Arial"/>
              </a:defRPr>
            </a:pPr>
            <a:r>
              <a:t>Полидисперсность синтеза и забивание мембранных фильтров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34340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19272" y="4416552"/>
            <a:ext cx="2414015" cy="219456"/>
          </a:xfrm>
          <a:prstGeom prst="roundRect">
            <a:avLst/>
          </a:prstGeom>
          <a:solidFill>
            <a:srgbClr val="009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БАРЬЕР 6: ФОРМУЛЯЦИЯ</a:t>
            </a:r>
          </a:p>
        </p:txBody>
      </p:sp>
      <p:pic>
        <p:nvPicPr>
          <p:cNvPr id="27" name="Picture 26" descr="icon_processabil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4709160"/>
            <a:ext cx="438912" cy="438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49624" y="4672584"/>
            <a:ext cx="1883663" cy="101498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50" b="1">
                <a:solidFill>
                  <a:srgbClr val="002C5F"/>
                </a:solidFill>
                <a:latin typeface="Arial"/>
              </a:defRPr>
            </a:pPr>
            <a:r>
              <a:t>σтг = σтж + σжг cos θ</a:t>
            </a:r>
          </a:p>
          <a:p>
            <a:pPr>
              <a:spcBef>
                <a:spcPts val="200"/>
              </a:spcBef>
              <a:defRPr sz="880">
                <a:solidFill>
                  <a:srgbClr val="242834"/>
                </a:solidFill>
                <a:latin typeface="Arial"/>
              </a:defRPr>
            </a:pPr>
            <a:r>
              <a:t>Смачиваемость, реология и интеграция в композитную матрицу</a:t>
            </a:r>
          </a:p>
        </p:txBody>
      </p:sp>
      <p:pic>
        <p:nvPicPr>
          <p:cNvPr id="29" name="Picture 28" descr="fig_01_split_faraday_vs_fe3o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1234440"/>
            <a:ext cx="5559552" cy="31272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80760" y="5349240"/>
            <a:ext cx="555955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5A6978"/>
                </a:solidFill>
                <a:latin typeface="Arial"/>
              </a:defRPr>
            </a:pPr>
            <a:r>
              <a:rPr sz="950" i="1">
                <a:solidFill>
                  <a:srgbClr val="5A6978"/>
                </a:solidFill>
                <a:latin typeface="Arial"/>
              </a:rPr>
              <a:t>Научная верификация: Колба золя Au Фарадея 1857 г. (слева) vs Агрегация Fe3O4 (сканирующая и просвечивающая ЭМ — </a:t>
            </a:r>
            <a:r>
              <a:rPr sz="950" i="1" b="1">
                <a:solidFill>
                  <a:srgbClr val="005AAA"/>
                </a:solidFill>
                <a:latin typeface="Arial"/>
              </a:rPr>
              <a:t>СЭМ</a:t>
            </a:r>
            <a:r>
              <a:rPr sz="950" i="1">
                <a:solidFill>
                  <a:srgbClr val="5A6978"/>
                </a:solidFill>
                <a:latin typeface="Arial"/>
              </a:rPr>
              <a:t>/</a:t>
            </a:r>
            <a:r>
              <a:rPr sz="950" i="1" b="1">
                <a:solidFill>
                  <a:srgbClr val="005AAA"/>
                </a:solidFill>
                <a:latin typeface="Arial"/>
              </a:rPr>
              <a:t>ПЭМ</a:t>
            </a:r>
            <a:r>
              <a:rPr sz="950" i="1">
                <a:solidFill>
                  <a:srgbClr val="5A6978"/>
                </a:solidFill>
                <a:latin typeface="Arial"/>
              </a:rPr>
              <a:t>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EEF4FA"/>
          </a:solidFill>
          <a:ln w="1524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[ВЫВОД] Без электростатической или стерической защиты любая наносистема неизбежно разрушается.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58384" y="1005840"/>
            <a:ext cx="1463040" cy="1463040"/>
          </a:xfrm>
          <a:prstGeom prst="ellipse">
            <a:avLst/>
          </a:prstGeom>
          <a:solidFill>
            <a:srgbClr val="EEF4FA"/>
          </a:solidFill>
          <a:ln w="25400">
            <a:solidFill>
              <a:srgbClr val="00B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4" y="1097280"/>
            <a:ext cx="1280160" cy="1280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023360" y="2697480"/>
            <a:ext cx="4144975" cy="365760"/>
          </a:xfrm>
          <a:prstGeom prst="roundRect">
            <a:avLst/>
          </a:prstGeom>
          <a:solidFill>
            <a:srgbClr val="E70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ТЕХНОЛОГИЧЕСКИЙ БАРЬЕР №1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2C5F"/>
                </a:solidFill>
                <a:latin typeface="Arial"/>
              </a:defRPr>
            </a:pPr>
            <a:r>
              <a:t>Слипание и термодинамическая агрегация наночастиц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3931920"/>
            <a:ext cx="9265615" cy="8686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2C5F"/>
                </a:solidFill>
                <a:latin typeface="Arial"/>
              </a:defRPr>
            </a:pPr>
            <a:r>
              <a:t>Колоссальная удельная поверхность создает избыточную свободную энергию ΔGs = σ · S &gt; 0, стремящуюся скоагулировать незащищенный золь в плотный осадок.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9487" y="5166360"/>
            <a:ext cx="3291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C5F"/>
                </a:solidFill>
                <a:latin typeface="Arial"/>
              </a:defRPr>
            </a:pPr>
            <a:r>
              <a:t>[01] Геометрия поверхности и термодинамика Гиббса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927" y="5166360"/>
            <a:ext cx="3291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C5F"/>
                </a:solidFill>
                <a:latin typeface="Arial"/>
              </a:defRPr>
            </a:pPr>
            <a:r>
              <a:rPr sz="1100" b="1">
                <a:solidFill>
                  <a:srgbClr val="002C5F"/>
                </a:solidFill>
                <a:latin typeface="Arial"/>
              </a:rPr>
              <a:t>[02] Строение мицеллы и двойного слоя (</a:t>
            </a:r>
            <a:r>
              <a:rPr sz="1100" b="1">
                <a:solidFill>
                  <a:srgbClr val="005AAA"/>
                </a:solidFill>
                <a:latin typeface="Arial"/>
              </a:rPr>
              <a:t>ДЭС</a:t>
            </a:r>
            <a:r>
              <a:rPr sz="1100" b="1">
                <a:solidFill>
                  <a:srgbClr val="002C5F"/>
                </a:solidFill>
                <a:latin typeface="Arial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0367" y="5166360"/>
            <a:ext cx="3291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C5F"/>
                </a:solidFill>
                <a:latin typeface="Arial"/>
              </a:defRPr>
            </a:pPr>
            <a:r>
              <a:rPr sz="1100" b="1">
                <a:solidFill>
                  <a:srgbClr val="002C5F"/>
                </a:solidFill>
                <a:latin typeface="Arial"/>
              </a:rPr>
              <a:t>[03] Барьер Дерягина–Ландау–Фервея–Овербека (</a:t>
            </a:r>
            <a:r>
              <a:rPr sz="1100" b="1">
                <a:solidFill>
                  <a:srgbClr val="005AAA"/>
                </a:solidFill>
                <a:latin typeface="Arial"/>
              </a:rPr>
              <a:t>ДЛФО</a:t>
            </a:r>
            <a:r>
              <a:rPr sz="1100" b="1">
                <a:solidFill>
                  <a:srgbClr val="002C5F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ua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85800"/>
            <a:ext cx="3017520" cy="51177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645920"/>
            <a:ext cx="10728655" cy="27432"/>
          </a:xfrm>
          <a:prstGeom prst="rect">
            <a:avLst/>
          </a:prstGeom>
          <a:solidFill>
            <a:srgbClr val="00B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CDE6"/>
                </a:solidFill>
                <a:latin typeface="Arial"/>
              </a:defRPr>
            </a:pPr>
            <a:r>
              <a:t>КУРС «ФИЗИЧЕСКИЕ ОСНОВЫ НАНОТЕХНОЛОГИЙ» • 3 КУРС • ЛЕКЦИЯ №3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072865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Термодинамика дисперсных систем и коллоидных растворов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BEF3"/>
                </a:solidFill>
                <a:latin typeface="Arial"/>
              </a:defRPr>
            </a:pPr>
            <a:r>
              <a:rPr sz="1600" b="1">
                <a:solidFill>
                  <a:srgbClr val="00BEF3"/>
                </a:solidFill>
                <a:latin typeface="Arial"/>
              </a:rPr>
              <a:t>Часть 2: Поверхностная энергия, двойной электрический слой (</a:t>
            </a:r>
            <a:r>
              <a:rPr sz="1600" b="1">
                <a:solidFill>
                  <a:srgbClr val="005AAA"/>
                </a:solidFill>
                <a:latin typeface="Arial"/>
              </a:rPr>
              <a:t>ДЭС</a:t>
            </a:r>
            <a:r>
              <a:rPr sz="1600" b="1">
                <a:solidFill>
                  <a:srgbClr val="00BEF3"/>
                </a:solidFill>
                <a:latin typeface="Arial"/>
              </a:rPr>
              <a:t>) и устойчивость коллоидов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Arial"/>
              </a:defRPr>
            </a:pPr>
            <a:r>
              <a:t>Преподаватель: доцент Попов Д.А.</a:t>
            </a:r>
          </a:p>
          <a:p>
            <a:pPr>
              <a:defRPr sz="1200">
                <a:solidFill>
                  <a:srgbClr val="B4CDE6"/>
                </a:solidFill>
                <a:latin typeface="Arial"/>
              </a:defRPr>
            </a:pPr>
            <a:r>
              <a:t>Кафедра №3 «Физики и нанотехнологий» ГУАП | Санкт-Петербург,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921240" cy="62179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spcAft>
                <a:spcPts val="100"/>
              </a:spcAft>
              <a:defRPr sz="2100" b="1">
                <a:solidFill>
                  <a:srgbClr val="002C5F"/>
                </a:solidFill>
                <a:latin typeface="Arial"/>
              </a:defRPr>
            </a:pPr>
            <a:r>
              <a:t>Шесть технологических барьеров нанодисперсных систем</a:t>
            </a:r>
          </a:p>
          <a:p>
            <a:pPr algn="l">
              <a:defRPr sz="1150" i="1">
                <a:solidFill>
                  <a:srgbClr val="5A6978"/>
                </a:solidFill>
                <a:latin typeface="Arial"/>
              </a:defRPr>
            </a:pPr>
            <a:r>
              <a:t>Фронтальные вызовы нанотехнологий при переходе к масштабу 1–100 нм</a:t>
            </a:r>
          </a:p>
        </p:txBody>
      </p:sp>
      <p:pic>
        <p:nvPicPr>
          <p:cNvPr id="3" name="Picture 2" descr="gua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84048"/>
            <a:ext cx="1014984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969264"/>
            <a:ext cx="11094415" cy="1828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aggre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62456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856" y="132588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E70F47"/>
                </a:solidFill>
                <a:latin typeface="Arial"/>
              </a:defRPr>
            </a:pPr>
            <a:r>
              <a:t>Агрегация / Слипание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ΔGs = σ · S &gt; 0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Ван-дер-ваальсово схлопывание незащищенных частиц в монолит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3444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sediment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362456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31335" y="132588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002C5F"/>
                </a:solidFill>
                <a:latin typeface="Arial"/>
              </a:defRPr>
            </a:pPr>
            <a:r>
              <a:t>Седиментация / Осадок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v = 2 r² Δρ g / (9 η)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Гравитационное оседание агломератов по закону Стокса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stor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16936"/>
            <a:ext cx="420624" cy="4206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33856" y="288036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FF6418"/>
                </a:solidFill>
                <a:latin typeface="Arial"/>
              </a:defRPr>
            </a:pPr>
            <a:r>
              <a:t>Хранение / Старение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Sr = S∞ exp(2σVm / rRT)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Созревание Оствальда и диффузионная коалесценция золей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78892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_trans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2916936"/>
            <a:ext cx="420624" cy="4206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31335" y="288036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9269C9"/>
                </a:solidFill>
                <a:latin typeface="Arial"/>
              </a:defRPr>
            </a:pPr>
            <a:r>
              <a:t>Транспорт / Доставка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ΔP = 8 η L Q / (π R⁴)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rPr sz="900">
                <a:solidFill>
                  <a:srgbClr val="242834"/>
                </a:solidFill>
                <a:latin typeface="Arial"/>
              </a:rPr>
              <a:t>Сдвиговая коагуляция в потоке и сжатие </a:t>
            </a:r>
            <a:r>
              <a:rPr sz="900" b="1">
                <a:solidFill>
                  <a:srgbClr val="005AAA"/>
                </a:solidFill>
                <a:latin typeface="Arial"/>
              </a:rPr>
              <a:t>ДЭС</a:t>
            </a:r>
            <a:r>
              <a:rPr sz="900">
                <a:solidFill>
                  <a:srgbClr val="242834"/>
                </a:solidFill>
                <a:latin typeface="Arial"/>
              </a:rPr>
              <a:t> при высоком сдвиге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4340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epa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471416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33856" y="443484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00BEF3"/>
                </a:solidFill>
                <a:latin typeface="Arial"/>
              </a:defRPr>
            </a:pPr>
            <a:r>
              <a:t>Сепарация / Калибровка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J = ΔP / [μ (Rm + Rp)]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Полидисперсность синтеза и забивание мембранных фильтров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46120" y="4343400"/>
            <a:ext cx="2560320" cy="14173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processabil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5848" y="4471416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31335" y="4434840"/>
            <a:ext cx="1901952" cy="1234440"/>
          </a:xfrm>
          <a:prstGeom prst="rect">
            <a:avLst/>
          </a:prstGeom>
          <a:noFill/>
        </p:spPr>
        <p:txBody>
          <a:bodyPr wrap="square" anchor="t" tIns="0" lIns="0">
            <a:spAutoFit/>
          </a:bodyPr>
          <a:lstStyle/>
          <a:p>
            <a:pPr>
              <a:defRPr sz="1100" b="1">
                <a:solidFill>
                  <a:srgbClr val="009A49"/>
                </a:solidFill>
                <a:latin typeface="Arial"/>
              </a:defRPr>
            </a:pPr>
            <a:r>
              <a:t>Технологичность</a:t>
            </a:r>
          </a:p>
          <a:p>
            <a:pPr>
              <a:spcBef>
                <a:spcPts val="200"/>
              </a:spcBef>
              <a:defRPr sz="1000" b="1">
                <a:solidFill>
                  <a:srgbClr val="002C5F"/>
                </a:solidFill>
                <a:latin typeface="Arial"/>
              </a:defRPr>
            </a:pPr>
            <a:r>
              <a:t>σтг = σтж + σжг cos θ</a:t>
            </a:r>
          </a:p>
          <a:p>
            <a:pPr>
              <a:spcBef>
                <a:spcPts val="200"/>
              </a:spcBef>
              <a:defRPr sz="900">
                <a:solidFill>
                  <a:srgbClr val="242834"/>
                </a:solidFill>
                <a:latin typeface="Arial"/>
              </a:defRPr>
            </a:pPr>
            <a:r>
              <a:t>Смачиваемость, реология и интеграция в композитную матрицу</a:t>
            </a:r>
          </a:p>
        </p:txBody>
      </p:sp>
      <p:pic>
        <p:nvPicPr>
          <p:cNvPr id="23" name="Picture 22" descr="fig_01_split_faraday_vs_fe3o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1234440"/>
            <a:ext cx="5559552" cy="31272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80760" y="5349240"/>
            <a:ext cx="5559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5A6978"/>
                </a:solidFill>
                <a:latin typeface="Arial"/>
              </a:defRPr>
            </a:pPr>
            <a:r>
              <a:rPr sz="1000" i="1">
                <a:solidFill>
                  <a:srgbClr val="5A6978"/>
                </a:solidFill>
                <a:latin typeface="Arial"/>
              </a:rPr>
              <a:t>Научная верификация: Золь золота Фарадея (1857 г.) vs Агрегат наночастиц Fe3O4 (сканирующая и просвечивающая ЭМ — </a:t>
            </a:r>
            <a:r>
              <a:rPr sz="1000" i="1" b="1">
                <a:solidFill>
                  <a:srgbClr val="005AAA"/>
                </a:solidFill>
                <a:latin typeface="Arial"/>
              </a:rPr>
              <a:t>СЭМ</a:t>
            </a:r>
            <a:r>
              <a:rPr sz="1000" i="1">
                <a:solidFill>
                  <a:srgbClr val="5A6978"/>
                </a:solidFill>
                <a:latin typeface="Arial"/>
              </a:rPr>
              <a:t>/</a:t>
            </a:r>
            <a:r>
              <a:rPr sz="1000" i="1" b="1">
                <a:solidFill>
                  <a:srgbClr val="005AAA"/>
                </a:solidFill>
                <a:latin typeface="Arial"/>
              </a:rPr>
              <a:t>ПЭМ</a:t>
            </a:r>
            <a:r>
              <a:rPr sz="1000" i="1">
                <a:solidFill>
                  <a:srgbClr val="5A6978"/>
                </a:solidFill>
                <a:latin typeface="Arial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002C5F"/>
          </a:solidFill>
          <a:ln w="19050">
            <a:solidFill>
              <a:srgbClr val="00B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[ВЫВОД] Без электростатической или стерической защиты любая наносистема неизбежно разрушается.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aggre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325880"/>
            <a:ext cx="1280160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761488"/>
            <a:ext cx="944849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E70F47"/>
                </a:solidFill>
                <a:latin typeface="Arial"/>
              </a:defRPr>
            </a:pPr>
            <a:r>
              <a:t>ТЕХНОЛОГИЧЕСКИЙ БАРЬЕР №1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362895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Слипание и термодинамическая агрегация наночастиц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78224"/>
            <a:ext cx="101800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>
                <a:solidFill>
                  <a:srgbClr val="DCEBFA"/>
                </a:solidFill>
                <a:latin typeface="Arial"/>
              </a:defRPr>
            </a:pPr>
            <a:r>
              <a:t>Колоссальная удельная поверхность создает избыточную свободную энергию ΔGs = σ · S &gt; 0, стремящуюся скоагулировать незащищенный золь в плотный осадок.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78127" y="5074920"/>
            <a:ext cx="2926080" cy="457200"/>
          </a:xfrm>
          <a:prstGeom prst="roundRect">
            <a:avLst/>
          </a:prstGeom>
          <a:solidFill>
            <a:srgbClr val="0F3C73"/>
          </a:solidFill>
          <a:ln w="12700">
            <a:solidFill>
              <a:srgbClr val="00B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1. Геометрия поверхности и термодинамика Гиббса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32807" y="5074920"/>
            <a:ext cx="2926080" cy="457200"/>
          </a:xfrm>
          <a:prstGeom prst="roundRect">
            <a:avLst/>
          </a:prstGeom>
          <a:solidFill>
            <a:srgbClr val="0F3C73"/>
          </a:solidFill>
          <a:ln w="12700">
            <a:solidFill>
              <a:srgbClr val="00B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150" b="1">
                <a:solidFill>
                  <a:srgbClr val="FFFFFF"/>
                </a:solidFill>
                <a:latin typeface="Arial"/>
              </a:rPr>
              <a:t>2. Строение мицеллы и двойной электрический слой (</a:t>
            </a:r>
            <a:r>
              <a:rPr sz="1150" b="1">
                <a:solidFill>
                  <a:srgbClr val="FFFFFF"/>
                </a:solidFill>
                <a:latin typeface="Arial"/>
              </a:rPr>
              <a:t>ДЭС</a:t>
            </a:r>
            <a:r>
              <a:rPr sz="1150" b="1">
                <a:solidFill>
                  <a:srgbClr val="FFFFFF"/>
                </a:solidFill>
                <a:latin typeface="Arial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87487" y="5074920"/>
            <a:ext cx="2926080" cy="457200"/>
          </a:xfrm>
          <a:prstGeom prst="roundRect">
            <a:avLst/>
          </a:prstGeom>
          <a:solidFill>
            <a:srgbClr val="0F3C73"/>
          </a:solidFill>
          <a:ln w="12700">
            <a:solidFill>
              <a:srgbClr val="00BE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rPr sz="1150" b="1">
                <a:solidFill>
                  <a:srgbClr val="FFFFFF"/>
                </a:solidFill>
                <a:latin typeface="Arial"/>
              </a:rPr>
              <a:t>3. Барьер Дерягина–Ландау–Фервея–Овербека (</a:t>
            </a:r>
            <a:r>
              <a:rPr sz="1150" b="1">
                <a:solidFill>
                  <a:srgbClr val="FFFFFF"/>
                </a:solidFill>
                <a:latin typeface="Arial"/>
              </a:rPr>
              <a:t>ДЛФО</a:t>
            </a:r>
            <a:r>
              <a:rPr sz="1150" b="1">
                <a:solidFill>
                  <a:srgbClr val="FFFFFF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921240" cy="62179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spcAft>
                <a:spcPts val="100"/>
              </a:spcAft>
              <a:defRPr sz="1850" b="1">
                <a:solidFill>
                  <a:srgbClr val="002C5F"/>
                </a:solidFill>
                <a:latin typeface="Arial"/>
              </a:defRPr>
            </a:pPr>
            <a:r>
              <a:t>Сравнительный анализ: Слайд 1 (Титульный лист университета)</a:t>
            </a:r>
          </a:p>
          <a:p>
            <a:pPr algn="l">
              <a:defRPr sz="1150" i="1">
                <a:solidFill>
                  <a:srgbClr val="5A6978"/>
                </a:solidFill>
                <a:latin typeface="Arial"/>
              </a:defRPr>
            </a:pPr>
            <a:r>
              <a:t>Сопоставление вариаций T1 (Classic), T2 (Modern Infographic) и T3 (Deep Navy Hero)</a:t>
            </a:r>
          </a:p>
        </p:txBody>
      </p:sp>
      <p:pic>
        <p:nvPicPr>
          <p:cNvPr id="3" name="Picture 2" descr="gua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84048"/>
            <a:ext cx="1014984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969264"/>
            <a:ext cx="11094415" cy="1828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520440" cy="19802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T1: Classic SUAI</a:t>
            </a:r>
          </a:p>
          <a:p>
            <a:pPr>
              <a:spcAft>
                <a:spcPts val="400"/>
              </a:spcAft>
              <a:defRPr sz="1050" b="1">
                <a:solidFill>
                  <a:srgbClr val="005AAA"/>
                </a:solidFill>
                <a:latin typeface="Arial"/>
              </a:defRPr>
            </a:pPr>
            <a:r>
              <a:t>● Корпоративный стандарт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Бренд ГУАП: белый фон, оригинальный логотип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Типографика: строгий Arial Bold, иерархия Navy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Реквизиты: лектор, кафедра и курс указаны строго 1 раз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Эргономика: оптимально для светлых аудиторий</a:t>
            </a:r>
          </a:p>
        </p:txBody>
      </p:sp>
      <p:pic>
        <p:nvPicPr>
          <p:cNvPr id="7" name="Picture 6" descr="slide_05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5" y="1234440"/>
            <a:ext cx="3520440" cy="1980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34255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T2: Modern Infographic</a:t>
            </a:r>
          </a:p>
          <a:p>
            <a:pPr>
              <a:spcAft>
                <a:spcPts val="400"/>
              </a:spcAft>
              <a:defRPr sz="1050" b="1">
                <a:solidFill>
                  <a:srgbClr val="009A49"/>
                </a:solidFill>
                <a:latin typeface="Arial"/>
              </a:defRPr>
            </a:pPr>
            <a:r>
              <a:t>● Инженерный модуль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Бренд ГУАП: контейнерная плашка #F4F7FA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Инфографика: акцентные бейджи курса и статуса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Реквизиты: выделенная карточка лектора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Эргономика: высокий визуальный интерес студентов</a:t>
            </a:r>
          </a:p>
        </p:txBody>
      </p:sp>
      <p:pic>
        <p:nvPicPr>
          <p:cNvPr id="9" name="Picture 8" descr="slide_08_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1" y="1234440"/>
            <a:ext cx="3520440" cy="19802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19871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T3: Deep Navy Hero</a:t>
            </a:r>
          </a:p>
          <a:p>
            <a:pPr>
              <a:spcAft>
                <a:spcPts val="400"/>
              </a:spcAft>
              <a:defRPr sz="1050" b="1">
                <a:solidFill>
                  <a:srgbClr val="002C5F"/>
                </a:solidFill>
                <a:latin typeface="Arial"/>
              </a:defRPr>
            </a:pPr>
            <a:r>
              <a:t>● Премиальный темный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Бренд ГУАП: глубокий Navy #002C5F, белый логотип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Контраст: циановые акценты #00BEF3 на темном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Реквизиты: контрастное серебряное начертание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Эргономика: максимальная видимость в поточных залах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EEF4FA"/>
          </a:solidFill>
          <a:ln w="1524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[ВЫВОД] Все 3 вариации строго соблюдают правило Single-Point Occurrence и брендбук ГУАП.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921240" cy="62179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spcAft>
                <a:spcPts val="100"/>
              </a:spcAft>
              <a:defRPr sz="1850" b="1">
                <a:solidFill>
                  <a:srgbClr val="002C5F"/>
                </a:solidFill>
                <a:latin typeface="Arial"/>
              </a:defRPr>
            </a:pPr>
            <a:r>
              <a:t>Сравнительный анализ: Слайд 2 (Шесть технологических барьеров)</a:t>
            </a:r>
          </a:p>
          <a:p>
            <a:pPr algn="l">
              <a:defRPr sz="1150" i="1">
                <a:solidFill>
                  <a:srgbClr val="5A6978"/>
                </a:solidFill>
                <a:latin typeface="Arial"/>
              </a:defRPr>
            </a:pPr>
            <a:r>
              <a:t>Сопоставление подходов к сетке 2x3 карточек, иконкам и аутентичному визуалу</a:t>
            </a:r>
          </a:p>
        </p:txBody>
      </p:sp>
      <p:pic>
        <p:nvPicPr>
          <p:cNvPr id="3" name="Picture 2" descr="gua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84048"/>
            <a:ext cx="1014984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969264"/>
            <a:ext cx="11094415" cy="1828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520440" cy="19802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P1: Classic Grid</a:t>
            </a:r>
          </a:p>
          <a:p>
            <a:pPr>
              <a:spcAft>
                <a:spcPts val="400"/>
              </a:spcAft>
              <a:defRPr sz="1050" b="1">
                <a:solidFill>
                  <a:srgbClr val="005AAA"/>
                </a:solidFill>
                <a:latin typeface="Arial"/>
              </a:defRPr>
            </a:pPr>
            <a:r>
              <a:t>● Равномерная сетка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Карточки: единые плашки #F4F7FA с тонкими рамками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Иконки: 6 круглых 300 DPI маркеров проблем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Визуал: 16:9 сплит Faraday vs Fe3O4 справа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Лаконичность: 2-3 фразы, отсутствие Q&amp;A формата</a:t>
            </a:r>
          </a:p>
        </p:txBody>
      </p:sp>
      <p:pic>
        <p:nvPicPr>
          <p:cNvPr id="7" name="Picture 6" descr="slide_06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5" y="1234440"/>
            <a:ext cx="3520440" cy="1980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34255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P2: Badge Infographic</a:t>
            </a:r>
          </a:p>
          <a:p>
            <a:pPr>
              <a:spcAft>
                <a:spcPts val="400"/>
              </a:spcAft>
              <a:defRPr sz="1050" b="1">
                <a:solidFill>
                  <a:srgbClr val="FF6418"/>
                </a:solidFill>
                <a:latin typeface="Arial"/>
              </a:defRPr>
            </a:pPr>
            <a:r>
              <a:t>● Цветовое кодирование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Карточки: верхний цветной бейдж категории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Иконки: контрастный акцент на ключевой формуле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Визуал: академический оверлей верификации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Лаконичность: структурированная инженерная подача</a:t>
            </a:r>
          </a:p>
        </p:txBody>
      </p:sp>
      <p:pic>
        <p:nvPicPr>
          <p:cNvPr id="9" name="Picture 8" descr="slide_09_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1" y="1234440"/>
            <a:ext cx="3520440" cy="19802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19871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P3: High-Contrast Hero</a:t>
            </a:r>
          </a:p>
          <a:p>
            <a:pPr>
              <a:spcAft>
                <a:spcPts val="400"/>
              </a:spcAft>
              <a:defRPr sz="1050" b="1">
                <a:solidFill>
                  <a:srgbClr val="002C5F"/>
                </a:solidFill>
                <a:latin typeface="Arial"/>
              </a:defRPr>
            </a:pPr>
            <a:r>
              <a:t>● Высокий контраст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Карточки: Navy заголовки, четкий фокус на ΔGs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Иконки: глубокий темный баннер вывода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Визуал: акцент на парадоксе Фарадей/Fe3O4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Лаконичность: максимальная разгрузка от текста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EEF4FA"/>
          </a:solidFill>
          <a:ln w="1524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[ВЫВОД] Каждая вариация полностью исключает риторические вопросы и опирается на реальные научные данные.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921240" cy="62179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spcAft>
                <a:spcPts val="100"/>
              </a:spcAft>
              <a:defRPr sz="1850" b="1">
                <a:solidFill>
                  <a:srgbClr val="002C5F"/>
                </a:solidFill>
                <a:latin typeface="Arial"/>
              </a:defRPr>
            </a:pPr>
            <a:r>
              <a:t>Сравнительный анализ: Слайд 3 (Открытие первой проблемы: Агрегация)</a:t>
            </a:r>
          </a:p>
          <a:p>
            <a:pPr algn="l">
              <a:defRPr sz="1150" i="1">
                <a:solidFill>
                  <a:srgbClr val="5A6978"/>
                </a:solidFill>
                <a:latin typeface="Arial"/>
              </a:defRPr>
            </a:pPr>
            <a:r>
              <a:t>Сопоставление центрированных макетов Layout S по фокусировке внимания</a:t>
            </a:r>
          </a:p>
        </p:txBody>
      </p:sp>
      <p:pic>
        <p:nvPicPr>
          <p:cNvPr id="3" name="Picture 2" descr="gua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84048"/>
            <a:ext cx="1014984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969264"/>
            <a:ext cx="11094415" cy="1828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4_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520440" cy="19802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S1: Classic Light</a:t>
            </a:r>
          </a:p>
          <a:p>
            <a:pPr>
              <a:spcAft>
                <a:spcPts val="400"/>
              </a:spcAft>
              <a:defRPr sz="1050" b="1">
                <a:solidFill>
                  <a:srgbClr val="005AAA"/>
                </a:solidFill>
                <a:latin typeface="Arial"/>
              </a:defRPr>
            </a:pPr>
            <a:r>
              <a:t>● Светлый центрированный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Иконка: крупный маркер 1.4x1.4 дюйма по центру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Тезис: строго 1–2 предложения (Бритва Оккама)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Дорожная карта: 3 светлых навигационных пилла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Эргономика: естественный переход от белых слайдов</a:t>
            </a:r>
          </a:p>
        </p:txBody>
      </p:sp>
      <p:pic>
        <p:nvPicPr>
          <p:cNvPr id="7" name="Picture 6" descr="slide_07_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5" y="1234440"/>
            <a:ext cx="3520440" cy="1980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34255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S2: Modern Infographic</a:t>
            </a:r>
          </a:p>
          <a:p>
            <a:pPr>
              <a:spcAft>
                <a:spcPts val="400"/>
              </a:spcAft>
              <a:defRPr sz="1050" b="1">
                <a:solidFill>
                  <a:srgbClr val="00BEF3"/>
                </a:solidFill>
                <a:latin typeface="Arial"/>
              </a:defRPr>
            </a:pPr>
            <a:r>
              <a:t>● Акцентная плашка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Иконка: двойное кольцо с циановым контуром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Тезис: выделенная контурная плашка в центре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Дорожная карта: нумерованные блоки [01]..[03]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Эргономика: динамичная инженерная визуализация</a:t>
            </a:r>
          </a:p>
        </p:txBody>
      </p:sp>
      <p:pic>
        <p:nvPicPr>
          <p:cNvPr id="9" name="Picture 8" descr="slide_10_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1" y="1234440"/>
            <a:ext cx="3520440" cy="19802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19871" y="3337560"/>
            <a:ext cx="3520440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Вариант S3: Deep Navy Anchor</a:t>
            </a:r>
          </a:p>
          <a:p>
            <a:pPr>
              <a:spcAft>
                <a:spcPts val="400"/>
              </a:spcAft>
              <a:defRPr sz="1050" b="1">
                <a:solidFill>
                  <a:srgbClr val="002C5F"/>
                </a:solidFill>
                <a:latin typeface="Arial"/>
              </a:defRPr>
            </a:pPr>
            <a:r>
              <a:t>● Темный когнитивный якорь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Иконка: светящийся циановый обод на Navy фоне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Тезис: чистый белый и светло-циановый текст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Дорожная карта: темные пиллы с яркими рамками</a:t>
            </a:r>
          </a:p>
          <a:p>
            <a:pPr>
              <a:spcAft>
                <a:spcPts val="2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• Эргономика: 100% переключение внимания аудитории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EEF4FA"/>
          </a:solidFill>
          <a:ln w="1524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[ВЫВОД] Слайд-разделитель Layout S задает монументальный ритм лекции и предотвращает рассеивание внимания.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921240" cy="621792"/>
          </a:xfrm>
          <a:prstGeom prst="rect">
            <a:avLst/>
          </a:prstGeom>
          <a:noFill/>
        </p:spPr>
        <p:txBody>
          <a:bodyPr wrap="square" anchor="t" tIns="0" bIns="0" lIns="0" rIns="0">
            <a:spAutoFit/>
          </a:bodyPr>
          <a:lstStyle/>
          <a:p>
            <a:pPr algn="l">
              <a:spcAft>
                <a:spcPts val="100"/>
              </a:spcAft>
              <a:defRPr sz="1850" b="1">
                <a:solidFill>
                  <a:srgbClr val="002C5F"/>
                </a:solidFill>
                <a:latin typeface="Arial"/>
              </a:defRPr>
            </a:pPr>
            <a:r>
              <a:t>Итоговая матрица соответствия стандартам и рекомендации для курса ГУАП</a:t>
            </a:r>
          </a:p>
          <a:p>
            <a:pPr algn="l">
              <a:defRPr sz="1150" i="1">
                <a:solidFill>
                  <a:srgbClr val="5A6978"/>
                </a:solidFill>
                <a:latin typeface="Arial"/>
              </a:defRPr>
            </a:pPr>
            <a:r>
              <a:t>Комплексная оценка вариаций по требованиям R1–R5 и условиям лекционных аудиторий</a:t>
            </a:r>
          </a:p>
        </p:txBody>
      </p:sp>
      <p:pic>
        <p:nvPicPr>
          <p:cNvPr id="3" name="Picture 2" descr="guap_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84048"/>
            <a:ext cx="1014984" cy="31089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48640" y="969264"/>
            <a:ext cx="11094415" cy="18288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005AAA"/>
              </a:gs>
              <a:gs pos="54000">
                <a:srgbClr val="00BEF3"/>
              </a:gs>
              <a:gs pos="100000">
                <a:srgbClr val="E70F47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520440" cy="46177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1100" b="1">
                <a:solidFill>
                  <a:srgbClr val="5A6978"/>
                </a:solidFill>
                <a:latin typeface="Arial"/>
              </a:defRPr>
            </a:pPr>
            <a:r>
              <a:t>Рекомендация: Базовый лекционный поток</a:t>
            </a:r>
          </a:p>
          <a:p>
            <a:pPr>
              <a:spcBef>
                <a:spcPts val="400"/>
              </a:spcBef>
              <a:defRPr sz="1400" b="1">
                <a:solidFill>
                  <a:srgbClr val="005AAA"/>
                </a:solidFill>
                <a:latin typeface="Arial"/>
              </a:defRPr>
            </a:pPr>
            <a:r>
              <a:t>Вариация 1 (Classic SUAI)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050" b="1">
                <a:solidFill>
                  <a:srgbClr val="242834"/>
                </a:solidFill>
                <a:latin typeface="Arial"/>
              </a:defRPr>
            </a:pPr>
            <a:r>
              <a:t>Соответствие: 100% (R1–R5)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Идеально для аудиторий с естественным светом (31-04а)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Максимальная академическая строгость по ГОСТ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Официальный векторный логотип ГУАП на белом фоне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Гармонично сочетается со всеми 14 теоретическими слайдами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Рекомендован как основной стандарт по умолчанию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5" y="1234440"/>
            <a:ext cx="3520440" cy="46177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9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1100" b="1">
                <a:solidFill>
                  <a:srgbClr val="5A6978"/>
                </a:solidFill>
                <a:latin typeface="Arial"/>
              </a:defRPr>
            </a:pPr>
            <a:r>
              <a:t>Рекомендация: Инженерные практикумы</a:t>
            </a:r>
          </a:p>
          <a:p>
            <a:pPr>
              <a:spcBef>
                <a:spcPts val="400"/>
              </a:spcBef>
              <a:defRPr sz="1400" b="1">
                <a:solidFill>
                  <a:srgbClr val="009A49"/>
                </a:solidFill>
                <a:latin typeface="Arial"/>
              </a:defRPr>
            </a:pPr>
            <a:r>
              <a:t>Вариация 2 (Modern Infographic)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050" b="1">
                <a:solidFill>
                  <a:srgbClr val="242834"/>
                </a:solidFill>
                <a:latin typeface="Arial"/>
              </a:defRPr>
            </a:pPr>
            <a:r>
              <a:t>Соответствие: 100% (R1–R5)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Цветные бейджи мгновенно разделяют 6 проблем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Оптимально для семинаров и разбора задач на коагуляцию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Высокая наглядность связки «проблема → формула»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Усиленный акцент на прикладных модулях наноинженерии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Рекомендован для междисциплинарных модулей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1" y="1234440"/>
            <a:ext cx="3520440" cy="4617720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002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>
              <a:defRPr sz="1100" b="1">
                <a:solidFill>
                  <a:srgbClr val="5A6978"/>
                </a:solidFill>
                <a:latin typeface="Arial"/>
              </a:defRPr>
            </a:pPr>
            <a:r>
              <a:t>Рекомендация: Потоковые аудитории и конференции</a:t>
            </a:r>
          </a:p>
          <a:p>
            <a:pPr>
              <a:spcBef>
                <a:spcPts val="400"/>
              </a:spcBef>
              <a:defRPr sz="1400" b="1">
                <a:solidFill>
                  <a:srgbClr val="002C5F"/>
                </a:solidFill>
                <a:latin typeface="Arial"/>
              </a:defRPr>
            </a:pPr>
            <a:r>
              <a:t>Вариация 3 (Deep Navy Hero)</a:t>
            </a:r>
          </a:p>
          <a:p>
            <a:pPr>
              <a:spcBef>
                <a:spcPts val="300"/>
              </a:spcBef>
              <a:spcAft>
                <a:spcPts val="800"/>
              </a:spcAft>
              <a:defRPr sz="1050" b="1">
                <a:solidFill>
                  <a:srgbClr val="242834"/>
                </a:solidFill>
                <a:latin typeface="Arial"/>
              </a:defRPr>
            </a:pPr>
            <a:r>
              <a:t>Соответствие: 100% (R1–R5)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Максимальный проекционный контраст на больших экранах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Слайд-разделитель служит мощным якорем внимания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Премиальный университетский статус дисциплины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Отличная читаемость белого текста с задних рядов</a:t>
            </a:r>
          </a:p>
          <a:p>
            <a:pPr>
              <a:spcAft>
                <a:spcPts val="400"/>
              </a:spcAft>
              <a:defRPr sz="1050">
                <a:solidFill>
                  <a:srgbClr val="242834"/>
                </a:solidFill>
                <a:latin typeface="Arial"/>
              </a:defRPr>
            </a:pPr>
            <a:r>
              <a:t>✓ Рекомендован для титула и ключевых узловых слайдов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6080760"/>
            <a:ext cx="11094415" cy="502920"/>
          </a:xfrm>
          <a:prstGeom prst="roundRect">
            <a:avLst/>
          </a:prstGeom>
          <a:solidFill>
            <a:srgbClr val="EEF4FA"/>
          </a:solidFill>
          <a:ln w="15240">
            <a:solidFill>
              <a:srgbClr val="00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250" b="1">
                <a:solidFill>
                  <a:srgbClr val="002C5F"/>
                </a:solidFill>
                <a:latin typeface="Arial"/>
              </a:defRPr>
            </a:pPr>
            <a:r>
              <a:t>[ВЫВОД] ИТОГ: Вариация 1 интегрирована в основной дек курса; все 3 вариации доступны в сравнительной презентации.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