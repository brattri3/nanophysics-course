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21"/>
  </p:notesMasterIdLst>
  <p:handoutMasterIdLst>
    <p:handoutMasterId r:id="rId22"/>
  </p:handoutMasterIdLst>
  <p:sldIdLst>
    <p:sldId id="1199" r:id="rId4"/>
    <p:sldId id="1201" r:id="rId5"/>
    <p:sldId id="1200" r:id="rId6"/>
    <p:sldId id="1202" r:id="rId7"/>
    <p:sldId id="1203" r:id="rId8"/>
    <p:sldId id="1204" r:id="rId9"/>
    <p:sldId id="1205" r:id="rId10"/>
    <p:sldId id="1206" r:id="rId11"/>
    <p:sldId id="1207" r:id="rId12"/>
    <p:sldId id="1208" r:id="rId13"/>
    <p:sldId id="1209" r:id="rId14"/>
    <p:sldId id="1210" r:id="rId15"/>
    <p:sldId id="1211" r:id="rId16"/>
    <p:sldId id="1212" r:id="rId17"/>
    <p:sldId id="1213" r:id="rId18"/>
    <p:sldId id="1214" r:id="rId19"/>
    <p:sldId id="121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/>
        </p14:section>
        <p14:section name="Пример презентации" id="{09F8C32E-5747-4822-BAD0-340E7A748DE7}">
          <p14:sldIdLst/>
        </p14:section>
        <p14:section name="Дополнительные материалы" id="{62AE7809-B62A-4B2F-9EA4-7E7E0961CF08}">
          <p14:sldIdLst/>
        </p14:section>
        <p14:section name="Макеты для завершения презентации" id="{7BDEF82D-D64F-4A14-9B34-FEADAC1724BD}">
          <p14:sldIdLst>
            <p14:sldId id="1199"/>
            <p14:sldId id="1201"/>
            <p14:sldId id="1200"/>
            <p14:sldId id="1202"/>
            <p14:sldId id="1203"/>
            <p14:sldId id="1204"/>
            <p14:sldId id="1205"/>
            <p14:sldId id="1206"/>
            <p14:sldId id="1207"/>
            <p14:sldId id="1208"/>
            <p14:sldId id="1209"/>
            <p14:sldId id="1210"/>
            <p14:sldId id="1211"/>
            <p14:sldId id="1212"/>
            <p14:sldId id="1213"/>
            <p14:sldId id="1214"/>
            <p14:sldId id="121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0520" autoAdjust="0"/>
  </p:normalViewPr>
  <p:slideViewPr>
    <p:cSldViewPr snapToGrid="0" snapToObjects="1">
      <p:cViewPr varScale="1">
        <p:scale>
          <a:sx n="61" d="100"/>
          <a:sy n="61" d="100"/>
        </p:scale>
        <p:origin x="102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14.10.2026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754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037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352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65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314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343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9 лекции (Слайд 38 презентации): Практический смысл правила рычага и система Au-Si.
1. Зачем это нужно на практике:
В металлургии, микроэлектронике и нанотехнологиях процессы идут внутри герметичных печей и реакторов при сотнях и тысячах градусов Цельсия. Физически взвесить жидкую фазу или отобрать пробу невозможно. Правило рычага — это бесконтактный метод прецизионного определения: а) сколько процентов расплава и твердой фазы содержится в системе при заданной температуре (определяет текучесть, усадку и режим кристаллизации);
б) каков точный химический состав жидкой фазы (основа зонной плавки, рафинирования кремния и полупроводникового легирования).
2. Смысл расчета Au-Si при 800 °C (m0 = 400 г, 30% Au):
Расчет показывает, что при нагреве до 800 °C сплав разделяется на 181.8 г расплава и 218.2 г твердых кристаллов кремния. При этом все 120 г золота концентрируются исключительно в расплаве (обогащение с 30% до 66%), а выделившийся кремний имеет чистоту 100%. Это наглядно объясняет студентам принцип металлургического разделения и очистки веществ.
3. Нанотехнологический аспект (VLS-рост):
В процессе Vapor-Liquid-Solid каталитическая нанокапля золота на подложке поглощает кремний из газовой фазы (SiH4). Пока температура выше эвтектики (например, 800 °C), капля остается жидкой с содержанием 66% Au, а избыточный кремний непрерывно кристаллизуется на границе капля/подложка, формируя монокристаллическую кремниевую нанонить. Правило рычага связывает параметры процесса с морфологией нанонити.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06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10 лекции (Слайд 39 презентации): Динамика правила рычага при охлаждении сплава.
1. Непрерывное перемещение фигуративной точки:
На этом слайде показано, как работает правило рычага не в одной изолированной точке, а в динамике охлаждения реального доэвтектического сплава (30 масс.% Au) от жидкого состояния (1200 °C) до полного затвердевания (200 °C).
2. Анализ ключевых состояний по точкам:
• Точка 1 (1200 °C, выше ликвидуса): гомогенный расплав, однофазная область. Правило рычага здесь неприменимо: вторая фаза отсутствует (100% жидкости, число степеней свободы C = K - Ф + 1 = 2 - 1 + 1 = 2).
• Точка 2 (1000 °C, линия ликвидус): момент начала кристаллизации кремния. Конода соединяет чистый Si (0% Au) и линию ликвидус (30% Au). Длина коноды L = 30%. Точка сплава лежит точно на кривой ликвидус (x₀ = 30%), поэтому отрезок до кривой ликвидуса равен нулю (30 - 30 = 0). 
  ВНИМАНИЕ: По закону рычага масса твердой фазы (кристаллов Si) рассчитывается по ПРОТИВОПОЛОЖНОМУ плечу (отрезку до ликвидуса): m_Si / m₀ = 0 / 30 = 0%. Кристаллов еще нет (зарождается лишь первый бесконечно малый кристаллик). А масса расплава рассчитывается по плечу до чистого Si (30%): m_L / m₀ = 30 / 30 = 100%. Весь сплав еще целиком жидкий! (Ф = 2, C = 1).
• Точка 3 (800 °C, двухфазная зона L + Si): середина затвердевания. Расплав обогатился золотом до 66%. Конода расширилась: L = 66%. Плечо к Si равно 30%, плечо к ликвидусу равно 36%. По правилу рычага: m_Si = 36/66 = 54.5%, m_L = 30/66 = 45.5%. В печи находится пульпа из твердых кристаллов Si в жидком расплаве Au-Si.
• Точка 4 (380 °C, непосредственно над эвтектикой): предел кристаллизации первичного Si. Расплав обогатился золотом до предельной концентрации 94% Au. Конода растянулась до 94%. Доля кристаллов Si выросла до 68.1% (64/94), а доля расплава сократилась до 31.9% (30/94).
• Точка 5 (363 °C, эвтектическая горизонталь T_E): трехфазное равновесие (расплав 94% Au + кристаллы Si + кристаллы Au). По правилу фаз Гиббса C = 2 - 3 + 1 = 0 (безвариантное равновесие). Температура строго фиксирована, пока весь оставшийся расплав (31.9%) не закристаллизуется в тонкую эвтектическую механическую смесь Si + Au.
• Точка 6 (200 °C, твердое состояние): полностью застывший слиток. Итоговая микроструктура: 68.1% крупных первичных кристаллов Si и 31.9% мелкозернистой эвтектической смеси.
3. Практический вывод для инженера:
График m_S(T) и m_L(T) дает точный количественный расчет кинетики кристаллизации для контроля усадки, фильтрации и управления структурой полупроводниковых слитков.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22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11 завершает блок фазовых диаграмм и правила рычага.
Здесь мы обобщаем работу правила рычага для трех ключевых типов сплавов: доэвтектического, эвтектического и заэвтектического.
Подчеркиваем студентам фундаментальное различие: правило рычага применяется не только для определения долей фаз (жидкость и твердая фаза), но и для расчета макроструктурных составляющих (доли первичных кристаллов и эвтектических колоний).
На практическом примере системы Au-Si объясняем, почему эвтектический состав нашел широчайшее применение в полупроводниковой промышленности: температура плавления чистого золота 1064 °C, кремния — 1414 °C, а эвтектика плавится всего при 363 °C! Это позволяет монтировать кремниевые чипы без риска термического повреждения p-n переходов.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12 открывает второй раздел лекции — переход к физике наноструктур и термодинамике размерных эффектов.
Мы показываем, как классическая термодинамика Гиббса дополняется новым слагаемым: σ dA.
Для макроскопических тел этим слагаемым всегда пренебрегали, поскольку отношение площади к объему исчезающе мало. Однако при переходе к нанометрам доля атомов на поверхности резко возрастает, и поверхностная энергия начинает доминировать.
Рассматриваем классическую термодинамическую дилемму зарождения новой фазы: объем стремится перейти в устойчивое состояние и выделяет энергию, но создание поверхности раздела требует колоссальных энергетических затрат.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13 посвящен математическому и физическому анализу точки экстремума свободной энергии зарождения.
Дифференцируя ΔG по r, получаем две фундаментальные формулы: критический радиус r* и барьер зарождения ΔG*.
Объясняем студентам механизм флуктуационного зарождения: нанокластеры непрерывно возникают и распадаются в расплаве за счет тепловых флуктуаций. Только те из них, которые преодолели барьер r*, способны к дальнейшему росту.
Показываем прямое применение к нанотехнологиям: чтобы получить ультрадисперсные нанопорошки или коллоидные квантовые точки, необходимо создать высокое пересыщение, снижающее r* до единиц нанометров, а затем заблокировать диффузионный рост добавлением поверхностно-активных веществ (лигандов).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14 раскрывает одно из самых ярких проявлений размерных эффектов в термодинамике — зависимость температуры плавления от радиуса наночастицы (эффект Гиббса-Томсона).
Показываем вывод уравнения через равенство химических потенциалов наночастицы и жидкости.
Обсуждаем микроскопическую модель: критерий Линдемана для поверхностных атомов выполняется при существенно более низкой температуре, что приводит к образованию квазижидкого поверхностного слоя (premelting).
Приводим классический эксперимент Буффа и Бореля по плавлению наночастиц золота.
Подчеркиваем прикладную важность: печатная электроника использует наночернила из серебра или золота, которые можно впекать в гибкие полимерные подложки при температуре 150-200 °C, тогда как массивный металл требует температур выше 1000 °C.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слайде 15 мы связываем воедино две части лекции: фазовые диаграммы состояния и размерные термодинамические эффекты.
Показываем студентам принципиальный вывод: фазовая диаграмма состояния не является абсолютной константой материала — в наномасштабе она становится размерно-зависимой диаграммой T - C - r!
Рассматриваем явление наноэвтектики: для ультратонких капель сплава Au-Si температура эвтектики снижается с 363 °C до 250-300 °C.
Обсуждаем расширение предела растворимости и стабилизацию метастабильных модификаций оксидов и интерметаллидов.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16 демонстрирует кульминацию прикладного значения темы: прямую связь между термодинамической фазовой диаграммой Au-Si и передовой технологией синтеза полупроводниковых нанонитей (Vapor-Liquid-Solid, VLS-механизм).
Подробно разбираем физико-химические стадии: как эвтектическая капля золота собирает кремний из газовой фазы и сбрасывает его на кристаллическую решетку подложки.
Обращаем внимание на термодинамическую движущую силу — градиент химического потенциала кремния между газовой фазой, жидким сплавом и твердой фазой подложки.
Упоминаем, что именно на базе таких наноструктур создаются транзисторы новейших процессорных узлов (Gate-All-Around FET).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Слайд 17 подводит черту под лекцией №2.
Мы кратко повторяем ключевую логическую цепочку: от макротермодинамики и фазовых диаграмм через правило рычага к наномасштабным эффектам (поверхностная энергия, критический зародыш, уравнение Гиббса-Томсона) и технологиям (VLS-рост).
Даем прямую привязку к лабораторным работам №1, №2 и №3, которые студенты будут выполнять в ходе семестра, закрепляя термодинамические концепции на практике.
Анонсируем тему следующей лекции («Поверхностные явления, адсорбция и размерные квантовые эффекты в наноструктурах»).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05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80B19-985C-CDAE-9B51-136A4723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>
                <a:solidFill>
                  <a:srgbClr val="005AAA"/>
                </a:solidFill>
                <a:latin typeface="Arial" panose="020B0604020202020204" pitchFamily="34" charset="0"/>
              </a:rPr>
              <a:t>Термодинамика наноструктур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ADC2F1-7DE5-3425-7FBF-A63335D01D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r>
              <a:rPr lang="ru-RU" sz="1700" b="1">
                <a:solidFill>
                  <a:srgbClr val="002C5F"/>
                </a:solidFill>
                <a:latin typeface="Arial" panose="020B0604020202020204" pitchFamily="34" charset="0"/>
              </a:rPr>
              <a:t>Лекция №2: От энергии макросистем к размерным эффектам</a:t>
            </a:r>
          </a:p>
          <a:p>
            <a:r>
              <a:rPr lang="ru-RU" sz="1600">
                <a:solidFill>
                  <a:srgbClr val="242834"/>
                </a:solidFill>
                <a:latin typeface="Arial" panose="020B0604020202020204" pitchFamily="34" charset="0"/>
              </a:rPr>
              <a:t>Курс: Физические основы нанотехнологий (4 курс)</a:t>
            </a:r>
          </a:p>
          <a:p>
            <a:r>
              <a:rPr lang="ru-RU" sz="1600">
                <a:solidFill>
                  <a:srgbClr val="242834"/>
                </a:solidFill>
                <a:latin typeface="Arial" panose="020B0604020202020204" pitchFamily="34" charset="0"/>
              </a:rPr>
              <a:t>Кафедра физики (№3) • Преподаватель: доц. Попов Д.А.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EF2021-ACD5-3DB8-DB7C-938480404B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ru-RU" sz="2800" b="1">
                <a:solidFill>
                  <a:srgbClr val="E70F47"/>
                </a:solidFill>
                <a:latin typeface="Arial" panose="020B06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965045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32CD3-3CF2-8953-B79E-855C18E6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14901"/>
            <a:ext cx="9608330" cy="318549"/>
          </a:xfrm>
        </p:spPr>
        <p:txBody>
          <a:bodyPr/>
          <a:lstStyle/>
          <a:p>
            <a:r>
              <a:rPr lang="ru-RU" sz="2300">
                <a:solidFill>
                  <a:srgbClr val="005AAA"/>
                </a:solidFill>
                <a:latin typeface="Arial" panose="020B0604020202020204" pitchFamily="34" charset="0"/>
              </a:rPr>
              <a:t>Внутренняя энергия, работа и теплота: хранение vs передача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26D6DD-EEA5-D0EB-2E2F-2A018DBB65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solidFill>
                  <a:srgbClr val="002C5F"/>
                </a:solidFill>
                <a:latin typeface="Arial" panose="020B0604020202020204" pitchFamily="34" charset="0"/>
              </a:rPr>
              <a:t>1. Микроскопическая природа внутренней энергии U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Механика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vs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Термодинамика: кинетическая энергия летящего тела как целого (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Eкин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= mv²/2) термодинамику не интересует — все молекулы движутся упорядоченно в одну сторону.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Внутренняя энергия U [Дж]: суммарная скрытая энергия покоящегося тела (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Vцм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= 0), состоящая из двух частей: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кинетическая часть: тепловое хаотическое движение частиц (поступательное, вращательное, колебательное), мерой которого является температура T;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потенциальная часть: энергия взаимодействия атомов и молекул (силы притяжения и отталкивания, определяющие агрегатное состояние).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Функция состояния: U строго определяется текущими параметрами (T, P, V) и не зависит от пути перехода в данное состояние.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132821-44B4-6BF9-2429-709CAD8E6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ru-RU" sz="1800" b="1" dirty="0">
                <a:solidFill>
                  <a:srgbClr val="002C5F"/>
                </a:solidFill>
                <a:latin typeface="Arial" panose="020B0604020202020204" pitchFamily="34" charset="0"/>
              </a:rPr>
              <a:t>2. Работа A и Теплота Q: первое начало термодинамики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Тело не «содержит» теплоту или работу: Q и A — это не запасы энергии, а способы ее передачи через границу системы (функции процесса).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Работа A [Дж]: упорядоченный способ передачи энергии при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макросмещении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границы системы (для расширения газа: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dA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=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P·dV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, где P [Па], V [м³]).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Теплота Q [Дж]: неупорядоченный микроскопический способ передачи через хаотические соударения частиц на границе контакта.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Первое начало термодинамики (Закон сохранения):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ΔU = Q - A   (или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dQ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=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dU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+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dA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),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где ΔU [Дж] — изменение внутренней энергии; Q [Дж] — переданная теплота; A [Дж] — совершенная работа.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Мостик в наномир: в наночастице гигантская доля атомов лежит на поверхности, поэтому избыточная поверхностная энергия меняет баланс ΔU!</a:t>
            </a:r>
          </a:p>
        </p:txBody>
      </p:sp>
    </p:spTree>
    <p:extLst>
      <p:ext uri="{BB962C8B-B14F-4D97-AF65-F5344CB8AC3E}">
        <p14:creationId xmlns:p14="http://schemas.microsoft.com/office/powerpoint/2010/main" val="3030092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A4CE4-9B56-D065-AB76-683CC098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14901"/>
            <a:ext cx="9608330" cy="318549"/>
          </a:xfrm>
        </p:spPr>
        <p:txBody>
          <a:bodyPr/>
          <a:lstStyle/>
          <a:p>
            <a:r>
              <a:rPr lang="ru-RU" sz="2300">
                <a:solidFill>
                  <a:srgbClr val="005AAA"/>
                </a:solidFill>
                <a:latin typeface="Arial" panose="020B0604020202020204" pitchFamily="34" charset="0"/>
              </a:rPr>
              <a:t>Второе начало и энергия Гиббса: куда и почему течет энергия?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0D70D-2433-4C75-2025-94B12C6735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solidFill>
                  <a:srgbClr val="002C5F"/>
                </a:solidFill>
                <a:latin typeface="Arial" panose="020B0604020202020204" pitchFamily="34" charset="0"/>
              </a:rPr>
              <a:t>1. Второе начало термодинамики и Энтропия S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Неполнота 1-го начала: закон ΔU = Q - A утверждает сохранение энергии, но не указывает направление процессов (почему тепло не течет само от холодного к горячему?).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Стрела времени: все макропроцессы в природе необратимы (горячий чай остывает, газ расширяется в вакуум, чашка разбивается).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Энтропия S [Дж/К]: мера статистического хаоса: 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	S =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kB·ln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(W), где: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kB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— постоянная Больцмана [Дж/К];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W — термодинамическая вероятность (число микросостояний, реализующих данное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макросостояние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:        W ≥ 1).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Второе начало: в изолированной системе самопроизвольно идут только процессы, увеличивающие суммарный беспорядок: ΔS ≥ 0.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DD1975-A353-A048-C026-473CC8DE52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ru-RU" sz="1200" b="1" dirty="0">
                <a:solidFill>
                  <a:srgbClr val="002C5F"/>
                </a:solidFill>
                <a:latin typeface="Arial" panose="020B0604020202020204" pitchFamily="34" charset="0"/>
              </a:rPr>
              <a:t>2. Понятие потенциала и критерий процессов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Что такое «потенциал»? Это аналог потенциальной энергии в механике: функция состояния, убыль которой равна полезной работе, а минимум определяет устойчивое равновесие.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Энергия Гиббса G [Дж]: потенциал при постоянных P и T, отражающий баланс порядка и хаоса: G = H - TS, где: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H — энтальпия [Дж] (теплосодержание, энергия связей: H = U + PV, где U — внутренняя энергия);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S — энтропия [Дж/К] (мера хаоса из п. 1);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TS — связанная энергия [Дж] (фактор теплового разупорядочения при температуре T [К]).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Критерий самопроизвольности ΔG [Дж]: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ΔG &lt; 0 — процесс идет самопроизвольно («скатывание в яму»);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ΔG = 0 — термодинамическое равновесие (дно потенциальной ямы);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ΔG &gt; 0 — процесс термодинамически запрещен без подкачки энергии.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В наномире: из-за избытка поверхностных атомов глубина ямы G смещается, меняя свойства вещества!</a:t>
            </a:r>
          </a:p>
        </p:txBody>
      </p:sp>
    </p:spTree>
    <p:extLst>
      <p:ext uri="{BB962C8B-B14F-4D97-AF65-F5344CB8AC3E}">
        <p14:creationId xmlns:p14="http://schemas.microsoft.com/office/powerpoint/2010/main" val="259260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FBCDF-041C-3E41-5A93-F085ED03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14901"/>
            <a:ext cx="9608330" cy="318549"/>
          </a:xfrm>
        </p:spPr>
        <p:txBody>
          <a:bodyPr/>
          <a:lstStyle/>
          <a:p>
            <a:r>
              <a:rPr lang="ru-RU" sz="2300">
                <a:solidFill>
                  <a:srgbClr val="005AAA"/>
                </a:solidFill>
                <a:latin typeface="Arial" panose="020B0604020202020204" pitchFamily="34" charset="0"/>
              </a:rPr>
              <a:t>Химический потенциал и равновесие фаз: почему тает лед?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BBF0DC-32F7-4591-B4ED-6321BEB1A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2C5F"/>
                </a:solidFill>
                <a:latin typeface="Arial" panose="020B0604020202020204" pitchFamily="34" charset="0"/>
              </a:rPr>
              <a:t>1. Химический потенциал μ — «цена» частицы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Системы с переменным составом: при плавлении, кристаллизации и росте наночастиц вещество переходит между фазами (число частиц n ≠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const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).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Определение μ [Дж/моль]: приращение свободной энергии Гиббса G [Дж] при добавлении в фазу 1 моля вещества при постоянных T [К] и P [Па]: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μ = ∂G / ∂n,   где G — энергия Гиббса [Дж], n — количество вещества [моль].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Физический смысл (Принцип сообщающихся сосудов):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μ — это «энергетическое давление» вещества в данной фазе («стоимость входа» частицы);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вещество всегда самопроизвольно перетекает из фазы с высоким μ в фазу с низким μ до выравнивания уровней химических потенциалов.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5589A1-4C7F-5245-F1C1-F7617EE96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1800" b="1" dirty="0">
                <a:solidFill>
                  <a:srgbClr val="002C5F"/>
                </a:solidFill>
                <a:latin typeface="Arial" panose="020B0604020202020204" pitchFamily="34" charset="0"/>
              </a:rPr>
              <a:t>2. Условие фазового равновесия (вода и лед)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Понятие фазы: макроскопически однородная часть системы с одинаковыми свойствами, отделенная явной границей раздела (лед, вода, пар).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Условие равновесия: сосуществование фаз возможно тогда и только тогда, когда химические потенциалы вещества в них строго равны: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μ₁ = μ₂   (для воды и льда: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μтв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=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μжид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).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Плавление льда при давлении P = 1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атм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: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T &lt; 0 °C (273.15 К):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μтв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&lt;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μжид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— вода самопроизвольно замерзает;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T &gt; 0 °C: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μжид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&lt;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μтв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— лед самопроизвольно тает в воду;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ровно T = 0 °C: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μтв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=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μжид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— устойчивое равновесие двух фаз.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Мостик в наномир: из-за кривизны поверхности у наночастицы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μnano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&gt; μ∞, поэтому температура плавления наночастиц золота падает с 1064 до ~380 °C!</a:t>
            </a:r>
          </a:p>
        </p:txBody>
      </p:sp>
    </p:spTree>
    <p:extLst>
      <p:ext uri="{BB962C8B-B14F-4D97-AF65-F5344CB8AC3E}">
        <p14:creationId xmlns:p14="http://schemas.microsoft.com/office/powerpoint/2010/main" val="200062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14901"/>
            <a:ext cx="9608330" cy="318549"/>
          </a:xfrm>
        </p:spPr>
        <p:txBody>
          <a:bodyPr/>
          <a:lstStyle/>
          <a:p>
            <a:r>
              <a:rPr lang="ru-RU" sz="2300">
                <a:solidFill>
                  <a:srgbClr val="005AAA"/>
                </a:solidFill>
                <a:latin typeface="Arial" panose="020B0604020202020204" pitchFamily="34" charset="0"/>
              </a:rPr>
              <a:t>Правило фаз Гиббса: сколько параметров можно менять?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02C5F"/>
                </a:solidFill>
                <a:latin typeface="Arial" panose="020B0604020202020204" pitchFamily="34" charset="0"/>
              </a:rPr>
              <a:t>1. Правило фаз Гиббса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Правило фаз Гиббса: фундаментальный закон многофазного термодинамического равновесия: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f = k - φ + 2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• Строгая расшифровка каждого члена формулы: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f — число степеней свободы: количество параметров состояния (T, P), которые можно независимо менять без изменения числа и типа сосуществующих фаз;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k — число независимых компонентов: минимальное число веществ, необходимых для построения всех фаз (для чистой воды k = 1);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φ — число равновесных фаз: количество однородных частей системы (лед, жидкая вода, пар);</a:t>
            </a:r>
          </a:p>
          <a:p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  – слагаемое «+2»: два внешних физических параметра системы: температура T [К] и давление P [Па] (при изобарных условиях P = </a:t>
            </a:r>
            <a:r>
              <a:rPr lang="ru-RU" sz="1400" dirty="0" err="1">
                <a:solidFill>
                  <a:srgbClr val="242834"/>
                </a:solidFill>
                <a:latin typeface="Arial" panose="020B0604020202020204" pitchFamily="34" charset="0"/>
              </a:rPr>
              <a:t>const</a:t>
            </a:r>
            <a:r>
              <a:rPr lang="ru-RU" sz="1400" dirty="0">
                <a:solidFill>
                  <a:srgbClr val="242834"/>
                </a:solidFill>
                <a:latin typeface="Arial" panose="020B0604020202020204" pitchFamily="34" charset="0"/>
              </a:rPr>
              <a:t> формула принимает вид: f = k - φ + 1).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228220"/>
            <a:ext cx="5184775" cy="5040312"/>
          </a:xfrm>
        </p:spPr>
        <p:txBody>
          <a:bodyPr>
            <a:normAutofit/>
          </a:bodyPr>
          <a:lstStyle/>
          <a:p>
            <a:r>
              <a:rPr lang="ru-RU" sz="1400" b="1" dirty="0">
                <a:solidFill>
                  <a:srgbClr val="002C5F"/>
                </a:solidFill>
                <a:latin typeface="Arial" panose="020B0604020202020204" pitchFamily="34" charset="0"/>
              </a:rPr>
              <a:t>2. Анализ карты состояний воды (k = 1)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Геометрический смысл правила фаз на плоскости (T, P):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Области фаз (φ = 1, только пар или вода): f = 1 - 1 + 2 = 2 — </a:t>
            </a:r>
            <a:r>
              <a:rPr lang="ru-RU" sz="1200" dirty="0" err="1">
                <a:solidFill>
                  <a:srgbClr val="242834"/>
                </a:solidFill>
                <a:latin typeface="Arial" panose="020B0604020202020204" pitchFamily="34" charset="0"/>
              </a:rPr>
              <a:t>бивариантное</a:t>
            </a:r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состояние (двумерное поле: можно свободно менять и T, и P);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Линии равновесия (φ = 2, кипение / таяние): f = 1 - 2 + 2 = 1 — моновариантное состояние (линия: задав T, мы жестко фиксируем давление насыщенного пара P);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   – Тройная точка (φ = 3, лед + вода + пар): f = 1 - 3 + 2 = 0 — инвариантное состояние (точка: строго T = 0.01 °C и P = 611 Па, ни одной степени свободы!).</a:t>
            </a:r>
          </a:p>
          <a:p>
            <a:r>
              <a:rPr lang="ru-RU" sz="1200" dirty="0">
                <a:solidFill>
                  <a:srgbClr val="242834"/>
                </a:solidFill>
                <a:latin typeface="Arial" panose="020B0604020202020204" pitchFamily="34" charset="0"/>
              </a:rPr>
              <a:t>• Мостик в наномир: из-за избытка поверхностной энергии появляется дополнительная переменная — радиус частицы r, что сдвигает линии равновесия и тройную точку!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35FB4E-EC50-C935-0A3D-A665E59F4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142" y="4630273"/>
            <a:ext cx="3326858" cy="222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0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96592-6E12-8297-1315-C93712D2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14901"/>
            <a:ext cx="9608330" cy="318549"/>
          </a:xfrm>
        </p:spPr>
        <p:txBody>
          <a:bodyPr/>
          <a:lstStyle/>
          <a:p>
            <a:r>
              <a:rPr lang="ru-RU" sz="2300">
                <a:solidFill>
                  <a:srgbClr val="005AAA"/>
                </a:solidFill>
                <a:latin typeface="Arial" panose="020B0604020202020204" pitchFamily="34" charset="0"/>
              </a:rPr>
              <a:t>Бинарные системы: сплавы, эвтектика и правило рычага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89E2F7-97D8-60D2-48E2-41B80D9B21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4028757" cy="5040312"/>
          </a:xfrm>
        </p:spPr>
        <p:txBody>
          <a:bodyPr>
            <a:normAutofit/>
          </a:bodyPr>
          <a:lstStyle/>
          <a:p>
            <a:r>
              <a:rPr lang="ru-RU" sz="1400" b="1" dirty="0">
                <a:solidFill>
                  <a:srgbClr val="002C5F"/>
                </a:solidFill>
                <a:latin typeface="Arial" panose="020B0604020202020204" pitchFamily="34" charset="0"/>
              </a:rPr>
              <a:t>1. Бинарные системы (k = 2) и эвтектика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• Изобарные условия (P =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const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= 1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атм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): остаются два параметра — температура T [К] и концентрация x [моль.%]. Правило фаз принимает вид: f = k - φ + 1 = 3 - φ.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• Эвтектика (от греч. «легкоплавкий»): состояние и смесь строго определенного состава, кристаллизующаяся при минимально возможной температуре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Te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: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– распад жидкости сразу на две твердые фазы: L → α + β;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– три фазы в равновесии (φ = 3) ⇒ f = 3 - 3 = 0 (инвариантная эвтектическая точка!).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• Физический пример (Au-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Si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): чистый кремний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Si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плавится при 1414 °C, чистое золото Au — при 1064 °C, а их эвтектический сплав (19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ат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.%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Si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) плавится всего при 363 °C!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14E9F8-B3FE-A250-7307-0345C92758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0" y="1341437"/>
            <a:ext cx="4325939" cy="5040312"/>
          </a:xfrm>
        </p:spPr>
        <p:txBody>
          <a:bodyPr>
            <a:normAutofit/>
          </a:bodyPr>
          <a:lstStyle/>
          <a:p>
            <a:r>
              <a:rPr lang="ru-RU" sz="1400" b="1" dirty="0">
                <a:solidFill>
                  <a:srgbClr val="002C5F"/>
                </a:solidFill>
                <a:latin typeface="Arial" panose="020B0604020202020204" pitchFamily="34" charset="0"/>
              </a:rPr>
              <a:t>2. Правило рычага и VLS-рост </a:t>
            </a:r>
            <a:r>
              <a:rPr lang="ru-RU" sz="1400" b="1" dirty="0" err="1">
                <a:solidFill>
                  <a:srgbClr val="002C5F"/>
                </a:solidFill>
                <a:latin typeface="Arial" panose="020B0604020202020204" pitchFamily="34" charset="0"/>
              </a:rPr>
              <a:t>нанонитей</a:t>
            </a:r>
            <a:endParaRPr lang="ru-RU" sz="1400" b="1" dirty="0">
              <a:solidFill>
                <a:srgbClr val="002C5F"/>
              </a:solidFill>
              <a:latin typeface="Arial" panose="020B0604020202020204" pitchFamily="34" charset="0"/>
            </a:endParaRP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• Правило рычага (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Lever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Rule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): в двухфазной области массы сосуществующих фаз обратно пропорциональны отрезкам соединительной линии (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конноды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):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mL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· l₁ =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mS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· l₂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где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mL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— масса жидкого расплава [кг],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mS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— масса твердой фазы [кг], l₁, l₂ — концентрационные плечи рычага [масс.%].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• Применение в наноиндустрии (VLS-механизм «Пар–Жидкость–Кристалл»):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–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нанокапли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золота наносят на кремниевую подложку и нагревают до 400 °C (выше эвтектики 363 °C);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– из газа подают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силан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SiH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₄, кремний растворяется в капле до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пересыщения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;</a:t>
            </a:r>
          </a:p>
          <a:p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  – избыточный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Si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кристаллизуется под каплей, непрерывно выталкивая </a:t>
            </a:r>
            <a:r>
              <a:rPr lang="ru-RU" sz="1050" dirty="0" err="1">
                <a:solidFill>
                  <a:srgbClr val="242834"/>
                </a:solidFill>
                <a:latin typeface="Arial" panose="020B0604020202020204" pitchFamily="34" charset="0"/>
              </a:rPr>
              <a:t>нанонить</a:t>
            </a:r>
            <a:r>
              <a:rPr lang="ru-RU" sz="1050" dirty="0">
                <a:solidFill>
                  <a:srgbClr val="242834"/>
                </a:solidFill>
                <a:latin typeface="Arial" panose="020B0604020202020204" pitchFamily="34" charset="0"/>
              </a:rPr>
              <a:t> кремния вверх!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AAEBC4-5216-ABFC-BA30-450B414684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7" b="1820"/>
          <a:stretch>
            <a:fillRect/>
          </a:stretch>
        </p:blipFill>
        <p:spPr>
          <a:xfrm>
            <a:off x="4654968" y="2118359"/>
            <a:ext cx="2451680" cy="304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5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657A4-5CF8-3ED7-433D-FAC8F74CF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Анатомия диаграммы и охлаждение сплава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AAA734-6E1C-F509-4B98-704D4CA99E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3492500" cy="5040313"/>
          </a:xfrm>
        </p:spPr>
        <p:txBody>
          <a:bodyPr lIns="0" tIns="0" rIns="0" bIns="0">
            <a:normAutofit/>
          </a:bodyPr>
          <a:lstStyle/>
          <a:p>
            <a:pPr>
              <a:lnSpc>
                <a:spcPct val="114000"/>
              </a:lnSpc>
              <a:spcAft>
                <a:spcPts val="100"/>
              </a:spcAft>
            </a:pPr>
            <a:r>
              <a:rPr lang="ru-RU" sz="1300" b="1">
                <a:solidFill>
                  <a:srgbClr val="005AAA"/>
                </a:solidFill>
                <a:latin typeface="Arial" panose="020B0604020202020204" pitchFamily="34" charset="0"/>
              </a:rPr>
              <a:t>1. Геометрия диаграммы состояния</a:t>
            </a:r>
          </a:p>
          <a:p>
            <a:pPr>
              <a:lnSpc>
                <a:spcPct val="104000"/>
              </a:lnSpc>
              <a:spcBef>
                <a:spcPts val="250"/>
              </a:spcBef>
              <a:spcAft>
                <a:spcPts val="100"/>
              </a:spcAft>
            </a:pPr>
            <a:r>
              <a:rPr lang="ru-RU" sz="1000">
                <a:solidFill>
                  <a:srgbClr val="342824"/>
                </a:solidFill>
                <a:latin typeface="Arial" panose="020B0604020202020204" pitchFamily="34" charset="0"/>
              </a:rPr>
              <a:t>• Оси: по вертикали — T [°C], по горизонтали — состав x [% B] (от чистого A до B) при P = 1 атм.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Ликвидус: кривая начала кристаллизации (выше — гомогенный расплав L).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Солидус (горизонталь T_E): линия полного затвердевания (ниже — смесь кристаллов A + B).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Эвтектика E: точка минимальной температуры плавления всей системы.</a:t>
            </a:r>
          </a:p>
          <a:p>
            <a:pPr>
              <a:lnSpc>
                <a:spcPct val="104000"/>
              </a:lnSpc>
              <a:spcBef>
                <a:spcPts val="500"/>
              </a:spcBef>
              <a:spcAft>
                <a:spcPts val="100"/>
              </a:spcAft>
            </a:pPr>
            <a:r>
              <a:rPr lang="ru-RU" sz="1200" b="1">
                <a:solidFill>
                  <a:srgbClr val="005AAA"/>
                </a:solidFill>
                <a:latin typeface="Arial" panose="020B0604020202020204" pitchFamily="34" charset="0"/>
              </a:rPr>
              <a:t>2. Синхронное охлаждение (x = 18%)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Расплав (T &gt; T_ликв): фигуративная точка опускается строго вертикально вниз (C = 2).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Четкий излом на ликвидусе: выпадение кристаллов A. Скрытая теплота ΔH_пл замедляет темп охлаждения (излом кривой, C = 1).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Остановка на эвтектике (T_E = const): температура замирает на площадке до полного затвердевания расплава в смесь A + B (Φ = 3 ⇒ C = 0).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Твердый сплав (T &lt; T_E): дальнейшее охлаждение смеси (A + B).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700C868-F673-C01C-94A3-1198D15126D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297363" y="1623060"/>
            <a:ext cx="7343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18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75D183-74A7-9B6B-AC1D-4FB8AB9CA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Синтез диаграммы из серии кривых охлаждения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96F622-9300-2508-2ECD-CF2B1D9E46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3492500" cy="5040313"/>
          </a:xfrm>
        </p:spPr>
        <p:txBody>
          <a:bodyPr lIns="0" tIns="0" rIns="0" bIns="0">
            <a:normAutofit/>
          </a:bodyPr>
          <a:lstStyle/>
          <a:p>
            <a:pPr>
              <a:lnSpc>
                <a:spcPct val="104000"/>
              </a:lnSpc>
              <a:spcAft>
                <a:spcPts val="100"/>
              </a:spcAft>
            </a:pPr>
            <a:r>
              <a:rPr lang="ru-RU" sz="1200" b="1">
                <a:solidFill>
                  <a:srgbClr val="005AAA"/>
                </a:solidFill>
                <a:latin typeface="Arial" panose="020B0604020202020204" pitchFamily="34" charset="0"/>
              </a:rPr>
              <a:t>1. Метод Таммана (термоанализ)</a:t>
            </a:r>
          </a:p>
          <a:p>
            <a:pPr>
              <a:lnSpc>
                <a:spcPct val="104000"/>
              </a:lnSpc>
              <a:spcBef>
                <a:spcPts val="25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Эксперимент: снятие кривых охлаждения «температура T – время τ» для серии сплавов с концентрацией от 0 до 100% B.</a:t>
            </a:r>
          </a:p>
          <a:p>
            <a:pPr>
              <a:lnSpc>
                <a:spcPct val="104000"/>
              </a:lnSpc>
              <a:spcBef>
                <a:spcPts val="250"/>
              </a:spcBef>
              <a:spcAft>
                <a:spcPts val="100"/>
              </a:spcAft>
            </a:pPr>
            <a:r>
              <a:rPr lang="ru-RU" sz="1000" b="1">
                <a:solidFill>
                  <a:srgbClr val="005AAA"/>
                </a:solidFill>
                <a:latin typeface="Arial" panose="020B0604020202020204" pitchFamily="34" charset="0"/>
              </a:rPr>
              <a:t>• Физический смысл площадок:</a:t>
            </a:r>
          </a:p>
          <a:p>
            <a:pPr>
              <a:lnSpc>
                <a:spcPct val="104000"/>
              </a:lnSpc>
              <a:spcBef>
                <a:spcPts val="150"/>
              </a:spcBef>
              <a:spcAft>
                <a:spcPts val="100"/>
              </a:spcAft>
            </a:pPr>
            <a:r>
              <a:rPr lang="ru-RU" sz="900">
                <a:solidFill>
                  <a:srgbClr val="342824"/>
                </a:solidFill>
                <a:latin typeface="Arial" panose="020B0604020202020204" pitchFamily="34" charset="0"/>
              </a:rPr>
              <a:t>  – Металлы 1 и 6: кристаллизуются при постоянных T_пл(A) и T_пл(B) (C = 0).</a:t>
            </a:r>
          </a:p>
          <a:p>
            <a:pPr>
              <a:lnSpc>
                <a:spcPct val="104000"/>
              </a:lnSpc>
              <a:spcBef>
                <a:spcPts val="150"/>
              </a:spcBef>
              <a:spcAft>
                <a:spcPts val="100"/>
              </a:spcAft>
            </a:pPr>
            <a:r>
              <a:rPr lang="ru-RU" sz="900">
                <a:solidFill>
                  <a:srgbClr val="342824"/>
                </a:solidFill>
                <a:latin typeface="Arial" panose="020B0604020202020204" pitchFamily="34" charset="0"/>
              </a:rPr>
              <a:t>  – Эвтектика 4: расплав затвердевает целиком при минимальной T_E без предварительного выпадения кристаллов.</a:t>
            </a:r>
          </a:p>
          <a:p>
            <a:pPr>
              <a:lnSpc>
                <a:spcPct val="104000"/>
              </a:lnSpc>
              <a:spcBef>
                <a:spcPts val="500"/>
              </a:spcBef>
              <a:spcAft>
                <a:spcPts val="100"/>
              </a:spcAft>
            </a:pPr>
            <a:r>
              <a:rPr lang="ru-RU" sz="1200" b="1">
                <a:solidFill>
                  <a:srgbClr val="005AAA"/>
                </a:solidFill>
                <a:latin typeface="Arial" panose="020B0604020202020204" pitchFamily="34" charset="0"/>
              </a:rPr>
              <a:t>2. Построение линий T – x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Ликвидус: плавная кривая, соединяющая все точки изломов на кривых сплавов (2, 5).</a:t>
            </a:r>
          </a:p>
          <a:p>
            <a:pPr>
              <a:lnSpc>
                <a:spcPct val="104000"/>
              </a:lnSpc>
              <a:spcBef>
                <a:spcPts val="20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Солидус: горизонталь, проведенная через площадки превращения при T_E.</a:t>
            </a:r>
          </a:p>
          <a:p>
            <a:pPr>
              <a:lnSpc>
                <a:spcPct val="104000"/>
              </a:lnSpc>
              <a:spcBef>
                <a:spcPts val="250"/>
              </a:spcBef>
              <a:spcAft>
                <a:spcPts val="100"/>
              </a:spcAft>
            </a:pPr>
            <a:r>
              <a:rPr lang="ru-RU" sz="950">
                <a:solidFill>
                  <a:srgbClr val="342824"/>
                </a:solidFill>
                <a:latin typeface="Arial" panose="020B0604020202020204" pitchFamily="34" charset="0"/>
              </a:rPr>
              <a:t>• Вывод: диаграмма T – x есть геометрический синтез серии термических опытов!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25852C8B-06BA-4C06-CD89-86D96571F6A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97363" y="1623219"/>
            <a:ext cx="73437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32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54EF-B516-15B5-B1CB-0CAC85E02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2060"/>
                </a:solidFill>
                <a:latin typeface="Arial" panose="020B0604020202020204" pitchFamily="34" charset="0"/>
              </a:rPr>
              <a:t>Правило рычага и система Au–Si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A040FD-E52E-A52E-D756-029942CBDD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80" y="1168400"/>
            <a:ext cx="3619500" cy="5334000"/>
          </a:xfrm>
        </p:spPr>
        <p:txBody>
          <a:bodyPr wrap="square" lIns="0" tIns="0" rIns="0" bIns="0">
            <a:noAutofit/>
          </a:bodyPr>
          <a:lstStyle/>
          <a:p>
            <a:pPr>
              <a:lnSpc>
                <a:spcPct val="98000"/>
              </a:lnSpc>
            </a:pPr>
            <a:r>
              <a:rPr lang="ru-RU" sz="980" b="1">
                <a:solidFill>
                  <a:srgbClr val="002060"/>
                </a:solidFill>
                <a:latin typeface="Arial" panose="020B0604020202020204" pitchFamily="34" charset="0"/>
              </a:rPr>
              <a:t>1. Зачем правило рычага нужно на практике?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Бесконтактный контроль: при 800–1400 °C в закрытой печи невозможно физически взвесить фазы или отобрать пробу расплава.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Практический расчет: по диаграмме T–x точно определяют:</a:t>
            </a:r>
          </a:p>
          <a:p>
            <a:pPr>
              <a:lnSpc>
                <a:spcPct val="98000"/>
              </a:lnSpc>
              <a:spcBef>
                <a:spcPts val="20"/>
              </a:spcBef>
            </a:pPr>
            <a:r>
              <a:rPr lang="ru-RU" sz="700">
                <a:solidFill>
                  <a:srgbClr val="303030"/>
                </a:solidFill>
                <a:latin typeface="Arial" panose="020B0604020202020204" pitchFamily="34" charset="0"/>
              </a:rPr>
              <a:t>   1) Доли фаз (определяют вязкость, усадку и текучесть при литье);</a:t>
            </a:r>
          </a:p>
          <a:p>
            <a:pPr>
              <a:lnSpc>
                <a:spcPct val="98000"/>
              </a:lnSpc>
              <a:spcBef>
                <a:spcPts val="20"/>
              </a:spcBef>
            </a:pPr>
            <a:r>
              <a:rPr lang="ru-RU" sz="700">
                <a:solidFill>
                  <a:srgbClr val="303030"/>
                </a:solidFill>
                <a:latin typeface="Arial" panose="020B0604020202020204" pitchFamily="34" charset="0"/>
              </a:rPr>
              <a:t>   2) Химический состав расплава (основа зонной очистки кремния и металлургического рафинирования).</a:t>
            </a:r>
          </a:p>
          <a:p>
            <a:pPr>
              <a:lnSpc>
                <a:spcPct val="98000"/>
              </a:lnSpc>
              <a:spcBef>
                <a:spcPts val="300"/>
              </a:spcBef>
            </a:pPr>
            <a:r>
              <a:rPr lang="ru-RU" sz="980" b="1">
                <a:solidFill>
                  <a:srgbClr val="002060"/>
                </a:solidFill>
                <a:latin typeface="Arial" panose="020B0604020202020204" pitchFamily="34" charset="0"/>
              </a:rPr>
              <a:t>2. Физический вывод: баланс массы и моменты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Применимо строго в двухфазной зоне (L + S) при T = const вдоль коноды.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Сохранение массы: m₀ = m_L + m_S;   m₀·x₀ = m_L·x_L + m_S·x_S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Закон рычага Архимеда: m_L·(x_L – x₀) = m_S·(x₀ – x_S) ⇔ m_L·l_L = m_S·l_S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Правило противолежащего плеча: доля фазы пропорциональна противоположному плечу коноды:</a:t>
            </a:r>
          </a:p>
          <a:p>
            <a:pPr>
              <a:lnSpc>
                <a:spcPct val="98000"/>
              </a:lnSpc>
              <a:spcBef>
                <a:spcPts val="20"/>
              </a:spcBef>
            </a:pPr>
            <a:r>
              <a:rPr lang="ru-RU" sz="700">
                <a:solidFill>
                  <a:srgbClr val="303030"/>
                </a:solidFill>
                <a:latin typeface="Arial" panose="020B0604020202020204" pitchFamily="34" charset="0"/>
              </a:rPr>
              <a:t>   m_L / m₀ = l_S / l_общ = (x₀ – x_S) / (x_L – x_S)  (доля расплава);</a:t>
            </a:r>
          </a:p>
          <a:p>
            <a:pPr>
              <a:lnSpc>
                <a:spcPct val="98000"/>
              </a:lnSpc>
              <a:spcBef>
                <a:spcPts val="20"/>
              </a:spcBef>
            </a:pPr>
            <a:r>
              <a:rPr lang="ru-RU" sz="700">
                <a:solidFill>
                  <a:srgbClr val="303030"/>
                </a:solidFill>
                <a:latin typeface="Arial" panose="020B0604020202020204" pitchFamily="34" charset="0"/>
              </a:rPr>
              <a:t>   m_S / m₀ = l_L / l_общ = (x_L – x₀) / (x_L – x_S)  (доля кристаллов).</a:t>
            </a:r>
          </a:p>
          <a:p>
            <a:pPr>
              <a:lnSpc>
                <a:spcPct val="98000"/>
              </a:lnSpc>
              <a:spcBef>
                <a:spcPts val="300"/>
              </a:spcBef>
            </a:pPr>
            <a:r>
              <a:rPr lang="ru-RU" sz="980" b="1">
                <a:solidFill>
                  <a:srgbClr val="002060"/>
                </a:solidFill>
                <a:latin typeface="Arial" panose="020B0604020202020204" pitchFamily="34" charset="0"/>
              </a:rPr>
              <a:t>3. Практический смысл расчета сплава Au–Si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Задача: в печи 400 г сплава 30% Au при 800 °C. Сколько расплава и где золото?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Конода: кристалл Si (0%, т. a) ↔ расплав L (66% Au, т. d).</a:t>
            </a:r>
          </a:p>
          <a:p>
            <a:pPr>
              <a:lnSpc>
                <a:spcPct val="98000"/>
              </a:lnSpc>
              <a:spcBef>
                <a:spcPts val="20"/>
              </a:spcBef>
            </a:pPr>
            <a:r>
              <a:rPr lang="ru-RU" sz="700">
                <a:solidFill>
                  <a:srgbClr val="303030"/>
                </a:solidFill>
                <a:latin typeface="Arial" panose="020B0604020202020204" pitchFamily="34" charset="0"/>
              </a:rPr>
              <a:t>  Плечи коноды: l_общ = 66%,  l_S = 30% (к L),  l_L = 36% (к Si).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Итог: расплав m_L = 400·(30/66) ≈ 181.8 г;  кристаллы m_S = 400·(36/66) ≈ 218.2 г.</a:t>
            </a:r>
          </a:p>
          <a:p>
            <a:pPr>
              <a:lnSpc>
                <a:spcPct val="98000"/>
              </a:lnSpc>
              <a:spcBef>
                <a:spcPts val="80"/>
              </a:spcBef>
            </a:pPr>
            <a:r>
              <a:rPr lang="ru-RU" sz="760">
                <a:solidFill>
                  <a:srgbClr val="000000"/>
                </a:solidFill>
                <a:latin typeface="Arial" panose="020B0604020202020204" pitchFamily="34" charset="0"/>
              </a:rPr>
              <a:t>• Вывод технолога: расплав обогатился Au с 30% до 66% (в 2.2 раза), все 120 г золота перешли в жидкость, а кристаллы — 100% чистый Si!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E4D9161-972D-B7CD-B4E1-3EC81724AC5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23060"/>
            <a:ext cx="734314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08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FA896-40E7-E602-547D-AD637659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solidFill>
                  <a:srgbClr val="002060"/>
                </a:solidFill>
                <a:latin typeface="Arial" panose="020B0604020202020204" pitchFamily="34" charset="0"/>
              </a:rPr>
              <a:t>Правило рычага в динамике охлаждения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C917B4-48FD-D379-3265-561EA89097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80" y="1168400"/>
            <a:ext cx="3619500" cy="5334000"/>
          </a:xfrm>
        </p:spPr>
        <p:txBody>
          <a:bodyPr wrap="square" lIns="0" tIns="0" rIns="0" bIns="0">
            <a:normAutofit fontScale="25000" lnSpcReduction="20000"/>
          </a:bodyPr>
          <a:lstStyle/>
          <a:p>
            <a:pPr>
              <a:lnSpc>
                <a:spcPct val="118000"/>
              </a:lnSpc>
            </a:pPr>
            <a:r>
              <a:rPr lang="ru-RU" sz="4000" b="1">
                <a:solidFill>
                  <a:srgbClr val="002060"/>
                </a:solidFill>
                <a:latin typeface="Arial" panose="020B0604020202020204" pitchFamily="34" charset="0"/>
              </a:rPr>
              <a:t>1. Динамика правила рычага по точкам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Точка 1 (1200 °C, выше ликвидуса):</a:t>
            </a:r>
          </a:p>
          <a:p>
            <a:pPr>
              <a:lnSpc>
                <a:spcPct val="118000"/>
              </a:lnSpc>
            </a:pPr>
            <a:r>
              <a:rPr lang="ru-RU" sz="2800">
                <a:solidFill>
                  <a:srgbClr val="202020"/>
                </a:solidFill>
                <a:latin typeface="Arial" panose="020B0604020202020204" pitchFamily="34" charset="0"/>
              </a:rPr>
              <a:t>Однофазный расплав L. Рычаг неприменим: 100% жидкости, 0% кристаллов (Ф = 1, C = 2).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Точка 2 (1000 °C, линия ликвидус):</a:t>
            </a:r>
          </a:p>
          <a:p>
            <a:pPr>
              <a:lnSpc>
                <a:spcPct val="118000"/>
              </a:lnSpc>
            </a:pPr>
            <a:r>
              <a:rPr lang="ru-RU" sz="2700">
                <a:solidFill>
                  <a:srgbClr val="202020"/>
                </a:solidFill>
                <a:latin typeface="Arial" panose="020B0604020202020204" pitchFamily="34" charset="0"/>
              </a:rPr>
              <a:t>Конода от Si (0%) до ликвидуса (30%). Точка сплава лежит на самой кривой ликвидуса, поэтому отрезок до кривой равен 0! По правилу противолежащего плеча: кристаллов Si m_S = 0/30 = 0% (кристаллизация только начинается). Отрезок до чистого Si равен 30%, поэтому расплава m_L = 30/30 = 100% (Ф = 2, C = 1).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Точка 3 (800 °C, двухфазная зона L + Si):</a:t>
            </a:r>
          </a:p>
          <a:p>
            <a:pPr>
              <a:lnSpc>
                <a:spcPct val="118000"/>
              </a:lnSpc>
            </a:pPr>
            <a:r>
              <a:rPr lang="ru-RU" sz="2800">
                <a:solidFill>
                  <a:srgbClr val="202020"/>
                </a:solidFill>
                <a:latin typeface="Arial" panose="020B0604020202020204" pitchFamily="34" charset="0"/>
              </a:rPr>
              <a:t>Конода l_общ = 66%. Отрезок к Si = 30%, отрезок к ликвидусу = 36%.</a:t>
            </a:r>
          </a:p>
          <a:p>
            <a:pPr>
              <a:lnSpc>
                <a:spcPct val="118000"/>
              </a:lnSpc>
            </a:pPr>
            <a:r>
              <a:rPr lang="ru-RU" sz="2800">
                <a:solidFill>
                  <a:srgbClr val="202020"/>
                </a:solidFill>
                <a:latin typeface="Arial" panose="020B0604020202020204" pitchFamily="34" charset="0"/>
              </a:rPr>
              <a:t>Расплав: m_L = 30/66 = 45.5%, кристаллы Si: m_S = 36/66 = 54.5%.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Точка 4 (380 °C, над эвтектикой):</a:t>
            </a:r>
          </a:p>
          <a:p>
            <a:pPr>
              <a:lnSpc>
                <a:spcPct val="118000"/>
              </a:lnSpc>
            </a:pPr>
            <a:r>
              <a:rPr lang="ru-RU" sz="2700">
                <a:solidFill>
                  <a:srgbClr val="202020"/>
                </a:solidFill>
                <a:latin typeface="Arial" panose="020B0604020202020204" pitchFamily="34" charset="0"/>
              </a:rPr>
              <a:t>Предельное обогащение расплава золотом (94% Au). Конода l_общ = 94%. Доля жидкости упала до m_L = 30/94 ≈ 31.9%, доля первичного Si выросла до m_S = 64/94 ≈ 68.1%.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Точка 5 (363 °C, площадка эвтектики TE):</a:t>
            </a:r>
          </a:p>
          <a:p>
            <a:pPr>
              <a:lnSpc>
                <a:spcPct val="118000"/>
              </a:lnSpc>
            </a:pPr>
            <a:r>
              <a:rPr lang="ru-RU" sz="2700">
                <a:solidFill>
                  <a:srgbClr val="202020"/>
                </a:solidFill>
                <a:latin typeface="Arial" panose="020B0604020202020204" pitchFamily="34" charset="0"/>
              </a:rPr>
              <a:t>Изотермическая реакция L(94%) → Si + Au при T = const (Ф = 3, C = 0). Все оставшиеся 31.9% расплава затвердевают в мелкодисперсную эвтектику!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Точка 6 (200 °C, твердое состояние):</a:t>
            </a:r>
          </a:p>
          <a:p>
            <a:pPr>
              <a:lnSpc>
                <a:spcPct val="118000"/>
              </a:lnSpc>
            </a:pPr>
            <a:r>
              <a:rPr lang="ru-RU" sz="2800">
                <a:solidFill>
                  <a:srgbClr val="202020"/>
                </a:solidFill>
                <a:latin typeface="Arial" panose="020B0604020202020204" pitchFamily="34" charset="0"/>
              </a:rPr>
              <a:t>Структура слитка: 68.1% первичных кристаллов Si + 31.9% эвтектической смеси (Si + Au).</a:t>
            </a:r>
          </a:p>
          <a:p>
            <a:pPr>
              <a:lnSpc>
                <a:spcPct val="118000"/>
              </a:lnSpc>
            </a:pPr>
            <a:r>
              <a:rPr lang="ru-RU" sz="4000" b="1">
                <a:solidFill>
                  <a:srgbClr val="002060"/>
                </a:solidFill>
                <a:latin typeface="Arial" panose="020B0604020202020204" pitchFamily="34" charset="0"/>
              </a:rPr>
              <a:t>2. Практический вывод для инженера</a:t>
            </a:r>
          </a:p>
          <a:p>
            <a:pPr>
              <a:lnSpc>
                <a:spcPct val="118000"/>
              </a:lnSpc>
            </a:pPr>
            <a:r>
              <a:rPr lang="ru-RU" sz="3200" b="1">
                <a:solidFill>
                  <a:srgbClr val="602000"/>
                </a:solidFill>
                <a:latin typeface="Arial" panose="020B0604020202020204" pitchFamily="34" charset="0"/>
              </a:rPr>
              <a:t>• Правило рычага непрерывно описывает эволюцию расплава от первого микрокристалла до полного затвердевания слитка!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152AB22D-8177-7DDD-B2BF-50B3484FF4F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23060"/>
            <a:ext cx="734314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49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Правило рычага: доэвтектика, эвтектика и заэвтектика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1. Сравнение фазовых превращений: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Доэвтектический сплав (C₀ &lt; C_E = 18.6 ат.% Si):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Кристаллизация начинается на ликвидусе с выделения зерен Au.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Жидкость L скользит по ликвидусу, обогащаясь Si до точки 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При 363 °C остаток жидкости кристаллизуется в тонкую эвтектику.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Итог: первичные кристаллы Au + колонии эвтектики (Au + Si).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Эвтектический сплав (C₀ = C_E = 18.6 ат.% Si):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Прямой переход Жидкость -&gt; Твердое (Au) + Твердое (Si) при 363 °C.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Нонвариантная точка: f = k - φ + 1 = 2 - 3 + 1 = 0.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Итог: 100% тонкодисперсная эвтектическая колония.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Заэвтектический сплав (C₀ &gt; C_E):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Первичное выделение крупных граненых кристаллов кремния Si.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Жидкость обедняется Si до C_E и затвердевает в эвтектику.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219200"/>
            <a:ext cx="5397500" cy="2222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2. Расчет структурных составляющих: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Формулы правила рычага для структуры: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Доля эвтектики: W_эвт = (C_Si - C₀) / (C_Si - C_E).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Доля первичных кристаллов: W_перв = 1 - W_эвт.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Практика: эвтектика Au–Si обеспечивает пайку кристаллов при 363 °C без перегрева p-n переходов микросхем.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6174C2-7463-606B-FFE1-6DD3EB00712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492500"/>
            <a:ext cx="533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6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69476"/>
            <a:ext cx="9608330" cy="609398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Переход к наномасштабу: поверхностная энергия и зародышеобразование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1. Масштабный фактор в термодинамике: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Доля поверхностных атомов: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В макросистемах N_поверх / N_объем ~ 1/R -&gt; 0 (поверхностью пренебрегают).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В наночастицах (1–10 нм) до 50–80% атомов лежат на границе раздела!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Модификация первого и второго начал: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dG = -S dT + V dP + μ dN + σ dA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где σ — удельная поверхностная энергия (Дж/м²), A — площадь поверхности.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Физическая природа избыточной энергии σ: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Атомы поверхности имеют оборванные связи (дефицит координации).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Поверхность стремится сжаться (натяжение) для минимизации G.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219200"/>
            <a:ext cx="5397500" cy="2222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2. Конкуренция объёма и поверхности: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Энергетический баланс образования зародыша: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Объемный выигрыш: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G_v = - (4/3)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π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r³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g_v &lt; 0 (~ r³).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  - </a:t>
            </a: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Поверхностные затраты: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G_s = + 4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π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r²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σ &gt; 0 (~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r²).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• </a:t>
            </a: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Полная свободная энергия кластера: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G(r) = - (4/3)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π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r³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g_v + 4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π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r² </a:t>
            </a: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σ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l-GR" sz="1150">
                <a:solidFill>
                  <a:srgbClr val="242834"/>
                </a:solidFill>
                <a:latin typeface="Arial" panose="020B0604020202020204" pitchFamily="34" charset="0"/>
              </a:rPr>
              <a:t>• </a:t>
            </a: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При ультрамалых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 </a:t>
            </a: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преобладает поверхностный штраф (~ </a:t>
            </a:r>
            <a:r>
              <a:rPr lang="en-US" sz="1150">
                <a:solidFill>
                  <a:srgbClr val="242834"/>
                </a:solidFill>
                <a:latin typeface="Arial" panose="020B0604020202020204" pitchFamily="34" charset="0"/>
              </a:rPr>
              <a:t>r²).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61B0E8-EF22-2CEF-4A7B-F988AC088E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3492500"/>
            <a:ext cx="4572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96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Критический радиус зародыша и энергетический барьер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1. Экстремум свободной энергии (</a:t>
            </a:r>
            <a:r>
              <a:rPr lang="en-US" sz="1500" b="1">
                <a:solidFill>
                  <a:srgbClr val="002C5F"/>
                </a:solidFill>
                <a:latin typeface="Arial" panose="020B0604020202020204" pitchFamily="34" charset="0"/>
              </a:rPr>
              <a:t>d</a:t>
            </a:r>
            <a:r>
              <a:rPr lang="el-GR" sz="1500" b="1">
                <a:solidFill>
                  <a:srgbClr val="002C5F"/>
                </a:solidFill>
                <a:latin typeface="Arial" panose="020B0604020202020204" pitchFamily="34" charset="0"/>
              </a:rPr>
              <a:t>Δ</a:t>
            </a:r>
            <a:r>
              <a:rPr lang="en-US" sz="1500" b="1">
                <a:solidFill>
                  <a:srgbClr val="002C5F"/>
                </a:solidFill>
                <a:latin typeface="Arial" panose="020B0604020202020204" pitchFamily="34" charset="0"/>
              </a:rPr>
              <a:t>G/dr = 0):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•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Критический радиус зародыша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r*: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  r* = 2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σ / 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g_v = (2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σ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T_m) / (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H_m ·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где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 = T_m - T —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переохлаждение,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H_m —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удельная теплота плавления.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Высота энергетического барьера зарождения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G*: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G* = (16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π σ³) / (3 (Δ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g_v)²) = (16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π σ³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T_m²) / (3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H_m²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T²)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•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Скорость зародышеобразования (закон Аррениуса):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I = I₀ exp(-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G* / (k_B T))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Экспоненциальная чувствительность к переохлаждению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219200"/>
            <a:ext cx="5397500" cy="2222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2. Физический смысл и управление синтезом: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Поведение кластеров разного размера: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r &lt; r*: докритический зародыш нестабилен и растворяется.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r &gt; r*: закритический зародыш лавинообразно растет.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Контроль размера наночастиц в синтезе: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Глубокое переохлаждение (ΔT) снижает r* и барьер ΔG*.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ПАВ (лиганды) блокируют рост, фиксируя ансамбль наночастиц.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838E77-0889-98E6-96D9-7384D19F2FF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492500"/>
            <a:ext cx="533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79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69476"/>
            <a:ext cx="9608330" cy="609398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Размерная зависимость температуры плавления (уравнение Гиббса–Томсона)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1. Уравнение Гиббса–Томсона: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Давление Лапласа внутри наночастицы: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P = 2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σ /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r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При радиусе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r = 2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нм внутреннее давление достигает сотен мегапаскалей!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Сдвиг химического потенциала под кривизной: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μ(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r) =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μ_∞ + (2σ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V_m) / r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•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Падение температуры плавления наночастиц: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T_m(r) = T_m(∞) · [1 - (2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σ_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sl) / (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ρ_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s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Δ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H_m · r)]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 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где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σ_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sl —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энергия граница твердое/жидкость, </a:t>
            </a:r>
            <a:r>
              <a:rPr lang="el-GR" sz="1200">
                <a:solidFill>
                  <a:srgbClr val="242834"/>
                </a:solidFill>
                <a:latin typeface="Arial" panose="020B0604020202020204" pitchFamily="34" charset="0"/>
              </a:rPr>
              <a:t>ρ_</a:t>
            </a:r>
            <a:r>
              <a:rPr lang="en-US" sz="1200">
                <a:solidFill>
                  <a:srgbClr val="242834"/>
                </a:solidFill>
                <a:latin typeface="Arial" panose="020B0604020202020204" pitchFamily="34" charset="0"/>
              </a:rPr>
              <a:t>s — </a:t>
            </a: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плотность фазы.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219200"/>
            <a:ext cx="5397500" cy="2222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2. Физическая картина и эксперимент: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Поверхностное предплавление: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Атомы поверхности имеют высокую амплитуду колебаний.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Плавление наночастицы начинается с жидкой оболочки (1–2 нм).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Эксперимент (Au, Буффа и Борель):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Объемный Au: 1064 °C; d = 10 нм: ~950 °C; d = 3 нм: ~400 °C!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Применение: печатная электроника (спекание при 150–200 °C).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D3C632-2413-284F-3159-C2E309C1C3C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492500"/>
            <a:ext cx="533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4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Фазовые диаграммы в наномасштабе: наноэвтектика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1. Модификация фазовых равновесий: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Смещение ликвидуса и солидуса: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Из-за падения T_m(r) обоих компонентов вся бинарная диаграмма смещается вниз по шкале температур.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Эвтектическая температура наносистемы T_E(r) существенно ниже макроскопической T_E.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Асимметричный сдвиг эвтектической точки: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Удельные поверхностные энергии компонентов σ_A и σ_B различны.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Точка C_E(r) дрейфует в сторону компонента с меньшим размерным эффектом падения температуры плавления.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219200"/>
            <a:ext cx="5397500" cy="2222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2. Новые феномены в наносостоянии: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Расширение взаимной растворимости: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Избыточная энергия границ раздела повышает предел растворимости компонентов в наносостоянии в разы.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Стабилизация метастабильных модификаций: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Нанофазы с меньшей поверхностной энергией σ устойчивы при н.у. (например, тетрагональный ZrO₂ &lt; 30 нм).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F4E8EA-FC1D-4FD4-0CBA-4615C95330B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492500"/>
            <a:ext cx="5334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06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Технологическое применение: VLS-механизм роста нанопроволок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168400"/>
            <a:ext cx="5397500" cy="1968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1. Механизм «Пар–Жидкость–Кристалл» (VLS):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Открытие Вагнера–Эллиса в нанотехнологиях: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Жидкая нанокапля эвтектики Au–Si как катализатор направленного роста.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Прекурсор силан SiH₄ каталитически разлагается на капле: SiH₄ -&gt; Si + 2H₂.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168400"/>
            <a:ext cx="5397500" cy="19685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400" b="1">
                <a:solidFill>
                  <a:srgbClr val="002C5F"/>
                </a:solidFill>
                <a:latin typeface="Arial" panose="020B0604020202020204" pitchFamily="34" charset="0"/>
              </a:rPr>
              <a:t>2. Движущая сила и контроль геометрии: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• Пересыщение и кристаллизация кремния: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Кремний кристаллизуется на границе раздела капля/подложка.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Растущий кристалл выталкивает каплю вверх; диаметр нити задается каплей Au.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ru-RU" sz="1150">
                <a:solidFill>
                  <a:srgbClr val="242834"/>
                </a:solidFill>
                <a:latin typeface="Arial" panose="020B0604020202020204" pitchFamily="34" charset="0"/>
              </a:rPr>
              <a:t>  - Базовая технология для новейших транзисторов GAAFET и фотоники.</a:t>
            </a:r>
            <a:endParaRPr lang="ru-RU" sz="115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4B124E-EFC7-BF9E-5462-7556C978516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3238500"/>
            <a:ext cx="7874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24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92F44-CDA5-5866-751F-2AC730BAC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21826"/>
            <a:ext cx="9608330" cy="304699"/>
          </a:xfrm>
        </p:spPr>
        <p:txBody>
          <a:bodyPr/>
          <a:lstStyle/>
          <a:p>
            <a:r>
              <a:rPr lang="ru-RU" sz="2200">
                <a:solidFill>
                  <a:srgbClr val="005AAA"/>
                </a:solidFill>
                <a:latin typeface="Arial" panose="020B0604020202020204" pitchFamily="34" charset="0"/>
              </a:rPr>
              <a:t>Заключение: итоги лекции и связь с практикумом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76BF3-3C26-5A52-AA6C-1CA57E36E7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117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1. Ключевые итоги лекции: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Термодинамические потенциалы (G, μ) определяют равновесие и вектор процессов (ΔG &lt; 0, равенство μ_i).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Диаграммы состояния и правило рычага — строгий аналитический аппарат для расчета фаз и структур сплавов.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В наносостоянии поверхностная энергия σ dA сопоставима с объемной, формируя барьер зародыша ΔG* и радиус r*.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Эффект Гиббса–Томсона меняет фазовые переходы: размерное падение T_m, наноэвтектика и метод VLS.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11E12B-2F99-965A-BF42-96B2B8ED3F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2999" y="1219200"/>
            <a:ext cx="5397500" cy="5207000"/>
          </a:xfrm>
        </p:spPr>
        <p:txBody>
          <a:bodyPr wrap="square">
            <a:norm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ru-RU" sz="1500" b="1">
                <a:solidFill>
                  <a:srgbClr val="002C5F"/>
                </a:solidFill>
                <a:latin typeface="Arial" panose="020B0604020202020204" pitchFamily="34" charset="0"/>
              </a:rPr>
              <a:t>2. Связь с лабораторным практикумом и РПД: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Лабораторная работа №1: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Плазмонный резонанс в металлических наночастицах (Ag, Au): оптический отклик и размерные эффекты.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Лабораторная работа №2: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Термический анализ фазовых превращений (ДСК, кривые охлаждения).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Лабораторная работа №3: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  - Синтез и устойчивость коллоидных наносистем (контроль барьера r*).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ru-RU" sz="1200">
                <a:solidFill>
                  <a:srgbClr val="242834"/>
                </a:solidFill>
                <a:latin typeface="Arial" panose="020B0604020202020204" pitchFamily="34" charset="0"/>
              </a:rPr>
              <a:t>• Анонс лекции №3: «Поверхностные явления и размерные квантовые эффекты».</a:t>
            </a:r>
            <a:endParaRPr lang="ru-RU" sz="1200" dirty="0">
              <a:solidFill>
                <a:srgbClr val="24283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859491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262</TotalTime>
  <Words>5579</Words>
  <Application>Microsoft Office PowerPoint</Application>
  <PresentationFormat>Широкоэкранный</PresentationFormat>
  <Paragraphs>277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Calibri</vt:lpstr>
      <vt:lpstr>Wingdings</vt:lpstr>
      <vt:lpstr>Arial</vt:lpstr>
      <vt:lpstr>Титульная страница</vt:lpstr>
      <vt:lpstr>Текстовые блоки</vt:lpstr>
      <vt:lpstr>Дополнительные блоки</vt:lpstr>
      <vt:lpstr>Термодинамика наноструктур</vt:lpstr>
      <vt:lpstr>Внутренняя энергия, работа и теплота: хранение vs передача</vt:lpstr>
      <vt:lpstr>Второе начало и энергия Гиббса: куда и почему течет энергия?</vt:lpstr>
      <vt:lpstr>Химический потенциал и равновесие фаз: почему тает лед?</vt:lpstr>
      <vt:lpstr>Правило фаз Гиббса: сколько параметров можно менять?</vt:lpstr>
      <vt:lpstr>Бинарные системы: сплавы, эвтектика и правило рычага</vt:lpstr>
      <vt:lpstr>Анатомия диаграммы и охлаждение сплава</vt:lpstr>
      <vt:lpstr>Синтез диаграммы из серии кривых охлаждения</vt:lpstr>
      <vt:lpstr>Правило рычага и система Au–Si</vt:lpstr>
      <vt:lpstr>Правило рычага в динамике охлаждения</vt:lpstr>
      <vt:lpstr>Правило рычага: доэвтектика, эвтектика и заэвтектика</vt:lpstr>
      <vt:lpstr>Переход к наномасштабу: поверхностная энергия и зародышеобразование</vt:lpstr>
      <vt:lpstr>Критический радиус зародыша и энергетический барьер</vt:lpstr>
      <vt:lpstr>Размерная зависимость температуры плавления (уравнение Гиббса–Томсона)</vt:lpstr>
      <vt:lpstr>Фазовые диаграммы в наномасштабе: наноэвтектика</vt:lpstr>
      <vt:lpstr>Технологическое применение: VLS-механизм роста нанопроволок</vt:lpstr>
      <vt:lpstr>Заключение: итоги лекции и связь с практикумом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Дмитрий Попов</cp:lastModifiedBy>
  <cp:revision>40</cp:revision>
  <dcterms:created xsi:type="dcterms:W3CDTF">2023-06-16T08:15:39Z</dcterms:created>
  <dcterms:modified xsi:type="dcterms:W3CDTF">2026-10-14T05:46:02Z</dcterms:modified>
  <cp:category/>
</cp:coreProperties>
</file>