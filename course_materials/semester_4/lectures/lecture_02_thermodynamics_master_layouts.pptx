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7"/>
  </p:notesMasterIdLst>
  <p:handoutMasterIdLst>
    <p:handoutMasterId r:id="rId38"/>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1" r:id="rId35"/>
    <p:sldId id="1200" r:id="rId36"/>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1"/>
            <p14:sldId id="12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commentAuthors" Target="commentAuthor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3974037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1388352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800" b="1" dirty="0">
                <a:solidFill>
                  <a:srgbClr val="002C5F"/>
                </a:solidFill>
                <a:latin typeface="Arial" panose="020B0604020202020204" pitchFamily="34" charset="0"/>
              </a:rPr>
              <a:t>1. Микроскопическая природа внутренней энергии U</a:t>
            </a:r>
          </a:p>
          <a:p>
            <a:r>
              <a:rPr lang="ru-RU" sz="1400" dirty="0">
                <a:solidFill>
                  <a:srgbClr val="242834"/>
                </a:solidFill>
                <a:latin typeface="Arial" panose="020B0604020202020204" pitchFamily="34" charset="0"/>
              </a:rPr>
              <a:t>• Механика </a:t>
            </a:r>
            <a:r>
              <a:rPr lang="ru-RU" sz="1400" dirty="0" err="1">
                <a:solidFill>
                  <a:srgbClr val="242834"/>
                </a:solidFill>
                <a:latin typeface="Arial" panose="020B0604020202020204" pitchFamily="34" charset="0"/>
              </a:rPr>
              <a:t>vs</a:t>
            </a:r>
            <a:r>
              <a:rPr lang="ru-RU" sz="1400" dirty="0">
                <a:solidFill>
                  <a:srgbClr val="242834"/>
                </a:solidFill>
                <a:latin typeface="Arial" panose="020B0604020202020204" pitchFamily="34" charset="0"/>
              </a:rPr>
              <a:t> Термодинамика: кинетическая энергия летящего тела как целого (</a:t>
            </a:r>
            <a:r>
              <a:rPr lang="ru-RU" sz="1400" dirty="0" err="1">
                <a:solidFill>
                  <a:srgbClr val="242834"/>
                </a:solidFill>
                <a:latin typeface="Arial" panose="020B0604020202020204" pitchFamily="34" charset="0"/>
              </a:rPr>
              <a:t>Eкин</a:t>
            </a:r>
            <a:r>
              <a:rPr lang="ru-RU" sz="1400" dirty="0">
                <a:solidFill>
                  <a:srgbClr val="242834"/>
                </a:solidFill>
                <a:latin typeface="Arial" panose="020B0604020202020204" pitchFamily="34" charset="0"/>
              </a:rPr>
              <a:t> = mv²/2) термодинамику не интересует — все молекулы движутся упорядоченно в одну сторону.</a:t>
            </a:r>
          </a:p>
          <a:p>
            <a:r>
              <a:rPr lang="ru-RU" sz="1400" dirty="0">
                <a:solidFill>
                  <a:srgbClr val="242834"/>
                </a:solidFill>
                <a:latin typeface="Arial" panose="020B0604020202020204" pitchFamily="34" charset="0"/>
              </a:rPr>
              <a:t>• Внутренняя энергия U [Дж]: суммарная скрытая энергия покоящегося тела (</a:t>
            </a:r>
            <a:r>
              <a:rPr lang="ru-RU" sz="1400" dirty="0" err="1">
                <a:solidFill>
                  <a:srgbClr val="242834"/>
                </a:solidFill>
                <a:latin typeface="Arial" panose="020B0604020202020204" pitchFamily="34" charset="0"/>
              </a:rPr>
              <a:t>Vцм</a:t>
            </a:r>
            <a:r>
              <a:rPr lang="ru-RU" sz="1400" dirty="0">
                <a:solidFill>
                  <a:srgbClr val="242834"/>
                </a:solidFill>
                <a:latin typeface="Arial" panose="020B0604020202020204" pitchFamily="34" charset="0"/>
              </a:rPr>
              <a:t> = 0), состоящая из двух частей:</a:t>
            </a:r>
          </a:p>
          <a:p>
            <a:r>
              <a:rPr lang="ru-RU" sz="1400" dirty="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400" dirty="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400" dirty="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lnSpcReduction="10000"/>
          </a:bodyPr>
          <a:lstStyle/>
          <a:p>
            <a:r>
              <a:rPr lang="ru-RU" sz="1800" b="1" dirty="0">
                <a:solidFill>
                  <a:srgbClr val="002C5F"/>
                </a:solidFill>
                <a:latin typeface="Arial" panose="020B0604020202020204" pitchFamily="34" charset="0"/>
              </a:rPr>
              <a:t>2. Работа A и Теплота Q: первое начало термодинамики</a:t>
            </a:r>
          </a:p>
          <a:p>
            <a:r>
              <a:rPr lang="ru-RU" sz="1400" dirty="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400" dirty="0">
                <a:solidFill>
                  <a:srgbClr val="242834"/>
                </a:solidFill>
                <a:latin typeface="Arial" panose="020B0604020202020204" pitchFamily="34" charset="0"/>
              </a:rPr>
              <a:t>• Работа A [Дж]: упорядоченный способ передачи энергии при </a:t>
            </a:r>
            <a:r>
              <a:rPr lang="ru-RU" sz="1400" dirty="0" err="1">
                <a:solidFill>
                  <a:srgbClr val="242834"/>
                </a:solidFill>
                <a:latin typeface="Arial" panose="020B0604020202020204" pitchFamily="34" charset="0"/>
              </a:rPr>
              <a:t>макросмещении</a:t>
            </a:r>
            <a:r>
              <a:rPr lang="ru-RU" sz="1400" dirty="0">
                <a:solidFill>
                  <a:srgbClr val="242834"/>
                </a:solidFill>
                <a:latin typeface="Arial" panose="020B0604020202020204" pitchFamily="34" charset="0"/>
              </a:rPr>
              <a:t> границы системы (для расширения газа: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P·dV</a:t>
            </a:r>
            <a:r>
              <a:rPr lang="ru-RU" sz="1400" dirty="0">
                <a:solidFill>
                  <a:srgbClr val="242834"/>
                </a:solidFill>
                <a:latin typeface="Arial" panose="020B0604020202020204" pitchFamily="34" charset="0"/>
              </a:rPr>
              <a:t>, где P [Па], V [м³]).</a:t>
            </a:r>
          </a:p>
          <a:p>
            <a:r>
              <a:rPr lang="ru-RU" sz="1400" dirty="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400" dirty="0">
                <a:solidFill>
                  <a:srgbClr val="242834"/>
                </a:solidFill>
                <a:latin typeface="Arial" panose="020B0604020202020204" pitchFamily="34" charset="0"/>
              </a:rPr>
              <a:t>• Первое начало термодинамики (Закон сохранения):</a:t>
            </a:r>
          </a:p>
          <a:p>
            <a:r>
              <a:rPr lang="ru-RU" sz="1400" dirty="0">
                <a:solidFill>
                  <a:srgbClr val="242834"/>
                </a:solidFill>
                <a:latin typeface="Arial" panose="020B0604020202020204" pitchFamily="34" charset="0"/>
              </a:rPr>
              <a:t>   ΔU = Q - A   (или </a:t>
            </a:r>
            <a:r>
              <a:rPr lang="ru-RU" sz="1400" dirty="0" err="1">
                <a:solidFill>
                  <a:srgbClr val="242834"/>
                </a:solidFill>
                <a:latin typeface="Arial" panose="020B0604020202020204" pitchFamily="34" charset="0"/>
              </a:rPr>
              <a:t>dQ</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dU</a:t>
            </a:r>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dA</a:t>
            </a:r>
            <a:r>
              <a:rPr lang="ru-RU" sz="1400" dirty="0">
                <a:solidFill>
                  <a:srgbClr val="242834"/>
                </a:solidFill>
                <a:latin typeface="Arial" panose="020B0604020202020204" pitchFamily="34" charset="0"/>
              </a:rPr>
              <a:t>),</a:t>
            </a:r>
          </a:p>
          <a:p>
            <a:r>
              <a:rPr lang="ru-RU" sz="1400" dirty="0">
                <a:solidFill>
                  <a:srgbClr val="242834"/>
                </a:solidFill>
                <a:latin typeface="Arial" panose="020B0604020202020204" pitchFamily="34" charset="0"/>
              </a:rPr>
              <a:t>где ΔU [Дж] — изменение внутренней энергии; Q [Дж] — переданная теплота; A [Дж] — совершенная работа.</a:t>
            </a:r>
          </a:p>
          <a:p>
            <a:r>
              <a:rPr lang="ru-RU" sz="1400" dirty="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Второе начало и энергия Гиббса: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lnSpcReduction="10000"/>
          </a:bodyPr>
          <a:lstStyle/>
          <a:p>
            <a:r>
              <a:rPr lang="ru-RU" b="1" dirty="0">
                <a:solidFill>
                  <a:srgbClr val="002C5F"/>
                </a:solidFill>
                <a:latin typeface="Arial" panose="020B0604020202020204" pitchFamily="34" charset="0"/>
              </a:rPr>
              <a:t>1. Второе начало термодинамики и Энтропия S</a:t>
            </a:r>
          </a:p>
          <a:p>
            <a:r>
              <a:rPr lang="ru-RU" sz="1400" dirty="0">
                <a:solidFill>
                  <a:srgbClr val="242834"/>
                </a:solidFill>
                <a:latin typeface="Arial" panose="020B0604020202020204" pitchFamily="34" charset="0"/>
              </a:rPr>
              <a:t>• Неполнота 1-го начала: закон ΔU = Q - A утверждает сохранение энергии, но не указывает направление процессов (почему тепло не течет само от холодного к горячему?).</a:t>
            </a:r>
          </a:p>
          <a:p>
            <a:r>
              <a:rPr lang="ru-RU" sz="1400" dirty="0">
                <a:solidFill>
                  <a:srgbClr val="242834"/>
                </a:solidFill>
                <a:latin typeface="Arial" panose="020B0604020202020204" pitchFamily="34" charset="0"/>
              </a:rPr>
              <a:t>• Стрела времени: все макропроцессы в природе необратимы (горячий чай остывает, газ расширяется в вакуум, чашка разбивается).</a:t>
            </a:r>
          </a:p>
          <a:p>
            <a:r>
              <a:rPr lang="ru-RU" sz="1400" dirty="0">
                <a:solidFill>
                  <a:srgbClr val="242834"/>
                </a:solidFill>
                <a:latin typeface="Arial" panose="020B0604020202020204" pitchFamily="34" charset="0"/>
              </a:rPr>
              <a:t>• Энтропия S [Дж/К]: мера статистического хаоса: S = </a:t>
            </a:r>
            <a:r>
              <a:rPr lang="ru-RU" sz="1400" dirty="0" err="1">
                <a:solidFill>
                  <a:srgbClr val="242834"/>
                </a:solidFill>
                <a:latin typeface="Arial" panose="020B0604020202020204" pitchFamily="34" charset="0"/>
              </a:rPr>
              <a:t>kB·ln</a:t>
            </a:r>
            <a:r>
              <a:rPr lang="ru-RU" sz="1400" dirty="0">
                <a:solidFill>
                  <a:srgbClr val="242834"/>
                </a:solidFill>
                <a:latin typeface="Arial" panose="020B0604020202020204" pitchFamily="34" charset="0"/>
              </a:rPr>
              <a:t>(W), где:</a:t>
            </a:r>
          </a:p>
          <a:p>
            <a:r>
              <a:rPr lang="ru-RU" sz="1400" dirty="0">
                <a:solidFill>
                  <a:srgbClr val="242834"/>
                </a:solidFill>
                <a:latin typeface="Arial" panose="020B0604020202020204" pitchFamily="34" charset="0"/>
              </a:rPr>
              <a:t>   – </a:t>
            </a:r>
            <a:r>
              <a:rPr lang="ru-RU" sz="1400" dirty="0" err="1">
                <a:solidFill>
                  <a:srgbClr val="242834"/>
                </a:solidFill>
                <a:latin typeface="Arial" panose="020B0604020202020204" pitchFamily="34" charset="0"/>
              </a:rPr>
              <a:t>kB</a:t>
            </a:r>
            <a:r>
              <a:rPr lang="ru-RU" sz="1400" dirty="0">
                <a:solidFill>
                  <a:srgbClr val="242834"/>
                </a:solidFill>
                <a:latin typeface="Arial" panose="020B0604020202020204" pitchFamily="34" charset="0"/>
              </a:rPr>
              <a:t> — постоянная Больцмана [Дж/К];</a:t>
            </a:r>
          </a:p>
          <a:p>
            <a:r>
              <a:rPr lang="ru-RU" sz="1400" dirty="0">
                <a:solidFill>
                  <a:srgbClr val="242834"/>
                </a:solidFill>
                <a:latin typeface="Arial" panose="020B0604020202020204" pitchFamily="34" charset="0"/>
              </a:rPr>
              <a:t>   – W — термодинамическая вероятность (число микросостояний, реализующих данное </a:t>
            </a:r>
            <a:r>
              <a:rPr lang="ru-RU" sz="1400" dirty="0" err="1">
                <a:solidFill>
                  <a:srgbClr val="242834"/>
                </a:solidFill>
                <a:latin typeface="Arial" panose="020B0604020202020204" pitchFamily="34" charset="0"/>
              </a:rPr>
              <a:t>макросостояние</a:t>
            </a:r>
            <a:r>
              <a:rPr lang="ru-RU" sz="1400" dirty="0">
                <a:solidFill>
                  <a:srgbClr val="242834"/>
                </a:solidFill>
                <a:latin typeface="Arial" panose="020B0604020202020204" pitchFamily="34" charset="0"/>
              </a:rPr>
              <a:t>: W ≥ 1).</a:t>
            </a:r>
          </a:p>
          <a:p>
            <a:r>
              <a:rPr lang="ru-RU" sz="1400" dirty="0">
                <a:solidFill>
                  <a:srgbClr val="242834"/>
                </a:solidFill>
                <a:latin typeface="Arial" panose="020B0604020202020204" pitchFamily="34" charset="0"/>
              </a:rPr>
              <a:t>• Второе начало: в изолированной системе самопроизвольно идут только процессы, увеличивающие суммарный беспорядок: ΔS ≥ 0.</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050" b="1">
                <a:solidFill>
                  <a:srgbClr val="002C5F"/>
                </a:solidFill>
                <a:latin typeface="Arial" panose="020B0604020202020204" pitchFamily="34" charset="0"/>
              </a:rPr>
              <a:t>2. Понятие потенциала и критерий процессов</a:t>
            </a:r>
          </a:p>
          <a:p>
            <a:r>
              <a:rPr lang="ru-RU" sz="105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05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05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050">
                <a:solidFill>
                  <a:srgbClr val="242834"/>
                </a:solidFill>
                <a:latin typeface="Arial" panose="020B0604020202020204" pitchFamily="34" charset="0"/>
              </a:rPr>
              <a:t>   – S — энтропия [Дж/К] (мера хаоса из п. 1);</a:t>
            </a:r>
          </a:p>
          <a:p>
            <a:r>
              <a:rPr lang="ru-RU" sz="1050">
                <a:solidFill>
                  <a:srgbClr val="242834"/>
                </a:solidFill>
                <a:latin typeface="Arial" panose="020B0604020202020204" pitchFamily="34" charset="0"/>
              </a:rPr>
              <a:t>   – TS — связанная энергия [Дж] (фактор теплового разупорядочения при температуре T [К]).</a:t>
            </a:r>
          </a:p>
          <a:p>
            <a:r>
              <a:rPr lang="ru-RU" sz="1050">
                <a:solidFill>
                  <a:srgbClr val="242834"/>
                </a:solidFill>
                <a:latin typeface="Arial" panose="020B0604020202020204" pitchFamily="34" charset="0"/>
              </a:rPr>
              <a:t>• Критерий самопроизвольности ΔG [Дж]:</a:t>
            </a:r>
          </a:p>
          <a:p>
            <a:r>
              <a:rPr lang="ru-RU" sz="1050">
                <a:solidFill>
                  <a:srgbClr val="242834"/>
                </a:solidFill>
                <a:latin typeface="Arial" panose="020B0604020202020204" pitchFamily="34" charset="0"/>
              </a:rPr>
              <a:t>   – ΔG &lt; 0 — процесс идет самопроизвольно («скатывание в яму»);</a:t>
            </a:r>
          </a:p>
          <a:p>
            <a:r>
              <a:rPr lang="ru-RU" sz="1050">
                <a:solidFill>
                  <a:srgbClr val="242834"/>
                </a:solidFill>
                <a:latin typeface="Arial" panose="020B0604020202020204" pitchFamily="34" charset="0"/>
              </a:rPr>
              <a:t>   – ΔG = 0 — термодинамическое равновесие (дно потенциальной ямы);</a:t>
            </a:r>
          </a:p>
          <a:p>
            <a:r>
              <a:rPr lang="ru-RU" sz="1050">
                <a:solidFill>
                  <a:srgbClr val="242834"/>
                </a:solidFill>
                <a:latin typeface="Arial" panose="020B0604020202020204" pitchFamily="34" charset="0"/>
              </a:rPr>
              <a:t>   – ΔG &gt; 0 — процесс термодинамически запрещен без подкачки энергии.</a:t>
            </a:r>
          </a:p>
          <a:p>
            <a:r>
              <a:rPr lang="ru-RU" sz="105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52</TotalTime>
  <Words>2316</Words>
  <Application>Microsoft Office PowerPoint</Application>
  <PresentationFormat>Широкоэкранный</PresentationFormat>
  <Paragraphs>218</Paragraphs>
  <Slides>32</Slides>
  <Notes>10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32</vt:i4>
      </vt:variant>
    </vt:vector>
  </HeadingPairs>
  <TitlesOfParts>
    <vt:vector size="39"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Внутренняя энергия, работа и теплота: хранение vs передача</vt:lpstr>
      <vt:lpstr>Второе начало и энергия Гиббса: куда и почему течет энергия?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9</cp:revision>
  <dcterms:created xsi:type="dcterms:W3CDTF">2023-06-16T08:15:39Z</dcterms:created>
  <dcterms:modified xsi:type="dcterms:W3CDTF">2026-09-16T05:51:32Z</dcterms:modified>
  <cp:category/>
</cp:coreProperties>
</file>