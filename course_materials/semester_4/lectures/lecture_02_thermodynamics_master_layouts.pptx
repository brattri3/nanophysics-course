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6"/>
  </p:notesMasterIdLst>
  <p:handoutMasterIdLst>
    <p:handoutMasterId r:id="rId37"/>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0" r:id="rId3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presProps" Target="presProp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1388352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p:txBody>
          <a:bodyPr/>
          <a:lstStyle/>
          <a:p>
            <a:r>
              <a:rPr lang="ru-RU">
                <a:solidFill>
                  <a:srgbClr val="005AAA"/>
                </a:solidFill>
                <a:latin typeface="Arial" panose="020B0604020202020204" pitchFamily="34" charset="0"/>
              </a:rPr>
              <a:t>Основы термодинамики: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a:bodyPr>
          <a:lstStyle/>
          <a:p>
            <a:r>
              <a:rPr lang="ru-RU" sz="1600" b="1">
                <a:solidFill>
                  <a:srgbClr val="002C5F"/>
                </a:solidFill>
                <a:latin typeface="Arial" panose="020B0604020202020204" pitchFamily="34" charset="0"/>
              </a:rPr>
              <a:t>1. Макроскопическое описание системы</a:t>
            </a:r>
          </a:p>
          <a:p>
            <a:r>
              <a:rPr lang="ru-RU" sz="1350">
                <a:solidFill>
                  <a:srgbClr val="242834"/>
                </a:solidFill>
                <a:latin typeface="Arial" panose="020B0604020202020204" pitchFamily="34" charset="0"/>
              </a:rPr>
              <a:t>• Главный вопрос термодинамики: не «как быстро идет процесс?», а «возможен ли он самопроизвольно и где наступит равновесие?»</a:t>
            </a:r>
          </a:p>
          <a:p>
            <a:r>
              <a:rPr lang="ru-RU" sz="1350">
                <a:solidFill>
                  <a:srgbClr val="242834"/>
                </a:solidFill>
                <a:latin typeface="Arial" panose="020B0604020202020204" pitchFamily="34" charset="0"/>
              </a:rPr>
              <a:t>• Отказ от микротрекинга: вместо скоростей триллионов отдельных молекул мы измеряем интегральные параметры состояния:</a:t>
            </a:r>
          </a:p>
          <a:p>
            <a:r>
              <a:rPr lang="ru-RU" sz="1350">
                <a:solidFill>
                  <a:srgbClr val="242834"/>
                </a:solidFill>
                <a:latin typeface="Arial" panose="020B0604020202020204" pitchFamily="34" charset="0"/>
              </a:rPr>
              <a:t>   – T — абсолютная температура [К] (мера средней кинетической энергии хаотического теплового движения частиц);</a:t>
            </a:r>
          </a:p>
          <a:p>
            <a:r>
              <a:rPr lang="ru-RU" sz="1350">
                <a:solidFill>
                  <a:srgbClr val="242834"/>
                </a:solidFill>
                <a:latin typeface="Arial" panose="020B0604020202020204" pitchFamily="34" charset="0"/>
              </a:rPr>
              <a:t>   – P — давление [Па] (усредненная сила ударов молекул о единицу площади границы);</a:t>
            </a:r>
          </a:p>
          <a:p>
            <a:r>
              <a:rPr lang="ru-RU" sz="1350">
                <a:solidFill>
                  <a:srgbClr val="242834"/>
                </a:solidFill>
                <a:latin typeface="Arial" panose="020B0604020202020204" pitchFamily="34" charset="0"/>
              </a:rPr>
              <a:t>   – V — объем системы [м³].</a:t>
            </a:r>
          </a:p>
          <a:p>
            <a:r>
              <a:rPr lang="ru-RU" sz="1350">
                <a:solidFill>
                  <a:srgbClr val="242834"/>
                </a:solidFill>
                <a:latin typeface="Arial" panose="020B0604020202020204" pitchFamily="34" charset="0"/>
              </a:rPr>
              <a:t>• Термодинамическое равновесие: конечное состояние, при котором параметры T, P, V неизменны во времени, а макропотоки тепла и вещества отсутствуют.</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rmAutofit/>
          </a:bodyPr>
          <a:lstStyle/>
          <a:p>
            <a:r>
              <a:rPr lang="ru-RU" sz="1600" b="1">
                <a:solidFill>
                  <a:srgbClr val="002C5F"/>
                </a:solidFill>
                <a:latin typeface="Arial" panose="020B0604020202020204" pitchFamily="34" charset="0"/>
              </a:rPr>
              <a:t>2. Критерий самопроизвольности процессов</a:t>
            </a:r>
          </a:p>
          <a:p>
            <a:r>
              <a:rPr lang="ru-RU" sz="1350">
                <a:solidFill>
                  <a:srgbClr val="242834"/>
                </a:solidFill>
                <a:latin typeface="Arial" panose="020B0604020202020204" pitchFamily="34" charset="0"/>
              </a:rPr>
              <a:t>• Принцип «энергетической ямы»: любая предоставленная себе система стремится к минимуму свободной энергии (скатиться на дно ямы).</a:t>
            </a:r>
          </a:p>
          <a:p>
            <a:r>
              <a:rPr lang="ru-RU" sz="1350">
                <a:solidFill>
                  <a:srgbClr val="242834"/>
                </a:solidFill>
                <a:latin typeface="Arial" panose="020B0604020202020204" pitchFamily="34" charset="0"/>
              </a:rPr>
              <a:t>• Энергия Гиббса G [Дж]: ключевой термодинамический потенциал для процессов при постоянных давлении P и температуре T (G = H - TS).</a:t>
            </a:r>
          </a:p>
          <a:p>
            <a:r>
              <a:rPr lang="ru-RU" sz="1350">
                <a:solidFill>
                  <a:srgbClr val="242834"/>
                </a:solidFill>
                <a:latin typeface="Arial" panose="020B0604020202020204" pitchFamily="34" charset="0"/>
              </a:rPr>
              <a:t>• Изменение энергии Гиббса ΔG [Дж]:</a:t>
            </a:r>
          </a:p>
          <a:p>
            <a:r>
              <a:rPr lang="ru-RU" sz="1350">
                <a:solidFill>
                  <a:srgbClr val="242834"/>
                </a:solidFill>
                <a:latin typeface="Arial" panose="020B0604020202020204" pitchFamily="34" charset="0"/>
              </a:rPr>
              <a:t>   – ΔG &lt; 0 — процесс идет самопроизвольно («скатывание в яму»);</a:t>
            </a:r>
          </a:p>
          <a:p>
            <a:r>
              <a:rPr lang="ru-RU" sz="1350">
                <a:solidFill>
                  <a:srgbClr val="242834"/>
                </a:solidFill>
                <a:latin typeface="Arial" panose="020B0604020202020204" pitchFamily="34" charset="0"/>
              </a:rPr>
              <a:t>   – ΔG = 0 — термодинамическое равновесие (дно потенциальной ямы);</a:t>
            </a:r>
          </a:p>
          <a:p>
            <a:r>
              <a:rPr lang="ru-RU" sz="1350">
                <a:solidFill>
                  <a:srgbClr val="242834"/>
                </a:solidFill>
                <a:latin typeface="Arial" panose="020B0604020202020204" pitchFamily="34" charset="0"/>
              </a:rPr>
              <a:t>   – ΔG &gt; 0 — процесс термодинамически запрещен без внешнего воздействия.</a:t>
            </a:r>
          </a:p>
          <a:p>
            <a:r>
              <a:rPr lang="ru-RU" sz="1350">
                <a:solidFill>
                  <a:srgbClr val="242834"/>
                </a:solidFill>
                <a:latin typeface="Arial" panose="020B0604020202020204" pitchFamily="34" charset="0"/>
              </a:rPr>
              <a:t>• Наномасштаб: из-за гигантской доли поверхностных атомов форма и глубина ямы G для наночастицы кардинально меняются!</a:t>
            </a:r>
          </a:p>
        </p:txBody>
      </p:sp>
    </p:spTree>
    <p:extLst>
      <p:ext uri="{BB962C8B-B14F-4D97-AF65-F5344CB8AC3E}">
        <p14:creationId xmlns:p14="http://schemas.microsoft.com/office/powerpoint/2010/main" val="259260717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9</TotalTime>
  <Words>1926</Words>
  <Application>Microsoft Office PowerPoint</Application>
  <PresentationFormat>Широкоэкранный</PresentationFormat>
  <Paragraphs>199</Paragraphs>
  <Slides>31</Slides>
  <Notes>9</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31</vt:i4>
      </vt:variant>
    </vt:vector>
  </HeadingPairs>
  <TitlesOfParts>
    <vt:vector size="38"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Основы термодинамики: куда и почему течет энергия?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4</cp:revision>
  <dcterms:created xsi:type="dcterms:W3CDTF">2023-06-16T08:15:39Z</dcterms:created>
  <dcterms:modified xsi:type="dcterms:W3CDTF">2026-09-16T05:09:26Z</dcterms:modified>
  <cp:category/>
</cp:coreProperties>
</file>