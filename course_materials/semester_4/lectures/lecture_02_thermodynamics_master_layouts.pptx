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36"/>
  </p:notesMasterIdLst>
  <p:handoutMasterIdLst>
    <p:handoutMasterId r:id="rId37"/>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0" r:id="rId35"/>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presProps" Target="presProp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1388352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p:txBody>
          <a:bodyPr/>
          <a:lstStyle/>
          <a:p>
            <a:r>
              <a:rPr lang="ru-RU">
                <a:solidFill>
                  <a:srgbClr val="005AAA"/>
                </a:solidFill>
                <a:latin typeface="Arial" panose="020B0604020202020204" pitchFamily="34" charset="0"/>
              </a:rPr>
              <a:t>Основы термодинамики: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a:bodyPr>
          <a:lstStyle/>
          <a:p>
            <a:r>
              <a:rPr lang="ru-RU" sz="1600" b="1">
                <a:solidFill>
                  <a:srgbClr val="002C5F"/>
                </a:solidFill>
                <a:latin typeface="Arial" panose="020B0604020202020204" pitchFamily="34" charset="0"/>
              </a:rPr>
              <a:t>1. Физическая логика термодинамики</a:t>
            </a:r>
          </a:p>
          <a:p>
            <a:r>
              <a:rPr lang="ru-RU" sz="1400">
                <a:solidFill>
                  <a:srgbClr val="242834"/>
                </a:solidFill>
                <a:latin typeface="Arial" panose="020B0604020202020204" pitchFamily="34" charset="0"/>
              </a:rPr>
              <a:t>• Главный вопрос: не «как быстро идет процесс?», а «возможен ли он самопроизвольно и где наступит равновесие?»</a:t>
            </a:r>
          </a:p>
          <a:p>
            <a:r>
              <a:rPr lang="ru-RU" sz="1400">
                <a:solidFill>
                  <a:srgbClr val="242834"/>
                </a:solidFill>
                <a:latin typeface="Arial" panose="020B0604020202020204" pitchFamily="34" charset="0"/>
              </a:rPr>
              <a:t>• Отказ от трекинга молекул: вместо описания триллионов частиц по законам Ньютона мы измеряем интегральные параметры T, P, V.</a:t>
            </a:r>
          </a:p>
          <a:p>
            <a:r>
              <a:rPr lang="ru-RU" sz="1400">
                <a:solidFill>
                  <a:srgbClr val="242834"/>
                </a:solidFill>
                <a:latin typeface="Arial" panose="020B0604020202020204" pitchFamily="34" charset="0"/>
              </a:rPr>
              <a:t>• Термодинамическое равновесие: конечное состояние, из которого система сама, без внешнего воздействия, уже не выйдет.</a:t>
            </a:r>
          </a:p>
          <a:p>
            <a:r>
              <a:rPr lang="ru-RU" sz="1400">
                <a:solidFill>
                  <a:srgbClr val="242834"/>
                </a:solidFill>
                <a:latin typeface="Arial" panose="020B0604020202020204" pitchFamily="34" charset="0"/>
              </a:rPr>
              <a:t>• Смысл температуры: T — это не свойство отдельного атома, а мера средней кинетической энергии теплового беспорядка.</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rmAutofit/>
          </a:bodyPr>
          <a:lstStyle/>
          <a:p>
            <a:r>
              <a:rPr lang="ru-RU" sz="1600" b="1">
                <a:solidFill>
                  <a:srgbClr val="002C5F"/>
                </a:solidFill>
                <a:latin typeface="Arial" panose="020B0604020202020204" pitchFamily="34" charset="0"/>
              </a:rPr>
              <a:t>2. Принцип энергетической ямы</a:t>
            </a:r>
          </a:p>
          <a:p>
            <a:r>
              <a:rPr lang="ru-RU" sz="1400">
                <a:solidFill>
                  <a:srgbClr val="242834"/>
                </a:solidFill>
                <a:latin typeface="Arial" panose="020B0604020202020204" pitchFamily="34" charset="0"/>
              </a:rPr>
              <a:t>• Механическая аналогия: любая физическая система стремится занять состояние с минимальной свободной энергией (скатиться на дно ямы).</a:t>
            </a:r>
          </a:p>
          <a:p>
            <a:r>
              <a:rPr lang="ru-RU" sz="1400">
                <a:solidFill>
                  <a:srgbClr val="242834"/>
                </a:solidFill>
                <a:latin typeface="Arial" panose="020B0604020202020204" pitchFamily="34" charset="0"/>
              </a:rPr>
              <a:t>• Критерий самопроизвольности: при постоянных T и P процесс возможен сам по себе только туда, где ΔG &lt; 0.</a:t>
            </a:r>
          </a:p>
          <a:p>
            <a:r>
              <a:rPr lang="ru-RU" sz="1400">
                <a:solidFill>
                  <a:srgbClr val="242834"/>
                </a:solidFill>
                <a:latin typeface="Arial" panose="020B0604020202020204" pitchFamily="34" charset="0"/>
              </a:rPr>
              <a:t>• Точка минимума (ΔG = 0): устойчивое термодинамическое равновесие.</a:t>
            </a:r>
          </a:p>
          <a:p>
            <a:r>
              <a:rPr lang="ru-RU" sz="1400">
                <a:solidFill>
                  <a:srgbClr val="242834"/>
                </a:solidFill>
                <a:latin typeface="Arial" panose="020B0604020202020204" pitchFamily="34" charset="0"/>
              </a:rPr>
              <a:t>• Почему это важно для наномира: гигантская доля поверхностных атомов смещает дно ямы, изменяя температуры фазовых переходов!</a:t>
            </a:r>
          </a:p>
        </p:txBody>
      </p:sp>
    </p:spTree>
    <p:extLst>
      <p:ext uri="{BB962C8B-B14F-4D97-AF65-F5344CB8AC3E}">
        <p14:creationId xmlns:p14="http://schemas.microsoft.com/office/powerpoint/2010/main" val="2592607171"/>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5</TotalTime>
  <Words>1861</Words>
  <Application>Microsoft Office PowerPoint</Application>
  <PresentationFormat>Широкоэкранный</PresentationFormat>
  <Paragraphs>194</Paragraphs>
  <Slides>31</Slides>
  <Notes>9</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31</vt:i4>
      </vt:variant>
    </vt:vector>
  </HeadingPairs>
  <TitlesOfParts>
    <vt:vector size="38"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Основы термодинамики: куда и почему течет энергия?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3</cp:revision>
  <dcterms:created xsi:type="dcterms:W3CDTF">2023-06-16T08:15:39Z</dcterms:created>
  <dcterms:modified xsi:type="dcterms:W3CDTF">2026-09-16T05:05:13Z</dcterms:modified>
  <cp:category/>
</cp:coreProperties>
</file>