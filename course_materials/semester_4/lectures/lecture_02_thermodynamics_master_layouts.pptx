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9"/>
  </p:notesMasterIdLst>
  <p:handoutMasterIdLst>
    <p:handoutMasterId r:id="rId40"/>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 id="1202" r:id="rId37"/>
    <p:sldId id="1203" r:id="rId38"/>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 id="1202"/>
            <p14:sldId id="12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33</a:t>
            </a:fld>
            <a:endParaRPr lang="ru-RU"/>
          </a:p>
        </p:txBody>
      </p:sp>
    </p:spTree>
    <p:extLst>
      <p:ext uri="{BB962C8B-B14F-4D97-AF65-F5344CB8AC3E}">
        <p14:creationId xmlns:p14="http://schemas.microsoft.com/office/powerpoint/2010/main" val="3584659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34</a:t>
            </a:fld>
            <a:endParaRPr lang="ru-RU"/>
          </a:p>
        </p:txBody>
      </p:sp>
    </p:spTree>
    <p:extLst>
      <p:ext uri="{BB962C8B-B14F-4D97-AF65-F5344CB8AC3E}">
        <p14:creationId xmlns:p14="http://schemas.microsoft.com/office/powerpoint/2010/main" val="15730503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800" b="1" dirty="0">
                <a:solidFill>
                  <a:srgbClr val="002C5F"/>
                </a:solidFill>
                <a:latin typeface="Arial" panose="020B0604020202020204" pitchFamily="34" charset="0"/>
              </a:rPr>
              <a:t>1. Микроскопическая природа внутренней энергии U</a:t>
            </a:r>
          </a:p>
          <a:p>
            <a:r>
              <a:rPr lang="ru-RU" sz="1400" dirty="0">
                <a:solidFill>
                  <a:srgbClr val="242834"/>
                </a:solidFill>
                <a:latin typeface="Arial" panose="020B0604020202020204" pitchFamily="34" charset="0"/>
              </a:rPr>
              <a:t>• Механика </a:t>
            </a:r>
            <a:r>
              <a:rPr lang="ru-RU" sz="1400" dirty="0" err="1">
                <a:solidFill>
                  <a:srgbClr val="242834"/>
                </a:solidFill>
                <a:latin typeface="Arial" panose="020B0604020202020204" pitchFamily="34" charset="0"/>
              </a:rPr>
              <a:t>vs</a:t>
            </a:r>
            <a:r>
              <a:rPr lang="ru-RU" sz="1400" dirty="0">
                <a:solidFill>
                  <a:srgbClr val="242834"/>
                </a:solidFill>
                <a:latin typeface="Arial" panose="020B0604020202020204" pitchFamily="34" charset="0"/>
              </a:rPr>
              <a:t> Термодинамика: кинетическая энергия летящего тела как целого (</a:t>
            </a:r>
            <a:r>
              <a:rPr lang="ru-RU" sz="1400" dirty="0" err="1">
                <a:solidFill>
                  <a:srgbClr val="242834"/>
                </a:solidFill>
                <a:latin typeface="Arial" panose="020B0604020202020204" pitchFamily="34" charset="0"/>
              </a:rPr>
              <a:t>Eкин</a:t>
            </a:r>
            <a:r>
              <a:rPr lang="ru-RU" sz="1400" dirty="0">
                <a:solidFill>
                  <a:srgbClr val="242834"/>
                </a:solidFill>
                <a:latin typeface="Arial" panose="020B0604020202020204" pitchFamily="34" charset="0"/>
              </a:rPr>
              <a:t> = mv²/2) термодинамику не интересует — все молекулы движутся упорядоченно в одну сторону.</a:t>
            </a:r>
          </a:p>
          <a:p>
            <a:r>
              <a:rPr lang="ru-RU" sz="1400" dirty="0">
                <a:solidFill>
                  <a:srgbClr val="242834"/>
                </a:solidFill>
                <a:latin typeface="Arial" panose="020B0604020202020204" pitchFamily="34" charset="0"/>
              </a:rPr>
              <a:t>• Внутренняя энергия U [Дж]: суммарная скрытая энергия покоящегося тела (</a:t>
            </a:r>
            <a:r>
              <a:rPr lang="ru-RU" sz="1400" dirty="0" err="1">
                <a:solidFill>
                  <a:srgbClr val="242834"/>
                </a:solidFill>
                <a:latin typeface="Arial" panose="020B0604020202020204" pitchFamily="34" charset="0"/>
              </a:rPr>
              <a:t>Vцм</a:t>
            </a:r>
            <a:r>
              <a:rPr lang="ru-RU" sz="1400" dirty="0">
                <a:solidFill>
                  <a:srgbClr val="242834"/>
                </a:solidFill>
                <a:latin typeface="Arial" panose="020B0604020202020204" pitchFamily="34" charset="0"/>
              </a:rPr>
              <a:t> = 0), состоящая из двух частей:</a:t>
            </a:r>
          </a:p>
          <a:p>
            <a:r>
              <a:rPr lang="ru-RU" sz="1400" dirty="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400" dirty="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400" dirty="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lnSpcReduction="10000"/>
          </a:bodyPr>
          <a:lstStyle/>
          <a:p>
            <a:r>
              <a:rPr lang="ru-RU" sz="1800" b="1" dirty="0">
                <a:solidFill>
                  <a:srgbClr val="002C5F"/>
                </a:solidFill>
                <a:latin typeface="Arial" panose="020B0604020202020204" pitchFamily="34" charset="0"/>
              </a:rPr>
              <a:t>2. Работа A и Теплота Q: первое начало термодинамики</a:t>
            </a:r>
          </a:p>
          <a:p>
            <a:r>
              <a:rPr lang="ru-RU" sz="1400" dirty="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400" dirty="0">
                <a:solidFill>
                  <a:srgbClr val="242834"/>
                </a:solidFill>
                <a:latin typeface="Arial" panose="020B0604020202020204" pitchFamily="34" charset="0"/>
              </a:rPr>
              <a:t>• Работа A [Дж]: упорядоченный способ передачи энергии при </a:t>
            </a:r>
            <a:r>
              <a:rPr lang="ru-RU" sz="1400" dirty="0" err="1">
                <a:solidFill>
                  <a:srgbClr val="242834"/>
                </a:solidFill>
                <a:latin typeface="Arial" panose="020B0604020202020204" pitchFamily="34" charset="0"/>
              </a:rPr>
              <a:t>макросмещении</a:t>
            </a:r>
            <a:r>
              <a:rPr lang="ru-RU" sz="1400" dirty="0">
                <a:solidFill>
                  <a:srgbClr val="242834"/>
                </a:solidFill>
                <a:latin typeface="Arial" panose="020B0604020202020204" pitchFamily="34" charset="0"/>
              </a:rPr>
              <a:t> границы системы (для расширения газа: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P·dV</a:t>
            </a:r>
            <a:r>
              <a:rPr lang="ru-RU" sz="1400" dirty="0">
                <a:solidFill>
                  <a:srgbClr val="242834"/>
                </a:solidFill>
                <a:latin typeface="Arial" panose="020B0604020202020204" pitchFamily="34" charset="0"/>
              </a:rPr>
              <a:t>, где P [Па], V [м³]).</a:t>
            </a:r>
          </a:p>
          <a:p>
            <a:r>
              <a:rPr lang="ru-RU" sz="1400" dirty="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400" dirty="0">
                <a:solidFill>
                  <a:srgbClr val="242834"/>
                </a:solidFill>
                <a:latin typeface="Arial" panose="020B0604020202020204" pitchFamily="34" charset="0"/>
              </a:rPr>
              <a:t>• Первое начало термодинамики (Закон сохранения):</a:t>
            </a:r>
          </a:p>
          <a:p>
            <a:r>
              <a:rPr lang="ru-RU" sz="1400" dirty="0">
                <a:solidFill>
                  <a:srgbClr val="242834"/>
                </a:solidFill>
                <a:latin typeface="Arial" panose="020B0604020202020204" pitchFamily="34" charset="0"/>
              </a:rPr>
              <a:t>   ΔU = Q - A   (или </a:t>
            </a:r>
            <a:r>
              <a:rPr lang="ru-RU" sz="1400" dirty="0" err="1">
                <a:solidFill>
                  <a:srgbClr val="242834"/>
                </a:solidFill>
                <a:latin typeface="Arial" panose="020B0604020202020204" pitchFamily="34" charset="0"/>
              </a:rPr>
              <a:t>dQ</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dU</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где ΔU [Дж] — изменение внутренней энергии; Q [Дж] — переданная теплота; A [Дж] — совершенная работа.</a:t>
            </a:r>
          </a:p>
          <a:p>
            <a:r>
              <a:rPr lang="ru-RU" sz="1400" dirty="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lnSpcReduction="10000"/>
          </a:bodyPr>
          <a:lstStyle/>
          <a:p>
            <a:r>
              <a:rPr lang="ru-RU" b="1" dirty="0">
                <a:solidFill>
                  <a:srgbClr val="002C5F"/>
                </a:solidFill>
                <a:latin typeface="Arial" panose="020B0604020202020204" pitchFamily="34" charset="0"/>
              </a:rPr>
              <a:t>1. Второе начало термодинамики и Энтропия S</a:t>
            </a:r>
          </a:p>
          <a:p>
            <a:r>
              <a:rPr lang="ru-RU" sz="1400" dirty="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400" dirty="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400" dirty="0">
                <a:solidFill>
                  <a:srgbClr val="242834"/>
                </a:solidFill>
                <a:latin typeface="Arial" panose="020B0604020202020204" pitchFamily="34" charset="0"/>
              </a:rPr>
              <a:t>• Энтропия S [Дж/К]: мера статистического хаоса: </a:t>
            </a:r>
          </a:p>
          <a:p>
            <a:r>
              <a:rPr lang="ru-RU" sz="1400" dirty="0">
                <a:solidFill>
                  <a:srgbClr val="242834"/>
                </a:solidFill>
                <a:latin typeface="Arial" panose="020B0604020202020204" pitchFamily="34" charset="0"/>
              </a:rPr>
              <a:t>	S = </a:t>
            </a:r>
            <a:r>
              <a:rPr lang="ru-RU" sz="1400" dirty="0" err="1">
                <a:solidFill>
                  <a:srgbClr val="242834"/>
                </a:solidFill>
                <a:latin typeface="Arial" panose="020B0604020202020204" pitchFamily="34" charset="0"/>
              </a:rPr>
              <a:t>kB·ln</a:t>
            </a:r>
            <a:r>
              <a:rPr lang="ru-RU" sz="1400" dirty="0">
                <a:solidFill>
                  <a:srgbClr val="242834"/>
                </a:solidFill>
                <a:latin typeface="Arial" panose="020B0604020202020204" pitchFamily="34" charset="0"/>
              </a:rPr>
              <a:t>(W), где:</a:t>
            </a:r>
          </a:p>
          <a:p>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kB</a:t>
            </a:r>
            <a:r>
              <a:rPr lang="ru-RU" sz="1400" dirty="0">
                <a:solidFill>
                  <a:srgbClr val="242834"/>
                </a:solidFill>
                <a:latin typeface="Arial" panose="020B0604020202020204" pitchFamily="34" charset="0"/>
              </a:rPr>
              <a:t> — постоянная Больцмана [Дж/К];</a:t>
            </a:r>
          </a:p>
          <a:p>
            <a:r>
              <a:rPr lang="ru-RU" sz="1400" dirty="0">
                <a:solidFill>
                  <a:srgbClr val="242834"/>
                </a:solidFill>
                <a:latin typeface="Arial" panose="020B0604020202020204" pitchFamily="34" charset="0"/>
              </a:rPr>
              <a:t>   – W — термодинамическая вероятность (число микросостояний, реализующих данное </a:t>
            </a:r>
            <a:r>
              <a:rPr lang="ru-RU" sz="1400" dirty="0" err="1">
                <a:solidFill>
                  <a:srgbClr val="242834"/>
                </a:solidFill>
                <a:latin typeface="Arial" panose="020B0604020202020204" pitchFamily="34" charset="0"/>
              </a:rPr>
              <a:t>макросостояние</a:t>
            </a:r>
            <a:r>
              <a:rPr lang="ru-RU" sz="1400" dirty="0">
                <a:solidFill>
                  <a:srgbClr val="242834"/>
                </a:solidFill>
                <a:latin typeface="Arial" panose="020B0604020202020204" pitchFamily="34" charset="0"/>
              </a:rPr>
              <a:t>:        W ≥ 1).</a:t>
            </a:r>
          </a:p>
          <a:p>
            <a:r>
              <a:rPr lang="ru-RU" sz="1400" dirty="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200" b="1" dirty="0">
                <a:solidFill>
                  <a:srgbClr val="002C5F"/>
                </a:solidFill>
                <a:latin typeface="Arial" panose="020B0604020202020204" pitchFamily="34" charset="0"/>
              </a:rPr>
              <a:t>2. Понятие потенциала и критерий процессов</a:t>
            </a:r>
          </a:p>
          <a:p>
            <a:r>
              <a:rPr lang="ru-RU" sz="1200" dirty="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200" dirty="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200" dirty="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200" dirty="0">
                <a:solidFill>
                  <a:srgbClr val="242834"/>
                </a:solidFill>
                <a:latin typeface="Arial" panose="020B0604020202020204" pitchFamily="34" charset="0"/>
              </a:rPr>
              <a:t>   – S — энтропия [Дж/К] (мера хаоса из п. 1);</a:t>
            </a:r>
          </a:p>
          <a:p>
            <a:r>
              <a:rPr lang="ru-RU" sz="1200" dirty="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200" dirty="0">
                <a:solidFill>
                  <a:srgbClr val="242834"/>
                </a:solidFill>
                <a:latin typeface="Arial" panose="020B0604020202020204" pitchFamily="34" charset="0"/>
              </a:rPr>
              <a:t>• Критерий самопроизвольности ΔG [Дж]:</a:t>
            </a:r>
          </a:p>
          <a:p>
            <a:r>
              <a:rPr lang="ru-RU" sz="1200" dirty="0">
                <a:solidFill>
                  <a:srgbClr val="242834"/>
                </a:solidFill>
                <a:latin typeface="Arial" panose="020B0604020202020204" pitchFamily="34" charset="0"/>
              </a:rPr>
              <a:t>   – ΔG &lt; 0 — процесс идет самопроизвольно («скатывание в яму»);</a:t>
            </a:r>
          </a:p>
          <a:p>
            <a:r>
              <a:rPr lang="ru-RU" sz="1200" dirty="0">
                <a:solidFill>
                  <a:srgbClr val="242834"/>
                </a:solidFill>
                <a:latin typeface="Arial" panose="020B0604020202020204" pitchFamily="34" charset="0"/>
              </a:rPr>
              <a:t>   – ΔG = 0 — термодинамическое равновесие (дно потенциальной ямы);</a:t>
            </a:r>
          </a:p>
          <a:p>
            <a:r>
              <a:rPr lang="ru-RU" sz="1200" dirty="0">
                <a:solidFill>
                  <a:srgbClr val="242834"/>
                </a:solidFill>
                <a:latin typeface="Arial" panose="020B0604020202020204" pitchFamily="34" charset="0"/>
              </a:rPr>
              <a:t>   – ΔG &gt; 0 — процесс термодинамически запрещен без подкачки энергии.</a:t>
            </a:r>
          </a:p>
          <a:p>
            <a:r>
              <a:rPr lang="ru-RU" sz="1200" dirty="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8FBCDF-041C-3E41-5A93-F085ED03F7B5}"/>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Химический потенциал и равновесие фаз: почему тает лед?</a:t>
            </a:r>
          </a:p>
        </p:txBody>
      </p:sp>
      <p:sp>
        <p:nvSpPr>
          <p:cNvPr id="3" name="Текст 2">
            <a:extLst>
              <a:ext uri="{FF2B5EF4-FFF2-40B4-BE49-F238E27FC236}">
                <a16:creationId xmlns:a16="http://schemas.microsoft.com/office/drawing/2014/main" id="{42BBF0DC-32F7-4591-B4ED-6321BEB1A7DB}"/>
              </a:ext>
            </a:extLst>
          </p:cNvPr>
          <p:cNvSpPr>
            <a:spLocks noGrp="1"/>
          </p:cNvSpPr>
          <p:nvPr>
            <p:ph type="body" sz="quarter" idx="12"/>
          </p:nvPr>
        </p:nvSpPr>
        <p:spPr/>
        <p:txBody>
          <a:bodyPr>
            <a:normAutofit/>
          </a:bodyPr>
          <a:lstStyle/>
          <a:p>
            <a:r>
              <a:rPr lang="ru-RU" b="1" dirty="0">
                <a:solidFill>
                  <a:srgbClr val="002C5F"/>
                </a:solidFill>
                <a:latin typeface="Arial" panose="020B0604020202020204" pitchFamily="34" charset="0"/>
              </a:rPr>
              <a:t>1. Химический потенциал μ — «цена» частицы</a:t>
            </a:r>
          </a:p>
          <a:p>
            <a:r>
              <a:rPr lang="ru-RU" sz="1400" dirty="0">
                <a:solidFill>
                  <a:srgbClr val="242834"/>
                </a:solidFill>
                <a:latin typeface="Arial" panose="020B0604020202020204" pitchFamily="34" charset="0"/>
              </a:rPr>
              <a:t>• Системы с переменным составом: при плавлении, кристаллизации и росте наночастиц вещество переходит между фазами (число частиц n ≠ </a:t>
            </a:r>
            <a:r>
              <a:rPr lang="ru-RU" sz="1400" dirty="0" err="1">
                <a:solidFill>
                  <a:srgbClr val="242834"/>
                </a:solidFill>
                <a:latin typeface="Arial" panose="020B0604020202020204" pitchFamily="34" charset="0"/>
              </a:rPr>
              <a:t>const</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 Определение μ [Дж/моль]: приращение свободной энергии Гиббса G [Дж] при добавлении в фазу 1 моля вещества при постоянных T [К] и P [Па]:</a:t>
            </a:r>
          </a:p>
          <a:p>
            <a:r>
              <a:rPr lang="ru-RU" sz="1400" dirty="0">
                <a:solidFill>
                  <a:srgbClr val="242834"/>
                </a:solidFill>
                <a:latin typeface="Arial" panose="020B0604020202020204" pitchFamily="34" charset="0"/>
              </a:rPr>
              <a:t>   μ = ∂G / ∂n,   где G — энергия Гиббса [Дж], n — количество вещества [моль].</a:t>
            </a:r>
          </a:p>
          <a:p>
            <a:r>
              <a:rPr lang="ru-RU" sz="1400" dirty="0">
                <a:solidFill>
                  <a:srgbClr val="242834"/>
                </a:solidFill>
                <a:latin typeface="Arial" panose="020B0604020202020204" pitchFamily="34" charset="0"/>
              </a:rPr>
              <a:t>• Физический смысл (Принцип сообщающихся сосудов):</a:t>
            </a:r>
          </a:p>
          <a:p>
            <a:r>
              <a:rPr lang="ru-RU" sz="1400" dirty="0">
                <a:solidFill>
                  <a:srgbClr val="242834"/>
                </a:solidFill>
                <a:latin typeface="Arial" panose="020B0604020202020204" pitchFamily="34" charset="0"/>
              </a:rPr>
              <a:t>   – μ — это «энергетическое давление» вещества в данной фазе («стоимость входа» частицы);</a:t>
            </a:r>
          </a:p>
          <a:p>
            <a:r>
              <a:rPr lang="ru-RU" sz="1400" dirty="0">
                <a:solidFill>
                  <a:srgbClr val="242834"/>
                </a:solidFill>
                <a:latin typeface="Arial" panose="020B0604020202020204" pitchFamily="34" charset="0"/>
              </a:rPr>
              <a:t>   – вещество всегда самопроизвольно перетекает из фазы с высоким μ в фазу с низким μ до выравнивания уровней химических потенциалов.</a:t>
            </a:r>
          </a:p>
        </p:txBody>
      </p:sp>
      <p:sp>
        <p:nvSpPr>
          <p:cNvPr id="4" name="Текст 3">
            <a:extLst>
              <a:ext uri="{FF2B5EF4-FFF2-40B4-BE49-F238E27FC236}">
                <a16:creationId xmlns:a16="http://schemas.microsoft.com/office/drawing/2014/main" id="{455589A1-4C7F-5245-F1C1-F7617EE963E6}"/>
              </a:ext>
            </a:extLst>
          </p:cNvPr>
          <p:cNvSpPr>
            <a:spLocks noGrp="1"/>
          </p:cNvSpPr>
          <p:nvPr>
            <p:ph type="body" sz="quarter" idx="13"/>
          </p:nvPr>
        </p:nvSpPr>
        <p:spPr/>
        <p:txBody>
          <a:bodyPr>
            <a:normAutofit/>
          </a:bodyPr>
          <a:lstStyle/>
          <a:p>
            <a:r>
              <a:rPr lang="ru-RU" sz="1800" b="1" dirty="0">
                <a:solidFill>
                  <a:srgbClr val="002C5F"/>
                </a:solidFill>
                <a:latin typeface="Arial" panose="020B0604020202020204" pitchFamily="34" charset="0"/>
              </a:rPr>
              <a:t>2. Условие фазового равновесия (вода и лед)</a:t>
            </a:r>
          </a:p>
          <a:p>
            <a:r>
              <a:rPr lang="ru-RU" sz="1200" dirty="0">
                <a:solidFill>
                  <a:srgbClr val="242834"/>
                </a:solidFill>
                <a:latin typeface="Arial" panose="020B0604020202020204" pitchFamily="34" charset="0"/>
              </a:rPr>
              <a:t>• Понятие фазы: макроскопически однородная часть системы с одинаковыми свойствами, отделенная явной границей раздела (лед, вода, пар).</a:t>
            </a:r>
          </a:p>
          <a:p>
            <a:r>
              <a:rPr lang="ru-RU" sz="1200" dirty="0">
                <a:solidFill>
                  <a:srgbClr val="242834"/>
                </a:solidFill>
                <a:latin typeface="Arial" panose="020B0604020202020204" pitchFamily="34" charset="0"/>
              </a:rPr>
              <a:t>• Условие равновесия: сосуществование фаз возможно тогда и только тогда, когда химические потенциалы вещества в них строго равны:</a:t>
            </a:r>
          </a:p>
          <a:p>
            <a:r>
              <a:rPr lang="ru-RU" sz="1200" dirty="0">
                <a:solidFill>
                  <a:srgbClr val="242834"/>
                </a:solidFill>
                <a:latin typeface="Arial" panose="020B0604020202020204" pitchFamily="34" charset="0"/>
              </a:rPr>
              <a:t>   μ₁ = μ₂   (для воды и льда: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Плавление льда при давлении P = 1 </a:t>
            </a:r>
            <a:r>
              <a:rPr lang="ru-RU" sz="1200" dirty="0" err="1">
                <a:solidFill>
                  <a:srgbClr val="242834"/>
                </a:solidFill>
                <a:latin typeface="Arial" panose="020B0604020202020204" pitchFamily="34" charset="0"/>
              </a:rPr>
              <a:t>атм</a:t>
            </a:r>
            <a:r>
              <a:rPr lang="ru-RU" sz="1200" dirty="0">
                <a:solidFill>
                  <a:srgbClr val="242834"/>
                </a:solidFill>
                <a:latin typeface="Arial" panose="020B0604020202020204" pitchFamily="34" charset="0"/>
              </a:rPr>
              <a:t>:</a:t>
            </a:r>
          </a:p>
          <a:p>
            <a:r>
              <a:rPr lang="ru-RU" sz="1200" dirty="0">
                <a:solidFill>
                  <a:srgbClr val="242834"/>
                </a:solidFill>
                <a:latin typeface="Arial" panose="020B0604020202020204" pitchFamily="34" charset="0"/>
              </a:rPr>
              <a:t>   – T &lt; 0 °C (273.15 К):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вода самопроизвольно замерзает;</a:t>
            </a:r>
          </a:p>
          <a:p>
            <a:r>
              <a:rPr lang="ru-RU" sz="1200" dirty="0">
                <a:solidFill>
                  <a:srgbClr val="242834"/>
                </a:solidFill>
                <a:latin typeface="Arial" panose="020B0604020202020204" pitchFamily="34" charset="0"/>
              </a:rPr>
              <a:t>   – T &gt; 0 °C: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&lt;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лед самопроизвольно тает в воду;</a:t>
            </a:r>
          </a:p>
          <a:p>
            <a:r>
              <a:rPr lang="ru-RU" sz="1200" dirty="0">
                <a:solidFill>
                  <a:srgbClr val="242834"/>
                </a:solidFill>
                <a:latin typeface="Arial" panose="020B0604020202020204" pitchFamily="34" charset="0"/>
              </a:rPr>
              <a:t>   – ровно T = 0 °C: </a:t>
            </a:r>
            <a:r>
              <a:rPr lang="ru-RU" sz="1200" dirty="0" err="1">
                <a:solidFill>
                  <a:srgbClr val="242834"/>
                </a:solidFill>
                <a:latin typeface="Arial" panose="020B0604020202020204" pitchFamily="34" charset="0"/>
              </a:rPr>
              <a:t>μтв</a:t>
            </a:r>
            <a:r>
              <a:rPr lang="ru-RU" sz="1200" dirty="0">
                <a:solidFill>
                  <a:srgbClr val="242834"/>
                </a:solidFill>
                <a:latin typeface="Arial" panose="020B0604020202020204" pitchFamily="34" charset="0"/>
              </a:rPr>
              <a:t> = </a:t>
            </a:r>
            <a:r>
              <a:rPr lang="ru-RU" sz="1200" dirty="0" err="1">
                <a:solidFill>
                  <a:srgbClr val="242834"/>
                </a:solidFill>
                <a:latin typeface="Arial" panose="020B0604020202020204" pitchFamily="34" charset="0"/>
              </a:rPr>
              <a:t>μжид</a:t>
            </a:r>
            <a:r>
              <a:rPr lang="ru-RU" sz="1200" dirty="0">
                <a:solidFill>
                  <a:srgbClr val="242834"/>
                </a:solidFill>
                <a:latin typeface="Arial" panose="020B0604020202020204" pitchFamily="34" charset="0"/>
              </a:rPr>
              <a:t> — устойчивое равновесие двух фаз.</a:t>
            </a:r>
          </a:p>
          <a:p>
            <a:r>
              <a:rPr lang="ru-RU" sz="1200" dirty="0">
                <a:solidFill>
                  <a:srgbClr val="242834"/>
                </a:solidFill>
                <a:latin typeface="Arial" panose="020B0604020202020204" pitchFamily="34" charset="0"/>
              </a:rPr>
              <a:t>• Мостик в наномир: из-за кривизны поверхности у наночастицы </a:t>
            </a:r>
            <a:r>
              <a:rPr lang="ru-RU" sz="1200" dirty="0" err="1">
                <a:solidFill>
                  <a:srgbClr val="242834"/>
                </a:solidFill>
                <a:latin typeface="Arial" panose="020B0604020202020204" pitchFamily="34" charset="0"/>
              </a:rPr>
              <a:t>μnano</a:t>
            </a:r>
            <a:r>
              <a:rPr lang="ru-RU" sz="1200" dirty="0">
                <a:solidFill>
                  <a:srgbClr val="242834"/>
                </a:solidFill>
                <a:latin typeface="Arial" panose="020B0604020202020204" pitchFamily="34" charset="0"/>
              </a:rPr>
              <a:t> &gt; μ∞, поэтому температура плавления наночастиц золота падает с 1064 до ~380 °C!</a:t>
            </a:r>
          </a:p>
        </p:txBody>
      </p:sp>
    </p:spTree>
    <p:extLst>
      <p:ext uri="{BB962C8B-B14F-4D97-AF65-F5344CB8AC3E}">
        <p14:creationId xmlns:p14="http://schemas.microsoft.com/office/powerpoint/2010/main" val="200062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8F92F44-CDA5-5866-751F-2AC730BAC028}"/>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Правило фаз Гиббса: сколько параметров можно менять?</a:t>
            </a:r>
          </a:p>
        </p:txBody>
      </p:sp>
      <p:sp>
        <p:nvSpPr>
          <p:cNvPr id="3" name="Текст 2">
            <a:extLst>
              <a:ext uri="{FF2B5EF4-FFF2-40B4-BE49-F238E27FC236}">
                <a16:creationId xmlns:a16="http://schemas.microsoft.com/office/drawing/2014/main" id="{BCD76BF3-3C26-5A52-AA6C-1CA57E36E767}"/>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Математический вывод и смысл формулы</a:t>
            </a:r>
          </a:p>
          <a:p>
            <a:r>
              <a:rPr lang="ru-RU" sz="1050">
                <a:solidFill>
                  <a:srgbClr val="242834"/>
                </a:solidFill>
                <a:latin typeface="Arial" panose="020B0604020202020204" pitchFamily="34" charset="0"/>
              </a:rPr>
              <a:t>• Правило фаз Гиббса: фундаментальный закон многофазного термодинамического равновесия:</a:t>
            </a:r>
          </a:p>
          <a:p>
            <a:r>
              <a:rPr lang="ru-RU" sz="1050">
                <a:solidFill>
                  <a:srgbClr val="242834"/>
                </a:solidFill>
                <a:latin typeface="Arial" panose="020B0604020202020204" pitchFamily="34" charset="0"/>
              </a:rPr>
              <a:t>   f = k - φ + 2</a:t>
            </a:r>
          </a:p>
          <a:p>
            <a:r>
              <a:rPr lang="ru-RU" sz="1050">
                <a:solidFill>
                  <a:srgbClr val="242834"/>
                </a:solidFill>
                <a:latin typeface="Arial" panose="020B0604020202020204" pitchFamily="34" charset="0"/>
              </a:rPr>
              <a:t>• Строгая расшифровка каждого члена формулы:</a:t>
            </a:r>
          </a:p>
          <a:p>
            <a:r>
              <a:rPr lang="ru-RU" sz="1050">
                <a:solidFill>
                  <a:srgbClr val="242834"/>
                </a:solidFill>
                <a:latin typeface="Arial" panose="020B0604020202020204" pitchFamily="34" charset="0"/>
              </a:rPr>
              <a:t>   – f — число степеней свободы: количество параметров состояния (T, P), которые можно независимо менять без изменения числа и типа сосуществующих фаз;</a:t>
            </a:r>
          </a:p>
          <a:p>
            <a:r>
              <a:rPr lang="ru-RU" sz="1050">
                <a:solidFill>
                  <a:srgbClr val="242834"/>
                </a:solidFill>
                <a:latin typeface="Arial" panose="020B0604020202020204" pitchFamily="34" charset="0"/>
              </a:rPr>
              <a:t>   – k — число независимых компонентов: минимальное число веществ, необходимых для построения всех фаз (для чистой воды k = 1);</a:t>
            </a:r>
          </a:p>
          <a:p>
            <a:r>
              <a:rPr lang="ru-RU" sz="1050">
                <a:solidFill>
                  <a:srgbClr val="242834"/>
                </a:solidFill>
                <a:latin typeface="Arial" panose="020B0604020202020204" pitchFamily="34" charset="0"/>
              </a:rPr>
              <a:t>   – φ — число равновесных фаз: количество однородных частей системы (лед, жидкая вода, пар);</a:t>
            </a:r>
          </a:p>
          <a:p>
            <a:r>
              <a:rPr lang="ru-RU" sz="1050">
                <a:solidFill>
                  <a:srgbClr val="242834"/>
                </a:solidFill>
                <a:latin typeface="Arial" panose="020B0604020202020204" pitchFamily="34" charset="0"/>
              </a:rPr>
              <a:t>   – слагаемое «+2»: два внешних физических параметра системы: температура T [К] и давление P [Па] (при изобарных условиях P = const формула принимает вид: f = k - φ + 1).</a:t>
            </a:r>
          </a:p>
        </p:txBody>
      </p:sp>
      <p:sp>
        <p:nvSpPr>
          <p:cNvPr id="4" name="Текст 3">
            <a:extLst>
              <a:ext uri="{FF2B5EF4-FFF2-40B4-BE49-F238E27FC236}">
                <a16:creationId xmlns:a16="http://schemas.microsoft.com/office/drawing/2014/main" id="{5411E12B-2F99-965A-BF42-96B2B8ED3F69}"/>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Анализ карты состояний воды (k = 1)</a:t>
            </a:r>
          </a:p>
          <a:p>
            <a:r>
              <a:rPr lang="ru-RU" sz="1050">
                <a:solidFill>
                  <a:srgbClr val="242834"/>
                </a:solidFill>
                <a:latin typeface="Arial" panose="020B0604020202020204" pitchFamily="34" charset="0"/>
              </a:rPr>
              <a:t>• Геометрический смысл правила фаз на плоскости (T, P):</a:t>
            </a:r>
          </a:p>
          <a:p>
            <a:r>
              <a:rPr lang="ru-RU" sz="1050">
                <a:solidFill>
                  <a:srgbClr val="242834"/>
                </a:solidFill>
                <a:latin typeface="Arial" panose="020B0604020202020204" pitchFamily="34" charset="0"/>
              </a:rPr>
              <a:t>   – Области фаз (φ = 1, только пар или вода): f = 1 - 1 + 2 = 2 — бивариантное состояние (двумерное поле: можно свободно менять и T, и P);</a:t>
            </a:r>
          </a:p>
          <a:p>
            <a:r>
              <a:rPr lang="ru-RU" sz="1050">
                <a:solidFill>
                  <a:srgbClr val="242834"/>
                </a:solidFill>
                <a:latin typeface="Arial" panose="020B0604020202020204" pitchFamily="34" charset="0"/>
              </a:rPr>
              <a:t>   – Линии равновесия (φ = 2, кипение / таяние): f = 1 - 2 + 2 = 1 — моновариантное состояние (линия: задав T, мы жестко фиксируем давление насыщенного пара P);</a:t>
            </a:r>
          </a:p>
          <a:p>
            <a:r>
              <a:rPr lang="ru-RU" sz="1050">
                <a:solidFill>
                  <a:srgbClr val="242834"/>
                </a:solidFill>
                <a:latin typeface="Arial" panose="020B0604020202020204" pitchFamily="34" charset="0"/>
              </a:rPr>
              <a:t>   – Тройная точка (φ = 3, лед + вода + пар): f = 1 - 3 + 2 = 0 — инвариантное состояние (точка: строго T = 0.01 °C и P = 611 Па, ни одной степени свободы!).</a:t>
            </a:r>
          </a:p>
          <a:p>
            <a:r>
              <a:rPr lang="ru-RU" sz="1050">
                <a:solidFill>
                  <a:srgbClr val="242834"/>
                </a:solidFill>
                <a:latin typeface="Arial" panose="020B0604020202020204" pitchFamily="34" charset="0"/>
              </a:rPr>
              <a:t>• Мостик в наномир: из-за избытка поверхностной энергии появляется дополнительная переменная — радиус частицы r, что сдвигает линии равновесия и тройную точку!</a:t>
            </a:r>
          </a:p>
        </p:txBody>
      </p:sp>
    </p:spTree>
    <p:extLst>
      <p:ext uri="{BB962C8B-B14F-4D97-AF65-F5344CB8AC3E}">
        <p14:creationId xmlns:p14="http://schemas.microsoft.com/office/powerpoint/2010/main" val="1223000355"/>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67</TotalTime>
  <Words>2964</Words>
  <Application>Microsoft Office PowerPoint</Application>
  <PresentationFormat>Широкоэкранный</PresentationFormat>
  <Paragraphs>253</Paragraphs>
  <Slides>34</Slides>
  <Notes>12</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34</vt:i4>
      </vt:variant>
    </vt:vector>
  </HeadingPairs>
  <TitlesOfParts>
    <vt:vector size="41"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lpstr>Химический потенциал и равновесие фаз: почему тает лед?</vt:lpstr>
      <vt:lpstr>Правило фаз Гиббса: сколько параметров можно менять?</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11</cp:revision>
  <dcterms:created xsi:type="dcterms:W3CDTF">2023-06-16T08:15:39Z</dcterms:created>
  <dcterms:modified xsi:type="dcterms:W3CDTF">2026-09-16T06:06:46Z</dcterms:modified>
  <cp:category/>
</cp:coreProperties>
</file>