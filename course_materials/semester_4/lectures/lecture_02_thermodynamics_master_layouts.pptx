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71" r:id="rId1"/>
    <p:sldMasterId id="2147483657" r:id="rId2"/>
    <p:sldMasterId id="2147483828" r:id="rId3"/>
    <p:sldMasterId id="2147483833" r:id="rId4"/>
  </p:sldMasterIdLst>
  <p:notesMasterIdLst>
    <p:notesMasterId r:id="rId44"/>
  </p:notesMasterIdLst>
  <p:handoutMasterIdLst>
    <p:handoutMasterId r:id="rId45"/>
  </p:handoutMasterIdLst>
  <p:sldIdLst>
    <p:sldId id="1171" r:id="rId5"/>
    <p:sldId id="1126" r:id="rId6"/>
    <p:sldId id="1173" r:id="rId7"/>
    <p:sldId id="1097" r:id="rId8"/>
    <p:sldId id="1172" r:id="rId9"/>
    <p:sldId id="1102" r:id="rId10"/>
    <p:sldId id="1185" r:id="rId11"/>
    <p:sldId id="1174" r:id="rId12"/>
    <p:sldId id="1170" r:id="rId13"/>
    <p:sldId id="1180" r:id="rId14"/>
    <p:sldId id="1181" r:id="rId15"/>
    <p:sldId id="1179" r:id="rId16"/>
    <p:sldId id="1177" r:id="rId17"/>
    <p:sldId id="1186" r:id="rId18"/>
    <p:sldId id="1187" r:id="rId19"/>
    <p:sldId id="1188" r:id="rId20"/>
    <p:sldId id="1194" r:id="rId21"/>
    <p:sldId id="1195" r:id="rId22"/>
    <p:sldId id="1189" r:id="rId23"/>
    <p:sldId id="1198" r:id="rId24"/>
    <p:sldId id="1129" r:id="rId25"/>
    <p:sldId id="1119" r:id="rId26"/>
    <p:sldId id="1175" r:id="rId27"/>
    <p:sldId id="1190" r:id="rId28"/>
    <p:sldId id="1191" r:id="rId29"/>
    <p:sldId id="1120" r:id="rId30"/>
    <p:sldId id="1192" r:id="rId31"/>
    <p:sldId id="1193" r:id="rId32"/>
    <p:sldId id="1197" r:id="rId33"/>
    <p:sldId id="1199" r:id="rId34"/>
    <p:sldId id="1201" r:id="rId35"/>
    <p:sldId id="1200" r:id="rId36"/>
    <p:sldId id="1202" r:id="rId37"/>
    <p:sldId id="1203" r:id="rId38"/>
    <p:sldId id="1204" r:id="rId39"/>
    <p:sldId id="1205" r:id="rId40"/>
    <p:sldId id="1206" r:id="rId41"/>
    <p:sldId id="1207" r:id="rId42"/>
    <p:sldId id="1208" r:id="rId43"/>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уководство" id="{E6ECDA77-1B8E-0E4F-8DDA-529EB99512FD}">
          <p14:sldIdLst>
            <p14:sldId id="1171"/>
            <p14:sldId id="1126"/>
            <p14:sldId id="1173"/>
            <p14:sldId id="1097"/>
            <p14:sldId id="1172"/>
            <p14:sldId id="1102"/>
            <p14:sldId id="1185"/>
          </p14:sldIdLst>
        </p14:section>
        <p14:section name="Пример презентации" id="{09F8C32E-5747-4822-BAD0-340E7A748DE7}">
          <p14:sldIdLst>
            <p14:sldId id="1174"/>
            <p14:sldId id="1170"/>
            <p14:sldId id="1180"/>
            <p14:sldId id="1181"/>
            <p14:sldId id="1179"/>
            <p14:sldId id="1177"/>
            <p14:sldId id="1186"/>
            <p14:sldId id="1187"/>
            <p14:sldId id="1188"/>
            <p14:sldId id="1194"/>
            <p14:sldId id="1195"/>
            <p14:sldId id="1189"/>
            <p14:sldId id="1198"/>
            <p14:sldId id="1129"/>
            <p14:sldId id="1119"/>
          </p14:sldIdLst>
        </p14:section>
        <p14:section name="Дополнительные материалы" id="{62AE7809-B62A-4B2F-9EA4-7E7E0961CF08}">
          <p14:sldIdLst>
            <p14:sldId id="1175"/>
            <p14:sldId id="1190"/>
            <p14:sldId id="1191"/>
            <p14:sldId id="1120"/>
          </p14:sldIdLst>
        </p14:section>
        <p14:section name="Макеты для завершения презентации" id="{7BDEF82D-D64F-4A14-9B34-FEADAC1724BD}">
          <p14:sldIdLst>
            <p14:sldId id="1192"/>
            <p14:sldId id="1193"/>
            <p14:sldId id="1197"/>
            <p14:sldId id="1199"/>
            <p14:sldId id="1201"/>
            <p14:sldId id="1200"/>
            <p14:sldId id="1202"/>
            <p14:sldId id="1203"/>
            <p14:sldId id="1204"/>
            <p14:sldId id="1205"/>
            <p14:sldId id="1206"/>
            <p14:sldId id="1207"/>
            <p14:sldId id="120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Алексей Малышев" initials="АМ" lastIdx="8" clrIdx="0">
    <p:extLst>
      <p:ext uri="{19B8F6BF-5375-455C-9EA6-DF929625EA0E}">
        <p15:presenceInfo xmlns:p15="http://schemas.microsoft.com/office/powerpoint/2012/main" userId="8ae9c15f625b32bb" providerId="Windows Live"/>
      </p:ext>
    </p:extLst>
  </p:cmAuthor>
  <p:cmAuthor id="2" name="OCTS" initials="O" lastIdx="1" clrIdx="1">
    <p:extLst>
      <p:ext uri="{19B8F6BF-5375-455C-9EA6-DF929625EA0E}">
        <p15:presenceInfo xmlns:p15="http://schemas.microsoft.com/office/powerpoint/2012/main" userId="OCTS" providerId="None"/>
      </p:ext>
    </p:extLst>
  </p:cmAuthor>
  <p:cmAuthor id="3" name="Kostylev Andrey" initials="KA" lastIdx="1" clrIdx="2">
    <p:extLst>
      <p:ext uri="{19B8F6BF-5375-455C-9EA6-DF929625EA0E}">
        <p15:presenceInfo xmlns:p15="http://schemas.microsoft.com/office/powerpoint/2012/main" userId="146efb04217a1102" providerId="Windows Live"/>
      </p:ext>
    </p:extLst>
  </p:cmAuthor>
  <p:cmAuthor id="4" name="Elizaveta Kostyleva" initials="EK" lastIdx="1" clrIdx="3">
    <p:extLst>
      <p:ext uri="{19B8F6BF-5375-455C-9EA6-DF929625EA0E}">
        <p15:presenceInfo xmlns:p15="http://schemas.microsoft.com/office/powerpoint/2012/main" userId="S::ekostyleva@lifevantage.com::e5a115f0-bdb1-48b8-969c-0a472e870de3" providerId="AD"/>
      </p:ext>
    </p:extLst>
  </p:cmAuthor>
  <p:cmAuthor id="5" name="ОЦТС" initials="О" lastIdx="2" clrIdx="4">
    <p:extLst>
      <p:ext uri="{19B8F6BF-5375-455C-9EA6-DF929625EA0E}">
        <p15:presenceInfo xmlns:p15="http://schemas.microsoft.com/office/powerpoint/2012/main" userId="ОЦТС"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AAA"/>
    <a:srgbClr val="9D9D9D"/>
    <a:srgbClr val="FEFEFE"/>
    <a:srgbClr val="BFBFBF"/>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Светлый стиль 2 — акцент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Средний стиль 1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Средний стиль 4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Светлый стиль 3 — акцент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Светлый стиль 1 — акцент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5" autoAdjust="0"/>
    <p:restoredTop sz="90520" autoAdjust="0"/>
  </p:normalViewPr>
  <p:slideViewPr>
    <p:cSldViewPr snapToGrid="0" snapToObjects="1">
      <p:cViewPr varScale="1">
        <p:scale>
          <a:sx n="61" d="100"/>
          <a:sy n="61" d="100"/>
        </p:scale>
        <p:origin x="102" y="186"/>
      </p:cViewPr>
      <p:guideLst/>
    </p:cSldViewPr>
  </p:slideViewPr>
  <p:outlineViewPr>
    <p:cViewPr>
      <p:scale>
        <a:sx n="33" d="100"/>
        <a:sy n="33" d="100"/>
      </p:scale>
      <p:origin x="0" y="0"/>
    </p:cViewPr>
  </p:outlineViewPr>
  <p:notesTextViewPr>
    <p:cViewPr>
      <p:scale>
        <a:sx n="400" d="100"/>
        <a:sy n="400" d="100"/>
      </p:scale>
      <p:origin x="0" y="0"/>
    </p:cViewPr>
  </p:notesTextViewPr>
  <p:sorterViewPr>
    <p:cViewPr>
      <p:scale>
        <a:sx n="66" d="100"/>
        <a:sy n="66" d="100"/>
      </p:scale>
      <p:origin x="0" y="-7146"/>
    </p:cViewPr>
  </p:sorterViewPr>
  <p:notesViewPr>
    <p:cSldViewPr snapToGrid="0" snapToObjects="1">
      <p:cViewPr varScale="1">
        <p:scale>
          <a:sx n="85" d="100"/>
          <a:sy n="85" d="100"/>
        </p:scale>
        <p:origin x="3804"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Лист1!$B$1</c:f>
              <c:strCache>
                <c:ptCount val="1"/>
                <c:pt idx="0">
                  <c:v>Ряд 1</c:v>
                </c:pt>
              </c:strCache>
            </c:strRef>
          </c:tx>
          <c:spPr>
            <a:solidFill>
              <a:schemeClr val="accent1"/>
            </a:solidFill>
            <a:ln>
              <a:noFill/>
            </a:ln>
            <a:effectLst/>
          </c:spPr>
          <c:invertIfNegative val="0"/>
          <c:cat>
            <c:strRef>
              <c:f>Лист1!$A$2:$A$5</c:f>
              <c:strCache>
                <c:ptCount val="4"/>
                <c:pt idx="0">
                  <c:v>Категория 1</c:v>
                </c:pt>
                <c:pt idx="1">
                  <c:v>Категория 2</c:v>
                </c:pt>
                <c:pt idx="2">
                  <c:v>Категория 3</c:v>
                </c:pt>
                <c:pt idx="3">
                  <c:v>Категория 4</c:v>
                </c:pt>
              </c:strCache>
            </c:strRef>
          </c:cat>
          <c:val>
            <c:numRef>
              <c:f>Лист1!$B$2:$B$5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41CA-4411-9554-596843E60CD1}"/>
            </c:ext>
          </c:extLst>
        </c:ser>
        <c:ser>
          <c:idx val="1"/>
          <c:order val="1"/>
          <c:tx>
            <c:strRef>
              <c:f>Лист1!$C$1</c:f>
              <c:strCache>
                <c:ptCount val="1"/>
                <c:pt idx="0">
                  <c:v>Ряд 2</c:v>
                </c:pt>
              </c:strCache>
            </c:strRef>
          </c:tx>
          <c:spPr>
            <a:solidFill>
              <a:schemeClr val="accent2"/>
            </a:solidFill>
            <a:ln>
              <a:noFill/>
            </a:ln>
            <a:effectLst/>
          </c:spPr>
          <c:invertIfNegative val="0"/>
          <c:cat>
            <c:strRef>
              <c:f>Лист1!$A$2:$A$5</c:f>
              <c:strCache>
                <c:ptCount val="4"/>
                <c:pt idx="0">
                  <c:v>Категория 1</c:v>
                </c:pt>
                <c:pt idx="1">
                  <c:v>Категория 2</c:v>
                </c:pt>
                <c:pt idx="2">
                  <c:v>Категория 3</c:v>
                </c:pt>
                <c:pt idx="3">
                  <c:v>Категория 4</c:v>
                </c:pt>
              </c:strCache>
            </c:strRef>
          </c:cat>
          <c:val>
            <c:numRef>
              <c:f>Лист1!$C$2:$C$5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41CA-4411-9554-596843E60CD1}"/>
            </c:ext>
          </c:extLst>
        </c:ser>
        <c:ser>
          <c:idx val="2"/>
          <c:order val="2"/>
          <c:tx>
            <c:strRef>
              <c:f>Лист1!$D$1</c:f>
              <c:strCache>
                <c:ptCount val="1"/>
                <c:pt idx="0">
                  <c:v>Ряд 3</c:v>
                </c:pt>
              </c:strCache>
            </c:strRef>
          </c:tx>
          <c:spPr>
            <a:solidFill>
              <a:schemeClr val="accent3"/>
            </a:solidFill>
            <a:ln>
              <a:noFill/>
            </a:ln>
            <a:effectLst/>
          </c:spPr>
          <c:invertIfNegative val="0"/>
          <c:cat>
            <c:strRef>
              <c:f>Лист1!$A$2:$A$5</c:f>
              <c:strCache>
                <c:ptCount val="4"/>
                <c:pt idx="0">
                  <c:v>Категория 1</c:v>
                </c:pt>
                <c:pt idx="1">
                  <c:v>Категория 2</c:v>
                </c:pt>
                <c:pt idx="2">
                  <c:v>Категория 3</c:v>
                </c:pt>
                <c:pt idx="3">
                  <c:v>Категория 4</c:v>
                </c:pt>
              </c:strCache>
            </c:strRef>
          </c:cat>
          <c:val>
            <c:numRef>
              <c:f>Лист1!$D$2:$D$5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41CA-4411-9554-596843E60CD1}"/>
            </c:ext>
          </c:extLst>
        </c:ser>
        <c:dLbls>
          <c:showLegendKey val="0"/>
          <c:showVal val="0"/>
          <c:showCatName val="0"/>
          <c:showSerName val="0"/>
          <c:showPercent val="0"/>
          <c:showBubbleSize val="0"/>
        </c:dLbls>
        <c:gapWidth val="219"/>
        <c:overlap val="-27"/>
        <c:axId val="1017380336"/>
        <c:axId val="1191344480"/>
      </c:barChart>
      <c:catAx>
        <c:axId val="1017380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crossAx val="1191344480"/>
        <c:crosses val="autoZero"/>
        <c:auto val="1"/>
        <c:lblAlgn val="ctr"/>
        <c:lblOffset val="100"/>
        <c:noMultiLvlLbl val="0"/>
      </c:catAx>
      <c:valAx>
        <c:axId val="1191344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crossAx val="10173803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A78F288-5E3C-4F81-AD43-7789565D295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982D620-2592-455C-9AF4-8E2D0C2F79A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5FFCE6C-E7E6-4C35-A8B5-8F9784AA6873}" type="datetimeFigureOut">
              <a:rPr lang="en-US" smtClean="0"/>
              <a:t>10/14/2026</a:t>
            </a:fld>
            <a:endParaRPr lang="en-US"/>
          </a:p>
        </p:txBody>
      </p:sp>
      <p:sp>
        <p:nvSpPr>
          <p:cNvPr id="4" name="Footer Placeholder 3">
            <a:extLst>
              <a:ext uri="{FF2B5EF4-FFF2-40B4-BE49-F238E27FC236}">
                <a16:creationId xmlns:a16="http://schemas.microsoft.com/office/drawing/2014/main" id="{F55628E3-CFC5-471A-B6A2-9F949B2E814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4586937-338C-4D39-8822-B1F000CF62F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E77762-F59A-4FB1-90F9-50BE76F03354}" type="slidenum">
              <a:rPr lang="en-US" smtClean="0"/>
              <a:t>‹#›</a:t>
            </a:fld>
            <a:endParaRPr lang="en-US"/>
          </a:p>
        </p:txBody>
      </p:sp>
    </p:spTree>
    <p:extLst>
      <p:ext uri="{BB962C8B-B14F-4D97-AF65-F5344CB8AC3E}">
        <p14:creationId xmlns:p14="http://schemas.microsoft.com/office/powerpoint/2010/main" val="15485588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D46D5B-6567-794D-8CBA-5CCA973D6774}" type="datetimeFigureOut">
              <a:t>14.10.2026</a:t>
            </a:fld>
            <a:endParaRPr lang="ru-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EDE2F8-02D4-C448-B364-7246A6689E7F}" type="slidenum">
              <a:t>‹#›</a:t>
            </a:fld>
            <a:endParaRPr lang="ru-RU"/>
          </a:p>
        </p:txBody>
      </p:sp>
    </p:spTree>
    <p:extLst>
      <p:ext uri="{BB962C8B-B14F-4D97-AF65-F5344CB8AC3E}">
        <p14:creationId xmlns:p14="http://schemas.microsoft.com/office/powerpoint/2010/main" val="1687934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2</a:t>
            </a:fld>
            <a:endParaRPr lang="ru-RU" dirty="0"/>
          </a:p>
        </p:txBody>
      </p:sp>
    </p:spTree>
    <p:extLst>
      <p:ext uri="{BB962C8B-B14F-4D97-AF65-F5344CB8AC3E}">
        <p14:creationId xmlns:p14="http://schemas.microsoft.com/office/powerpoint/2010/main" val="1874172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3</a:t>
            </a:fld>
            <a:endParaRPr lang="ru-RU" dirty="0"/>
          </a:p>
        </p:txBody>
      </p:sp>
    </p:spTree>
    <p:extLst>
      <p:ext uri="{BB962C8B-B14F-4D97-AF65-F5344CB8AC3E}">
        <p14:creationId xmlns:p14="http://schemas.microsoft.com/office/powerpoint/2010/main" val="3814358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4</a:t>
            </a:fld>
            <a:endParaRPr lang="ru-RU" dirty="0"/>
          </a:p>
        </p:txBody>
      </p:sp>
    </p:spTree>
    <p:extLst>
      <p:ext uri="{BB962C8B-B14F-4D97-AF65-F5344CB8AC3E}">
        <p14:creationId xmlns:p14="http://schemas.microsoft.com/office/powerpoint/2010/main" val="152400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5</a:t>
            </a:fld>
            <a:endParaRPr lang="ru-RU" dirty="0"/>
          </a:p>
        </p:txBody>
      </p:sp>
    </p:spTree>
    <p:extLst>
      <p:ext uri="{BB962C8B-B14F-4D97-AF65-F5344CB8AC3E}">
        <p14:creationId xmlns:p14="http://schemas.microsoft.com/office/powerpoint/2010/main" val="3779948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6</a:t>
            </a:fld>
            <a:endParaRPr lang="ru-RU" dirty="0"/>
          </a:p>
        </p:txBody>
      </p:sp>
    </p:spTree>
    <p:extLst>
      <p:ext uri="{BB962C8B-B14F-4D97-AF65-F5344CB8AC3E}">
        <p14:creationId xmlns:p14="http://schemas.microsoft.com/office/powerpoint/2010/main" val="10937523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11</a:t>
            </a:fld>
            <a:endParaRPr lang="ru-RU" dirty="0"/>
          </a:p>
        </p:txBody>
      </p:sp>
    </p:spTree>
    <p:extLst>
      <p:ext uri="{BB962C8B-B14F-4D97-AF65-F5344CB8AC3E}">
        <p14:creationId xmlns:p14="http://schemas.microsoft.com/office/powerpoint/2010/main" val="3692918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EDE2F8-02D4-C448-B364-7246A6689E7F}" type="slidenum">
              <a:rPr lang="ru-RU" smtClean="0"/>
              <a:t>12</a:t>
            </a:fld>
            <a:endParaRPr lang="ru-RU" dirty="0"/>
          </a:p>
        </p:txBody>
      </p:sp>
    </p:spTree>
    <p:extLst>
      <p:ext uri="{BB962C8B-B14F-4D97-AF65-F5344CB8AC3E}">
        <p14:creationId xmlns:p14="http://schemas.microsoft.com/office/powerpoint/2010/main" val="31794755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BCEDE2F8-02D4-C448-B364-7246A6689E7F}" type="slidenum">
              <a:rPr lang="ru-RU" smtClean="0"/>
              <a:t>30</a:t>
            </a:fld>
            <a:endParaRPr lang="ru-RU"/>
          </a:p>
        </p:txBody>
      </p:sp>
    </p:spTree>
    <p:extLst>
      <p:ext uri="{BB962C8B-B14F-4D97-AF65-F5344CB8AC3E}">
        <p14:creationId xmlns:p14="http://schemas.microsoft.com/office/powerpoint/2010/main" val="28087548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BCEDE2F8-02D4-C448-B364-7246A6689E7F}" type="slidenum">
              <a:rPr lang="ru-RU" smtClean="0"/>
              <a:t>31</a:t>
            </a:fld>
            <a:endParaRPr lang="ru-RU"/>
          </a:p>
        </p:txBody>
      </p:sp>
    </p:spTree>
    <p:extLst>
      <p:ext uri="{BB962C8B-B14F-4D97-AF65-F5344CB8AC3E}">
        <p14:creationId xmlns:p14="http://schemas.microsoft.com/office/powerpoint/2010/main" val="39740372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BCEDE2F8-02D4-C448-B364-7246A6689E7F}" type="slidenum">
              <a:rPr lang="ru-RU" smtClean="0"/>
              <a:t>32</a:t>
            </a:fld>
            <a:endParaRPr lang="ru-RU"/>
          </a:p>
        </p:txBody>
      </p:sp>
    </p:spTree>
    <p:extLst>
      <p:ext uri="{BB962C8B-B14F-4D97-AF65-F5344CB8AC3E}">
        <p14:creationId xmlns:p14="http://schemas.microsoft.com/office/powerpoint/2010/main" val="13883523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BCEDE2F8-02D4-C448-B364-7246A6689E7F}" type="slidenum">
              <a:rPr lang="ru-RU" smtClean="0"/>
              <a:t>33</a:t>
            </a:fld>
            <a:endParaRPr lang="ru-RU"/>
          </a:p>
        </p:txBody>
      </p:sp>
    </p:spTree>
    <p:extLst>
      <p:ext uri="{BB962C8B-B14F-4D97-AF65-F5344CB8AC3E}">
        <p14:creationId xmlns:p14="http://schemas.microsoft.com/office/powerpoint/2010/main" val="35846593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BCEDE2F8-02D4-C448-B364-7246A6689E7F}" type="slidenum">
              <a:rPr lang="ru-RU" smtClean="0"/>
              <a:t>34</a:t>
            </a:fld>
            <a:endParaRPr lang="ru-RU"/>
          </a:p>
        </p:txBody>
      </p:sp>
    </p:spTree>
    <p:extLst>
      <p:ext uri="{BB962C8B-B14F-4D97-AF65-F5344CB8AC3E}">
        <p14:creationId xmlns:p14="http://schemas.microsoft.com/office/powerpoint/2010/main" val="15730503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BCEDE2F8-02D4-C448-B364-7246A6689E7F}" type="slidenum">
              <a:rPr lang="ru-RU" smtClean="0"/>
              <a:t>35</a:t>
            </a:fld>
            <a:endParaRPr lang="ru-RU"/>
          </a:p>
        </p:txBody>
      </p:sp>
    </p:spTree>
    <p:extLst>
      <p:ext uri="{BB962C8B-B14F-4D97-AF65-F5344CB8AC3E}">
        <p14:creationId xmlns:p14="http://schemas.microsoft.com/office/powerpoint/2010/main" val="22383147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fld id="{BCEDE2F8-02D4-C448-B364-7246A6689E7F}" type="slidenum">
              <a:rPr lang="ru-RU" smtClean="0"/>
              <a:t>37</a:t>
            </a:fld>
            <a:endParaRPr lang="ru-RU"/>
          </a:p>
        </p:txBody>
      </p:sp>
    </p:spTree>
    <p:extLst>
      <p:ext uri="{BB962C8B-B14F-4D97-AF65-F5344CB8AC3E}">
        <p14:creationId xmlns:p14="http://schemas.microsoft.com/office/powerpoint/2010/main" val="25983430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Слайд 9 лекции (Слайд 38 презентации): Практический смысл правила рычага и система Au-Si.
1. Зачем это нужно на практике:
В металлургии, микроэлектронике и нанотехнологиях процессы идут внутри герметичных печей и реакторов при сотнях и тысячах градусов Цельсия. Физически взвесить жидкую фазу или отобрать пробу невозможно. Правило рычага — это бесконтактный метод прецизионного определения: а) сколько процентов расплава и твердой фазы содержится в системе при заданной температуре (определяет текучесть, усадку и режим кристаллизации);
б) каков точный химический состав жидкой фазы (основа зонной плавки, рафинирования кремния и полупроводникового легирования).
2. Смысл расчета Au-Si при 800 °C (m0 = 400 г, 30% Au):
Расчет показывает, что при нагреве до 800 °C сплав разделяется на 181.8 г расплава и 218.2 г твердых кристаллов кремния. При этом все 120 г золота концентрируются исключительно в расплаве (обогащение с 30% до 66%), а выделившийся кремний имеет чистоту 100%. Это наглядно объясняет студентам принцип металлургического разделения и очистки веществ.
3. Нанотехнологический аспект (VLS-рост):
В процессе Vapor-Liquid-Solid каталитическая нанокапля золота на подложке поглощает кремний из газовой фазы (SiH4). Пока температура выше эвтектики (например, 800 °C), капля остается жидкой с содержанием 66% Au, а избыточный кремний непрерывно кристаллизуется на границе капля/подложка, формируя монокристаллическую кремниевую нанонить. Правило рычага связывает параметры процесса с морфологией нанонити.</a:t>
            </a:r>
          </a:p>
        </p:txBody>
      </p:sp>
      <p:sp>
        <p:nvSpPr>
          <p:cNvPr id="4" name="Номер слайда 3"/>
          <p:cNvSpPr>
            <a:spLocks noGrp="1"/>
          </p:cNvSpPr>
          <p:nvPr>
            <p:ph type="sldNum" sz="quarter" idx="5"/>
          </p:nvPr>
        </p:nvSpPr>
        <p:spPr/>
        <p:txBody>
          <a:bodyPr/>
          <a:lstStyle/>
          <a:p>
            <a:fld id="{BCEDE2F8-02D4-C448-B364-7246A6689E7F}" type="slidenum">
              <a:rPr lang="ru-RU" smtClean="0"/>
              <a:t>38</a:t>
            </a:fld>
            <a:endParaRPr lang="ru-RU"/>
          </a:p>
        </p:txBody>
      </p:sp>
    </p:spTree>
    <p:extLst>
      <p:ext uri="{BB962C8B-B14F-4D97-AF65-F5344CB8AC3E}">
        <p14:creationId xmlns:p14="http://schemas.microsoft.com/office/powerpoint/2010/main" val="17000670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Слайд 10 лекции (Слайд 39 презентации): Динамика правила рычага при охлаждении сплава.
1. Непрерывное перемещение фигуративной точки:
На этом слайде показано, как работает правило рычага не в одной изолированной точке, а в динамике охлаждения реального доэвтектического сплава (30 масс.% Au) от жидкого состояния (1200 °C) до полного затвердевания (200 °C).
2. Анализ ключевых состояний по точкам:
• Точка 1 (1200 °C, выше ликвидуса): гомогенный расплав, однофазная область. Правило рычага здесь неприменимо: вторая фаза отсутствует (100% жидкости, число степеней свободы C = K - Ф + 1 = 2 - 1 + 1 = 2).
• Точка 2 (1000 °C, линия ликвидус): момент начала кристаллизации кремния. Конода соединяет чистый Si (0% Au) и линию ликвидус (30% Au). Длина коноды L = 30%. Точка сплава лежит точно на кривой ликвидус (x₀ = 30%), поэтому отрезок до кривой ликвидуса равен нулю (30 - 30 = 0). 
  ВНИМАНИЕ: По закону рычага масса твердой фазы (кристаллов Si) рассчитывается по ПРОТИВОПОЛОЖНОМУ плечу (отрезку до ликвидуса): m_Si / m₀ = 0 / 30 = 0%. Кристаллов еще нет (зарождается лишь первый бесконечно малый кристаллик). А масса расплава рассчитывается по плечу до чистого Si (30%): m_L / m₀ = 30 / 30 = 100%. Весь сплав еще целиком жидкий! (Ф = 2, C = 1).
• Точка 3 (800 °C, двухфазная зона L + Si): середина затвердевания. Расплав обогатился золотом до 66%. Конода расширилась: L = 66%. Плечо к Si равно 30%, плечо к ликвидусу равно 36%. По правилу рычага: m_Si = 36/66 = 54.5%, m_L = 30/66 = 45.5%. В печи находится пульпа из твердых кристаллов Si в жидком расплаве Au-Si.
• Точка 4 (380 °C, непосредственно над эвтектикой): предел кристаллизации первичного Si. Расплав обогатился золотом до предельной концентрации 94% Au. Конода растянулась до 94%. Доля кристаллов Si выросла до 68.1% (64/94), а доля расплава сократилась до 31.9% (30/94).
• Точка 5 (363 °C, эвтектическая горизонталь T_E): трехфазное равновесие (расплав 94% Au + кристаллы Si + кристаллы Au). По правилу фаз Гиббса C = 2 - 3 + 1 = 0 (безвариантное равновесие). Температура строго фиксирована, пока весь оставшийся расплав (31.9%) не закристаллизуется в тонкую эвтектическую механическую смесь Si + Au.
• Точка 6 (200 °C, твердое состояние): полностью застывший слиток. Итоговая микроструктура: 68.1% крупных первичных кристаллов Si и 31.9% мелкозернистой эвтектической смеси.
3. Практический вывод для инженера:
График m_S(T) и m_L(T) дает точный количественный расчет кинетики кристаллизации для контроля усадки, фильтрации и управления структурой полупроводниковых слитков.</a:t>
            </a:r>
          </a:p>
        </p:txBody>
      </p:sp>
      <p:sp>
        <p:nvSpPr>
          <p:cNvPr id="4" name="Номер слайда 3"/>
          <p:cNvSpPr>
            <a:spLocks noGrp="1"/>
          </p:cNvSpPr>
          <p:nvPr>
            <p:ph type="sldNum" sz="quarter" idx="5"/>
          </p:nvPr>
        </p:nvSpPr>
        <p:spPr/>
        <p:txBody>
          <a:bodyPr/>
          <a:lstStyle/>
          <a:p>
            <a:fld id="{BCEDE2F8-02D4-C448-B364-7246A6689E7F}" type="slidenum">
              <a:rPr lang="ru-RU" smtClean="0"/>
              <a:t>39</a:t>
            </a:fld>
            <a:endParaRPr lang="ru-RU"/>
          </a:p>
        </p:txBody>
      </p:sp>
    </p:spTree>
    <p:extLst>
      <p:ext uri="{BB962C8B-B14F-4D97-AF65-F5344CB8AC3E}">
        <p14:creationId xmlns:p14="http://schemas.microsoft.com/office/powerpoint/2010/main" val="3239922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ая страниц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176EB76-0898-4F71-9685-0F9BE4E1FB42}"/>
              </a:ext>
            </a:extLst>
          </p:cNvPr>
          <p:cNvSpPr>
            <a:spLocks noGrp="1"/>
          </p:cNvSpPr>
          <p:nvPr>
            <p:ph type="title"/>
          </p:nvPr>
        </p:nvSpPr>
        <p:spPr/>
        <p:txBody>
          <a:bodyPr/>
          <a:lstStyle/>
          <a:p>
            <a:r>
              <a:rPr lang="ru-RU"/>
              <a:t>Образец заголовка</a:t>
            </a:r>
          </a:p>
        </p:txBody>
      </p:sp>
      <p:sp>
        <p:nvSpPr>
          <p:cNvPr id="4" name="Текст 3">
            <a:extLst>
              <a:ext uri="{FF2B5EF4-FFF2-40B4-BE49-F238E27FC236}">
                <a16:creationId xmlns:a16="http://schemas.microsoft.com/office/drawing/2014/main" id="{17CD38B1-ACC6-416C-AF72-6F91347F95C0}"/>
              </a:ext>
            </a:extLst>
          </p:cNvPr>
          <p:cNvSpPr>
            <a:spLocks noGrp="1"/>
          </p:cNvSpPr>
          <p:nvPr>
            <p:ph type="body" sz="quarter" idx="10" hasCustomPrompt="1"/>
          </p:nvPr>
        </p:nvSpPr>
        <p:spPr>
          <a:xfrm>
            <a:off x="550863" y="4568243"/>
            <a:ext cx="6330950" cy="841155"/>
          </a:xfrm>
        </p:spPr>
        <p:txBody>
          <a:bodyPr/>
          <a:lstStyle>
            <a:lvl1pPr>
              <a:spcBef>
                <a:spcPts val="0"/>
              </a:spcBef>
              <a:defRPr/>
            </a:lvl1pPr>
            <a:lvl3pPr marL="914400" indent="0">
              <a:buNone/>
              <a:defRPr/>
            </a:lvl3pPr>
          </a:lstStyle>
          <a:p>
            <a:pPr lvl="0"/>
            <a:r>
              <a:rPr lang="ru-RU" dirty="0"/>
              <a:t>Имя Фамилия </a:t>
            </a:r>
          </a:p>
        </p:txBody>
      </p:sp>
      <p:sp>
        <p:nvSpPr>
          <p:cNvPr id="9" name="Текст 8">
            <a:extLst>
              <a:ext uri="{FF2B5EF4-FFF2-40B4-BE49-F238E27FC236}">
                <a16:creationId xmlns:a16="http://schemas.microsoft.com/office/drawing/2014/main" id="{F0C140D7-ACA5-419A-846F-D1888293EFFD}"/>
              </a:ext>
            </a:extLst>
          </p:cNvPr>
          <p:cNvSpPr>
            <a:spLocks noGrp="1"/>
          </p:cNvSpPr>
          <p:nvPr>
            <p:ph type="body" sz="quarter" idx="12" hasCustomPrompt="1"/>
          </p:nvPr>
        </p:nvSpPr>
        <p:spPr>
          <a:xfrm>
            <a:off x="8152598" y="5993952"/>
            <a:ext cx="3488540" cy="387798"/>
          </a:xfrm>
        </p:spPr>
        <p:txBody>
          <a:bodyPr/>
          <a:lstStyle>
            <a:lvl2pPr>
              <a:defRPr/>
            </a:lvl2pPr>
            <a:lvl3pPr marL="914400" indent="0">
              <a:buNone/>
              <a:defRPr/>
            </a:lvl3pPr>
          </a:lstStyle>
          <a:p>
            <a:pPr lvl="1"/>
            <a:r>
              <a:rPr lang="ru-RU" dirty="0"/>
              <a:t>Дата</a:t>
            </a:r>
          </a:p>
        </p:txBody>
      </p:sp>
    </p:spTree>
    <p:extLst>
      <p:ext uri="{BB962C8B-B14F-4D97-AF65-F5344CB8AC3E}">
        <p14:creationId xmlns:p14="http://schemas.microsoft.com/office/powerpoint/2010/main" val="2891415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екст - один бл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6" name="Текст 5">
            <a:extLst>
              <a:ext uri="{FF2B5EF4-FFF2-40B4-BE49-F238E27FC236}">
                <a16:creationId xmlns:a16="http://schemas.microsoft.com/office/drawing/2014/main" id="{84CF1BEE-FB60-4C41-A4CB-1FA10956AD34}"/>
              </a:ext>
            </a:extLst>
          </p:cNvPr>
          <p:cNvSpPr>
            <a:spLocks noGrp="1"/>
          </p:cNvSpPr>
          <p:nvPr>
            <p:ph type="body" sz="quarter" idx="12"/>
          </p:nvPr>
        </p:nvSpPr>
        <p:spPr>
          <a:xfrm>
            <a:off x="550863" y="1341438"/>
            <a:ext cx="7489825" cy="5040312"/>
          </a:xfrm>
        </p:spPr>
        <p:txBody>
          <a:bodyPr numCol="1" spcCol="720000"/>
          <a:lstStyle>
            <a:lvl1pPr>
              <a:spcAft>
                <a:spcPts val="1200"/>
              </a:spcAft>
              <a:defRPr/>
            </a:lvl1pPr>
          </a:lstStyle>
          <a:p>
            <a:pPr lvl="0"/>
            <a:r>
              <a:rPr lang="ru-RU" dirty="0"/>
              <a:t>Образец текста</a:t>
            </a:r>
          </a:p>
        </p:txBody>
      </p:sp>
    </p:spTree>
    <p:extLst>
      <p:ext uri="{BB962C8B-B14F-4D97-AF65-F5344CB8AC3E}">
        <p14:creationId xmlns:p14="http://schemas.microsoft.com/office/powerpoint/2010/main" val="3155870458"/>
      </p:ext>
    </p:extLst>
  </p:cSld>
  <p:clrMapOvr>
    <a:masterClrMapping/>
  </p:clrMapOvr>
  <p:extLst>
    <p:ext uri="{DCECCB84-F9BA-43D5-87BE-67443E8EF086}">
      <p15:sldGuideLst xmlns:p15="http://schemas.microsoft.com/office/powerpoint/2012/main">
        <p15:guide id="1" pos="5065" userDrawn="1">
          <p15:clr>
            <a:srgbClr val="9FCC3B"/>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Текст - два блок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6" name="Текст 5">
            <a:extLst>
              <a:ext uri="{FF2B5EF4-FFF2-40B4-BE49-F238E27FC236}">
                <a16:creationId xmlns:a16="http://schemas.microsoft.com/office/drawing/2014/main" id="{84CF1BEE-FB60-4C41-A4CB-1FA10956AD34}"/>
              </a:ext>
            </a:extLst>
          </p:cNvPr>
          <p:cNvSpPr>
            <a:spLocks noGrp="1"/>
          </p:cNvSpPr>
          <p:nvPr>
            <p:ph type="body" sz="quarter" idx="12"/>
          </p:nvPr>
        </p:nvSpPr>
        <p:spPr>
          <a:xfrm>
            <a:off x="550863" y="1341438"/>
            <a:ext cx="5184775" cy="5040312"/>
          </a:xfrm>
        </p:spPr>
        <p:txBody>
          <a:bodyPr numCol="1" spcCol="720000"/>
          <a:lstStyle>
            <a:lvl1pPr>
              <a:spcAft>
                <a:spcPts val="1200"/>
              </a:spcAft>
              <a:defRPr/>
            </a:lvl1pPr>
          </a:lstStyle>
          <a:p>
            <a:pPr lvl="0"/>
            <a:r>
              <a:rPr lang="ru-RU" dirty="0"/>
              <a:t>Образец текста</a:t>
            </a:r>
          </a:p>
        </p:txBody>
      </p:sp>
      <p:sp>
        <p:nvSpPr>
          <p:cNvPr id="7" name="Текст 5">
            <a:extLst>
              <a:ext uri="{FF2B5EF4-FFF2-40B4-BE49-F238E27FC236}">
                <a16:creationId xmlns:a16="http://schemas.microsoft.com/office/drawing/2014/main" id="{C75DE5C1-456E-4D90-87F0-D35E9FD23C36}"/>
              </a:ext>
            </a:extLst>
          </p:cNvPr>
          <p:cNvSpPr>
            <a:spLocks noGrp="1"/>
          </p:cNvSpPr>
          <p:nvPr>
            <p:ph type="body" sz="quarter" idx="13"/>
          </p:nvPr>
        </p:nvSpPr>
        <p:spPr>
          <a:xfrm>
            <a:off x="6456364" y="1341437"/>
            <a:ext cx="5184775" cy="5040312"/>
          </a:xfrm>
        </p:spPr>
        <p:txBody>
          <a:bodyPr numCol="1" spcCol="720000"/>
          <a:lstStyle>
            <a:lvl1pPr>
              <a:spcAft>
                <a:spcPts val="1200"/>
              </a:spcAft>
              <a:defRPr/>
            </a:lvl1pPr>
          </a:lstStyle>
          <a:p>
            <a:pPr lvl="0"/>
            <a:r>
              <a:rPr lang="ru-RU" dirty="0"/>
              <a:t>Образец текста</a:t>
            </a:r>
          </a:p>
        </p:txBody>
      </p:sp>
    </p:spTree>
    <p:extLst>
      <p:ext uri="{BB962C8B-B14F-4D97-AF65-F5344CB8AC3E}">
        <p14:creationId xmlns:p14="http://schemas.microsoft.com/office/powerpoint/2010/main" val="1962484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Текст - две колонки в одном блок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6" name="Текст 5">
            <a:extLst>
              <a:ext uri="{FF2B5EF4-FFF2-40B4-BE49-F238E27FC236}">
                <a16:creationId xmlns:a16="http://schemas.microsoft.com/office/drawing/2014/main" id="{84CF1BEE-FB60-4C41-A4CB-1FA10956AD34}"/>
              </a:ext>
            </a:extLst>
          </p:cNvPr>
          <p:cNvSpPr>
            <a:spLocks noGrp="1"/>
          </p:cNvSpPr>
          <p:nvPr>
            <p:ph type="body" sz="quarter" idx="12"/>
          </p:nvPr>
        </p:nvSpPr>
        <p:spPr>
          <a:xfrm>
            <a:off x="550863" y="1341438"/>
            <a:ext cx="11090275" cy="5040312"/>
          </a:xfrm>
        </p:spPr>
        <p:txBody>
          <a:bodyPr numCol="2" spcCol="720000"/>
          <a:lstStyle>
            <a:lvl1pPr>
              <a:spcAft>
                <a:spcPts val="1200"/>
              </a:spcAft>
              <a:defRPr/>
            </a:lvl1pPr>
          </a:lstStyle>
          <a:p>
            <a:pPr lvl="0"/>
            <a:r>
              <a:rPr lang="ru-RU" dirty="0"/>
              <a:t>Образец текста</a:t>
            </a:r>
          </a:p>
        </p:txBody>
      </p:sp>
    </p:spTree>
    <p:extLst>
      <p:ext uri="{BB962C8B-B14F-4D97-AF65-F5344CB8AC3E}">
        <p14:creationId xmlns:p14="http://schemas.microsoft.com/office/powerpoint/2010/main" val="3097472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Один бл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7" name="Объект 6">
            <a:extLst>
              <a:ext uri="{FF2B5EF4-FFF2-40B4-BE49-F238E27FC236}">
                <a16:creationId xmlns:a16="http://schemas.microsoft.com/office/drawing/2014/main" id="{8E0F7007-BD13-44DA-B2D4-D16824AB4598}"/>
              </a:ext>
            </a:extLst>
          </p:cNvPr>
          <p:cNvSpPr>
            <a:spLocks noGrp="1"/>
          </p:cNvSpPr>
          <p:nvPr>
            <p:ph sz="quarter" idx="13"/>
          </p:nvPr>
        </p:nvSpPr>
        <p:spPr>
          <a:xfrm>
            <a:off x="550862" y="1341438"/>
            <a:ext cx="7475537" cy="5040312"/>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Tree>
    <p:extLst>
      <p:ext uri="{BB962C8B-B14F-4D97-AF65-F5344CB8AC3E}">
        <p14:creationId xmlns:p14="http://schemas.microsoft.com/office/powerpoint/2010/main" val="4272128385"/>
      </p:ext>
    </p:extLst>
  </p:cSld>
  <p:clrMapOvr>
    <a:masterClrMapping/>
  </p:clrMapOvr>
  <p:extLst>
    <p:ext uri="{DCECCB84-F9BA-43D5-87BE-67443E8EF086}">
      <p15:sldGuideLst xmlns:p15="http://schemas.microsoft.com/office/powerpoint/2012/main">
        <p15:guide id="1" pos="5065" userDrawn="1">
          <p15:clr>
            <a:srgbClr val="9FCC3B"/>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Один блок с заголовком/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7" name="Объект 6">
            <a:extLst>
              <a:ext uri="{FF2B5EF4-FFF2-40B4-BE49-F238E27FC236}">
                <a16:creationId xmlns:a16="http://schemas.microsoft.com/office/drawing/2014/main" id="{8E0F7007-BD13-44DA-B2D4-D16824AB4598}"/>
              </a:ext>
            </a:extLst>
          </p:cNvPr>
          <p:cNvSpPr>
            <a:spLocks noGrp="1"/>
          </p:cNvSpPr>
          <p:nvPr>
            <p:ph sz="quarter" idx="13"/>
          </p:nvPr>
        </p:nvSpPr>
        <p:spPr>
          <a:xfrm>
            <a:off x="550862" y="1819276"/>
            <a:ext cx="7475537" cy="4562474"/>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6" name="Текст 5">
            <a:extLst>
              <a:ext uri="{FF2B5EF4-FFF2-40B4-BE49-F238E27FC236}">
                <a16:creationId xmlns:a16="http://schemas.microsoft.com/office/drawing/2014/main" id="{64C3877D-2148-449E-8D18-378259BFDF38}"/>
              </a:ext>
            </a:extLst>
          </p:cNvPr>
          <p:cNvSpPr>
            <a:spLocks noGrp="1"/>
          </p:cNvSpPr>
          <p:nvPr>
            <p:ph type="body" sz="quarter" idx="14" hasCustomPrompt="1"/>
          </p:nvPr>
        </p:nvSpPr>
        <p:spPr>
          <a:xfrm>
            <a:off x="550863" y="1341438"/>
            <a:ext cx="7475536" cy="635000"/>
          </a:xfrm>
        </p:spPr>
        <p:txBody>
          <a:bodyPr/>
          <a:lstStyle/>
          <a:p>
            <a:pPr lvl="1"/>
            <a:r>
              <a:rPr lang="ru-RU" dirty="0"/>
              <a:t>Второй уровень</a:t>
            </a:r>
          </a:p>
        </p:txBody>
      </p:sp>
    </p:spTree>
    <p:extLst>
      <p:ext uri="{BB962C8B-B14F-4D97-AF65-F5344CB8AC3E}">
        <p14:creationId xmlns:p14="http://schemas.microsoft.com/office/powerpoint/2010/main" val="2256156838"/>
      </p:ext>
    </p:extLst>
  </p:cSld>
  <p:clrMapOvr>
    <a:masterClrMapping/>
  </p:clrMapOvr>
  <p:extLst>
    <p:ext uri="{DCECCB84-F9BA-43D5-87BE-67443E8EF086}">
      <p15:sldGuideLst xmlns:p15="http://schemas.microsoft.com/office/powerpoint/2012/main">
        <p15:guide id="1" pos="5065" userDrawn="1">
          <p15:clr>
            <a:srgbClr val="9FCC3B"/>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Два блок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8" name="Объект 7">
            <a:extLst>
              <a:ext uri="{FF2B5EF4-FFF2-40B4-BE49-F238E27FC236}">
                <a16:creationId xmlns:a16="http://schemas.microsoft.com/office/drawing/2014/main" id="{04B2F2CF-1F6E-4737-8380-2ACFF853EA40}"/>
              </a:ext>
            </a:extLst>
          </p:cNvPr>
          <p:cNvSpPr>
            <a:spLocks noGrp="1"/>
          </p:cNvSpPr>
          <p:nvPr>
            <p:ph sz="quarter" idx="12"/>
          </p:nvPr>
        </p:nvSpPr>
        <p:spPr>
          <a:xfrm>
            <a:off x="550863" y="1341438"/>
            <a:ext cx="5184775" cy="504031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10" name="Объект 9">
            <a:extLst>
              <a:ext uri="{FF2B5EF4-FFF2-40B4-BE49-F238E27FC236}">
                <a16:creationId xmlns:a16="http://schemas.microsoft.com/office/drawing/2014/main" id="{484797F9-7539-4EA9-A418-767254923B78}"/>
              </a:ext>
            </a:extLst>
          </p:cNvPr>
          <p:cNvSpPr>
            <a:spLocks noGrp="1"/>
          </p:cNvSpPr>
          <p:nvPr>
            <p:ph sz="quarter" idx="13"/>
          </p:nvPr>
        </p:nvSpPr>
        <p:spPr>
          <a:xfrm>
            <a:off x="6456363" y="1341438"/>
            <a:ext cx="5184775" cy="504031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extLst>
      <p:ext uri="{BB962C8B-B14F-4D97-AF65-F5344CB8AC3E}">
        <p14:creationId xmlns:p14="http://schemas.microsoft.com/office/powerpoint/2010/main" val="3254276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Два блока с заголовком/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
        <p:nvSpPr>
          <p:cNvPr id="7" name="Объект 6">
            <a:extLst>
              <a:ext uri="{FF2B5EF4-FFF2-40B4-BE49-F238E27FC236}">
                <a16:creationId xmlns:a16="http://schemas.microsoft.com/office/drawing/2014/main" id="{8E0F7007-BD13-44DA-B2D4-D16824AB4598}"/>
              </a:ext>
            </a:extLst>
          </p:cNvPr>
          <p:cNvSpPr>
            <a:spLocks noGrp="1"/>
          </p:cNvSpPr>
          <p:nvPr>
            <p:ph sz="quarter" idx="13"/>
          </p:nvPr>
        </p:nvSpPr>
        <p:spPr>
          <a:xfrm>
            <a:off x="550863" y="1828800"/>
            <a:ext cx="5184776" cy="4552949"/>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6" name="Текст 5">
            <a:extLst>
              <a:ext uri="{FF2B5EF4-FFF2-40B4-BE49-F238E27FC236}">
                <a16:creationId xmlns:a16="http://schemas.microsoft.com/office/drawing/2014/main" id="{64C3877D-2148-449E-8D18-378259BFDF38}"/>
              </a:ext>
            </a:extLst>
          </p:cNvPr>
          <p:cNvSpPr>
            <a:spLocks noGrp="1"/>
          </p:cNvSpPr>
          <p:nvPr>
            <p:ph type="body" sz="quarter" idx="14" hasCustomPrompt="1"/>
          </p:nvPr>
        </p:nvSpPr>
        <p:spPr>
          <a:xfrm>
            <a:off x="550863" y="1341438"/>
            <a:ext cx="5184775" cy="635000"/>
          </a:xfrm>
        </p:spPr>
        <p:txBody>
          <a:bodyPr/>
          <a:lstStyle/>
          <a:p>
            <a:pPr lvl="1"/>
            <a:r>
              <a:rPr lang="ru-RU" dirty="0"/>
              <a:t>Второй уровень</a:t>
            </a:r>
          </a:p>
        </p:txBody>
      </p:sp>
      <p:sp>
        <p:nvSpPr>
          <p:cNvPr id="8" name="Объект 6">
            <a:extLst>
              <a:ext uri="{FF2B5EF4-FFF2-40B4-BE49-F238E27FC236}">
                <a16:creationId xmlns:a16="http://schemas.microsoft.com/office/drawing/2014/main" id="{9A78599F-D79E-4281-BEF4-7422CEEA54BF}"/>
              </a:ext>
            </a:extLst>
          </p:cNvPr>
          <p:cNvSpPr>
            <a:spLocks noGrp="1"/>
          </p:cNvSpPr>
          <p:nvPr>
            <p:ph sz="quarter" idx="15"/>
          </p:nvPr>
        </p:nvSpPr>
        <p:spPr>
          <a:xfrm>
            <a:off x="6466194" y="1828800"/>
            <a:ext cx="5184776" cy="4552949"/>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9" name="Текст 5">
            <a:extLst>
              <a:ext uri="{FF2B5EF4-FFF2-40B4-BE49-F238E27FC236}">
                <a16:creationId xmlns:a16="http://schemas.microsoft.com/office/drawing/2014/main" id="{42A86BF5-AF69-48DE-AFDD-C1FAD65027C5}"/>
              </a:ext>
            </a:extLst>
          </p:cNvPr>
          <p:cNvSpPr>
            <a:spLocks noGrp="1"/>
          </p:cNvSpPr>
          <p:nvPr>
            <p:ph type="body" sz="quarter" idx="16" hasCustomPrompt="1"/>
          </p:nvPr>
        </p:nvSpPr>
        <p:spPr>
          <a:xfrm>
            <a:off x="6466194" y="1341438"/>
            <a:ext cx="5184775" cy="635000"/>
          </a:xfrm>
        </p:spPr>
        <p:txBody>
          <a:bodyPr/>
          <a:lstStyle/>
          <a:p>
            <a:pPr lvl="1"/>
            <a:r>
              <a:rPr lang="ru-RU" dirty="0"/>
              <a:t>Второй уровень</a:t>
            </a:r>
          </a:p>
        </p:txBody>
      </p:sp>
    </p:spTree>
    <p:extLst>
      <p:ext uri="{BB962C8B-B14F-4D97-AF65-F5344CB8AC3E}">
        <p14:creationId xmlns:p14="http://schemas.microsoft.com/office/powerpoint/2010/main" val="911244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Пустой слайд с заголовком">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D7347E-D0C8-4C5C-B7FE-A4CCFC0D2FCC}"/>
              </a:ext>
            </a:extLst>
          </p:cNvPr>
          <p:cNvSpPr>
            <a:spLocks noGrp="1"/>
          </p:cNvSpPr>
          <p:nvPr>
            <p:ph type="title"/>
          </p:nvPr>
        </p:nvSpPr>
        <p:spPr/>
        <p:txBody>
          <a:bodyPr/>
          <a:lstStyle/>
          <a:p>
            <a:r>
              <a:rPr lang="ru-RU"/>
              <a:t>Образец заголовка</a:t>
            </a:r>
          </a:p>
        </p:txBody>
      </p:sp>
    </p:spTree>
    <p:extLst>
      <p:ext uri="{BB962C8B-B14F-4D97-AF65-F5344CB8AC3E}">
        <p14:creationId xmlns:p14="http://schemas.microsoft.com/office/powerpoint/2010/main" val="171735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Завершение презентации 1">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3C8354B0-5DDB-49B4-A187-3CEDA1E200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626875" y="5605171"/>
            <a:ext cx="1014262" cy="314912"/>
          </a:xfrm>
          <a:prstGeom prst="rect">
            <a:avLst/>
          </a:prstGeom>
        </p:spPr>
      </p:pic>
      <p:cxnSp>
        <p:nvCxnSpPr>
          <p:cNvPr id="3" name="Прямая соединительная линия 2">
            <a:extLst>
              <a:ext uri="{FF2B5EF4-FFF2-40B4-BE49-F238E27FC236}">
                <a16:creationId xmlns:a16="http://schemas.microsoft.com/office/drawing/2014/main" id="{188270A5-5B56-4CCE-84C6-4D75D2450723}"/>
              </a:ext>
            </a:extLst>
          </p:cNvPr>
          <p:cNvCxnSpPr>
            <a:cxnSpLocks/>
          </p:cNvCxnSpPr>
          <p:nvPr userDrawn="1"/>
        </p:nvCxnSpPr>
        <p:spPr>
          <a:xfrm>
            <a:off x="550863" y="6010277"/>
            <a:ext cx="11090275" cy="0"/>
          </a:xfrm>
          <a:prstGeom prst="line">
            <a:avLst/>
          </a:prstGeom>
          <a:ln w="15875">
            <a:gradFill>
              <a:gsLst>
                <a:gs pos="0">
                  <a:schemeClr val="accent1"/>
                </a:gs>
                <a:gs pos="54000">
                  <a:schemeClr val="accent3"/>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2AFB8C0-5C8E-4D3D-ADF9-00059CE618CF}"/>
              </a:ext>
            </a:extLst>
          </p:cNvPr>
          <p:cNvSpPr txBox="1"/>
          <p:nvPr userDrawn="1"/>
        </p:nvSpPr>
        <p:spPr>
          <a:xfrm>
            <a:off x="9541404" y="6179006"/>
            <a:ext cx="2099734" cy="215444"/>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solidFill>
              </a:rPr>
              <a:t>https://guap.ru</a:t>
            </a:r>
            <a:endParaRPr lang="ru-RU" sz="1400" b="1" dirty="0">
              <a:solidFill>
                <a:schemeClr val="tx2"/>
              </a:solidFill>
            </a:endParaRPr>
          </a:p>
        </p:txBody>
      </p:sp>
    </p:spTree>
    <p:extLst>
      <p:ext uri="{BB962C8B-B14F-4D97-AF65-F5344CB8AC3E}">
        <p14:creationId xmlns:p14="http://schemas.microsoft.com/office/powerpoint/2010/main" val="2738771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Завершение презентации 2">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3C8354B0-5DDB-49B4-A187-3CEDA1E200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741843" y="5605171"/>
            <a:ext cx="1014262" cy="314912"/>
          </a:xfrm>
          <a:prstGeom prst="rect">
            <a:avLst/>
          </a:prstGeom>
        </p:spPr>
      </p:pic>
      <p:cxnSp>
        <p:nvCxnSpPr>
          <p:cNvPr id="3" name="Прямая соединительная линия 2">
            <a:extLst>
              <a:ext uri="{FF2B5EF4-FFF2-40B4-BE49-F238E27FC236}">
                <a16:creationId xmlns:a16="http://schemas.microsoft.com/office/drawing/2014/main" id="{188270A5-5B56-4CCE-84C6-4D75D2450723}"/>
              </a:ext>
            </a:extLst>
          </p:cNvPr>
          <p:cNvCxnSpPr>
            <a:cxnSpLocks/>
          </p:cNvCxnSpPr>
          <p:nvPr userDrawn="1"/>
        </p:nvCxnSpPr>
        <p:spPr>
          <a:xfrm>
            <a:off x="550863" y="6010277"/>
            <a:ext cx="10205243" cy="0"/>
          </a:xfrm>
          <a:prstGeom prst="line">
            <a:avLst/>
          </a:prstGeom>
          <a:ln w="15875">
            <a:gradFill>
              <a:gsLst>
                <a:gs pos="0">
                  <a:schemeClr val="accent1"/>
                </a:gs>
                <a:gs pos="54000">
                  <a:schemeClr val="accent3"/>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pic>
        <p:nvPicPr>
          <p:cNvPr id="10" name="Рисунок 9">
            <a:extLst>
              <a:ext uri="{FF2B5EF4-FFF2-40B4-BE49-F238E27FC236}">
                <a16:creationId xmlns:a16="http://schemas.microsoft.com/office/drawing/2014/main" id="{42E00DBC-5DC3-4A2C-A94D-350C2F82CC68}"/>
              </a:ext>
            </a:extLst>
          </p:cNvPr>
          <p:cNvPicPr>
            <a:picLocks noChangeAspect="1"/>
          </p:cNvPicPr>
          <p:nvPr userDrawn="1"/>
        </p:nvPicPr>
        <p:blipFill rotWithShape="1">
          <a:blip r:embed="rId3"/>
          <a:srcRect r="5385"/>
          <a:stretch/>
        </p:blipFill>
        <p:spPr>
          <a:xfrm>
            <a:off x="10776480" y="5500691"/>
            <a:ext cx="864658" cy="913871"/>
          </a:xfrm>
          <a:prstGeom prst="rect">
            <a:avLst/>
          </a:prstGeom>
        </p:spPr>
      </p:pic>
      <p:sp>
        <p:nvSpPr>
          <p:cNvPr id="13" name="TextBox 12">
            <a:extLst>
              <a:ext uri="{FF2B5EF4-FFF2-40B4-BE49-F238E27FC236}">
                <a16:creationId xmlns:a16="http://schemas.microsoft.com/office/drawing/2014/main" id="{FFC432CA-A470-414A-9A8F-5EF0FAB4F9C9}"/>
              </a:ext>
            </a:extLst>
          </p:cNvPr>
          <p:cNvSpPr txBox="1"/>
          <p:nvPr userDrawn="1"/>
        </p:nvSpPr>
        <p:spPr>
          <a:xfrm>
            <a:off x="8676746" y="6179006"/>
            <a:ext cx="2099734" cy="215444"/>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b="1" dirty="0">
                <a:solidFill>
                  <a:schemeClr val="tx2"/>
                </a:solidFill>
              </a:rPr>
              <a:t>https://guap.ru</a:t>
            </a:r>
            <a:endParaRPr lang="ru-RU" sz="1400" b="1" dirty="0">
              <a:solidFill>
                <a:schemeClr val="tx2"/>
              </a:solidFill>
            </a:endParaRPr>
          </a:p>
        </p:txBody>
      </p:sp>
      <p:sp>
        <p:nvSpPr>
          <p:cNvPr id="14" name="TextBox 13">
            <a:extLst>
              <a:ext uri="{FF2B5EF4-FFF2-40B4-BE49-F238E27FC236}">
                <a16:creationId xmlns:a16="http://schemas.microsoft.com/office/drawing/2014/main" id="{83A6AFA2-D81A-4798-AEC0-3F4A7A8C22AC}"/>
              </a:ext>
            </a:extLst>
          </p:cNvPr>
          <p:cNvSpPr txBox="1"/>
          <p:nvPr userDrawn="1"/>
        </p:nvSpPr>
        <p:spPr>
          <a:xfrm>
            <a:off x="571238" y="6179006"/>
            <a:ext cx="320506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bg1">
                    <a:lumMod val="50000"/>
                  </a:schemeClr>
                </a:solidFill>
              </a:rPr>
              <a:t>© </a:t>
            </a:r>
            <a:r>
              <a:rPr lang="ru-RU" sz="1100" b="0" dirty="0">
                <a:solidFill>
                  <a:schemeClr val="bg1">
                    <a:lumMod val="50000"/>
                  </a:schemeClr>
                </a:solidFill>
              </a:rPr>
              <a:t>ГУАП, 2023</a:t>
            </a:r>
            <a:endParaRPr lang="ru-RU" sz="1400" b="0" dirty="0">
              <a:solidFill>
                <a:schemeClr val="bg1">
                  <a:lumMod val="50000"/>
                </a:schemeClr>
              </a:solidFill>
            </a:endParaRPr>
          </a:p>
        </p:txBody>
      </p:sp>
    </p:spTree>
    <p:extLst>
      <p:ext uri="{BB962C8B-B14F-4D97-AF65-F5344CB8AC3E}">
        <p14:creationId xmlns:p14="http://schemas.microsoft.com/office/powerpoint/2010/main" val="2190039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Завершение презентации 3 - для выступлений">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6FFF08F3-1FC8-4409-A953-82A3AF7771C7}"/>
              </a:ext>
            </a:extLst>
          </p:cNvPr>
          <p:cNvSpPr/>
          <p:nvPr userDrawn="1"/>
        </p:nvSpPr>
        <p:spPr>
          <a:xfrm flipH="1">
            <a:off x="0" y="0"/>
            <a:ext cx="12192000" cy="6858000"/>
          </a:xfrm>
          <a:prstGeom prst="rect">
            <a:avLst/>
          </a:prstGeom>
          <a:blipFill>
            <a:blip r:embed="rId2"/>
            <a:stretch>
              <a:fillRect l="-7937" t="-5796" r="-5797" b="-793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200" dirty="0"/>
          </a:p>
        </p:txBody>
      </p:sp>
      <p:pic>
        <p:nvPicPr>
          <p:cNvPr id="2" name="Рисунок 1">
            <a:extLst>
              <a:ext uri="{FF2B5EF4-FFF2-40B4-BE49-F238E27FC236}">
                <a16:creationId xmlns:a16="http://schemas.microsoft.com/office/drawing/2014/main" id="{3C8354B0-5DDB-49B4-A187-3CEDA1E200D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989994" y="1141883"/>
            <a:ext cx="2254761" cy="700067"/>
          </a:xfrm>
          <a:prstGeom prst="rect">
            <a:avLst/>
          </a:prstGeom>
        </p:spPr>
      </p:pic>
      <p:pic>
        <p:nvPicPr>
          <p:cNvPr id="10" name="Рисунок 9">
            <a:extLst>
              <a:ext uri="{FF2B5EF4-FFF2-40B4-BE49-F238E27FC236}">
                <a16:creationId xmlns:a16="http://schemas.microsoft.com/office/drawing/2014/main" id="{42E00DBC-5DC3-4A2C-A94D-350C2F82CC68}"/>
              </a:ext>
            </a:extLst>
          </p:cNvPr>
          <p:cNvPicPr>
            <a:picLocks noChangeAspect="1"/>
          </p:cNvPicPr>
          <p:nvPr userDrawn="1"/>
        </p:nvPicPr>
        <p:blipFill rotWithShape="1">
          <a:blip r:embed="rId4"/>
          <a:srcRect r="5385"/>
          <a:stretch/>
        </p:blipFill>
        <p:spPr>
          <a:xfrm>
            <a:off x="10363289" y="949059"/>
            <a:ext cx="1303250" cy="1377426"/>
          </a:xfrm>
          <a:prstGeom prst="rect">
            <a:avLst/>
          </a:prstGeom>
        </p:spPr>
      </p:pic>
      <p:sp>
        <p:nvSpPr>
          <p:cNvPr id="13" name="TextBox 12">
            <a:extLst>
              <a:ext uri="{FF2B5EF4-FFF2-40B4-BE49-F238E27FC236}">
                <a16:creationId xmlns:a16="http://schemas.microsoft.com/office/drawing/2014/main" id="{FFC432CA-A470-414A-9A8F-5EF0FAB4F9C9}"/>
              </a:ext>
            </a:extLst>
          </p:cNvPr>
          <p:cNvSpPr txBox="1"/>
          <p:nvPr userDrawn="1"/>
        </p:nvSpPr>
        <p:spPr>
          <a:xfrm>
            <a:off x="8147402" y="1734228"/>
            <a:ext cx="2099734" cy="230832"/>
          </a:xfrm>
          <a:prstGeom prst="rect">
            <a:avLst/>
          </a:prstGeom>
          <a:noFill/>
        </p:spPr>
        <p:txBody>
          <a:bodyPr wrap="square" lIns="0" tIns="0" rIns="0" bIns="0" rtlCol="0">
            <a:spAutoFit/>
          </a:bodyPr>
          <a:lstStyle/>
          <a:p>
            <a:pPr marL="457200" marR="0" lvl="1" indent="0" algn="r" defTabSz="914400" rtl="0" eaLnBrk="1" fontAlgn="auto" latinLnBrk="0" hangingPunct="1">
              <a:lnSpc>
                <a:spcPct val="100000"/>
              </a:lnSpc>
              <a:spcBef>
                <a:spcPts val="0"/>
              </a:spcBef>
              <a:spcAft>
                <a:spcPts val="0"/>
              </a:spcAft>
              <a:buClrTx/>
              <a:buSzTx/>
              <a:buFontTx/>
              <a:buNone/>
              <a:tabLst/>
              <a:defRPr/>
            </a:pPr>
            <a:r>
              <a:rPr lang="en-US" sz="1500" b="1" dirty="0">
                <a:solidFill>
                  <a:schemeClr val="tx1">
                    <a:lumMod val="50000"/>
                    <a:lumOff val="50000"/>
                  </a:schemeClr>
                </a:solidFill>
              </a:rPr>
              <a:t>https://guap.ru</a:t>
            </a:r>
            <a:endParaRPr lang="ru-RU" sz="1500" b="1" dirty="0">
              <a:solidFill>
                <a:schemeClr val="tx1">
                  <a:lumMod val="50000"/>
                  <a:lumOff val="50000"/>
                </a:schemeClr>
              </a:solidFill>
            </a:endParaRPr>
          </a:p>
        </p:txBody>
      </p:sp>
    </p:spTree>
    <p:extLst>
      <p:ext uri="{BB962C8B-B14F-4D97-AF65-F5344CB8AC3E}">
        <p14:creationId xmlns:p14="http://schemas.microsoft.com/office/powerpoint/2010/main" val="19915095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Завершение презентации 4 - с контактами">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6FFF08F3-1FC8-4409-A953-82A3AF7771C7}"/>
              </a:ext>
            </a:extLst>
          </p:cNvPr>
          <p:cNvSpPr/>
          <p:nvPr userDrawn="1"/>
        </p:nvSpPr>
        <p:spPr>
          <a:xfrm flipH="1">
            <a:off x="0" y="0"/>
            <a:ext cx="12192000" cy="6858000"/>
          </a:xfrm>
          <a:prstGeom prst="rect">
            <a:avLst/>
          </a:prstGeom>
          <a:blipFill>
            <a:blip r:embed="rId2"/>
            <a:stretch>
              <a:fillRect l="-7937" t="-5796" r="-5797" b="-793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200" dirty="0"/>
          </a:p>
        </p:txBody>
      </p:sp>
      <p:pic>
        <p:nvPicPr>
          <p:cNvPr id="2" name="Рисунок 1">
            <a:extLst>
              <a:ext uri="{FF2B5EF4-FFF2-40B4-BE49-F238E27FC236}">
                <a16:creationId xmlns:a16="http://schemas.microsoft.com/office/drawing/2014/main" id="{3C8354B0-5DDB-49B4-A187-3CEDA1E200D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989994" y="1141883"/>
            <a:ext cx="2254761" cy="700067"/>
          </a:xfrm>
          <a:prstGeom prst="rect">
            <a:avLst/>
          </a:prstGeom>
        </p:spPr>
      </p:pic>
      <p:pic>
        <p:nvPicPr>
          <p:cNvPr id="10" name="Рисунок 9">
            <a:extLst>
              <a:ext uri="{FF2B5EF4-FFF2-40B4-BE49-F238E27FC236}">
                <a16:creationId xmlns:a16="http://schemas.microsoft.com/office/drawing/2014/main" id="{42E00DBC-5DC3-4A2C-A94D-350C2F82CC68}"/>
              </a:ext>
            </a:extLst>
          </p:cNvPr>
          <p:cNvPicPr>
            <a:picLocks noChangeAspect="1"/>
          </p:cNvPicPr>
          <p:nvPr userDrawn="1"/>
        </p:nvPicPr>
        <p:blipFill rotWithShape="1">
          <a:blip r:embed="rId4"/>
          <a:srcRect r="5385"/>
          <a:stretch/>
        </p:blipFill>
        <p:spPr>
          <a:xfrm>
            <a:off x="10363289" y="949059"/>
            <a:ext cx="1303250" cy="1377426"/>
          </a:xfrm>
          <a:prstGeom prst="rect">
            <a:avLst/>
          </a:prstGeom>
        </p:spPr>
      </p:pic>
      <p:sp>
        <p:nvSpPr>
          <p:cNvPr id="13" name="TextBox 12">
            <a:extLst>
              <a:ext uri="{FF2B5EF4-FFF2-40B4-BE49-F238E27FC236}">
                <a16:creationId xmlns:a16="http://schemas.microsoft.com/office/drawing/2014/main" id="{FFC432CA-A470-414A-9A8F-5EF0FAB4F9C9}"/>
              </a:ext>
            </a:extLst>
          </p:cNvPr>
          <p:cNvSpPr txBox="1"/>
          <p:nvPr userDrawn="1"/>
        </p:nvSpPr>
        <p:spPr>
          <a:xfrm>
            <a:off x="8147402" y="1734228"/>
            <a:ext cx="2099734" cy="230832"/>
          </a:xfrm>
          <a:prstGeom prst="rect">
            <a:avLst/>
          </a:prstGeom>
          <a:noFill/>
        </p:spPr>
        <p:txBody>
          <a:bodyPr wrap="square" lIns="0" tIns="0" rIns="0" bIns="0" rtlCol="0">
            <a:spAutoFit/>
          </a:bodyPr>
          <a:lstStyle/>
          <a:p>
            <a:pPr marL="457200" marR="0" lvl="1" indent="0" algn="r" defTabSz="914400" rtl="0" eaLnBrk="1" fontAlgn="auto" latinLnBrk="0" hangingPunct="1">
              <a:lnSpc>
                <a:spcPct val="100000"/>
              </a:lnSpc>
              <a:spcBef>
                <a:spcPts val="0"/>
              </a:spcBef>
              <a:spcAft>
                <a:spcPts val="0"/>
              </a:spcAft>
              <a:buClrTx/>
              <a:buSzTx/>
              <a:buFontTx/>
              <a:buNone/>
              <a:tabLst/>
              <a:defRPr/>
            </a:pPr>
            <a:r>
              <a:rPr lang="en-US" sz="1500" b="1" dirty="0">
                <a:solidFill>
                  <a:schemeClr val="tx1">
                    <a:lumMod val="50000"/>
                    <a:lumOff val="50000"/>
                  </a:schemeClr>
                </a:solidFill>
              </a:rPr>
              <a:t>https://guap.ru</a:t>
            </a:r>
            <a:endParaRPr lang="ru-RU" sz="1500" b="1" dirty="0">
              <a:solidFill>
                <a:schemeClr val="tx1">
                  <a:lumMod val="50000"/>
                  <a:lumOff val="50000"/>
                </a:schemeClr>
              </a:solidFill>
            </a:endParaRPr>
          </a:p>
        </p:txBody>
      </p:sp>
      <p:sp>
        <p:nvSpPr>
          <p:cNvPr id="4" name="Текст 3">
            <a:extLst>
              <a:ext uri="{FF2B5EF4-FFF2-40B4-BE49-F238E27FC236}">
                <a16:creationId xmlns:a16="http://schemas.microsoft.com/office/drawing/2014/main" id="{03FAF823-6E65-4BE2-B22A-CEAA3977E75E}"/>
              </a:ext>
            </a:extLst>
          </p:cNvPr>
          <p:cNvSpPr>
            <a:spLocks noGrp="1"/>
          </p:cNvSpPr>
          <p:nvPr>
            <p:ph type="body" sz="quarter" idx="10" hasCustomPrompt="1"/>
          </p:nvPr>
        </p:nvSpPr>
        <p:spPr>
          <a:xfrm>
            <a:off x="6456363" y="3275544"/>
            <a:ext cx="5184775" cy="1997341"/>
          </a:xfrm>
        </p:spPr>
        <p:txBody>
          <a:bodyPr anchor="ctr" anchorCtr="0"/>
          <a:lstStyle>
            <a:lvl1pPr algn="r">
              <a:defRPr>
                <a:solidFill>
                  <a:schemeClr val="tx1"/>
                </a:solidFill>
              </a:defRPr>
            </a:lvl1pPr>
          </a:lstStyle>
          <a:p>
            <a:pPr lvl="0"/>
            <a:r>
              <a:rPr lang="ru-RU" dirty="0"/>
              <a:t>Контакты</a:t>
            </a:r>
          </a:p>
        </p:txBody>
      </p:sp>
    </p:spTree>
    <p:extLst>
      <p:ext uri="{BB962C8B-B14F-4D97-AF65-F5344CB8AC3E}">
        <p14:creationId xmlns:p14="http://schemas.microsoft.com/office/powerpoint/2010/main" val="40015763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Пустой слайд">
    <p:spTree>
      <p:nvGrpSpPr>
        <p:cNvPr id="1" name=""/>
        <p:cNvGrpSpPr/>
        <p:nvPr/>
      </p:nvGrpSpPr>
      <p:grpSpPr>
        <a:xfrm>
          <a:off x="0" y="0"/>
          <a:ext cx="0" cy="0"/>
          <a:chOff x="0" y="0"/>
          <a:chExt cx="0" cy="0"/>
        </a:xfrm>
      </p:grpSpPr>
    </p:spTree>
    <p:extLst>
      <p:ext uri="{BB962C8B-B14F-4D97-AF65-F5344CB8AC3E}">
        <p14:creationId xmlns:p14="http://schemas.microsoft.com/office/powerpoint/2010/main" val="81330978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3.svg"/><Relationship Id="rId5" Type="http://schemas.openxmlformats.org/officeDocument/2006/relationships/theme" Target="../theme/theme3.xml"/><Relationship Id="rId4" Type="http://schemas.openxmlformats.org/officeDocument/2006/relationships/slideLayout" Target="../slideLayouts/slideLayout8.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slideLayout" Target="../slideLayouts/slideLayout11.xml"/><Relationship Id="rId7" Type="http://schemas.openxmlformats.org/officeDocument/2006/relationships/theme" Target="../theme/theme4.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DA26B8BC-9AE2-41D8-8A90-8D1C0A2A554B}"/>
              </a:ext>
            </a:extLst>
          </p:cNvPr>
          <p:cNvSpPr/>
          <p:nvPr userDrawn="1"/>
        </p:nvSpPr>
        <p:spPr>
          <a:xfrm>
            <a:off x="0" y="0"/>
            <a:ext cx="12192000" cy="6858000"/>
          </a:xfrm>
          <a:prstGeom prst="rect">
            <a:avLst/>
          </a:prstGeom>
          <a:blipFill>
            <a:blip r:embed="rId3"/>
            <a:stretch>
              <a:fillRect l="-7937" t="-5796" r="-5797" b="-793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200" dirty="0"/>
          </a:p>
        </p:txBody>
      </p:sp>
      <p:pic>
        <p:nvPicPr>
          <p:cNvPr id="8" name="Рисунок 7">
            <a:extLst>
              <a:ext uri="{FF2B5EF4-FFF2-40B4-BE49-F238E27FC236}">
                <a16:creationId xmlns:a16="http://schemas.microsoft.com/office/drawing/2014/main" id="{85009951-9659-4924-B8D1-D9994BE1E4E5}"/>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r="56155"/>
          <a:stretch/>
        </p:blipFill>
        <p:spPr>
          <a:xfrm>
            <a:off x="550865" y="304376"/>
            <a:ext cx="2827336" cy="1095375"/>
          </a:xfrm>
          <a:prstGeom prst="rect">
            <a:avLst/>
          </a:prstGeom>
        </p:spPr>
      </p:pic>
      <p:sp>
        <p:nvSpPr>
          <p:cNvPr id="2" name="Заголовок 1">
            <a:extLst>
              <a:ext uri="{FF2B5EF4-FFF2-40B4-BE49-F238E27FC236}">
                <a16:creationId xmlns:a16="http://schemas.microsoft.com/office/drawing/2014/main" id="{6739E3CC-EBAD-4C68-8215-E3D1E33887DA}"/>
              </a:ext>
            </a:extLst>
          </p:cNvPr>
          <p:cNvSpPr>
            <a:spLocks noGrp="1"/>
          </p:cNvSpPr>
          <p:nvPr>
            <p:ph type="title"/>
          </p:nvPr>
        </p:nvSpPr>
        <p:spPr>
          <a:xfrm>
            <a:off x="550864" y="2509678"/>
            <a:ext cx="8051638" cy="1325563"/>
          </a:xfrm>
          <a:prstGeom prst="rect">
            <a:avLst/>
          </a:prstGeom>
        </p:spPr>
        <p:txBody>
          <a:bodyPr vert="horz" lIns="0" tIns="0" rIns="0" bIns="0" rtlCol="0" anchor="b" anchorCtr="0">
            <a:normAutofit/>
          </a:bodyPr>
          <a:lstStyle/>
          <a:p>
            <a:r>
              <a:rPr lang="ru-RU" dirty="0"/>
              <a:t>Образец заголовка</a:t>
            </a:r>
          </a:p>
        </p:txBody>
      </p:sp>
      <p:sp>
        <p:nvSpPr>
          <p:cNvPr id="3" name="Текст 2">
            <a:extLst>
              <a:ext uri="{FF2B5EF4-FFF2-40B4-BE49-F238E27FC236}">
                <a16:creationId xmlns:a16="http://schemas.microsoft.com/office/drawing/2014/main" id="{E220187D-590C-4FB1-A787-08B69F583E60}"/>
              </a:ext>
            </a:extLst>
          </p:cNvPr>
          <p:cNvSpPr>
            <a:spLocks noGrp="1"/>
          </p:cNvSpPr>
          <p:nvPr>
            <p:ph type="body" idx="1"/>
          </p:nvPr>
        </p:nvSpPr>
        <p:spPr>
          <a:xfrm>
            <a:off x="550863" y="4568243"/>
            <a:ext cx="6234948" cy="1004784"/>
          </a:xfrm>
          <a:prstGeom prst="rect">
            <a:avLst/>
          </a:prstGeom>
        </p:spPr>
        <p:txBody>
          <a:bodyPr vert="horz" lIns="0" tIns="0" rIns="0" bIns="0" rtlCol="0">
            <a:normAutofit/>
          </a:bodyPr>
          <a:lstStyle/>
          <a:p>
            <a:pPr lvl="0"/>
            <a:r>
              <a:rPr lang="ru-RU" dirty="0"/>
              <a:t>Образец текста</a:t>
            </a:r>
          </a:p>
          <a:p>
            <a:pPr lvl="1"/>
            <a:r>
              <a:rPr lang="ru-RU" dirty="0"/>
              <a:t>Дата</a:t>
            </a:r>
          </a:p>
        </p:txBody>
      </p:sp>
    </p:spTree>
    <p:extLst>
      <p:ext uri="{BB962C8B-B14F-4D97-AF65-F5344CB8AC3E}">
        <p14:creationId xmlns:p14="http://schemas.microsoft.com/office/powerpoint/2010/main" val="1624853327"/>
      </p:ext>
    </p:extLst>
  </p:cSld>
  <p:clrMap bg1="lt1" tx1="dk1" bg2="lt2" tx2="dk2" accent1="accent1" accent2="accent2" accent3="accent3" accent4="accent4" accent5="accent5" accent6="accent6" hlink="hlink" folHlink="folHlink"/>
  <p:sldLayoutIdLst>
    <p:sldLayoutId id="2147483773" r:id="rId1"/>
  </p:sldLayoutIdLst>
  <p:txStyles>
    <p:titleStyle>
      <a:lvl1pPr algn="l" defTabSz="914400" rtl="0" eaLnBrk="1" latinLnBrk="0" hangingPunct="1">
        <a:lnSpc>
          <a:spcPct val="100000"/>
        </a:lnSpc>
        <a:spcBef>
          <a:spcPct val="0"/>
        </a:spcBef>
        <a:buNone/>
        <a:defRPr sz="3600" kern="1200">
          <a:solidFill>
            <a:schemeClr val="accent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0" indent="0" algn="r" defTabSz="914400" rtl="0" eaLnBrk="1" latinLnBrk="0" hangingPunct="1">
        <a:lnSpc>
          <a:spcPct val="100000"/>
        </a:lnSpc>
        <a:spcBef>
          <a:spcPts val="500"/>
        </a:spcBef>
        <a:buFont typeface="Arial" panose="020B0604020202020204" pitchFamily="34" charset="0"/>
        <a:buNone/>
        <a:defRPr sz="3200" kern="1200">
          <a:solidFill>
            <a:schemeClr val="accent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40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EFB9A11F-72FA-0A44-9653-48C9EECB75BF}"/>
              </a:ext>
            </a:extLst>
          </p:cNvPr>
          <p:cNvSpPr>
            <a:spLocks noGrp="1"/>
          </p:cNvSpPr>
          <p:nvPr>
            <p:ph type="title"/>
          </p:nvPr>
        </p:nvSpPr>
        <p:spPr>
          <a:xfrm>
            <a:off x="550863" y="407976"/>
            <a:ext cx="9608330" cy="332399"/>
          </a:xfrm>
          <a:prstGeom prst="rect">
            <a:avLst/>
          </a:prstGeom>
        </p:spPr>
        <p:txBody>
          <a:bodyPr vert="horz" wrap="square" lIns="0" tIns="0" rIns="0" bIns="0" rtlCol="0" anchor="ctr">
            <a:spAutoFit/>
          </a:bodyPr>
          <a:lstStyle/>
          <a:p>
            <a:r>
              <a:rPr lang="ru-RU" dirty="0"/>
              <a:t>Заголовок слайда</a:t>
            </a:r>
          </a:p>
        </p:txBody>
      </p:sp>
      <p:pic>
        <p:nvPicPr>
          <p:cNvPr id="9" name="Рисунок 8">
            <a:extLst>
              <a:ext uri="{FF2B5EF4-FFF2-40B4-BE49-F238E27FC236}">
                <a16:creationId xmlns:a16="http://schemas.microsoft.com/office/drawing/2014/main" id="{323DE3AE-88ED-4D7E-9545-2150C37B908F}"/>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626875" y="407976"/>
            <a:ext cx="1014262" cy="314912"/>
          </a:xfrm>
          <a:prstGeom prst="rect">
            <a:avLst/>
          </a:prstGeom>
        </p:spPr>
      </p:pic>
      <p:cxnSp>
        <p:nvCxnSpPr>
          <p:cNvPr id="6" name="Прямая соединительная линия 5">
            <a:extLst>
              <a:ext uri="{FF2B5EF4-FFF2-40B4-BE49-F238E27FC236}">
                <a16:creationId xmlns:a16="http://schemas.microsoft.com/office/drawing/2014/main" id="{95CF6A84-AC35-45BE-AA65-F59DCCC45A75}"/>
              </a:ext>
            </a:extLst>
          </p:cNvPr>
          <p:cNvCxnSpPr>
            <a:cxnSpLocks/>
          </p:cNvCxnSpPr>
          <p:nvPr userDrawn="1"/>
        </p:nvCxnSpPr>
        <p:spPr>
          <a:xfrm>
            <a:off x="550863" y="968502"/>
            <a:ext cx="11090275" cy="0"/>
          </a:xfrm>
          <a:prstGeom prst="line">
            <a:avLst/>
          </a:prstGeom>
          <a:ln w="15875">
            <a:gradFill>
              <a:gsLst>
                <a:gs pos="0">
                  <a:schemeClr val="accent1"/>
                </a:gs>
                <a:gs pos="54000">
                  <a:schemeClr val="accent3"/>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3" name="Текст 2">
            <a:extLst>
              <a:ext uri="{FF2B5EF4-FFF2-40B4-BE49-F238E27FC236}">
                <a16:creationId xmlns:a16="http://schemas.microsoft.com/office/drawing/2014/main" id="{3B768B2F-9C22-468C-B230-607F8CFF7526}"/>
              </a:ext>
            </a:extLst>
          </p:cNvPr>
          <p:cNvSpPr>
            <a:spLocks noGrp="1"/>
          </p:cNvSpPr>
          <p:nvPr>
            <p:ph type="body" idx="1"/>
          </p:nvPr>
        </p:nvSpPr>
        <p:spPr>
          <a:xfrm>
            <a:off x="550862" y="1341437"/>
            <a:ext cx="10515600" cy="4201665"/>
          </a:xfrm>
          <a:prstGeom prst="rect">
            <a:avLst/>
          </a:prstGeom>
        </p:spPr>
        <p:txBody>
          <a:bodyPr vert="horz" lIns="0" tIns="0" rIns="0" bIns="0" rtlCol="0">
            <a:normAutofit/>
          </a:bodyPr>
          <a:lstStyle/>
          <a:p>
            <a:pPr lvl="0"/>
            <a:r>
              <a:rPr lang="ru-RU" dirty="0"/>
              <a:t>Подзаголовок</a:t>
            </a:r>
          </a:p>
          <a:p>
            <a:pPr lvl="1"/>
            <a:r>
              <a:rPr lang="ru-RU" dirty="0"/>
              <a:t>Заголовок таблицы</a:t>
            </a:r>
          </a:p>
          <a:p>
            <a:pPr lvl="2"/>
            <a:r>
              <a:rPr lang="ru-RU" dirty="0"/>
              <a:t>Подпись рисунка</a:t>
            </a:r>
          </a:p>
          <a:p>
            <a:pPr lvl="3"/>
            <a:r>
              <a:rPr lang="ru-RU" dirty="0"/>
              <a:t>Текст</a:t>
            </a:r>
          </a:p>
          <a:p>
            <a:pPr lvl="4"/>
            <a:r>
              <a:rPr lang="ru-RU" dirty="0"/>
              <a:t>Выделенный текст</a:t>
            </a:r>
          </a:p>
          <a:p>
            <a:pPr lvl="5"/>
            <a:r>
              <a:rPr lang="ru-RU" dirty="0"/>
              <a:t>Маркеры</a:t>
            </a:r>
          </a:p>
          <a:p>
            <a:pPr lvl="6"/>
            <a:r>
              <a:rPr lang="ru-RU" dirty="0"/>
              <a:t>Нумерация</a:t>
            </a:r>
          </a:p>
        </p:txBody>
      </p:sp>
      <p:sp>
        <p:nvSpPr>
          <p:cNvPr id="8" name="TextBox 7">
            <a:extLst>
              <a:ext uri="{FF2B5EF4-FFF2-40B4-BE49-F238E27FC236}">
                <a16:creationId xmlns:a16="http://schemas.microsoft.com/office/drawing/2014/main" id="{8444A2A7-9511-4B2D-A046-C71363808B05}"/>
              </a:ext>
            </a:extLst>
          </p:cNvPr>
          <p:cNvSpPr txBox="1"/>
          <p:nvPr userDrawn="1"/>
        </p:nvSpPr>
        <p:spPr>
          <a:xfrm>
            <a:off x="9212262" y="6513813"/>
            <a:ext cx="2428875" cy="184666"/>
          </a:xfrm>
          <a:prstGeom prst="rect">
            <a:avLst/>
          </a:prstGeom>
          <a:noFill/>
        </p:spPr>
        <p:txBody>
          <a:bodyPr wrap="square" lIns="0" tIns="0" rIns="0" bIns="0" rtlCol="0">
            <a:spAutoFit/>
          </a:bodyPr>
          <a:lstStyle/>
          <a:p>
            <a:pPr algn="r"/>
            <a:fld id="{261FCC40-BD7D-499B-BF07-C5DEC022620E}" type="slidenum">
              <a:rPr lang="ru-RU" sz="1200" kern="1200" smtClean="0">
                <a:solidFill>
                  <a:schemeClr val="tx2">
                    <a:lumMod val="90000"/>
                  </a:schemeClr>
                </a:solidFill>
                <a:latin typeface="+mn-lt"/>
                <a:ea typeface="+mn-ea"/>
                <a:cs typeface="+mn-cs"/>
              </a:rPr>
              <a:pPr algn="r"/>
              <a:t>‹#›</a:t>
            </a:fld>
            <a:endParaRPr lang="ru-RU" sz="1200" kern="1200" dirty="0">
              <a:solidFill>
                <a:schemeClr val="tx2">
                  <a:lumMod val="90000"/>
                </a:schemeClr>
              </a:solidFill>
              <a:latin typeface="+mn-lt"/>
              <a:ea typeface="+mn-ea"/>
              <a:cs typeface="+mn-cs"/>
            </a:endParaRPr>
          </a:p>
        </p:txBody>
      </p:sp>
    </p:spTree>
    <p:extLst>
      <p:ext uri="{BB962C8B-B14F-4D97-AF65-F5344CB8AC3E}">
        <p14:creationId xmlns:p14="http://schemas.microsoft.com/office/powerpoint/2010/main" val="684128004"/>
      </p:ext>
    </p:extLst>
  </p:cSld>
  <p:clrMap bg1="lt1" tx1="dk1" bg2="lt2" tx2="dk2" accent1="accent1" accent2="accent2" accent3="accent3" accent4="accent4" accent5="accent5" accent6="accent6" hlink="hlink" folHlink="folHlink"/>
  <p:sldLayoutIdLst>
    <p:sldLayoutId id="2147483802" r:id="rId1"/>
    <p:sldLayoutId id="2147483801" r:id="rId2"/>
    <p:sldLayoutId id="2147483759" r:id="rId3"/>
  </p:sldLayoutIdLst>
  <p:hf hdr="0" dt="0"/>
  <p:txStyles>
    <p:titleStyle>
      <a:lvl1pPr algn="l" defTabSz="914400" rtl="0" eaLnBrk="1" latinLnBrk="0" hangingPunct="1">
        <a:lnSpc>
          <a:spcPct val="90000"/>
        </a:lnSpc>
        <a:spcBef>
          <a:spcPct val="0"/>
        </a:spcBef>
        <a:buNone/>
        <a:defRPr sz="24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45" userDrawn="1">
          <p15:clr>
            <a:srgbClr val="F26B43"/>
          </p15:clr>
        </p15:guide>
        <p15:guide id="2" pos="347">
          <p15:clr>
            <a:srgbClr val="F26B43"/>
          </p15:clr>
        </p15:guide>
        <p15:guide id="3" orient="horz" pos="4020">
          <p15:clr>
            <a:srgbClr val="F26B43"/>
          </p15:clr>
        </p15:guide>
        <p15:guide id="4" pos="7333">
          <p15:clr>
            <a:srgbClr val="F26B43"/>
          </p15:clr>
        </p15:guide>
        <p15:guide id="5" pos="3613" userDrawn="1">
          <p15:clr>
            <a:srgbClr val="F26B43"/>
          </p15:clr>
        </p15:guide>
        <p15:guide id="6" pos="406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EFB9A11F-72FA-0A44-9653-48C9EECB75BF}"/>
              </a:ext>
            </a:extLst>
          </p:cNvPr>
          <p:cNvSpPr>
            <a:spLocks noGrp="1"/>
          </p:cNvSpPr>
          <p:nvPr>
            <p:ph type="title"/>
          </p:nvPr>
        </p:nvSpPr>
        <p:spPr>
          <a:xfrm>
            <a:off x="550863" y="407976"/>
            <a:ext cx="9608330" cy="332399"/>
          </a:xfrm>
          <a:prstGeom prst="rect">
            <a:avLst/>
          </a:prstGeom>
        </p:spPr>
        <p:txBody>
          <a:bodyPr vert="horz" wrap="square" lIns="0" tIns="0" rIns="0" bIns="0" rtlCol="0" anchor="ctr">
            <a:spAutoFit/>
          </a:bodyPr>
          <a:lstStyle/>
          <a:p>
            <a:r>
              <a:rPr lang="ru-RU" dirty="0"/>
              <a:t>Заголовок слайда</a:t>
            </a:r>
          </a:p>
        </p:txBody>
      </p:sp>
      <p:pic>
        <p:nvPicPr>
          <p:cNvPr id="9" name="Рисунок 8">
            <a:extLst>
              <a:ext uri="{FF2B5EF4-FFF2-40B4-BE49-F238E27FC236}">
                <a16:creationId xmlns:a16="http://schemas.microsoft.com/office/drawing/2014/main" id="{323DE3AE-88ED-4D7E-9545-2150C37B908F}"/>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626875" y="407976"/>
            <a:ext cx="1014262" cy="314912"/>
          </a:xfrm>
          <a:prstGeom prst="rect">
            <a:avLst/>
          </a:prstGeom>
        </p:spPr>
      </p:pic>
      <p:cxnSp>
        <p:nvCxnSpPr>
          <p:cNvPr id="6" name="Прямая соединительная линия 5">
            <a:extLst>
              <a:ext uri="{FF2B5EF4-FFF2-40B4-BE49-F238E27FC236}">
                <a16:creationId xmlns:a16="http://schemas.microsoft.com/office/drawing/2014/main" id="{95CF6A84-AC35-45BE-AA65-F59DCCC45A75}"/>
              </a:ext>
            </a:extLst>
          </p:cNvPr>
          <p:cNvCxnSpPr>
            <a:cxnSpLocks/>
          </p:cNvCxnSpPr>
          <p:nvPr userDrawn="1"/>
        </p:nvCxnSpPr>
        <p:spPr>
          <a:xfrm>
            <a:off x="550863" y="968502"/>
            <a:ext cx="11090275" cy="0"/>
          </a:xfrm>
          <a:prstGeom prst="line">
            <a:avLst/>
          </a:prstGeom>
          <a:ln w="15875">
            <a:gradFill>
              <a:gsLst>
                <a:gs pos="0">
                  <a:schemeClr val="accent1"/>
                </a:gs>
                <a:gs pos="54000">
                  <a:schemeClr val="accent3"/>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3" name="Текст 2">
            <a:extLst>
              <a:ext uri="{FF2B5EF4-FFF2-40B4-BE49-F238E27FC236}">
                <a16:creationId xmlns:a16="http://schemas.microsoft.com/office/drawing/2014/main" id="{3B768B2F-9C22-468C-B230-607F8CFF7526}"/>
              </a:ext>
            </a:extLst>
          </p:cNvPr>
          <p:cNvSpPr>
            <a:spLocks noGrp="1"/>
          </p:cNvSpPr>
          <p:nvPr>
            <p:ph type="body" idx="1"/>
          </p:nvPr>
        </p:nvSpPr>
        <p:spPr>
          <a:xfrm>
            <a:off x="550862" y="1341437"/>
            <a:ext cx="10515600" cy="4201665"/>
          </a:xfrm>
          <a:prstGeom prst="rect">
            <a:avLst/>
          </a:prstGeom>
        </p:spPr>
        <p:txBody>
          <a:bodyPr vert="horz" lIns="0" tIns="0" rIns="0" bIns="0" rtlCol="0">
            <a:normAutofit/>
          </a:bodyPr>
          <a:lstStyle/>
          <a:p>
            <a:pPr lvl="0"/>
            <a:r>
              <a:rPr lang="ru-RU" dirty="0"/>
              <a:t>Подзаголовок</a:t>
            </a:r>
          </a:p>
          <a:p>
            <a:pPr lvl="1"/>
            <a:r>
              <a:rPr lang="ru-RU" dirty="0"/>
              <a:t>Заголовок таблицы</a:t>
            </a:r>
          </a:p>
          <a:p>
            <a:pPr lvl="2"/>
            <a:r>
              <a:rPr lang="ru-RU" dirty="0"/>
              <a:t>Подпись рисунка</a:t>
            </a:r>
          </a:p>
          <a:p>
            <a:pPr lvl="3"/>
            <a:r>
              <a:rPr lang="ru-RU" dirty="0"/>
              <a:t>Текст</a:t>
            </a:r>
          </a:p>
          <a:p>
            <a:pPr lvl="4"/>
            <a:r>
              <a:rPr lang="ru-RU" dirty="0"/>
              <a:t>Выделенный текст</a:t>
            </a:r>
          </a:p>
          <a:p>
            <a:pPr lvl="5"/>
            <a:r>
              <a:rPr lang="ru-RU" dirty="0"/>
              <a:t>Маркеры</a:t>
            </a:r>
          </a:p>
          <a:p>
            <a:pPr lvl="6"/>
            <a:r>
              <a:rPr lang="ru-RU" dirty="0"/>
              <a:t>Нумерация</a:t>
            </a:r>
          </a:p>
        </p:txBody>
      </p:sp>
      <p:sp>
        <p:nvSpPr>
          <p:cNvPr id="8" name="TextBox 7">
            <a:extLst>
              <a:ext uri="{FF2B5EF4-FFF2-40B4-BE49-F238E27FC236}">
                <a16:creationId xmlns:a16="http://schemas.microsoft.com/office/drawing/2014/main" id="{B69BA297-C05B-4A1B-BC54-4DA26B4C6721}"/>
              </a:ext>
            </a:extLst>
          </p:cNvPr>
          <p:cNvSpPr txBox="1"/>
          <p:nvPr userDrawn="1"/>
        </p:nvSpPr>
        <p:spPr>
          <a:xfrm>
            <a:off x="9212262" y="6513813"/>
            <a:ext cx="2428875" cy="184666"/>
          </a:xfrm>
          <a:prstGeom prst="rect">
            <a:avLst/>
          </a:prstGeom>
          <a:noFill/>
        </p:spPr>
        <p:txBody>
          <a:bodyPr wrap="square" lIns="0" tIns="0" rIns="0" bIns="0" rtlCol="0">
            <a:spAutoFit/>
          </a:bodyPr>
          <a:lstStyle/>
          <a:p>
            <a:pPr algn="r"/>
            <a:fld id="{261FCC40-BD7D-499B-BF07-C5DEC022620E}" type="slidenum">
              <a:rPr lang="ru-RU" sz="1200" kern="1200" smtClean="0">
                <a:solidFill>
                  <a:schemeClr val="tx2">
                    <a:lumMod val="90000"/>
                  </a:schemeClr>
                </a:solidFill>
                <a:latin typeface="+mn-lt"/>
                <a:ea typeface="+mn-ea"/>
                <a:cs typeface="+mn-cs"/>
              </a:rPr>
              <a:pPr algn="r"/>
              <a:t>‹#›</a:t>
            </a:fld>
            <a:endParaRPr lang="ru-RU" sz="1200" kern="1200" dirty="0">
              <a:solidFill>
                <a:schemeClr val="tx2">
                  <a:lumMod val="90000"/>
                </a:schemeClr>
              </a:solidFill>
              <a:latin typeface="+mn-lt"/>
              <a:ea typeface="+mn-ea"/>
              <a:cs typeface="+mn-cs"/>
            </a:endParaRPr>
          </a:p>
        </p:txBody>
      </p:sp>
    </p:spTree>
    <p:extLst>
      <p:ext uri="{BB962C8B-B14F-4D97-AF65-F5344CB8AC3E}">
        <p14:creationId xmlns:p14="http://schemas.microsoft.com/office/powerpoint/2010/main" val="2409859909"/>
      </p:ext>
    </p:extLst>
  </p:cSld>
  <p:clrMap bg1="lt1" tx1="dk1" bg2="lt2" tx2="dk2" accent1="accent1" accent2="accent2" accent3="accent3" accent4="accent4" accent5="accent5" accent6="accent6" hlink="hlink" folHlink="folHlink"/>
  <p:sldLayoutIdLst>
    <p:sldLayoutId id="2147483830" r:id="rId1"/>
    <p:sldLayoutId id="2147483844" r:id="rId2"/>
    <p:sldLayoutId id="2147483832" r:id="rId3"/>
    <p:sldLayoutId id="2147483845" r:id="rId4"/>
  </p:sldLayoutIdLst>
  <p:hf hdr="0" dt="0"/>
  <p:txStyles>
    <p:titleStyle>
      <a:lvl1pPr algn="l" defTabSz="914400" rtl="0" eaLnBrk="1" latinLnBrk="0" hangingPunct="1">
        <a:lnSpc>
          <a:spcPct val="90000"/>
        </a:lnSpc>
        <a:spcBef>
          <a:spcPct val="0"/>
        </a:spcBef>
        <a:buNone/>
        <a:defRPr sz="24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45" userDrawn="1">
          <p15:clr>
            <a:srgbClr val="F26B43"/>
          </p15:clr>
        </p15:guide>
        <p15:guide id="2" pos="347">
          <p15:clr>
            <a:srgbClr val="F26B43"/>
          </p15:clr>
        </p15:guide>
        <p15:guide id="3" orient="horz" pos="4020">
          <p15:clr>
            <a:srgbClr val="F26B43"/>
          </p15:clr>
        </p15:guide>
        <p15:guide id="4" pos="7333">
          <p15:clr>
            <a:srgbClr val="F26B43"/>
          </p15:clr>
        </p15:guide>
        <p15:guide id="5" pos="3613" userDrawn="1">
          <p15:clr>
            <a:srgbClr val="F26B43"/>
          </p15:clr>
        </p15:guide>
        <p15:guide id="6" pos="4067"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EFB9A11F-72FA-0A44-9653-48C9EECB75BF}"/>
              </a:ext>
            </a:extLst>
          </p:cNvPr>
          <p:cNvSpPr>
            <a:spLocks noGrp="1"/>
          </p:cNvSpPr>
          <p:nvPr>
            <p:ph type="title"/>
          </p:nvPr>
        </p:nvSpPr>
        <p:spPr>
          <a:xfrm>
            <a:off x="550863" y="407976"/>
            <a:ext cx="9608330" cy="332399"/>
          </a:xfrm>
          <a:prstGeom prst="rect">
            <a:avLst/>
          </a:prstGeom>
        </p:spPr>
        <p:txBody>
          <a:bodyPr vert="horz" wrap="square" lIns="0" tIns="0" rIns="0" bIns="0" rtlCol="0" anchor="ctr">
            <a:spAutoFit/>
          </a:bodyPr>
          <a:lstStyle/>
          <a:p>
            <a:r>
              <a:rPr lang="ru-RU" dirty="0"/>
              <a:t>Заголовок слайда</a:t>
            </a:r>
          </a:p>
        </p:txBody>
      </p:sp>
      <p:pic>
        <p:nvPicPr>
          <p:cNvPr id="9" name="Рисунок 8">
            <a:extLst>
              <a:ext uri="{FF2B5EF4-FFF2-40B4-BE49-F238E27FC236}">
                <a16:creationId xmlns:a16="http://schemas.microsoft.com/office/drawing/2014/main" id="{323DE3AE-88ED-4D7E-9545-2150C37B908F}"/>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10626875" y="407976"/>
            <a:ext cx="1014262" cy="314912"/>
          </a:xfrm>
          <a:prstGeom prst="rect">
            <a:avLst/>
          </a:prstGeom>
        </p:spPr>
      </p:pic>
      <p:cxnSp>
        <p:nvCxnSpPr>
          <p:cNvPr id="6" name="Прямая соединительная линия 5">
            <a:extLst>
              <a:ext uri="{FF2B5EF4-FFF2-40B4-BE49-F238E27FC236}">
                <a16:creationId xmlns:a16="http://schemas.microsoft.com/office/drawing/2014/main" id="{95CF6A84-AC35-45BE-AA65-F59DCCC45A75}"/>
              </a:ext>
            </a:extLst>
          </p:cNvPr>
          <p:cNvCxnSpPr>
            <a:cxnSpLocks/>
          </p:cNvCxnSpPr>
          <p:nvPr userDrawn="1"/>
        </p:nvCxnSpPr>
        <p:spPr>
          <a:xfrm>
            <a:off x="550863" y="968502"/>
            <a:ext cx="11090275" cy="0"/>
          </a:xfrm>
          <a:prstGeom prst="line">
            <a:avLst/>
          </a:prstGeom>
          <a:ln w="15875">
            <a:gradFill>
              <a:gsLst>
                <a:gs pos="0">
                  <a:schemeClr val="accent1"/>
                </a:gs>
                <a:gs pos="54000">
                  <a:schemeClr val="accent3"/>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3" name="Текст 2">
            <a:extLst>
              <a:ext uri="{FF2B5EF4-FFF2-40B4-BE49-F238E27FC236}">
                <a16:creationId xmlns:a16="http://schemas.microsoft.com/office/drawing/2014/main" id="{3B768B2F-9C22-468C-B230-607F8CFF7526}"/>
              </a:ext>
            </a:extLst>
          </p:cNvPr>
          <p:cNvSpPr>
            <a:spLocks noGrp="1"/>
          </p:cNvSpPr>
          <p:nvPr>
            <p:ph type="body" idx="1"/>
          </p:nvPr>
        </p:nvSpPr>
        <p:spPr>
          <a:xfrm>
            <a:off x="550862" y="1341437"/>
            <a:ext cx="10515600" cy="4201665"/>
          </a:xfrm>
          <a:prstGeom prst="rect">
            <a:avLst/>
          </a:prstGeom>
        </p:spPr>
        <p:txBody>
          <a:bodyPr vert="horz" lIns="0" tIns="0" rIns="0" bIns="0" rtlCol="0">
            <a:normAutofit/>
          </a:bodyPr>
          <a:lstStyle/>
          <a:p>
            <a:pPr lvl="0"/>
            <a:r>
              <a:rPr lang="ru-RU" dirty="0"/>
              <a:t>Подзаголовок</a:t>
            </a:r>
          </a:p>
          <a:p>
            <a:pPr lvl="1"/>
            <a:r>
              <a:rPr lang="ru-RU" dirty="0"/>
              <a:t>Заголовок таблицы</a:t>
            </a:r>
          </a:p>
          <a:p>
            <a:pPr lvl="2"/>
            <a:r>
              <a:rPr lang="ru-RU" dirty="0"/>
              <a:t>Подпись рисунка</a:t>
            </a:r>
          </a:p>
          <a:p>
            <a:pPr lvl="3"/>
            <a:r>
              <a:rPr lang="ru-RU" dirty="0"/>
              <a:t>Текст</a:t>
            </a:r>
          </a:p>
          <a:p>
            <a:pPr lvl="4"/>
            <a:r>
              <a:rPr lang="ru-RU" dirty="0"/>
              <a:t>Выделенный текст</a:t>
            </a:r>
          </a:p>
          <a:p>
            <a:pPr lvl="5"/>
            <a:r>
              <a:rPr lang="ru-RU" dirty="0"/>
              <a:t>Маркеры</a:t>
            </a:r>
          </a:p>
          <a:p>
            <a:pPr lvl="6"/>
            <a:r>
              <a:rPr lang="ru-RU" dirty="0"/>
              <a:t>Нумерация</a:t>
            </a:r>
          </a:p>
        </p:txBody>
      </p:sp>
      <p:sp>
        <p:nvSpPr>
          <p:cNvPr id="8" name="TextBox 7">
            <a:extLst>
              <a:ext uri="{FF2B5EF4-FFF2-40B4-BE49-F238E27FC236}">
                <a16:creationId xmlns:a16="http://schemas.microsoft.com/office/drawing/2014/main" id="{B414C9C7-3F3B-4FAE-B19C-B28F0A67B7F7}"/>
              </a:ext>
            </a:extLst>
          </p:cNvPr>
          <p:cNvSpPr txBox="1"/>
          <p:nvPr userDrawn="1"/>
        </p:nvSpPr>
        <p:spPr>
          <a:xfrm>
            <a:off x="9212262" y="6513813"/>
            <a:ext cx="2428875" cy="184666"/>
          </a:xfrm>
          <a:prstGeom prst="rect">
            <a:avLst/>
          </a:prstGeom>
          <a:noFill/>
        </p:spPr>
        <p:txBody>
          <a:bodyPr wrap="square" lIns="0" tIns="0" rIns="0" bIns="0" rtlCol="0">
            <a:spAutoFit/>
          </a:bodyPr>
          <a:lstStyle/>
          <a:p>
            <a:pPr algn="r"/>
            <a:fld id="{261FCC40-BD7D-499B-BF07-C5DEC022620E}" type="slidenum">
              <a:rPr lang="ru-RU" sz="1200" kern="1200" smtClean="0">
                <a:solidFill>
                  <a:schemeClr val="tx2">
                    <a:lumMod val="90000"/>
                  </a:schemeClr>
                </a:solidFill>
                <a:latin typeface="+mn-lt"/>
                <a:ea typeface="+mn-ea"/>
                <a:cs typeface="+mn-cs"/>
              </a:rPr>
              <a:pPr algn="r"/>
              <a:t>‹#›</a:t>
            </a:fld>
            <a:endParaRPr lang="ru-RU" sz="1200" kern="1200" dirty="0">
              <a:solidFill>
                <a:schemeClr val="tx2">
                  <a:lumMod val="90000"/>
                </a:schemeClr>
              </a:solidFill>
              <a:latin typeface="+mn-lt"/>
              <a:ea typeface="+mn-ea"/>
              <a:cs typeface="+mn-cs"/>
            </a:endParaRPr>
          </a:p>
        </p:txBody>
      </p:sp>
    </p:spTree>
    <p:extLst>
      <p:ext uri="{BB962C8B-B14F-4D97-AF65-F5344CB8AC3E}">
        <p14:creationId xmlns:p14="http://schemas.microsoft.com/office/powerpoint/2010/main" val="2496249641"/>
      </p:ext>
    </p:extLst>
  </p:cSld>
  <p:clrMap bg1="lt1" tx1="dk1" bg2="lt2" tx2="dk2" accent1="accent1" accent2="accent2" accent3="accent3" accent4="accent4" accent5="accent5" accent6="accent6" hlink="hlink" folHlink="folHlink"/>
  <p:sldLayoutIdLst>
    <p:sldLayoutId id="2147483841" r:id="rId1"/>
    <p:sldLayoutId id="2147483846" r:id="rId2"/>
    <p:sldLayoutId id="2147483847" r:id="rId3"/>
    <p:sldLayoutId id="2147483849" r:id="rId4"/>
    <p:sldLayoutId id="2147483850" r:id="rId5"/>
    <p:sldLayoutId id="2147483843" r:id="rId6"/>
  </p:sldLayoutIdLst>
  <p:hf hdr="0" dt="0"/>
  <p:txStyles>
    <p:titleStyle>
      <a:lvl1pPr algn="l" defTabSz="914400" rtl="0" eaLnBrk="1" latinLnBrk="0" hangingPunct="1">
        <a:lnSpc>
          <a:spcPct val="90000"/>
        </a:lnSpc>
        <a:spcBef>
          <a:spcPct val="0"/>
        </a:spcBef>
        <a:buNone/>
        <a:defRPr sz="2400" b="1"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45" userDrawn="1">
          <p15:clr>
            <a:srgbClr val="F26B43"/>
          </p15:clr>
        </p15:guide>
        <p15:guide id="2" pos="347">
          <p15:clr>
            <a:srgbClr val="F26B43"/>
          </p15:clr>
        </p15:guide>
        <p15:guide id="3" orient="horz" pos="4020">
          <p15:clr>
            <a:srgbClr val="F26B43"/>
          </p15:clr>
        </p15:guide>
        <p15:guide id="4" pos="7333">
          <p15:clr>
            <a:srgbClr val="F26B43"/>
          </p15:clr>
        </p15:guide>
        <p15:guide id="5" pos="4067" userDrawn="1">
          <p15:clr>
            <a:srgbClr val="F26B43"/>
          </p15:clr>
        </p15:guide>
        <p15:guide id="6" pos="3613"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jpg"/><Relationship Id="rId1" Type="http://schemas.openxmlformats.org/officeDocument/2006/relationships/slideLayout" Target="../slideLayouts/slideLayout14.xml"/><Relationship Id="rId4" Type="http://schemas.openxmlformats.org/officeDocument/2006/relationships/image" Target="../media/image15.svg"/></Relationships>
</file>

<file path=ppt/slides/_rels/slide2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jpg"/><Relationship Id="rId1" Type="http://schemas.openxmlformats.org/officeDocument/2006/relationships/slideLayout" Target="../slideLayouts/slideLayout14.xml"/><Relationship Id="rId4" Type="http://schemas.openxmlformats.org/officeDocument/2006/relationships/image" Target="../media/image15.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18" Type="http://schemas.openxmlformats.org/officeDocument/2006/relationships/image" Target="../media/image32.svg"/><Relationship Id="rId3" Type="http://schemas.openxmlformats.org/officeDocument/2006/relationships/image" Target="../media/image17.svg"/><Relationship Id="rId21" Type="http://schemas.openxmlformats.org/officeDocument/2006/relationships/image" Target="../media/image35.svg"/><Relationship Id="rId7" Type="http://schemas.openxmlformats.org/officeDocument/2006/relationships/image" Target="../media/image21.svg"/><Relationship Id="rId12" Type="http://schemas.openxmlformats.org/officeDocument/2006/relationships/image" Target="../media/image26.svg"/><Relationship Id="rId17" Type="http://schemas.openxmlformats.org/officeDocument/2006/relationships/image" Target="../media/image31.svg"/><Relationship Id="rId25" Type="http://schemas.openxmlformats.org/officeDocument/2006/relationships/image" Target="../media/image39.svg"/><Relationship Id="rId2" Type="http://schemas.openxmlformats.org/officeDocument/2006/relationships/image" Target="../media/image16.svg"/><Relationship Id="rId16" Type="http://schemas.openxmlformats.org/officeDocument/2006/relationships/image" Target="../media/image30.svg"/><Relationship Id="rId20" Type="http://schemas.openxmlformats.org/officeDocument/2006/relationships/image" Target="../media/image34.svg"/><Relationship Id="rId1" Type="http://schemas.openxmlformats.org/officeDocument/2006/relationships/slideLayout" Target="../slideLayouts/slideLayout9.xml"/><Relationship Id="rId6" Type="http://schemas.openxmlformats.org/officeDocument/2006/relationships/image" Target="../media/image20.svg"/><Relationship Id="rId11" Type="http://schemas.openxmlformats.org/officeDocument/2006/relationships/image" Target="../media/image25.svg"/><Relationship Id="rId24" Type="http://schemas.openxmlformats.org/officeDocument/2006/relationships/image" Target="../media/image38.svg"/><Relationship Id="rId5" Type="http://schemas.openxmlformats.org/officeDocument/2006/relationships/image" Target="../media/image19.svg"/><Relationship Id="rId15" Type="http://schemas.openxmlformats.org/officeDocument/2006/relationships/image" Target="../media/image29.svg"/><Relationship Id="rId23" Type="http://schemas.openxmlformats.org/officeDocument/2006/relationships/image" Target="../media/image37.svg"/><Relationship Id="rId10" Type="http://schemas.openxmlformats.org/officeDocument/2006/relationships/image" Target="../media/image24.svg"/><Relationship Id="rId19" Type="http://schemas.openxmlformats.org/officeDocument/2006/relationships/image" Target="../media/image33.svg"/><Relationship Id="rId4" Type="http://schemas.openxmlformats.org/officeDocument/2006/relationships/image" Target="../media/image18.svg"/><Relationship Id="rId9" Type="http://schemas.openxmlformats.org/officeDocument/2006/relationships/image" Target="../media/image23.svg"/><Relationship Id="rId14" Type="http://schemas.openxmlformats.org/officeDocument/2006/relationships/image" Target="../media/image28.svg"/><Relationship Id="rId22" Type="http://schemas.openxmlformats.org/officeDocument/2006/relationships/image" Target="../media/image36.svg"/></Relationships>
</file>

<file path=ppt/slides/_rels/slide25.xml.rels><?xml version="1.0" encoding="UTF-8" standalone="yes"?>
<Relationships xmlns="http://schemas.openxmlformats.org/package/2006/relationships"><Relationship Id="rId8" Type="http://schemas.openxmlformats.org/officeDocument/2006/relationships/image" Target="../media/image46.svg"/><Relationship Id="rId13" Type="http://schemas.openxmlformats.org/officeDocument/2006/relationships/image" Target="../media/image51.svg"/><Relationship Id="rId18" Type="http://schemas.openxmlformats.org/officeDocument/2006/relationships/image" Target="../media/image56.svg"/><Relationship Id="rId3" Type="http://schemas.openxmlformats.org/officeDocument/2006/relationships/image" Target="../media/image41.svg"/><Relationship Id="rId21" Type="http://schemas.openxmlformats.org/officeDocument/2006/relationships/image" Target="../media/image59.svg"/><Relationship Id="rId7" Type="http://schemas.openxmlformats.org/officeDocument/2006/relationships/image" Target="../media/image45.svg"/><Relationship Id="rId12" Type="http://schemas.openxmlformats.org/officeDocument/2006/relationships/image" Target="../media/image50.svg"/><Relationship Id="rId17" Type="http://schemas.openxmlformats.org/officeDocument/2006/relationships/image" Target="../media/image55.svg"/><Relationship Id="rId25" Type="http://schemas.openxmlformats.org/officeDocument/2006/relationships/image" Target="../media/image63.svg"/><Relationship Id="rId2" Type="http://schemas.openxmlformats.org/officeDocument/2006/relationships/image" Target="../media/image40.svg"/><Relationship Id="rId16" Type="http://schemas.openxmlformats.org/officeDocument/2006/relationships/image" Target="../media/image54.svg"/><Relationship Id="rId20" Type="http://schemas.openxmlformats.org/officeDocument/2006/relationships/image" Target="../media/image58.svg"/><Relationship Id="rId1" Type="http://schemas.openxmlformats.org/officeDocument/2006/relationships/slideLayout" Target="../slideLayouts/slideLayout9.xml"/><Relationship Id="rId6" Type="http://schemas.openxmlformats.org/officeDocument/2006/relationships/image" Target="../media/image44.svg"/><Relationship Id="rId11" Type="http://schemas.openxmlformats.org/officeDocument/2006/relationships/image" Target="../media/image49.svg"/><Relationship Id="rId24" Type="http://schemas.openxmlformats.org/officeDocument/2006/relationships/image" Target="../media/image62.svg"/><Relationship Id="rId5" Type="http://schemas.openxmlformats.org/officeDocument/2006/relationships/image" Target="../media/image43.svg"/><Relationship Id="rId15" Type="http://schemas.openxmlformats.org/officeDocument/2006/relationships/image" Target="../media/image53.svg"/><Relationship Id="rId23" Type="http://schemas.openxmlformats.org/officeDocument/2006/relationships/image" Target="../media/image61.svg"/><Relationship Id="rId10" Type="http://schemas.openxmlformats.org/officeDocument/2006/relationships/image" Target="../media/image48.svg"/><Relationship Id="rId19" Type="http://schemas.openxmlformats.org/officeDocument/2006/relationships/image" Target="../media/image57.svg"/><Relationship Id="rId4" Type="http://schemas.openxmlformats.org/officeDocument/2006/relationships/image" Target="../media/image42.svg"/><Relationship Id="rId9" Type="http://schemas.openxmlformats.org/officeDocument/2006/relationships/image" Target="../media/image47.svg"/><Relationship Id="rId14" Type="http://schemas.openxmlformats.org/officeDocument/2006/relationships/image" Target="../media/image52.svg"/><Relationship Id="rId22" Type="http://schemas.openxmlformats.org/officeDocument/2006/relationships/image" Target="../media/image60.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66.gif"/><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67.gif"/><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A5BC97-99E1-4827-A5AA-5E9EBED1B7D1}"/>
              </a:ext>
            </a:extLst>
          </p:cNvPr>
          <p:cNvSpPr>
            <a:spLocks noGrp="1"/>
          </p:cNvSpPr>
          <p:nvPr>
            <p:ph type="title"/>
          </p:nvPr>
        </p:nvSpPr>
        <p:spPr/>
        <p:txBody>
          <a:bodyPr/>
          <a:lstStyle/>
          <a:p>
            <a:r>
              <a:rPr lang="ru-RU" dirty="0"/>
              <a:t>Фирменный стиль </a:t>
            </a:r>
            <a:br>
              <a:rPr lang="ru-RU" dirty="0"/>
            </a:br>
            <a:r>
              <a:rPr lang="ru-RU" dirty="0"/>
              <a:t>презентаций</a:t>
            </a:r>
          </a:p>
        </p:txBody>
      </p:sp>
      <p:sp>
        <p:nvSpPr>
          <p:cNvPr id="3" name="Текст 2">
            <a:extLst>
              <a:ext uri="{FF2B5EF4-FFF2-40B4-BE49-F238E27FC236}">
                <a16:creationId xmlns:a16="http://schemas.microsoft.com/office/drawing/2014/main" id="{51EA8D34-BBBA-48A9-9B83-130C3E8DC9D2}"/>
              </a:ext>
            </a:extLst>
          </p:cNvPr>
          <p:cNvSpPr>
            <a:spLocks noGrp="1"/>
          </p:cNvSpPr>
          <p:nvPr>
            <p:ph type="body" sz="quarter" idx="10"/>
          </p:nvPr>
        </p:nvSpPr>
        <p:spPr/>
        <p:txBody>
          <a:bodyPr>
            <a:normAutofit/>
          </a:bodyPr>
          <a:lstStyle/>
          <a:p>
            <a:r>
              <a:rPr lang="ru-RU" dirty="0"/>
              <a:t>Управление цифрового развития. </a:t>
            </a:r>
            <a:br>
              <a:rPr lang="ru-RU" dirty="0"/>
            </a:br>
            <a:r>
              <a:rPr lang="ru-RU" dirty="0"/>
              <a:t>Отдел цифровой трансформации и сервисов</a:t>
            </a:r>
          </a:p>
        </p:txBody>
      </p:sp>
      <p:sp>
        <p:nvSpPr>
          <p:cNvPr id="4" name="Текст 3">
            <a:extLst>
              <a:ext uri="{FF2B5EF4-FFF2-40B4-BE49-F238E27FC236}">
                <a16:creationId xmlns:a16="http://schemas.microsoft.com/office/drawing/2014/main" id="{EC26AC53-244B-4289-B3B5-D31C1BFD52F7}"/>
              </a:ext>
            </a:extLst>
          </p:cNvPr>
          <p:cNvSpPr>
            <a:spLocks noGrp="1"/>
          </p:cNvSpPr>
          <p:nvPr>
            <p:ph type="body" sz="quarter" idx="12"/>
          </p:nvPr>
        </p:nvSpPr>
        <p:spPr/>
        <p:txBody>
          <a:bodyPr>
            <a:normAutofit fontScale="92500" lnSpcReduction="20000"/>
          </a:bodyPr>
          <a:lstStyle/>
          <a:p>
            <a:pPr lvl="1"/>
            <a:r>
              <a:rPr lang="ru-RU" dirty="0"/>
              <a:t>2023</a:t>
            </a:r>
          </a:p>
        </p:txBody>
      </p:sp>
    </p:spTree>
    <p:extLst>
      <p:ext uri="{BB962C8B-B14F-4D97-AF65-F5344CB8AC3E}">
        <p14:creationId xmlns:p14="http://schemas.microsoft.com/office/powerpoint/2010/main" val="2705815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Основные правила: направляющие, стили</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normAutofit/>
          </a:bodyPr>
          <a:lstStyle/>
          <a:p>
            <a:pPr lvl="5"/>
            <a:r>
              <a:rPr lang="ru-RU" dirty="0"/>
              <a:t>При формировании содержимого слайда основным ориентиром служат заданные направляющие. Все объекты слайда должны размещаться и выравниваться с учетом этих направляющих. Включить направляющие можно во вкладке Вид — Отображение (см. рисунок — 1).</a:t>
            </a:r>
          </a:p>
          <a:p>
            <a:pPr lvl="5"/>
            <a:r>
              <a:rPr lang="ru-RU" dirty="0"/>
              <a:t>В презентации используется 2 стиля компоновки информации: </a:t>
            </a:r>
            <a:r>
              <a:rPr lang="ru-RU" dirty="0" err="1"/>
              <a:t>одноколоночная</a:t>
            </a:r>
            <a:r>
              <a:rPr lang="ru-RU" dirty="0"/>
              <a:t> и </a:t>
            </a:r>
            <a:r>
              <a:rPr lang="ru-RU" dirty="0" err="1"/>
              <a:t>двухколоночная</a:t>
            </a:r>
            <a:r>
              <a:rPr lang="ru-RU" dirty="0"/>
              <a:t>.</a:t>
            </a:r>
          </a:p>
          <a:p>
            <a:pPr lvl="5"/>
            <a:r>
              <a:rPr lang="ru-RU" dirty="0"/>
              <a:t>Основной точкой привязки для содержимого является верхний левый угол рабочего поля презентации и направляющие, образующие его (см. рисунок — 2).</a:t>
            </a:r>
          </a:p>
          <a:p>
            <a:pPr lvl="5"/>
            <a:r>
              <a:rPr lang="ru-RU" dirty="0"/>
              <a:t>При переносе информации из других презентаций </a:t>
            </a:r>
            <a:r>
              <a:rPr lang="en-US" dirty="0"/>
              <a:t>Power Point</a:t>
            </a:r>
            <a:r>
              <a:rPr lang="ru-RU" dirty="0"/>
              <a:t> необходимо ее переформатирование с помощью стилей настоящего шаблона.</a:t>
            </a:r>
          </a:p>
          <a:p>
            <a:pPr lvl="1"/>
            <a:endParaRPr lang="ru-RU" dirty="0"/>
          </a:p>
        </p:txBody>
      </p:sp>
      <p:sp>
        <p:nvSpPr>
          <p:cNvPr id="13" name="Текст 4">
            <a:extLst>
              <a:ext uri="{FF2B5EF4-FFF2-40B4-BE49-F238E27FC236}">
                <a16:creationId xmlns:a16="http://schemas.microsoft.com/office/drawing/2014/main" id="{993A51E0-594E-4829-B37D-2694C1C3ED60}"/>
              </a:ext>
            </a:extLst>
          </p:cNvPr>
          <p:cNvSpPr txBox="1">
            <a:spLocks/>
          </p:cNvSpPr>
          <p:nvPr/>
        </p:nvSpPr>
        <p:spPr>
          <a:xfrm>
            <a:off x="6456362" y="4065973"/>
            <a:ext cx="5184775" cy="2315777"/>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00"/>
              </a:spcAft>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500"/>
              </a:spcBef>
              <a:spcAft>
                <a:spcPts val="100"/>
              </a:spcAft>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10000"/>
              </a:lnSpc>
              <a:spcBef>
                <a:spcPts val="500"/>
              </a:spcBef>
              <a:spcAft>
                <a:spcPts val="100"/>
              </a:spcAft>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10000"/>
              </a:lnSpc>
              <a:spcBef>
                <a:spcPts val="500"/>
              </a:spcBef>
              <a:spcAft>
                <a:spcPts val="100"/>
              </a:spcAft>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10000"/>
              </a:lnSpc>
              <a:spcBef>
                <a:spcPts val="500"/>
              </a:spcBef>
              <a:spcAft>
                <a:spcPts val="100"/>
              </a:spcAft>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110000"/>
              </a:lnSpc>
              <a:spcBef>
                <a:spcPts val="500"/>
              </a:spcBef>
              <a:spcAft>
                <a:spcPts val="100"/>
              </a:spcAft>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5"/>
            <a:endParaRPr lang="ru-RU" dirty="0"/>
          </a:p>
        </p:txBody>
      </p:sp>
      <p:grpSp>
        <p:nvGrpSpPr>
          <p:cNvPr id="20" name="Группа 19">
            <a:extLst>
              <a:ext uri="{FF2B5EF4-FFF2-40B4-BE49-F238E27FC236}">
                <a16:creationId xmlns:a16="http://schemas.microsoft.com/office/drawing/2014/main" id="{7E79F8B7-AD6A-46C8-9952-26F3642EBBAE}"/>
              </a:ext>
            </a:extLst>
          </p:cNvPr>
          <p:cNvGrpSpPr/>
          <p:nvPr/>
        </p:nvGrpSpPr>
        <p:grpSpPr>
          <a:xfrm>
            <a:off x="6440302" y="1341438"/>
            <a:ext cx="5200835" cy="2232025"/>
            <a:chOff x="6440302" y="1341438"/>
            <a:chExt cx="5200835" cy="2232025"/>
          </a:xfrm>
        </p:grpSpPr>
        <p:pic>
          <p:nvPicPr>
            <p:cNvPr id="10" name="Рисунок 9">
              <a:extLst>
                <a:ext uri="{FF2B5EF4-FFF2-40B4-BE49-F238E27FC236}">
                  <a16:creationId xmlns:a16="http://schemas.microsoft.com/office/drawing/2014/main" id="{2BC27AB1-DBE4-486C-8EC9-971B8F2A6D73}"/>
                </a:ext>
              </a:extLst>
            </p:cNvPr>
            <p:cNvPicPr>
              <a:picLocks noChangeAspect="1"/>
            </p:cNvPicPr>
            <p:nvPr/>
          </p:nvPicPr>
          <p:blipFill rotWithShape="1">
            <a:blip r:embed="rId3"/>
            <a:srcRect l="66699" r="11456" b="50000"/>
            <a:stretch/>
          </p:blipFill>
          <p:spPr>
            <a:xfrm>
              <a:off x="6440302" y="1341438"/>
              <a:ext cx="5200835" cy="2232025"/>
            </a:xfrm>
            <a:prstGeom prst="rect">
              <a:avLst/>
            </a:prstGeom>
          </p:spPr>
        </p:pic>
        <p:cxnSp>
          <p:nvCxnSpPr>
            <p:cNvPr id="11" name="Прямая со стрелкой 10">
              <a:extLst>
                <a:ext uri="{FF2B5EF4-FFF2-40B4-BE49-F238E27FC236}">
                  <a16:creationId xmlns:a16="http://schemas.microsoft.com/office/drawing/2014/main" id="{12B4CF2D-E92C-43BA-A4FB-F843B82289F0}"/>
                </a:ext>
              </a:extLst>
            </p:cNvPr>
            <p:cNvCxnSpPr/>
            <p:nvPr/>
          </p:nvCxnSpPr>
          <p:spPr>
            <a:xfrm>
              <a:off x="8234310" y="1762065"/>
              <a:ext cx="579120"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
          <p:nvSpPr>
            <p:cNvPr id="12" name="Прямоугольник 11">
              <a:extLst>
                <a:ext uri="{FF2B5EF4-FFF2-40B4-BE49-F238E27FC236}">
                  <a16:creationId xmlns:a16="http://schemas.microsoft.com/office/drawing/2014/main" id="{3CE6A167-8BB7-4BDC-BA73-1C3D2DD30574}"/>
                </a:ext>
              </a:extLst>
            </p:cNvPr>
            <p:cNvSpPr/>
            <p:nvPr/>
          </p:nvSpPr>
          <p:spPr>
            <a:xfrm>
              <a:off x="8813430" y="1606333"/>
              <a:ext cx="730620" cy="384865"/>
            </a:xfrm>
            <a:prstGeom prst="rect">
              <a:avLst/>
            </a:prstGeom>
            <a:noFill/>
            <a:ln w="19050">
              <a:solidFill>
                <a:schemeClr val="accent2"/>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sp>
          <p:nvSpPr>
            <p:cNvPr id="18" name="Прямоугольный треугольник 17">
              <a:extLst>
                <a:ext uri="{FF2B5EF4-FFF2-40B4-BE49-F238E27FC236}">
                  <a16:creationId xmlns:a16="http://schemas.microsoft.com/office/drawing/2014/main" id="{0CB9D3DB-7A5F-4A58-A984-67B3D7C16AFF}"/>
                </a:ext>
              </a:extLst>
            </p:cNvPr>
            <p:cNvSpPr/>
            <p:nvPr/>
          </p:nvSpPr>
          <p:spPr>
            <a:xfrm rot="16200000" flipH="1" flipV="1">
              <a:off x="8783332" y="2721684"/>
              <a:ext cx="316348" cy="328790"/>
            </a:xfrm>
            <a:prstGeom prst="rtTriangle">
              <a:avLst/>
            </a:prstGeom>
            <a:solidFill>
              <a:schemeClr val="accent2">
                <a:alpha val="85000"/>
              </a:schemeClr>
            </a:solidFill>
            <a:ln>
              <a:noFill/>
            </a:ln>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cxnSp>
          <p:nvCxnSpPr>
            <p:cNvPr id="19" name="Прямая со стрелкой 18">
              <a:extLst>
                <a:ext uri="{FF2B5EF4-FFF2-40B4-BE49-F238E27FC236}">
                  <a16:creationId xmlns:a16="http://schemas.microsoft.com/office/drawing/2014/main" id="{43B948AE-4C2F-4160-9384-27C0EAE4D513}"/>
                </a:ext>
              </a:extLst>
            </p:cNvPr>
            <p:cNvCxnSpPr/>
            <p:nvPr/>
          </p:nvCxnSpPr>
          <p:spPr>
            <a:xfrm>
              <a:off x="8197991" y="2863048"/>
              <a:ext cx="579120"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grpSp>
      <p:sp>
        <p:nvSpPr>
          <p:cNvPr id="21" name="Прямоугольник 20">
            <a:extLst>
              <a:ext uri="{FF2B5EF4-FFF2-40B4-BE49-F238E27FC236}">
                <a16:creationId xmlns:a16="http://schemas.microsoft.com/office/drawing/2014/main" id="{6C81DE63-F12B-4AA7-9F70-8DB55C1C6962}"/>
              </a:ext>
            </a:extLst>
          </p:cNvPr>
          <p:cNvSpPr/>
          <p:nvPr/>
        </p:nvSpPr>
        <p:spPr>
          <a:xfrm>
            <a:off x="7824072" y="1469677"/>
            <a:ext cx="569387" cy="584775"/>
          </a:xfrm>
          <a:prstGeom prst="rect">
            <a:avLst/>
          </a:prstGeom>
          <a:noFill/>
        </p:spPr>
        <p:txBody>
          <a:bodyPr wrap="square" lIns="91440" tIns="45720" rIns="91440" bIns="45720">
            <a:spAutoFit/>
          </a:bodyPr>
          <a:lstStyle/>
          <a:p>
            <a:pPr algn="ctr"/>
            <a:r>
              <a:rPr lang="ru-RU" sz="3200" b="1" dirty="0">
                <a:ln w="22225">
                  <a:solidFill>
                    <a:schemeClr val="accent2"/>
                  </a:solidFill>
                  <a:prstDash val="solid"/>
                </a:ln>
                <a:solidFill>
                  <a:schemeClr val="accent2">
                    <a:lumMod val="40000"/>
                    <a:lumOff val="60000"/>
                  </a:schemeClr>
                </a:solidFill>
              </a:rPr>
              <a:t>1</a:t>
            </a:r>
          </a:p>
        </p:txBody>
      </p:sp>
      <p:sp>
        <p:nvSpPr>
          <p:cNvPr id="22" name="Прямоугольник 21">
            <a:extLst>
              <a:ext uri="{FF2B5EF4-FFF2-40B4-BE49-F238E27FC236}">
                <a16:creationId xmlns:a16="http://schemas.microsoft.com/office/drawing/2014/main" id="{4D6F991C-174F-4D7F-8A1B-D6223A003599}"/>
              </a:ext>
            </a:extLst>
          </p:cNvPr>
          <p:cNvSpPr/>
          <p:nvPr/>
        </p:nvSpPr>
        <p:spPr>
          <a:xfrm>
            <a:off x="7787753" y="2570660"/>
            <a:ext cx="569387" cy="584775"/>
          </a:xfrm>
          <a:prstGeom prst="rect">
            <a:avLst/>
          </a:prstGeom>
          <a:noFill/>
        </p:spPr>
        <p:txBody>
          <a:bodyPr wrap="square" lIns="91440" tIns="45720" rIns="91440" bIns="45720">
            <a:spAutoFit/>
          </a:bodyPr>
          <a:lstStyle/>
          <a:p>
            <a:pPr algn="ctr"/>
            <a:r>
              <a:rPr lang="ru-RU" sz="3200" b="1" dirty="0">
                <a:ln w="22225">
                  <a:solidFill>
                    <a:schemeClr val="accent2"/>
                  </a:solidFill>
                  <a:prstDash val="solid"/>
                </a:ln>
                <a:solidFill>
                  <a:schemeClr val="accent2">
                    <a:lumMod val="40000"/>
                    <a:lumOff val="60000"/>
                  </a:schemeClr>
                </a:solidFill>
              </a:rPr>
              <a:t>2</a:t>
            </a:r>
          </a:p>
        </p:txBody>
      </p:sp>
    </p:spTree>
    <p:extLst>
      <p:ext uri="{BB962C8B-B14F-4D97-AF65-F5344CB8AC3E}">
        <p14:creationId xmlns:p14="http://schemas.microsoft.com/office/powerpoint/2010/main" val="54731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Основные правила: макеты и цветовая палитра</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a:xfrm>
            <a:off x="550864" y="1341438"/>
            <a:ext cx="5178484" cy="5040312"/>
          </a:xfrm>
        </p:spPr>
        <p:txBody>
          <a:bodyPr>
            <a:normAutofit fontScale="92500" lnSpcReduction="10000"/>
          </a:bodyPr>
          <a:lstStyle/>
          <a:p>
            <a:r>
              <a:rPr lang="ru-RU" dirty="0"/>
              <a:t>Макеты страниц </a:t>
            </a:r>
          </a:p>
          <a:p>
            <a:pPr lvl="5"/>
            <a:r>
              <a:rPr lang="ru-RU" dirty="0"/>
              <a:t>Для корректной работы в шаблоне всё содержимое презентации необходимо размещать внутри блоков, изначально заданных в макетах страниц (Рисунок 1).</a:t>
            </a:r>
          </a:p>
          <a:p>
            <a:pPr lvl="5"/>
            <a:r>
              <a:rPr lang="ru-RU" dirty="0"/>
              <a:t>При необходимости возможна модификация шаблонов путем изменения размеров текстовых или графических блоков в рамках заданных направляющих.</a:t>
            </a:r>
          </a:p>
          <a:p>
            <a:pPr lvl="5"/>
            <a:r>
              <a:rPr lang="ru-RU" dirty="0"/>
              <a:t>В любом случае расстояние между блоками информации должно быть не меньше, чем заданное направляющими.</a:t>
            </a:r>
          </a:p>
          <a:p>
            <a:pPr>
              <a:spcBef>
                <a:spcPts val="1800"/>
              </a:spcBef>
            </a:pPr>
            <a:r>
              <a:rPr lang="ru-RU" dirty="0"/>
              <a:t>Цветовая палитра</a:t>
            </a:r>
          </a:p>
          <a:p>
            <a:pPr lvl="5"/>
            <a:r>
              <a:rPr lang="ru-RU" dirty="0"/>
              <a:t>Используются только цвета предустановленной палитры (Рисунок 2). </a:t>
            </a:r>
          </a:p>
          <a:p>
            <a:pPr lvl="5"/>
            <a:r>
              <a:rPr lang="ru-RU" dirty="0"/>
              <a:t>Недопустимо задание цветов с помощью расширенных настроек.</a:t>
            </a:r>
          </a:p>
        </p:txBody>
      </p:sp>
      <p:grpSp>
        <p:nvGrpSpPr>
          <p:cNvPr id="6" name="Группа 5">
            <a:extLst>
              <a:ext uri="{FF2B5EF4-FFF2-40B4-BE49-F238E27FC236}">
                <a16:creationId xmlns:a16="http://schemas.microsoft.com/office/drawing/2014/main" id="{0D120F50-CCA0-4189-A31A-4669760BD154}"/>
              </a:ext>
            </a:extLst>
          </p:cNvPr>
          <p:cNvGrpSpPr/>
          <p:nvPr/>
        </p:nvGrpSpPr>
        <p:grpSpPr>
          <a:xfrm>
            <a:off x="6462654" y="4379898"/>
            <a:ext cx="4372494" cy="1923803"/>
            <a:chOff x="6462654" y="1341438"/>
            <a:chExt cx="5178482" cy="2278421"/>
          </a:xfrm>
        </p:grpSpPr>
        <p:pic>
          <p:nvPicPr>
            <p:cNvPr id="17" name="Рисунок 16">
              <a:extLst>
                <a:ext uri="{FF2B5EF4-FFF2-40B4-BE49-F238E27FC236}">
                  <a16:creationId xmlns:a16="http://schemas.microsoft.com/office/drawing/2014/main" id="{82D9ED6A-0A34-4981-8CB8-A5C1598208D2}"/>
                </a:ext>
              </a:extLst>
            </p:cNvPr>
            <p:cNvPicPr>
              <a:picLocks noChangeAspect="1"/>
            </p:cNvPicPr>
            <p:nvPr/>
          </p:nvPicPr>
          <p:blipFill rotWithShape="1">
            <a:blip r:embed="rId3"/>
            <a:srcRect l="33770" t="-2" r="49456" b="60644"/>
            <a:stretch/>
          </p:blipFill>
          <p:spPr>
            <a:xfrm>
              <a:off x="6462654" y="1341438"/>
              <a:ext cx="5178482" cy="2278421"/>
            </a:xfrm>
            <a:prstGeom prst="rect">
              <a:avLst/>
            </a:prstGeom>
          </p:spPr>
        </p:pic>
        <p:cxnSp>
          <p:nvCxnSpPr>
            <p:cNvPr id="18" name="Прямая со стрелкой 17">
              <a:extLst>
                <a:ext uri="{FF2B5EF4-FFF2-40B4-BE49-F238E27FC236}">
                  <a16:creationId xmlns:a16="http://schemas.microsoft.com/office/drawing/2014/main" id="{D01E1E0A-2D80-44E9-8407-5DA687579065}"/>
                </a:ext>
              </a:extLst>
            </p:cNvPr>
            <p:cNvCxnSpPr/>
            <p:nvPr/>
          </p:nvCxnSpPr>
          <p:spPr>
            <a:xfrm>
              <a:off x="8969310" y="2344275"/>
              <a:ext cx="579120"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
          <p:nvSpPr>
            <p:cNvPr id="19" name="Прямоугольник 18">
              <a:extLst>
                <a:ext uri="{FF2B5EF4-FFF2-40B4-BE49-F238E27FC236}">
                  <a16:creationId xmlns:a16="http://schemas.microsoft.com/office/drawing/2014/main" id="{9C80BF71-28AE-4D05-A109-7E1A024E0A74}"/>
                </a:ext>
              </a:extLst>
            </p:cNvPr>
            <p:cNvSpPr/>
            <p:nvPr/>
          </p:nvSpPr>
          <p:spPr>
            <a:xfrm>
              <a:off x="9548430" y="2035690"/>
              <a:ext cx="941769" cy="628130"/>
            </a:xfrm>
            <a:prstGeom prst="rect">
              <a:avLst/>
            </a:prstGeom>
            <a:noFill/>
            <a:ln w="19050">
              <a:solidFill>
                <a:schemeClr val="accent2"/>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grpSp>
      <p:pic>
        <p:nvPicPr>
          <p:cNvPr id="2" name="Рисунок 1">
            <a:extLst>
              <a:ext uri="{FF2B5EF4-FFF2-40B4-BE49-F238E27FC236}">
                <a16:creationId xmlns:a16="http://schemas.microsoft.com/office/drawing/2014/main" id="{615750CC-18BA-44D3-AFAB-D6CD617F8DF7}"/>
              </a:ext>
            </a:extLst>
          </p:cNvPr>
          <p:cNvPicPr>
            <a:picLocks noChangeAspect="1"/>
          </p:cNvPicPr>
          <p:nvPr/>
        </p:nvPicPr>
        <p:blipFill rotWithShape="1">
          <a:blip r:embed="rId4"/>
          <a:srcRect l="66875" r="13752" b="47600"/>
          <a:stretch/>
        </p:blipFill>
        <p:spPr>
          <a:xfrm>
            <a:off x="6462654" y="1601226"/>
            <a:ext cx="4372494" cy="2217424"/>
          </a:xfrm>
          <a:prstGeom prst="rect">
            <a:avLst/>
          </a:prstGeom>
        </p:spPr>
      </p:pic>
      <p:sp>
        <p:nvSpPr>
          <p:cNvPr id="11" name="Текст 4">
            <a:extLst>
              <a:ext uri="{FF2B5EF4-FFF2-40B4-BE49-F238E27FC236}">
                <a16:creationId xmlns:a16="http://schemas.microsoft.com/office/drawing/2014/main" id="{1423116A-63CA-46CE-8EB6-1F415B1FB93B}"/>
              </a:ext>
            </a:extLst>
          </p:cNvPr>
          <p:cNvSpPr txBox="1">
            <a:spLocks/>
          </p:cNvSpPr>
          <p:nvPr/>
        </p:nvSpPr>
        <p:spPr>
          <a:xfrm>
            <a:off x="6456364" y="1286776"/>
            <a:ext cx="3249293" cy="427579"/>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130000"/>
              </a:lnSpc>
            </a:pPr>
            <a:r>
              <a:rPr lang="ru-RU" sz="1200" dirty="0"/>
              <a:t>Рисунок 1. Макеты страниц презентации</a:t>
            </a:r>
          </a:p>
        </p:txBody>
      </p:sp>
      <p:sp>
        <p:nvSpPr>
          <p:cNvPr id="12" name="Текст 4">
            <a:extLst>
              <a:ext uri="{FF2B5EF4-FFF2-40B4-BE49-F238E27FC236}">
                <a16:creationId xmlns:a16="http://schemas.microsoft.com/office/drawing/2014/main" id="{04E6BB2B-7383-4D42-9F5F-A83C696F9B83}"/>
              </a:ext>
            </a:extLst>
          </p:cNvPr>
          <p:cNvSpPr txBox="1">
            <a:spLocks/>
          </p:cNvSpPr>
          <p:nvPr/>
        </p:nvSpPr>
        <p:spPr>
          <a:xfrm>
            <a:off x="6456362" y="4057155"/>
            <a:ext cx="4695900" cy="427577"/>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130000"/>
              </a:lnSpc>
            </a:pPr>
            <a:r>
              <a:rPr lang="ru-RU" sz="1200" dirty="0"/>
              <a:t>Рисунок 2. Цветовая палитра</a:t>
            </a:r>
          </a:p>
        </p:txBody>
      </p:sp>
      <p:cxnSp>
        <p:nvCxnSpPr>
          <p:cNvPr id="13" name="Прямая со стрелкой 12">
            <a:extLst>
              <a:ext uri="{FF2B5EF4-FFF2-40B4-BE49-F238E27FC236}">
                <a16:creationId xmlns:a16="http://schemas.microsoft.com/office/drawing/2014/main" id="{E43AA925-6F6B-42E3-A4D4-244EB3DFAE45}"/>
              </a:ext>
            </a:extLst>
          </p:cNvPr>
          <p:cNvCxnSpPr/>
          <p:nvPr/>
        </p:nvCxnSpPr>
        <p:spPr>
          <a:xfrm>
            <a:off x="6946865" y="2113674"/>
            <a:ext cx="488985"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
        <p:nvSpPr>
          <p:cNvPr id="14" name="Прямоугольник 13">
            <a:extLst>
              <a:ext uri="{FF2B5EF4-FFF2-40B4-BE49-F238E27FC236}">
                <a16:creationId xmlns:a16="http://schemas.microsoft.com/office/drawing/2014/main" id="{35487C46-CD15-46F8-AF80-5F1D2AB723D4}"/>
              </a:ext>
            </a:extLst>
          </p:cNvPr>
          <p:cNvSpPr/>
          <p:nvPr/>
        </p:nvSpPr>
        <p:spPr>
          <a:xfrm>
            <a:off x="7435850" y="1853118"/>
            <a:ext cx="1776975" cy="1965532"/>
          </a:xfrm>
          <a:prstGeom prst="rect">
            <a:avLst/>
          </a:prstGeom>
          <a:noFill/>
          <a:ln w="19050">
            <a:solidFill>
              <a:schemeClr val="accent2"/>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spTree>
    <p:extLst>
      <p:ext uri="{BB962C8B-B14F-4D97-AF65-F5344CB8AC3E}">
        <p14:creationId xmlns:p14="http://schemas.microsoft.com/office/powerpoint/2010/main" val="1664585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Основные правила: текстовые стили</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normAutofit lnSpcReduction="10000"/>
          </a:bodyPr>
          <a:lstStyle/>
          <a:p>
            <a:pPr lvl="5"/>
            <a:r>
              <a:rPr lang="ru-RU" dirty="0"/>
              <a:t>Шрифт всей презентации </a:t>
            </a:r>
            <a:r>
              <a:rPr lang="en-US" dirty="0"/>
              <a:t>Arial.</a:t>
            </a:r>
            <a:r>
              <a:rPr lang="ru-RU" dirty="0"/>
              <a:t> Кегль: 18±2. </a:t>
            </a:r>
          </a:p>
          <a:p>
            <a:pPr lvl="5"/>
            <a:r>
              <a:rPr lang="ru-RU" dirty="0"/>
              <a:t>При расположении текста в одну колонку (макет «Текст – один блок») строка текста не должна превышать ¾ колонки всей ширины (зеленая направляющая на макете).</a:t>
            </a:r>
          </a:p>
          <a:p>
            <a:pPr lvl="5"/>
            <a:r>
              <a:rPr lang="ru-RU" dirty="0"/>
              <a:t>При расположении текста в две колонки (макеты «Текст – два блока» или «Текст – две колонки в одном блоке») строка текста должна умещаться в рамках колонок, определенных направляющими.</a:t>
            </a:r>
          </a:p>
          <a:p>
            <a:pPr lvl="5"/>
            <a:r>
              <a:rPr lang="ru-RU" dirty="0"/>
              <a:t>В презентации должны быть использованы предустановленные стили, определяющие структурную логику текста (Рисунок 1). </a:t>
            </a:r>
          </a:p>
          <a:p>
            <a:pPr marL="265113" lvl="4">
              <a:spcBef>
                <a:spcPts val="1200"/>
              </a:spcBef>
              <a:spcAft>
                <a:spcPts val="2400"/>
              </a:spcAft>
            </a:pPr>
            <a:r>
              <a:rPr lang="ru-RU" sz="1400" dirty="0"/>
              <a:t>Задавать стиль нужно </a:t>
            </a:r>
            <a:r>
              <a:rPr lang="ru-RU" sz="1400" dirty="0">
                <a:solidFill>
                  <a:schemeClr val="accent2"/>
                </a:solidFill>
              </a:rPr>
              <a:t>(!)</a:t>
            </a:r>
            <a:r>
              <a:rPr lang="ru-RU" sz="1400" dirty="0"/>
              <a:t> с помощью функции увеличения/уменьшения отступа во вкладе Главная (Рисунок 2). При клике на иконках происходит последовательное переключение предустановленных стилей для выделенного текста (в порядке, представленном на Рисунке 1).</a:t>
            </a:r>
          </a:p>
        </p:txBody>
      </p:sp>
      <p:sp>
        <p:nvSpPr>
          <p:cNvPr id="13" name="Текст 12">
            <a:extLst>
              <a:ext uri="{FF2B5EF4-FFF2-40B4-BE49-F238E27FC236}">
                <a16:creationId xmlns:a16="http://schemas.microsoft.com/office/drawing/2014/main" id="{AF574ACF-B8EF-4C3A-8621-3AD5F34FFA40}"/>
              </a:ext>
            </a:extLst>
          </p:cNvPr>
          <p:cNvSpPr>
            <a:spLocks noGrp="1"/>
          </p:cNvSpPr>
          <p:nvPr>
            <p:ph type="body" sz="quarter" idx="4294967295"/>
          </p:nvPr>
        </p:nvSpPr>
        <p:spPr>
          <a:xfrm>
            <a:off x="6563170" y="1690815"/>
            <a:ext cx="4948015" cy="2096575"/>
          </a:xfrm>
        </p:spPr>
        <p:txBody>
          <a:bodyPr>
            <a:normAutofit/>
          </a:bodyPr>
          <a:lstStyle/>
          <a:p>
            <a:pPr>
              <a:spcAft>
                <a:spcPts val="600"/>
              </a:spcAft>
            </a:pPr>
            <a:r>
              <a:rPr lang="ru-RU" sz="1600" dirty="0"/>
              <a:t>Подзаголовок </a:t>
            </a:r>
          </a:p>
          <a:p>
            <a:pPr lvl="1">
              <a:spcAft>
                <a:spcPts val="600"/>
              </a:spcAft>
            </a:pPr>
            <a:r>
              <a:rPr lang="ru-RU" sz="1400" dirty="0"/>
              <a:t>Заголовок таблицы, диаграммы </a:t>
            </a:r>
          </a:p>
          <a:p>
            <a:pPr lvl="2">
              <a:spcAft>
                <a:spcPts val="600"/>
              </a:spcAft>
            </a:pPr>
            <a:r>
              <a:rPr lang="ru-RU" sz="1100" dirty="0"/>
              <a:t>Подпись рисунка</a:t>
            </a:r>
          </a:p>
          <a:p>
            <a:pPr lvl="3">
              <a:spcAft>
                <a:spcPts val="600"/>
              </a:spcAft>
            </a:pPr>
            <a:r>
              <a:rPr lang="ru-RU" sz="1400" dirty="0"/>
              <a:t>Текст</a:t>
            </a:r>
          </a:p>
          <a:p>
            <a:pPr lvl="4">
              <a:spcAft>
                <a:spcPts val="600"/>
              </a:spcAft>
            </a:pPr>
            <a:r>
              <a:rPr lang="ru-RU" sz="1200" dirty="0"/>
              <a:t>Выделенный абзац </a:t>
            </a:r>
          </a:p>
          <a:p>
            <a:pPr lvl="5">
              <a:spcAft>
                <a:spcPts val="600"/>
              </a:spcAft>
            </a:pPr>
            <a:r>
              <a:rPr lang="ru-RU" sz="1200" dirty="0"/>
              <a:t>Маркеры</a:t>
            </a:r>
          </a:p>
          <a:p>
            <a:pPr lvl="6">
              <a:spcAft>
                <a:spcPts val="600"/>
              </a:spcAft>
            </a:pPr>
            <a:r>
              <a:rPr lang="ru-RU" sz="1200" dirty="0"/>
              <a:t>Нумерация</a:t>
            </a:r>
          </a:p>
          <a:p>
            <a:endParaRPr lang="ru-RU" dirty="0"/>
          </a:p>
        </p:txBody>
      </p:sp>
      <p:pic>
        <p:nvPicPr>
          <p:cNvPr id="2" name="Рисунок 1">
            <a:extLst>
              <a:ext uri="{FF2B5EF4-FFF2-40B4-BE49-F238E27FC236}">
                <a16:creationId xmlns:a16="http://schemas.microsoft.com/office/drawing/2014/main" id="{FDCF0441-DBAF-48D7-8652-BA12B39AB3B0}"/>
              </a:ext>
            </a:extLst>
          </p:cNvPr>
          <p:cNvPicPr>
            <a:picLocks noChangeAspect="1"/>
          </p:cNvPicPr>
          <p:nvPr/>
        </p:nvPicPr>
        <p:blipFill rotWithShape="1">
          <a:blip r:embed="rId3"/>
          <a:srcRect l="66917" t="1" r="16929" b="68139"/>
          <a:stretch/>
        </p:blipFill>
        <p:spPr>
          <a:xfrm>
            <a:off x="6482001" y="4386613"/>
            <a:ext cx="5147564" cy="1903479"/>
          </a:xfrm>
          <a:prstGeom prst="rect">
            <a:avLst/>
          </a:prstGeom>
        </p:spPr>
      </p:pic>
      <p:cxnSp>
        <p:nvCxnSpPr>
          <p:cNvPr id="7" name="Прямая со стрелкой 6">
            <a:extLst>
              <a:ext uri="{FF2B5EF4-FFF2-40B4-BE49-F238E27FC236}">
                <a16:creationId xmlns:a16="http://schemas.microsoft.com/office/drawing/2014/main" id="{9E88170F-DE3A-4EEC-A6F3-1622FD31F1FA}"/>
              </a:ext>
            </a:extLst>
          </p:cNvPr>
          <p:cNvCxnSpPr/>
          <p:nvPr/>
        </p:nvCxnSpPr>
        <p:spPr>
          <a:xfrm>
            <a:off x="9822419" y="4901000"/>
            <a:ext cx="579120"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
        <p:nvSpPr>
          <p:cNvPr id="6" name="Прямоугольник 5">
            <a:extLst>
              <a:ext uri="{FF2B5EF4-FFF2-40B4-BE49-F238E27FC236}">
                <a16:creationId xmlns:a16="http://schemas.microsoft.com/office/drawing/2014/main" id="{A7E5177F-E472-42D3-9398-B962E657F365}"/>
              </a:ext>
            </a:extLst>
          </p:cNvPr>
          <p:cNvSpPr/>
          <p:nvPr/>
        </p:nvSpPr>
        <p:spPr>
          <a:xfrm>
            <a:off x="10401539" y="4754913"/>
            <a:ext cx="292100" cy="247650"/>
          </a:xfrm>
          <a:prstGeom prst="rect">
            <a:avLst/>
          </a:prstGeom>
          <a:noFill/>
          <a:ln w="19050">
            <a:solidFill>
              <a:schemeClr val="accent2"/>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pic>
        <p:nvPicPr>
          <p:cNvPr id="15" name="Рисунок 14">
            <a:extLst>
              <a:ext uri="{FF2B5EF4-FFF2-40B4-BE49-F238E27FC236}">
                <a16:creationId xmlns:a16="http://schemas.microsoft.com/office/drawing/2014/main" id="{002FCD1D-A6F6-4909-8DEE-1CAD2B8C4FDA}"/>
              </a:ext>
            </a:extLst>
          </p:cNvPr>
          <p:cNvPicPr>
            <a:picLocks noChangeAspect="1"/>
          </p:cNvPicPr>
          <p:nvPr/>
        </p:nvPicPr>
        <p:blipFill rotWithShape="1">
          <a:blip r:embed="rId3"/>
          <a:srcRect l="79207" t="6389" r="19888" b="90661"/>
          <a:stretch/>
        </p:blipFill>
        <p:spPr>
          <a:xfrm>
            <a:off x="10580760" y="4960441"/>
            <a:ext cx="833604" cy="509481"/>
          </a:xfrm>
          <a:prstGeom prst="rect">
            <a:avLst/>
          </a:prstGeom>
          <a:ln w="19050">
            <a:solidFill>
              <a:schemeClr val="accent2"/>
            </a:solidFill>
          </a:ln>
        </p:spPr>
      </p:pic>
      <p:sp>
        <p:nvSpPr>
          <p:cNvPr id="22" name="Прямоугольник 21">
            <a:extLst>
              <a:ext uri="{FF2B5EF4-FFF2-40B4-BE49-F238E27FC236}">
                <a16:creationId xmlns:a16="http://schemas.microsoft.com/office/drawing/2014/main" id="{5C0B0DF9-6AC1-4D59-A230-A7F4D0B5F89B}"/>
              </a:ext>
            </a:extLst>
          </p:cNvPr>
          <p:cNvSpPr/>
          <p:nvPr/>
        </p:nvSpPr>
        <p:spPr>
          <a:xfrm>
            <a:off x="6456364" y="1605356"/>
            <a:ext cx="5184773" cy="2230067"/>
          </a:xfrm>
          <a:prstGeom prst="rect">
            <a:avLst/>
          </a:prstGeom>
          <a:noFill/>
          <a:ln w="38100">
            <a:solidFill>
              <a:schemeClr val="tx2">
                <a:lumMod val="25000"/>
                <a:lumOff val="75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sp>
        <p:nvSpPr>
          <p:cNvPr id="23" name="Текст 4">
            <a:extLst>
              <a:ext uri="{FF2B5EF4-FFF2-40B4-BE49-F238E27FC236}">
                <a16:creationId xmlns:a16="http://schemas.microsoft.com/office/drawing/2014/main" id="{33B88A7B-33A2-4587-927A-64DAAC5E1570}"/>
              </a:ext>
            </a:extLst>
          </p:cNvPr>
          <p:cNvSpPr txBox="1">
            <a:spLocks/>
          </p:cNvSpPr>
          <p:nvPr/>
        </p:nvSpPr>
        <p:spPr>
          <a:xfrm>
            <a:off x="6456364" y="1286776"/>
            <a:ext cx="5184774" cy="427579"/>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130000"/>
              </a:lnSpc>
            </a:pPr>
            <a:r>
              <a:rPr lang="ru-RU" sz="1200" dirty="0"/>
              <a:t>Рисунок 1. Стили текста</a:t>
            </a:r>
          </a:p>
        </p:txBody>
      </p:sp>
      <p:sp>
        <p:nvSpPr>
          <p:cNvPr id="24" name="Текст 4">
            <a:extLst>
              <a:ext uri="{FF2B5EF4-FFF2-40B4-BE49-F238E27FC236}">
                <a16:creationId xmlns:a16="http://schemas.microsoft.com/office/drawing/2014/main" id="{E4059684-06E7-498B-BD51-6D7106794AA8}"/>
              </a:ext>
            </a:extLst>
          </p:cNvPr>
          <p:cNvSpPr txBox="1">
            <a:spLocks/>
          </p:cNvSpPr>
          <p:nvPr/>
        </p:nvSpPr>
        <p:spPr>
          <a:xfrm>
            <a:off x="6444789" y="4037452"/>
            <a:ext cx="5184776" cy="427577"/>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130000"/>
              </a:lnSpc>
            </a:pPr>
            <a:r>
              <a:rPr lang="ru-RU" sz="1200" dirty="0"/>
              <a:t>Рисунок 2. Переключение стилей текста</a:t>
            </a:r>
          </a:p>
        </p:txBody>
      </p:sp>
    </p:spTree>
    <p:extLst>
      <p:ext uri="{BB962C8B-B14F-4D97-AF65-F5344CB8AC3E}">
        <p14:creationId xmlns:p14="http://schemas.microsoft.com/office/powerpoint/2010/main" val="190833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Основные правила: текстовые стили</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normAutofit lnSpcReduction="10000"/>
          </a:bodyPr>
          <a:lstStyle/>
          <a:p>
            <a:r>
              <a:rPr lang="ru-RU" dirty="0"/>
              <a:t>Выделение текста</a:t>
            </a:r>
          </a:p>
          <a:p>
            <a:pPr lvl="3"/>
            <a:r>
              <a:rPr lang="ru-RU" dirty="0"/>
              <a:t>В презентации могут быть использованы 3 типа выделения текста:</a:t>
            </a:r>
          </a:p>
          <a:p>
            <a:pPr lvl="5"/>
            <a:r>
              <a:rPr lang="ru-RU" dirty="0"/>
              <a:t>Выделение абзаца целиком: при помощи предустановленного стиля (Пример 1, см. Функция «увеличение/уменьшение отступа» на слайде 4).</a:t>
            </a:r>
          </a:p>
          <a:p>
            <a:pPr lvl="5"/>
            <a:r>
              <a:rPr lang="ru-RU" dirty="0"/>
              <a:t>Выделение терминов: курсив + цвет «Темно-синий, акцент 1» из палитры (Пример 2).</a:t>
            </a:r>
          </a:p>
          <a:p>
            <a:pPr lvl="5"/>
            <a:r>
              <a:rPr lang="ru-RU" dirty="0"/>
              <a:t>Выделение частных примеров и т.п.: курсив (Пример 3).</a:t>
            </a:r>
          </a:p>
          <a:p>
            <a:pPr lvl="4"/>
            <a:endParaRPr lang="ru-RU" dirty="0"/>
          </a:p>
          <a:p>
            <a:pPr lvl="4"/>
            <a:r>
              <a:rPr lang="ru-RU" dirty="0"/>
              <a:t>Также для создания визуального акцента фрагмент текста может быть заключен в рамку. Для этого скопируйте рамку на этом слайде и вставьте в нужное место вашей презентации.</a:t>
            </a:r>
          </a:p>
          <a:p>
            <a:pPr lvl="5"/>
            <a:endParaRPr lang="ru-RU" dirty="0"/>
          </a:p>
        </p:txBody>
      </p:sp>
      <p:sp>
        <p:nvSpPr>
          <p:cNvPr id="8" name="Текст 7">
            <a:extLst>
              <a:ext uri="{FF2B5EF4-FFF2-40B4-BE49-F238E27FC236}">
                <a16:creationId xmlns:a16="http://schemas.microsoft.com/office/drawing/2014/main" id="{5C0C748A-087F-4B14-9236-28D0B662F630}"/>
              </a:ext>
            </a:extLst>
          </p:cNvPr>
          <p:cNvSpPr>
            <a:spLocks noGrp="1"/>
          </p:cNvSpPr>
          <p:nvPr>
            <p:ph type="body" sz="quarter" idx="4294967295"/>
          </p:nvPr>
        </p:nvSpPr>
        <p:spPr>
          <a:xfrm>
            <a:off x="6554625" y="1427147"/>
            <a:ext cx="4990744" cy="4954601"/>
          </a:xfrm>
        </p:spPr>
        <p:txBody>
          <a:bodyPr>
            <a:normAutofit/>
          </a:bodyPr>
          <a:lstStyle/>
          <a:p>
            <a:pPr lvl="2">
              <a:spcAft>
                <a:spcPts val="600"/>
              </a:spcAft>
            </a:pPr>
            <a:r>
              <a:rPr lang="ru-RU" sz="1200" dirty="0"/>
              <a:t>Пример 1</a:t>
            </a:r>
          </a:p>
          <a:p>
            <a:pPr lvl="4">
              <a:spcAft>
                <a:spcPts val="3000"/>
              </a:spcAft>
            </a:pPr>
            <a:r>
              <a:rPr lang="ru-RU" sz="1400" dirty="0"/>
              <a:t>Наличие диалектов является результатом феодальной раздробленности Древней Руси, а затем и Российского государства.</a:t>
            </a:r>
          </a:p>
          <a:p>
            <a:pPr lvl="2">
              <a:spcAft>
                <a:spcPts val="600"/>
              </a:spcAft>
            </a:pPr>
            <a:r>
              <a:rPr lang="ru-RU" sz="1200" dirty="0"/>
              <a:t>Пример 2</a:t>
            </a:r>
          </a:p>
          <a:p>
            <a:pPr lvl="3">
              <a:spcAft>
                <a:spcPts val="3000"/>
              </a:spcAft>
            </a:pPr>
            <a:r>
              <a:rPr lang="ru-RU" sz="1600" i="1" dirty="0">
                <a:solidFill>
                  <a:schemeClr val="accent1"/>
                </a:solidFill>
              </a:rPr>
              <a:t>Диалект</a:t>
            </a:r>
            <a:r>
              <a:rPr lang="ru-RU" sz="1600" dirty="0"/>
              <a:t> — это разновидность общего языка, свойственная большим территориям (например, несколько областей): южнорусский, среднерусский и северорусский.</a:t>
            </a:r>
          </a:p>
          <a:p>
            <a:pPr lvl="2">
              <a:spcAft>
                <a:spcPts val="600"/>
              </a:spcAft>
            </a:pPr>
            <a:r>
              <a:rPr lang="ru-RU" sz="1200" dirty="0"/>
              <a:t>Пример 3</a:t>
            </a:r>
          </a:p>
          <a:p>
            <a:pPr lvl="3">
              <a:spcAft>
                <a:spcPts val="1800"/>
              </a:spcAft>
            </a:pPr>
            <a:r>
              <a:rPr lang="ru-RU" sz="1600" dirty="0"/>
              <a:t>Диссимиляция согласных по месту и способу образования: </a:t>
            </a:r>
            <a:r>
              <a:rPr lang="ru-RU" sz="1600" i="1" dirty="0"/>
              <a:t>[</a:t>
            </a:r>
            <a:r>
              <a:rPr lang="ru-RU" sz="1600" i="1" dirty="0" err="1"/>
              <a:t>къл'идор</a:t>
            </a:r>
            <a:r>
              <a:rPr lang="ru-RU" sz="1600" i="1" dirty="0"/>
              <a:t>] коридор, [</a:t>
            </a:r>
            <a:r>
              <a:rPr lang="ru-RU" sz="1600" i="1" dirty="0" err="1"/>
              <a:t>с'ькл'итар</a:t>
            </a:r>
            <a:r>
              <a:rPr lang="ru-RU" sz="1600" i="1" dirty="0"/>
              <a:t>'] секретарь, [</a:t>
            </a:r>
            <a:r>
              <a:rPr lang="ru-RU" sz="1600" i="1" dirty="0" err="1"/>
              <a:t>транваи</a:t>
            </a:r>
            <a:r>
              <a:rPr lang="ru-RU" sz="1600" i="1" dirty="0"/>
              <a:t>] трамвай, [</a:t>
            </a:r>
            <a:r>
              <a:rPr lang="ru-RU" sz="1600" i="1" dirty="0" err="1"/>
              <a:t>кънб'икорм</a:t>
            </a:r>
            <a:r>
              <a:rPr lang="ru-RU" sz="1600" i="1" dirty="0"/>
              <a:t>] комбикорм </a:t>
            </a:r>
            <a:r>
              <a:rPr lang="ru-RU" sz="1600" dirty="0"/>
              <a:t>и под.</a:t>
            </a:r>
          </a:p>
        </p:txBody>
      </p:sp>
      <p:sp>
        <p:nvSpPr>
          <p:cNvPr id="11" name="Прямоугольник 10">
            <a:extLst>
              <a:ext uri="{FF2B5EF4-FFF2-40B4-BE49-F238E27FC236}">
                <a16:creationId xmlns:a16="http://schemas.microsoft.com/office/drawing/2014/main" id="{5C4CACF7-025E-4730-81DF-5B9AF7101961}"/>
              </a:ext>
            </a:extLst>
          </p:cNvPr>
          <p:cNvSpPr/>
          <p:nvPr/>
        </p:nvSpPr>
        <p:spPr>
          <a:xfrm>
            <a:off x="6456364" y="1341436"/>
            <a:ext cx="5184773" cy="5040311"/>
          </a:xfrm>
          <a:prstGeom prst="rect">
            <a:avLst/>
          </a:prstGeom>
          <a:noFill/>
          <a:ln w="38100">
            <a:solidFill>
              <a:schemeClr val="tx2">
                <a:lumMod val="25000"/>
                <a:lumOff val="75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grpSp>
        <p:nvGrpSpPr>
          <p:cNvPr id="24" name="Группа 23">
            <a:extLst>
              <a:ext uri="{FF2B5EF4-FFF2-40B4-BE49-F238E27FC236}">
                <a16:creationId xmlns:a16="http://schemas.microsoft.com/office/drawing/2014/main" id="{22A00232-48C3-47F3-921A-B3C86960D0A6}"/>
              </a:ext>
            </a:extLst>
          </p:cNvPr>
          <p:cNvGrpSpPr/>
          <p:nvPr/>
        </p:nvGrpSpPr>
        <p:grpSpPr>
          <a:xfrm>
            <a:off x="9919941" y="3589059"/>
            <a:ext cx="1570490" cy="816884"/>
            <a:chOff x="9919941" y="3589059"/>
            <a:chExt cx="1570490" cy="816884"/>
          </a:xfrm>
        </p:grpSpPr>
        <p:grpSp>
          <p:nvGrpSpPr>
            <p:cNvPr id="23" name="Группа 22">
              <a:extLst>
                <a:ext uri="{FF2B5EF4-FFF2-40B4-BE49-F238E27FC236}">
                  <a16:creationId xmlns:a16="http://schemas.microsoft.com/office/drawing/2014/main" id="{2FFDF44C-BB17-478E-B441-329DD8C44E10}"/>
                </a:ext>
              </a:extLst>
            </p:cNvPr>
            <p:cNvGrpSpPr/>
            <p:nvPr/>
          </p:nvGrpSpPr>
          <p:grpSpPr>
            <a:xfrm>
              <a:off x="9919941" y="3589059"/>
              <a:ext cx="1570490" cy="816884"/>
              <a:chOff x="9769025" y="2652597"/>
              <a:chExt cx="1570490" cy="816884"/>
            </a:xfrm>
          </p:grpSpPr>
          <p:sp>
            <p:nvSpPr>
              <p:cNvPr id="22" name="Облачко с текстом: прямоугольное 21">
                <a:extLst>
                  <a:ext uri="{FF2B5EF4-FFF2-40B4-BE49-F238E27FC236}">
                    <a16:creationId xmlns:a16="http://schemas.microsoft.com/office/drawing/2014/main" id="{540CE91D-D356-4884-935F-D3E9CBAC9B9F}"/>
                  </a:ext>
                </a:extLst>
              </p:cNvPr>
              <p:cNvSpPr/>
              <p:nvPr/>
            </p:nvSpPr>
            <p:spPr>
              <a:xfrm>
                <a:off x="9769025" y="2652597"/>
                <a:ext cx="1570490" cy="816884"/>
              </a:xfrm>
              <a:prstGeom prst="wedgeRectCallout">
                <a:avLst>
                  <a:gd name="adj1" fmla="val -200407"/>
                  <a:gd name="adj2" fmla="val -87683"/>
                </a:avLst>
              </a:prstGeom>
              <a:solidFill>
                <a:schemeClr val="bg1"/>
              </a:solidFill>
              <a:ln w="28575">
                <a:solidFill>
                  <a:srgbClr val="FF0000"/>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pic>
            <p:nvPicPr>
              <p:cNvPr id="18" name="Рисунок 17">
                <a:extLst>
                  <a:ext uri="{FF2B5EF4-FFF2-40B4-BE49-F238E27FC236}">
                    <a16:creationId xmlns:a16="http://schemas.microsoft.com/office/drawing/2014/main" id="{740DF83A-B359-4C0F-9233-6754D3C1A779}"/>
                  </a:ext>
                </a:extLst>
              </p:cNvPr>
              <p:cNvPicPr>
                <a:picLocks noChangeAspect="1"/>
              </p:cNvPicPr>
              <p:nvPr/>
            </p:nvPicPr>
            <p:blipFill rotWithShape="1">
              <a:blip r:embed="rId3"/>
              <a:srcRect l="51950" t="55353" r="44344" b="34670"/>
              <a:stretch/>
            </p:blipFill>
            <p:spPr>
              <a:xfrm>
                <a:off x="9785125" y="2675922"/>
                <a:ext cx="1538289" cy="776404"/>
              </a:xfrm>
              <a:prstGeom prst="rect">
                <a:avLst/>
              </a:prstGeom>
            </p:spPr>
          </p:pic>
        </p:grpSp>
        <p:cxnSp>
          <p:nvCxnSpPr>
            <p:cNvPr id="20" name="Прямая со стрелкой 19">
              <a:extLst>
                <a:ext uri="{FF2B5EF4-FFF2-40B4-BE49-F238E27FC236}">
                  <a16:creationId xmlns:a16="http://schemas.microsoft.com/office/drawing/2014/main" id="{40DF01FC-503A-400D-8EBC-C9B08D8549EB}"/>
                </a:ext>
              </a:extLst>
            </p:cNvPr>
            <p:cNvCxnSpPr/>
            <p:nvPr/>
          </p:nvCxnSpPr>
          <p:spPr>
            <a:xfrm>
              <a:off x="10065372" y="4032228"/>
              <a:ext cx="408331"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645219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Основные правила: таблицы</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a:xfrm>
            <a:off x="550864" y="1341438"/>
            <a:ext cx="5184774" cy="5040312"/>
          </a:xfrm>
        </p:spPr>
        <p:txBody>
          <a:bodyPr numCol="1">
            <a:normAutofit/>
          </a:bodyPr>
          <a:lstStyle/>
          <a:p>
            <a:pPr lvl="5">
              <a:lnSpc>
                <a:spcPct val="130000"/>
              </a:lnSpc>
            </a:pPr>
            <a:r>
              <a:rPr lang="ru-RU" dirty="0"/>
              <a:t>При форматировании таблиц необходимо использовать стиль из набора во вкладке </a:t>
            </a:r>
            <a:br>
              <a:rPr lang="ru-RU" dirty="0"/>
            </a:br>
            <a:r>
              <a:rPr lang="ru-RU" dirty="0"/>
              <a:t>Работа с таблицами → Конструктор → Стили таблиц (Рисунок 1).</a:t>
            </a:r>
          </a:p>
          <a:p>
            <a:pPr lvl="5">
              <a:lnSpc>
                <a:spcPct val="130000"/>
              </a:lnSpc>
            </a:pPr>
            <a:r>
              <a:rPr lang="ru-RU" dirty="0"/>
              <a:t>Кегль таблицы (в т.ч. заголовков столбцов/строк): 14±2, обычное начертание. </a:t>
            </a:r>
          </a:p>
          <a:p>
            <a:pPr lvl="5">
              <a:lnSpc>
                <a:spcPct val="130000"/>
              </a:lnSpc>
            </a:pPr>
            <a:r>
              <a:rPr lang="ru-RU" dirty="0"/>
              <a:t>Для выделения содержимого используется цвет «Темно-синий, акцент 1» из палитры (Рисунок 2).</a:t>
            </a:r>
          </a:p>
        </p:txBody>
      </p:sp>
      <p:pic>
        <p:nvPicPr>
          <p:cNvPr id="12" name="Рисунок 11">
            <a:extLst>
              <a:ext uri="{FF2B5EF4-FFF2-40B4-BE49-F238E27FC236}">
                <a16:creationId xmlns:a16="http://schemas.microsoft.com/office/drawing/2014/main" id="{5B8325C5-3444-4644-B070-22E7D63A71F8}"/>
              </a:ext>
            </a:extLst>
          </p:cNvPr>
          <p:cNvPicPr>
            <a:picLocks noChangeAspect="1"/>
          </p:cNvPicPr>
          <p:nvPr/>
        </p:nvPicPr>
        <p:blipFill rotWithShape="1">
          <a:blip r:embed="rId3"/>
          <a:srcRect l="72448" r="14045" b="61237"/>
          <a:stretch/>
        </p:blipFill>
        <p:spPr>
          <a:xfrm>
            <a:off x="6456362" y="1646323"/>
            <a:ext cx="4038601" cy="2173287"/>
          </a:xfrm>
          <a:prstGeom prst="rect">
            <a:avLst/>
          </a:prstGeom>
        </p:spPr>
      </p:pic>
      <p:pic>
        <p:nvPicPr>
          <p:cNvPr id="14" name="Рисунок 13">
            <a:extLst>
              <a:ext uri="{FF2B5EF4-FFF2-40B4-BE49-F238E27FC236}">
                <a16:creationId xmlns:a16="http://schemas.microsoft.com/office/drawing/2014/main" id="{8AAC4AC3-5B5D-449E-BCED-C2C88122B32B}"/>
              </a:ext>
            </a:extLst>
          </p:cNvPr>
          <p:cNvPicPr>
            <a:picLocks noChangeAspect="1"/>
          </p:cNvPicPr>
          <p:nvPr/>
        </p:nvPicPr>
        <p:blipFill rotWithShape="1">
          <a:blip r:embed="rId4"/>
          <a:srcRect l="51950" t="55353" r="44344" b="24135"/>
          <a:stretch/>
        </p:blipFill>
        <p:spPr>
          <a:xfrm>
            <a:off x="6456362" y="4450993"/>
            <a:ext cx="1839912" cy="1909147"/>
          </a:xfrm>
          <a:prstGeom prst="rect">
            <a:avLst/>
          </a:prstGeom>
        </p:spPr>
      </p:pic>
      <p:cxnSp>
        <p:nvCxnSpPr>
          <p:cNvPr id="15" name="Прямая со стрелкой 14">
            <a:extLst>
              <a:ext uri="{FF2B5EF4-FFF2-40B4-BE49-F238E27FC236}">
                <a16:creationId xmlns:a16="http://schemas.microsoft.com/office/drawing/2014/main" id="{622D099B-DFC9-43FF-8C9E-9235C108420B}"/>
              </a:ext>
            </a:extLst>
          </p:cNvPr>
          <p:cNvCxnSpPr>
            <a:cxnSpLocks/>
          </p:cNvCxnSpPr>
          <p:nvPr/>
        </p:nvCxnSpPr>
        <p:spPr>
          <a:xfrm>
            <a:off x="6533185" y="4948420"/>
            <a:ext cx="545141"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
        <p:nvSpPr>
          <p:cNvPr id="20" name="Текст 4">
            <a:extLst>
              <a:ext uri="{FF2B5EF4-FFF2-40B4-BE49-F238E27FC236}">
                <a16:creationId xmlns:a16="http://schemas.microsoft.com/office/drawing/2014/main" id="{AB35C8F2-F500-4891-ADA3-79A2AC7D1161}"/>
              </a:ext>
            </a:extLst>
          </p:cNvPr>
          <p:cNvSpPr txBox="1">
            <a:spLocks/>
          </p:cNvSpPr>
          <p:nvPr/>
        </p:nvSpPr>
        <p:spPr>
          <a:xfrm>
            <a:off x="6456364" y="1286776"/>
            <a:ext cx="3249293" cy="427579"/>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130000"/>
              </a:lnSpc>
            </a:pPr>
            <a:r>
              <a:rPr lang="ru-RU" sz="1200" dirty="0"/>
              <a:t>Рисунок 1. Стиль таблицы</a:t>
            </a:r>
          </a:p>
        </p:txBody>
      </p:sp>
      <p:sp>
        <p:nvSpPr>
          <p:cNvPr id="21" name="Текст 4">
            <a:extLst>
              <a:ext uri="{FF2B5EF4-FFF2-40B4-BE49-F238E27FC236}">
                <a16:creationId xmlns:a16="http://schemas.microsoft.com/office/drawing/2014/main" id="{2EC586CC-A0BA-461E-9C7C-75E7C6FF9F8C}"/>
              </a:ext>
            </a:extLst>
          </p:cNvPr>
          <p:cNvSpPr txBox="1">
            <a:spLocks/>
          </p:cNvSpPr>
          <p:nvPr/>
        </p:nvSpPr>
        <p:spPr>
          <a:xfrm>
            <a:off x="6456362" y="4007995"/>
            <a:ext cx="4695900" cy="427577"/>
          </a:xfrm>
          <a:prstGeom prst="rect">
            <a:avLst/>
          </a:prstGeom>
        </p:spPr>
        <p:txBody>
          <a:bodyPr vert="horz" lIns="0" tIns="0" rIns="0" bIns="0" numCol="1" spcCol="720000" rtlCol="0">
            <a:norm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defRPr sz="2000" kern="1200">
                <a:solidFill>
                  <a:schemeClr val="tx2">
                    <a:lumMod val="90000"/>
                    <a:lumOff val="10000"/>
                  </a:schemeClr>
                </a:solidFill>
                <a:latin typeface="+mn-lt"/>
                <a:ea typeface="+mn-ea"/>
                <a:cs typeface="+mn-cs"/>
              </a:defRPr>
            </a:lvl1pPr>
            <a:lvl2pPr marL="0" indent="0" algn="l" defTabSz="914400" rtl="0" eaLnBrk="1" latinLnBrk="0" hangingPunct="1">
              <a:lnSpc>
                <a:spcPct val="110000"/>
              </a:lnSpc>
              <a:spcBef>
                <a:spcPts val="0"/>
              </a:spcBef>
              <a:spcAft>
                <a:spcPts val="1200"/>
              </a:spcAft>
              <a:buFont typeface="Arial" panose="020B0604020202020204" pitchFamily="34" charset="0"/>
              <a:buNone/>
              <a:defRPr sz="1800" b="1" kern="1200">
                <a:solidFill>
                  <a:schemeClr val="accent1"/>
                </a:solidFill>
                <a:latin typeface="+mn-lt"/>
                <a:ea typeface="+mn-ea"/>
                <a:cs typeface="+mn-cs"/>
              </a:defRPr>
            </a:lvl2pPr>
            <a:lvl3pPr marL="0" indent="0" algn="l" defTabSz="914400" rtl="0" eaLnBrk="1" latinLnBrk="0" hangingPunct="1">
              <a:lnSpc>
                <a:spcPct val="110000"/>
              </a:lnSpc>
              <a:spcBef>
                <a:spcPts val="0"/>
              </a:spcBef>
              <a:spcAft>
                <a:spcPts val="1200"/>
              </a:spcAft>
              <a:buClr>
                <a:schemeClr val="accent1">
                  <a:lumMod val="50000"/>
                </a:schemeClr>
              </a:buClr>
              <a:buSzPct val="120000"/>
              <a:buFont typeface="Wingdings" panose="05000000000000000000" pitchFamily="2" charset="2"/>
              <a:buNone/>
              <a:defRPr sz="1400" b="1" kern="1200">
                <a:solidFill>
                  <a:schemeClr val="tx2"/>
                </a:solidFill>
                <a:latin typeface="+mn-lt"/>
                <a:ea typeface="+mn-ea"/>
                <a:cs typeface="+mn-cs"/>
              </a:defRPr>
            </a:lvl3pPr>
            <a:lvl4pPr marL="0" indent="0" algn="l" defTabSz="914400" rtl="0" eaLnBrk="1" latinLnBrk="0" hangingPunct="1">
              <a:lnSpc>
                <a:spcPct val="110000"/>
              </a:lnSpc>
              <a:spcBef>
                <a:spcPts val="0"/>
              </a:spcBef>
              <a:spcAft>
                <a:spcPts val="1200"/>
              </a:spcAft>
              <a:buClr>
                <a:schemeClr val="accent1">
                  <a:lumMod val="50000"/>
                </a:schemeClr>
              </a:buClr>
              <a:buFont typeface="+mj-lt"/>
              <a:buNone/>
              <a:tabLst>
                <a:tab pos="269875" algn="l"/>
              </a:tabLst>
              <a:defRPr sz="1800" kern="1200">
                <a:solidFill>
                  <a:schemeClr val="tx1"/>
                </a:solidFill>
                <a:latin typeface="+mn-lt"/>
                <a:ea typeface="+mn-ea"/>
                <a:cs typeface="+mn-cs"/>
              </a:defRPr>
            </a:lvl4pPr>
            <a:lvl5pPr marL="0" indent="0" algn="l" defTabSz="914400" rtl="0" eaLnBrk="1" latinLnBrk="0" hangingPunct="1">
              <a:lnSpc>
                <a:spcPct val="110000"/>
              </a:lnSpc>
              <a:spcBef>
                <a:spcPts val="0"/>
              </a:spcBef>
              <a:spcAft>
                <a:spcPts val="1200"/>
              </a:spcAft>
              <a:buFont typeface="Wingdings" panose="05000000000000000000" pitchFamily="2" charset="2"/>
              <a:buNone/>
              <a:defRPr sz="1600" b="0" kern="1200">
                <a:solidFill>
                  <a:schemeClr val="accent1"/>
                </a:solidFill>
                <a:latin typeface="+mn-lt"/>
                <a:ea typeface="+mn-ea"/>
                <a:cs typeface="+mn-cs"/>
              </a:defRPr>
            </a:lvl5pPr>
            <a:lvl6pPr marL="285750" indent="-285750" algn="l" defTabSz="914400" rtl="0" eaLnBrk="1" latinLnBrk="0" hangingPunct="1">
              <a:lnSpc>
                <a:spcPct val="110000"/>
              </a:lnSpc>
              <a:spcBef>
                <a:spcPts val="0"/>
              </a:spcBef>
              <a:spcAft>
                <a:spcPts val="1200"/>
              </a:spcAft>
              <a:buClr>
                <a:schemeClr val="accent2"/>
              </a:buClr>
              <a:buFont typeface="Wingdings" panose="05000000000000000000" pitchFamily="2" charset="2"/>
              <a:buChar char="§"/>
              <a:defRPr sz="1600" b="0" kern="1200">
                <a:solidFill>
                  <a:schemeClr val="tx1"/>
                </a:solidFill>
                <a:latin typeface="+mn-lt"/>
                <a:ea typeface="+mn-ea"/>
                <a:cs typeface="+mn-cs"/>
              </a:defRPr>
            </a:lvl6pPr>
            <a:lvl7pPr marL="271463" indent="-271463" algn="l" defTabSz="914400" rtl="0" eaLnBrk="1" latinLnBrk="0" hangingPunct="1">
              <a:lnSpc>
                <a:spcPct val="110000"/>
              </a:lnSpc>
              <a:spcBef>
                <a:spcPts val="0"/>
              </a:spcBef>
              <a:spcAft>
                <a:spcPts val="1200"/>
              </a:spcAft>
              <a:buFont typeface="+mj-lt"/>
              <a:buAutoNum type="arabicPeriod"/>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130000"/>
              </a:lnSpc>
            </a:pPr>
            <a:r>
              <a:rPr lang="ru-RU" sz="1200" dirty="0"/>
              <a:t>Рисунок 2. Цветовое выделение текста таблицы</a:t>
            </a:r>
          </a:p>
        </p:txBody>
      </p:sp>
      <p:cxnSp>
        <p:nvCxnSpPr>
          <p:cNvPr id="22" name="Прямая со стрелкой 21">
            <a:extLst>
              <a:ext uri="{FF2B5EF4-FFF2-40B4-BE49-F238E27FC236}">
                <a16:creationId xmlns:a16="http://schemas.microsoft.com/office/drawing/2014/main" id="{AD9CC77B-E702-4F49-8103-D7564E672651}"/>
              </a:ext>
            </a:extLst>
          </p:cNvPr>
          <p:cNvCxnSpPr>
            <a:cxnSpLocks/>
          </p:cNvCxnSpPr>
          <p:nvPr/>
        </p:nvCxnSpPr>
        <p:spPr>
          <a:xfrm>
            <a:off x="6405704" y="3398044"/>
            <a:ext cx="545141"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677253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C950A427-2396-4452-A267-FC25A12F1CCE}"/>
              </a:ext>
            </a:extLst>
          </p:cNvPr>
          <p:cNvSpPr>
            <a:spLocks noGrp="1"/>
          </p:cNvSpPr>
          <p:nvPr>
            <p:ph type="title"/>
          </p:nvPr>
        </p:nvSpPr>
        <p:spPr/>
        <p:txBody>
          <a:bodyPr/>
          <a:lstStyle/>
          <a:p>
            <a:r>
              <a:rPr lang="ru-RU" dirty="0"/>
              <a:t>Основные правила: изображения</a:t>
            </a:r>
          </a:p>
        </p:txBody>
      </p:sp>
      <p:sp>
        <p:nvSpPr>
          <p:cNvPr id="8" name="Текст 7">
            <a:extLst>
              <a:ext uri="{FF2B5EF4-FFF2-40B4-BE49-F238E27FC236}">
                <a16:creationId xmlns:a16="http://schemas.microsoft.com/office/drawing/2014/main" id="{E90C7D51-AC66-40CC-A0F6-A9900F310E57}"/>
              </a:ext>
            </a:extLst>
          </p:cNvPr>
          <p:cNvSpPr>
            <a:spLocks noGrp="1"/>
          </p:cNvSpPr>
          <p:nvPr>
            <p:ph type="body" sz="quarter" idx="12"/>
          </p:nvPr>
        </p:nvSpPr>
        <p:spPr>
          <a:xfrm>
            <a:off x="550864" y="1341438"/>
            <a:ext cx="5184774" cy="5040312"/>
          </a:xfrm>
        </p:spPr>
        <p:txBody>
          <a:bodyPr/>
          <a:lstStyle/>
          <a:p>
            <a:pPr lvl="3"/>
            <a:r>
              <a:rPr lang="ru-RU" dirty="0"/>
              <a:t>При использовании изображений к ним применяется операция «Обрезка по фигуре» по следующему алгоритму:</a:t>
            </a:r>
          </a:p>
          <a:p>
            <a:pPr lvl="6"/>
            <a:r>
              <a:rPr lang="ru-RU" dirty="0"/>
              <a:t>Выделяем изображение.</a:t>
            </a:r>
          </a:p>
          <a:p>
            <a:pPr lvl="6"/>
            <a:r>
              <a:rPr lang="ru-RU" dirty="0"/>
              <a:t>Открываем вкладки: </a:t>
            </a:r>
            <a:br>
              <a:rPr lang="ru-RU" dirty="0"/>
            </a:br>
            <a:r>
              <a:rPr lang="ru-RU" dirty="0"/>
              <a:t>«Работа с рисунками» → Обрезать → Обрезать по фигуре.</a:t>
            </a:r>
          </a:p>
          <a:p>
            <a:pPr lvl="6"/>
            <a:r>
              <a:rPr lang="ru-RU" dirty="0"/>
              <a:t>Выбираем «Прямоугольник: один верхний угол скругленный, другой – усеченный».</a:t>
            </a:r>
          </a:p>
          <a:p>
            <a:pPr lvl="6"/>
            <a:r>
              <a:rPr lang="ru-RU" dirty="0"/>
              <a:t>Перемещаем правый ползунок до образования прямого угла (см. рисунок).</a:t>
            </a:r>
          </a:p>
          <a:p>
            <a:pPr lvl="4">
              <a:spcBef>
                <a:spcPts val="1200"/>
              </a:spcBef>
            </a:pPr>
            <a:r>
              <a:rPr lang="ru-RU" dirty="0"/>
              <a:t>Для размещения изображения на весь слайд используйте шаблоны из Примера презентации (см. слайды 20–22).</a:t>
            </a:r>
          </a:p>
        </p:txBody>
      </p:sp>
      <p:grpSp>
        <p:nvGrpSpPr>
          <p:cNvPr id="10" name="Группа 9">
            <a:extLst>
              <a:ext uri="{FF2B5EF4-FFF2-40B4-BE49-F238E27FC236}">
                <a16:creationId xmlns:a16="http://schemas.microsoft.com/office/drawing/2014/main" id="{115744D1-742A-4872-BCDC-73D0B44D5FA2}"/>
              </a:ext>
            </a:extLst>
          </p:cNvPr>
          <p:cNvGrpSpPr/>
          <p:nvPr/>
        </p:nvGrpSpPr>
        <p:grpSpPr>
          <a:xfrm>
            <a:off x="6456363" y="3734555"/>
            <a:ext cx="5184773" cy="2322065"/>
            <a:chOff x="3994136" y="-751213"/>
            <a:chExt cx="6739953" cy="3018572"/>
          </a:xfrm>
        </p:grpSpPr>
        <p:pic>
          <p:nvPicPr>
            <p:cNvPr id="11" name="Рисунок 10">
              <a:extLst>
                <a:ext uri="{FF2B5EF4-FFF2-40B4-BE49-F238E27FC236}">
                  <a16:creationId xmlns:a16="http://schemas.microsoft.com/office/drawing/2014/main" id="{8E65A0E5-5493-40D9-98FD-563E5B1625F4}"/>
                </a:ext>
              </a:extLst>
            </p:cNvPr>
            <p:cNvPicPr>
              <a:picLocks noChangeAspect="1"/>
            </p:cNvPicPr>
            <p:nvPr/>
          </p:nvPicPr>
          <p:blipFill rotWithShape="1">
            <a:blip r:embed="rId2"/>
            <a:srcRect l="32261" t="6333" r="50139" b="65643"/>
            <a:stretch/>
          </p:blipFill>
          <p:spPr>
            <a:xfrm>
              <a:off x="3994136" y="-751213"/>
              <a:ext cx="6739953" cy="3018572"/>
            </a:xfrm>
            <a:prstGeom prst="rect">
              <a:avLst/>
            </a:prstGeom>
            <a:ln w="6350">
              <a:solidFill>
                <a:schemeClr val="accent1"/>
              </a:solidFill>
            </a:ln>
          </p:spPr>
        </p:pic>
        <p:sp>
          <p:nvSpPr>
            <p:cNvPr id="12" name="Прямоугольник 11">
              <a:extLst>
                <a:ext uri="{FF2B5EF4-FFF2-40B4-BE49-F238E27FC236}">
                  <a16:creationId xmlns:a16="http://schemas.microsoft.com/office/drawing/2014/main" id="{03EB6A85-0CE2-4838-B255-5987062F5130}"/>
                </a:ext>
              </a:extLst>
            </p:cNvPr>
            <p:cNvSpPr/>
            <p:nvPr/>
          </p:nvSpPr>
          <p:spPr>
            <a:xfrm>
              <a:off x="6808735" y="396856"/>
              <a:ext cx="292100" cy="247650"/>
            </a:xfrm>
            <a:prstGeom prst="rect">
              <a:avLst/>
            </a:prstGeom>
            <a:noFill/>
            <a:ln w="19050">
              <a:solidFill>
                <a:schemeClr val="accent2"/>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cxnSp>
          <p:nvCxnSpPr>
            <p:cNvPr id="13" name="Прямая со стрелкой 12">
              <a:extLst>
                <a:ext uri="{FF2B5EF4-FFF2-40B4-BE49-F238E27FC236}">
                  <a16:creationId xmlns:a16="http://schemas.microsoft.com/office/drawing/2014/main" id="{C1C7A108-D06F-4CB0-A938-CFEEF37794C1}"/>
                </a:ext>
              </a:extLst>
            </p:cNvPr>
            <p:cNvCxnSpPr/>
            <p:nvPr/>
          </p:nvCxnSpPr>
          <p:spPr>
            <a:xfrm>
              <a:off x="6229615" y="530629"/>
              <a:ext cx="579120" cy="0"/>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pic>
          <p:nvPicPr>
            <p:cNvPr id="14" name="Рисунок 13">
              <a:extLst>
                <a:ext uri="{FF2B5EF4-FFF2-40B4-BE49-F238E27FC236}">
                  <a16:creationId xmlns:a16="http://schemas.microsoft.com/office/drawing/2014/main" id="{B79ED247-C514-4A8A-85BA-5DEB92752382}"/>
                </a:ext>
              </a:extLst>
            </p:cNvPr>
            <p:cNvPicPr>
              <a:picLocks noChangeAspect="1"/>
            </p:cNvPicPr>
            <p:nvPr/>
          </p:nvPicPr>
          <p:blipFill rotWithShape="1">
            <a:blip r:embed="rId3"/>
            <a:srcRect l="35028" t="33939" r="59517" b="46852"/>
            <a:stretch/>
          </p:blipFill>
          <p:spPr>
            <a:xfrm>
              <a:off x="4921828" y="-42970"/>
              <a:ext cx="1174172" cy="1162960"/>
            </a:xfrm>
            <a:prstGeom prst="rect">
              <a:avLst/>
            </a:prstGeom>
            <a:ln>
              <a:solidFill>
                <a:schemeClr val="accent1"/>
              </a:solidFill>
            </a:ln>
          </p:spPr>
        </p:pic>
      </p:grpSp>
      <p:pic>
        <p:nvPicPr>
          <p:cNvPr id="19" name="Объект 12">
            <a:extLst>
              <a:ext uri="{FF2B5EF4-FFF2-40B4-BE49-F238E27FC236}">
                <a16:creationId xmlns:a16="http://schemas.microsoft.com/office/drawing/2014/main" id="{2917267B-D1A5-49E2-8AB3-F629A9E37EB9}"/>
              </a:ext>
            </a:extLst>
          </p:cNvPr>
          <p:cNvPicPr>
            <a:picLocks noChangeAspect="1"/>
          </p:cNvPicPr>
          <p:nvPr/>
        </p:nvPicPr>
        <p:blipFill rotWithShape="1">
          <a:blip r:embed="rId4"/>
          <a:srcRect r="37537"/>
          <a:stretch/>
        </p:blipFill>
        <p:spPr>
          <a:xfrm>
            <a:off x="6456363" y="1338015"/>
            <a:ext cx="1962150" cy="2097063"/>
          </a:xfrm>
          <a:prstGeom prst="rect">
            <a:avLst/>
          </a:prstGeom>
        </p:spPr>
      </p:pic>
      <p:pic>
        <p:nvPicPr>
          <p:cNvPr id="20" name="Объект 12">
            <a:extLst>
              <a:ext uri="{FF2B5EF4-FFF2-40B4-BE49-F238E27FC236}">
                <a16:creationId xmlns:a16="http://schemas.microsoft.com/office/drawing/2014/main" id="{4DF3B9B6-20E4-4A02-882A-BE8FF3506018}"/>
              </a:ext>
            </a:extLst>
          </p:cNvPr>
          <p:cNvPicPr>
            <a:picLocks noChangeAspect="1"/>
          </p:cNvPicPr>
          <p:nvPr/>
        </p:nvPicPr>
        <p:blipFill rotWithShape="1">
          <a:blip r:embed="rId4"/>
          <a:srcRect r="37537"/>
          <a:stretch/>
        </p:blipFill>
        <p:spPr>
          <a:xfrm>
            <a:off x="9307718" y="1338014"/>
            <a:ext cx="1962150" cy="2097063"/>
          </a:xfrm>
          <a:prstGeom prst="snipRoundRect">
            <a:avLst>
              <a:gd name="adj1" fmla="val 16667"/>
              <a:gd name="adj2" fmla="val 0"/>
            </a:avLst>
          </a:prstGeom>
        </p:spPr>
      </p:pic>
      <p:sp>
        <p:nvSpPr>
          <p:cNvPr id="21" name="Стрелка: вправо 20">
            <a:extLst>
              <a:ext uri="{FF2B5EF4-FFF2-40B4-BE49-F238E27FC236}">
                <a16:creationId xmlns:a16="http://schemas.microsoft.com/office/drawing/2014/main" id="{C65590BD-27C4-45EB-947B-E8BD1F14BBD2}"/>
              </a:ext>
            </a:extLst>
          </p:cNvPr>
          <p:cNvSpPr/>
          <p:nvPr/>
        </p:nvSpPr>
        <p:spPr>
          <a:xfrm>
            <a:off x="8697986" y="2303154"/>
            <a:ext cx="324795" cy="505305"/>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Tree>
    <p:extLst>
      <p:ext uri="{BB962C8B-B14F-4D97-AF65-F5344CB8AC3E}">
        <p14:creationId xmlns:p14="http://schemas.microsoft.com/office/powerpoint/2010/main" val="3757779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A5BC97-99E1-4827-A5AA-5E9EBED1B7D1}"/>
              </a:ext>
            </a:extLst>
          </p:cNvPr>
          <p:cNvSpPr>
            <a:spLocks noGrp="1"/>
          </p:cNvSpPr>
          <p:nvPr>
            <p:ph type="title"/>
          </p:nvPr>
        </p:nvSpPr>
        <p:spPr/>
        <p:txBody>
          <a:bodyPr/>
          <a:lstStyle/>
          <a:p>
            <a:r>
              <a:rPr lang="ru-RU" dirty="0"/>
              <a:t>Пример использования </a:t>
            </a:r>
            <a:br>
              <a:rPr lang="ru-RU" dirty="0"/>
            </a:br>
            <a:r>
              <a:rPr lang="ru-RU" dirty="0"/>
              <a:t>макетов шаблона</a:t>
            </a:r>
          </a:p>
        </p:txBody>
      </p:sp>
      <p:sp>
        <p:nvSpPr>
          <p:cNvPr id="3" name="Текст 2">
            <a:extLst>
              <a:ext uri="{FF2B5EF4-FFF2-40B4-BE49-F238E27FC236}">
                <a16:creationId xmlns:a16="http://schemas.microsoft.com/office/drawing/2014/main" id="{51EA8D34-BBBA-48A9-9B83-130C3E8DC9D2}"/>
              </a:ext>
            </a:extLst>
          </p:cNvPr>
          <p:cNvSpPr>
            <a:spLocks noGrp="1"/>
          </p:cNvSpPr>
          <p:nvPr>
            <p:ph type="body" sz="quarter" idx="10"/>
          </p:nvPr>
        </p:nvSpPr>
        <p:spPr/>
        <p:txBody>
          <a:bodyPr>
            <a:normAutofit/>
          </a:bodyPr>
          <a:lstStyle/>
          <a:p>
            <a:br>
              <a:rPr lang="ru-RU" dirty="0"/>
            </a:br>
            <a:endParaRPr lang="ru-RU" dirty="0"/>
          </a:p>
        </p:txBody>
      </p:sp>
      <p:sp>
        <p:nvSpPr>
          <p:cNvPr id="12" name="Текст 11">
            <a:extLst>
              <a:ext uri="{FF2B5EF4-FFF2-40B4-BE49-F238E27FC236}">
                <a16:creationId xmlns:a16="http://schemas.microsoft.com/office/drawing/2014/main" id="{07A34E64-1FF5-4435-9849-D1D583084259}"/>
              </a:ext>
            </a:extLst>
          </p:cNvPr>
          <p:cNvSpPr>
            <a:spLocks noGrp="1"/>
          </p:cNvSpPr>
          <p:nvPr>
            <p:ph type="body" sz="quarter" idx="12"/>
          </p:nvPr>
        </p:nvSpPr>
        <p:spPr/>
        <p:txBody>
          <a:bodyPr>
            <a:normAutofit fontScale="92500" lnSpcReduction="20000"/>
          </a:bodyPr>
          <a:lstStyle/>
          <a:p>
            <a:pPr lvl="1"/>
            <a:endParaRPr lang="ru-RU" dirty="0"/>
          </a:p>
        </p:txBody>
      </p:sp>
    </p:spTree>
    <p:extLst>
      <p:ext uri="{BB962C8B-B14F-4D97-AF65-F5344CB8AC3E}">
        <p14:creationId xmlns:p14="http://schemas.microsoft.com/office/powerpoint/2010/main" val="937954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A5BC97-99E1-4827-A5AA-5E9EBED1B7D1}"/>
              </a:ext>
            </a:extLst>
          </p:cNvPr>
          <p:cNvSpPr>
            <a:spLocks noGrp="1"/>
          </p:cNvSpPr>
          <p:nvPr>
            <p:ph type="title"/>
          </p:nvPr>
        </p:nvSpPr>
        <p:spPr/>
        <p:txBody>
          <a:bodyPr/>
          <a:lstStyle/>
          <a:p>
            <a:r>
              <a:rPr lang="ru-RU" dirty="0"/>
              <a:t>Заголовок презентации</a:t>
            </a:r>
          </a:p>
        </p:txBody>
      </p:sp>
      <p:sp>
        <p:nvSpPr>
          <p:cNvPr id="3" name="Текст 2">
            <a:extLst>
              <a:ext uri="{FF2B5EF4-FFF2-40B4-BE49-F238E27FC236}">
                <a16:creationId xmlns:a16="http://schemas.microsoft.com/office/drawing/2014/main" id="{51EA8D34-BBBA-48A9-9B83-130C3E8DC9D2}"/>
              </a:ext>
            </a:extLst>
          </p:cNvPr>
          <p:cNvSpPr>
            <a:spLocks noGrp="1"/>
          </p:cNvSpPr>
          <p:nvPr>
            <p:ph type="body" sz="quarter" idx="10"/>
          </p:nvPr>
        </p:nvSpPr>
        <p:spPr/>
        <p:txBody>
          <a:bodyPr>
            <a:normAutofit/>
          </a:bodyPr>
          <a:lstStyle/>
          <a:p>
            <a:r>
              <a:rPr lang="ru-RU" dirty="0"/>
              <a:t>Исполнитель</a:t>
            </a:r>
            <a:br>
              <a:rPr lang="ru-RU" dirty="0"/>
            </a:br>
            <a:endParaRPr lang="ru-RU" dirty="0"/>
          </a:p>
        </p:txBody>
      </p:sp>
      <p:sp>
        <p:nvSpPr>
          <p:cNvPr id="12" name="Текст 11">
            <a:extLst>
              <a:ext uri="{FF2B5EF4-FFF2-40B4-BE49-F238E27FC236}">
                <a16:creationId xmlns:a16="http://schemas.microsoft.com/office/drawing/2014/main" id="{07A34E64-1FF5-4435-9849-D1D583084259}"/>
              </a:ext>
            </a:extLst>
          </p:cNvPr>
          <p:cNvSpPr>
            <a:spLocks noGrp="1"/>
          </p:cNvSpPr>
          <p:nvPr>
            <p:ph type="body" sz="quarter" idx="12"/>
          </p:nvPr>
        </p:nvSpPr>
        <p:spPr/>
        <p:txBody>
          <a:bodyPr>
            <a:normAutofit fontScale="92500" lnSpcReduction="20000"/>
          </a:bodyPr>
          <a:lstStyle/>
          <a:p>
            <a:pPr lvl="1"/>
            <a:r>
              <a:rPr lang="ru-RU" dirty="0"/>
              <a:t>Дата</a:t>
            </a:r>
          </a:p>
        </p:txBody>
      </p:sp>
    </p:spTree>
    <p:extLst>
      <p:ext uri="{BB962C8B-B14F-4D97-AF65-F5344CB8AC3E}">
        <p14:creationId xmlns:p14="http://schemas.microsoft.com/office/powerpoint/2010/main" val="3622029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B0D3C556-5A01-48DF-A23F-B504A3D9F72F}"/>
              </a:ext>
            </a:extLst>
          </p:cNvPr>
          <p:cNvSpPr>
            <a:spLocks noGrp="1"/>
          </p:cNvSpPr>
          <p:nvPr>
            <p:ph type="title"/>
          </p:nvPr>
        </p:nvSpPr>
        <p:spPr>
          <a:xfrm>
            <a:off x="550863" y="407976"/>
            <a:ext cx="9608330" cy="332399"/>
          </a:xfrm>
        </p:spPr>
        <p:txBody>
          <a:bodyPr/>
          <a:lstStyle/>
          <a:p>
            <a:r>
              <a:rPr lang="ru-RU" dirty="0"/>
              <a:t>Текст – один блок</a:t>
            </a:r>
          </a:p>
        </p:txBody>
      </p:sp>
      <p:sp>
        <p:nvSpPr>
          <p:cNvPr id="5" name="Текст 4">
            <a:extLst>
              <a:ext uri="{FF2B5EF4-FFF2-40B4-BE49-F238E27FC236}">
                <a16:creationId xmlns:a16="http://schemas.microsoft.com/office/drawing/2014/main" id="{BB70F973-3FF0-443E-8D26-6B1885B5178D}"/>
              </a:ext>
            </a:extLst>
          </p:cNvPr>
          <p:cNvSpPr>
            <a:spLocks noGrp="1"/>
          </p:cNvSpPr>
          <p:nvPr>
            <p:ph type="body" sz="quarter" idx="12"/>
          </p:nvPr>
        </p:nvSpPr>
        <p:spPr>
          <a:xfrm>
            <a:off x="550864" y="1341438"/>
            <a:ext cx="7489824" cy="5040312"/>
          </a:xfrm>
        </p:spPr>
        <p:txBody>
          <a:bodyPr>
            <a:normAutofit/>
          </a:bodyPr>
          <a:lstStyle/>
          <a:p>
            <a:pPr lvl="3"/>
            <a:r>
              <a:rPr lang="ru-RU" i="1" dirty="0">
                <a:solidFill>
                  <a:schemeClr val="accent1"/>
                </a:solidFill>
              </a:rPr>
              <a:t>Кибербезопасность</a:t>
            </a:r>
            <a:r>
              <a:rPr lang="ru-RU" dirty="0"/>
              <a:t> — процесс использования мер безопасности для обеспечения конфиденциальности, целостности и доступности данных. Системный администратор обеспечивает защиту активов, включая данные локальной сети компьютеров, серверов. Кроме того, под охрану берутся непосредственно здания и, самое главное, персонал. </a:t>
            </a:r>
          </a:p>
          <a:p>
            <a:pPr lvl="3"/>
            <a:r>
              <a:rPr lang="ru-RU" dirty="0"/>
              <a:t>Целью обеспечения кибербезопасности является защита данных (как в процессе передачи и/или обмена так и находящихся на хранении). В целях обеспечения безопасности данных могут быть применены и контрмеры. Некоторые из этих мер включают (но не ограничиваются) контроль доступа, обучение персонала, аудит и отчётность, оценку вероятных рисков, тестирование на проникновение и требование авторизации.</a:t>
            </a:r>
          </a:p>
        </p:txBody>
      </p:sp>
    </p:spTree>
    <p:extLst>
      <p:ext uri="{BB962C8B-B14F-4D97-AF65-F5344CB8AC3E}">
        <p14:creationId xmlns:p14="http://schemas.microsoft.com/office/powerpoint/2010/main" val="1942275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p:txBody>
          <a:bodyPr/>
          <a:lstStyle/>
          <a:p>
            <a:r>
              <a:rPr lang="ru-RU" dirty="0"/>
              <a:t>Текст – два блока</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lstStyle/>
          <a:p>
            <a:pPr lvl="3"/>
            <a:r>
              <a:rPr lang="ru-RU" i="1" dirty="0" err="1">
                <a:solidFill>
                  <a:schemeClr val="accent1"/>
                </a:solidFill>
              </a:rPr>
              <a:t>Компью́терная</a:t>
            </a:r>
            <a:r>
              <a:rPr lang="ru-RU" i="1" dirty="0">
                <a:solidFill>
                  <a:schemeClr val="accent1"/>
                </a:solidFill>
              </a:rPr>
              <a:t> </a:t>
            </a:r>
            <a:r>
              <a:rPr lang="ru-RU" i="1" dirty="0" err="1">
                <a:solidFill>
                  <a:schemeClr val="accent1"/>
                </a:solidFill>
              </a:rPr>
              <a:t>безопáсность</a:t>
            </a:r>
            <a:r>
              <a:rPr lang="ru-RU" i="1" dirty="0">
                <a:solidFill>
                  <a:schemeClr val="accent1"/>
                </a:solidFill>
              </a:rPr>
              <a:t> </a:t>
            </a:r>
            <a:r>
              <a:rPr lang="ru-RU" dirty="0"/>
              <a:t>— раздел информационной безопасности, характеризующий невозможность возникновения ущерба компьютера, превышающего величину приемлемого ущерба для него от всех выявленных и изученных источников его отказов в определенных условиях работы и на заданном интервале времени.</a:t>
            </a:r>
          </a:p>
        </p:txBody>
      </p:sp>
      <p:sp>
        <p:nvSpPr>
          <p:cNvPr id="14" name="Текст 13">
            <a:extLst>
              <a:ext uri="{FF2B5EF4-FFF2-40B4-BE49-F238E27FC236}">
                <a16:creationId xmlns:a16="http://schemas.microsoft.com/office/drawing/2014/main" id="{71DDA969-D896-47E2-BC8E-EBF99A516963}"/>
              </a:ext>
            </a:extLst>
          </p:cNvPr>
          <p:cNvSpPr>
            <a:spLocks noGrp="1"/>
          </p:cNvSpPr>
          <p:nvPr>
            <p:ph type="body" sz="quarter" idx="4294967295"/>
          </p:nvPr>
        </p:nvSpPr>
        <p:spPr>
          <a:xfrm>
            <a:off x="6456364" y="1341437"/>
            <a:ext cx="5184775" cy="5040312"/>
          </a:xfrm>
        </p:spPr>
        <p:txBody>
          <a:bodyPr wrap="square"/>
          <a:lstStyle/>
          <a:p>
            <a:pPr lvl="3"/>
            <a:r>
              <a:rPr lang="ru-RU" i="1" dirty="0">
                <a:solidFill>
                  <a:schemeClr val="accent1"/>
                </a:solidFill>
              </a:rPr>
              <a:t>Информационная безопасность </a:t>
            </a:r>
            <a:r>
              <a:rPr lang="ru-RU" dirty="0"/>
              <a:t>(англ. </a:t>
            </a:r>
            <a:r>
              <a:rPr lang="ru-RU" i="1" dirty="0" err="1"/>
              <a:t>Information</a:t>
            </a:r>
            <a:r>
              <a:rPr lang="ru-RU" i="1" dirty="0"/>
              <a:t> </a:t>
            </a:r>
            <a:r>
              <a:rPr lang="ru-RU" i="1" dirty="0" err="1"/>
              <a:t>Security</a:t>
            </a:r>
            <a:r>
              <a:rPr lang="ru-RU" dirty="0"/>
              <a:t>) — практика предотвращения несанкционированного доступа, использования, раскрытия, искажения, изменения, исследования, записи или уничтожения информации. Это универсальное понятие применяется вне зависимости от формы, которую могут принимать данные (электронная или, например, физическая). Основная задача информационной безопасности — сбалансированная защита конфиденциальности, целостности и доступности данных</a:t>
            </a:r>
          </a:p>
        </p:txBody>
      </p:sp>
    </p:spTree>
    <p:extLst>
      <p:ext uri="{BB962C8B-B14F-4D97-AF65-F5344CB8AC3E}">
        <p14:creationId xmlns:p14="http://schemas.microsoft.com/office/powerpoint/2010/main" val="2468942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F629FCE6-17AE-4664-8F63-4E9A710F8C00}"/>
              </a:ext>
            </a:extLst>
          </p:cNvPr>
          <p:cNvSpPr>
            <a:spLocks noGrp="1"/>
          </p:cNvSpPr>
          <p:nvPr>
            <p:ph type="title"/>
          </p:nvPr>
        </p:nvSpPr>
        <p:spPr>
          <a:xfrm>
            <a:off x="550863" y="407976"/>
            <a:ext cx="9608330" cy="332399"/>
          </a:xfrm>
        </p:spPr>
        <p:txBody>
          <a:bodyPr/>
          <a:lstStyle/>
          <a:p>
            <a:r>
              <a:rPr lang="ru-RU" dirty="0"/>
              <a:t>Текст – два блока (с рамкой)</a:t>
            </a:r>
          </a:p>
        </p:txBody>
      </p:sp>
      <p:sp>
        <p:nvSpPr>
          <p:cNvPr id="5" name="Текст 4">
            <a:extLst>
              <a:ext uri="{FF2B5EF4-FFF2-40B4-BE49-F238E27FC236}">
                <a16:creationId xmlns:a16="http://schemas.microsoft.com/office/drawing/2014/main" id="{F49452D1-89AA-4C5A-88F0-499C88E1448A}"/>
              </a:ext>
            </a:extLst>
          </p:cNvPr>
          <p:cNvSpPr>
            <a:spLocks noGrp="1"/>
          </p:cNvSpPr>
          <p:nvPr>
            <p:ph type="body" sz="quarter" idx="12"/>
          </p:nvPr>
        </p:nvSpPr>
        <p:spPr/>
        <p:txBody>
          <a:bodyPr/>
          <a:lstStyle/>
          <a:p>
            <a:pPr lvl="3"/>
            <a:r>
              <a:rPr lang="ru-RU" i="1" dirty="0" err="1">
                <a:solidFill>
                  <a:schemeClr val="accent1"/>
                </a:solidFill>
              </a:rPr>
              <a:t>Компью́терная</a:t>
            </a:r>
            <a:r>
              <a:rPr lang="ru-RU" i="1" dirty="0">
                <a:solidFill>
                  <a:schemeClr val="accent1"/>
                </a:solidFill>
              </a:rPr>
              <a:t> </a:t>
            </a:r>
            <a:r>
              <a:rPr lang="ru-RU" i="1" dirty="0" err="1">
                <a:solidFill>
                  <a:schemeClr val="accent1"/>
                </a:solidFill>
              </a:rPr>
              <a:t>безопáсность</a:t>
            </a:r>
            <a:r>
              <a:rPr lang="ru-RU" i="1" dirty="0">
                <a:solidFill>
                  <a:schemeClr val="accent1"/>
                </a:solidFill>
              </a:rPr>
              <a:t> </a:t>
            </a:r>
            <a:r>
              <a:rPr lang="ru-RU" dirty="0"/>
              <a:t>— раздел информационной безопасности, характеризующий невозможность возникновения ущерба компьютера, превышающего величину приемлемого ущерба для него от всех выявленных и изученных источников его отказов в определенных условиях работы и на заданном интервале времени.</a:t>
            </a:r>
          </a:p>
        </p:txBody>
      </p:sp>
      <p:sp>
        <p:nvSpPr>
          <p:cNvPr id="14" name="Текст 13">
            <a:extLst>
              <a:ext uri="{FF2B5EF4-FFF2-40B4-BE49-F238E27FC236}">
                <a16:creationId xmlns:a16="http://schemas.microsoft.com/office/drawing/2014/main" id="{71DDA969-D896-47E2-BC8E-EBF99A516963}"/>
              </a:ext>
            </a:extLst>
          </p:cNvPr>
          <p:cNvSpPr>
            <a:spLocks noGrp="1"/>
          </p:cNvSpPr>
          <p:nvPr>
            <p:ph type="body" sz="quarter" idx="4294967295"/>
          </p:nvPr>
        </p:nvSpPr>
        <p:spPr>
          <a:xfrm>
            <a:off x="6607277" y="1425677"/>
            <a:ext cx="4906297" cy="3254478"/>
          </a:xfrm>
        </p:spPr>
        <p:txBody>
          <a:bodyPr/>
          <a:lstStyle/>
          <a:p>
            <a:pPr lvl="4"/>
            <a:r>
              <a:rPr lang="ru-RU" dirty="0"/>
              <a:t>В основе информационной безопасности лежит деятельность по защите информации — обеспечению её конфиденциальности, доступности и целостности, а также недопущению какой-либо компрометации в критической ситуации. К таким ситуациям относятся природные, техногенные и социальные катастрофы, компьютерные сбои, физическое похищение и тому подобные явления. </a:t>
            </a:r>
          </a:p>
        </p:txBody>
      </p:sp>
      <p:sp>
        <p:nvSpPr>
          <p:cNvPr id="15" name="Прямоугольник 14">
            <a:extLst>
              <a:ext uri="{FF2B5EF4-FFF2-40B4-BE49-F238E27FC236}">
                <a16:creationId xmlns:a16="http://schemas.microsoft.com/office/drawing/2014/main" id="{988546E3-8D05-44E2-9C18-D8AE8A666AB6}"/>
              </a:ext>
            </a:extLst>
          </p:cNvPr>
          <p:cNvSpPr/>
          <p:nvPr/>
        </p:nvSpPr>
        <p:spPr>
          <a:xfrm>
            <a:off x="6456364" y="1341436"/>
            <a:ext cx="5184773" cy="3800835"/>
          </a:xfrm>
          <a:prstGeom prst="rect">
            <a:avLst/>
          </a:prstGeom>
          <a:noFill/>
          <a:ln w="38100">
            <a:solidFill>
              <a:schemeClr val="tx2">
                <a:lumMod val="25000"/>
                <a:lumOff val="75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000" dirty="0">
              <a:solidFill>
                <a:schemeClr val="tx2"/>
              </a:solidFill>
            </a:endParaRPr>
          </a:p>
        </p:txBody>
      </p:sp>
    </p:spTree>
    <p:extLst>
      <p:ext uri="{BB962C8B-B14F-4D97-AF65-F5344CB8AC3E}">
        <p14:creationId xmlns:p14="http://schemas.microsoft.com/office/powerpoint/2010/main" val="1336328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B0D3C556-5A01-48DF-A23F-B504A3D9F72F}"/>
              </a:ext>
            </a:extLst>
          </p:cNvPr>
          <p:cNvSpPr>
            <a:spLocks noGrp="1"/>
          </p:cNvSpPr>
          <p:nvPr>
            <p:ph type="title"/>
          </p:nvPr>
        </p:nvSpPr>
        <p:spPr>
          <a:xfrm>
            <a:off x="550863" y="407976"/>
            <a:ext cx="8652131" cy="332399"/>
          </a:xfrm>
        </p:spPr>
        <p:txBody>
          <a:bodyPr/>
          <a:lstStyle/>
          <a:p>
            <a:r>
              <a:rPr lang="ru-RU" dirty="0"/>
              <a:t>Текст – две колонки в одном блоке</a:t>
            </a:r>
          </a:p>
        </p:txBody>
      </p:sp>
      <p:sp>
        <p:nvSpPr>
          <p:cNvPr id="5" name="Текст 4">
            <a:extLst>
              <a:ext uri="{FF2B5EF4-FFF2-40B4-BE49-F238E27FC236}">
                <a16:creationId xmlns:a16="http://schemas.microsoft.com/office/drawing/2014/main" id="{BB70F973-3FF0-443E-8D26-6B1885B5178D}"/>
              </a:ext>
            </a:extLst>
          </p:cNvPr>
          <p:cNvSpPr>
            <a:spLocks noGrp="1"/>
          </p:cNvSpPr>
          <p:nvPr>
            <p:ph type="body" sz="quarter" idx="12"/>
          </p:nvPr>
        </p:nvSpPr>
        <p:spPr/>
        <p:txBody>
          <a:bodyPr>
            <a:normAutofit/>
          </a:bodyPr>
          <a:lstStyle/>
          <a:p>
            <a:pPr lvl="3"/>
            <a:r>
              <a:rPr lang="ru-RU" i="1" dirty="0">
                <a:solidFill>
                  <a:schemeClr val="accent1"/>
                </a:solidFill>
              </a:rPr>
              <a:t>Кибербезопасность</a:t>
            </a:r>
            <a:r>
              <a:rPr lang="ru-RU" dirty="0"/>
              <a:t> — процесс использования мер безопасности для обеспечения конфиденциальности, целостности и доступности данных. Системный администратор обеспечивает защиту активов, включая данные локальной сети компьютеров, серверов. Кроме того, под охрану берутся непосредственно здания и, самое главное, персонал. Целью обеспечения кибербезопасности является защита данных (как в процессе передачи и/или обмена так и находящихся на хранении). В целях обеспечения безопасности данных могут быть применены и контрмеры. Некоторые из этих мер включают (но не ограничиваются) контроль доступа, обучение персонала, аудит и отчетность, оценку вероятных рисков, тестирование на проникновение и требование авторизации.</a:t>
            </a:r>
          </a:p>
          <a:p>
            <a:pPr lvl="3"/>
            <a:r>
              <a:rPr lang="ru-RU" dirty="0"/>
              <a:t>Сейчас в некоторых странах планируется обучение кибербезопасности уже со школьной скамьи. Так, в Великобритании школьникам предлагаются уроки по кибербезопасности, на которых они будут обучаться навыкам, позволяющим обеспечить безопасность британских компаний и организаций от сетевых атак хакеров. Учебная программа разработана Министерством культуры, СМИ и спорта Великобритании. </a:t>
            </a:r>
          </a:p>
        </p:txBody>
      </p:sp>
    </p:spTree>
    <p:extLst>
      <p:ext uri="{BB962C8B-B14F-4D97-AF65-F5344CB8AC3E}">
        <p14:creationId xmlns:p14="http://schemas.microsoft.com/office/powerpoint/2010/main" val="4018220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B590F643-562B-41E2-8E6D-A3A0F90507A5}"/>
              </a:ext>
            </a:extLst>
          </p:cNvPr>
          <p:cNvSpPr>
            <a:spLocks noGrp="1"/>
          </p:cNvSpPr>
          <p:nvPr>
            <p:ph type="title"/>
          </p:nvPr>
        </p:nvSpPr>
        <p:spPr/>
        <p:txBody>
          <a:bodyPr/>
          <a:lstStyle/>
          <a:p>
            <a:r>
              <a:rPr lang="ru-RU" dirty="0"/>
              <a:t>Содержимое слайда в одной колонке (универсальный блок)</a:t>
            </a:r>
          </a:p>
        </p:txBody>
      </p:sp>
      <p:graphicFrame>
        <p:nvGraphicFramePr>
          <p:cNvPr id="9" name="Таблица 9">
            <a:extLst>
              <a:ext uri="{FF2B5EF4-FFF2-40B4-BE49-F238E27FC236}">
                <a16:creationId xmlns:a16="http://schemas.microsoft.com/office/drawing/2014/main" id="{F3538304-4706-4499-967D-A0AD63508A72}"/>
              </a:ext>
            </a:extLst>
          </p:cNvPr>
          <p:cNvGraphicFramePr>
            <a:graphicFrameLocks noGrp="1"/>
          </p:cNvGraphicFramePr>
          <p:nvPr>
            <p:ph sz="quarter" idx="13"/>
            <p:extLst>
              <p:ext uri="{D42A27DB-BD31-4B8C-83A1-F6EECF244321}">
                <p14:modId xmlns:p14="http://schemas.microsoft.com/office/powerpoint/2010/main" val="615357817"/>
              </p:ext>
            </p:extLst>
          </p:nvPr>
        </p:nvGraphicFramePr>
        <p:xfrm>
          <a:off x="550863" y="1341438"/>
          <a:ext cx="7499275" cy="1854200"/>
        </p:xfrm>
        <a:graphic>
          <a:graphicData uri="http://schemas.openxmlformats.org/drawingml/2006/table">
            <a:tbl>
              <a:tblPr firstRow="1">
                <a:tableStyleId>{69012ECD-51FC-41F1-AA8D-1B2483CD663E}</a:tableStyleId>
              </a:tblPr>
              <a:tblGrid>
                <a:gridCol w="3737768">
                  <a:extLst>
                    <a:ext uri="{9D8B030D-6E8A-4147-A177-3AD203B41FA5}">
                      <a16:colId xmlns:a16="http://schemas.microsoft.com/office/drawing/2014/main" val="1909452533"/>
                    </a:ext>
                  </a:extLst>
                </a:gridCol>
                <a:gridCol w="3761507">
                  <a:extLst>
                    <a:ext uri="{9D8B030D-6E8A-4147-A177-3AD203B41FA5}">
                      <a16:colId xmlns:a16="http://schemas.microsoft.com/office/drawing/2014/main" val="404384710"/>
                    </a:ext>
                  </a:extLst>
                </a:gridCol>
              </a:tblGrid>
              <a:tr h="370840">
                <a:tc>
                  <a:txBody>
                    <a:bodyPr/>
                    <a:lstStyle/>
                    <a:p>
                      <a:r>
                        <a:rPr lang="ru-RU" b="0" dirty="0"/>
                        <a:t>Заголовок столбца 1</a:t>
                      </a:r>
                    </a:p>
                  </a:txBody>
                  <a:tcPr>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dirty="0"/>
                        <a:t>Заголовок столбца 2</a:t>
                      </a:r>
                    </a:p>
                  </a:txBody>
                  <a:tcPr>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96026228"/>
                  </a:ext>
                </a:extLst>
              </a:tr>
              <a:tr h="370840">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190818409"/>
                  </a:ext>
                </a:extLst>
              </a:tr>
              <a:tr h="370840">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74222480"/>
                  </a:ext>
                </a:extLst>
              </a:tr>
              <a:tr h="370840">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513736554"/>
                  </a:ext>
                </a:extLst>
              </a:tr>
              <a:tr h="370840">
                <a:tc>
                  <a:txBody>
                    <a:bodyPr/>
                    <a:lstStyle/>
                    <a:p>
                      <a:r>
                        <a:rPr lang="ru-RU" dirty="0"/>
                        <a:t>Содержимое</a:t>
                      </a:r>
                    </a:p>
                  </a:txBody>
                  <a:tcPr>
                    <a:lnT w="6350" cap="flat" cmpd="sng" algn="ctr">
                      <a:solidFill>
                        <a:schemeClr val="accent1"/>
                      </a:solidFill>
                      <a:prstDash val="solid"/>
                      <a:round/>
                      <a:headEnd type="none" w="med" len="med"/>
                      <a:tailEnd type="none" w="med" len="med"/>
                    </a:lnT>
                  </a:tcPr>
                </a:tc>
                <a:tc>
                  <a:txBody>
                    <a:bodyPr/>
                    <a:lstStyle/>
                    <a:p>
                      <a:r>
                        <a:rPr lang="ru-RU" dirty="0"/>
                        <a:t>Содержимое</a:t>
                      </a:r>
                    </a:p>
                  </a:txBody>
                  <a:tcPr>
                    <a:lnT w="635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477897926"/>
                  </a:ext>
                </a:extLst>
              </a:tr>
            </a:tbl>
          </a:graphicData>
        </a:graphic>
      </p:graphicFrame>
    </p:spTree>
    <p:extLst>
      <p:ext uri="{BB962C8B-B14F-4D97-AF65-F5344CB8AC3E}">
        <p14:creationId xmlns:p14="http://schemas.microsoft.com/office/powerpoint/2010/main" val="1212876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A7C6E83-5591-458B-9F7B-73733B27121D}"/>
              </a:ext>
            </a:extLst>
          </p:cNvPr>
          <p:cNvSpPr>
            <a:spLocks noGrp="1"/>
          </p:cNvSpPr>
          <p:nvPr>
            <p:ph type="title"/>
          </p:nvPr>
        </p:nvSpPr>
        <p:spPr/>
        <p:txBody>
          <a:bodyPr/>
          <a:lstStyle/>
          <a:p>
            <a:r>
              <a:rPr lang="ru-RU" dirty="0"/>
              <a:t>Содержимое слайда в одной колонке с заголовком (универсальный блок)</a:t>
            </a:r>
          </a:p>
        </p:txBody>
      </p:sp>
      <p:graphicFrame>
        <p:nvGraphicFramePr>
          <p:cNvPr id="7" name="Таблица 9">
            <a:extLst>
              <a:ext uri="{FF2B5EF4-FFF2-40B4-BE49-F238E27FC236}">
                <a16:creationId xmlns:a16="http://schemas.microsoft.com/office/drawing/2014/main" id="{7EE87810-82F1-408D-B3EB-1671C5EFCD20}"/>
              </a:ext>
            </a:extLst>
          </p:cNvPr>
          <p:cNvGraphicFramePr>
            <a:graphicFrameLocks noGrp="1"/>
          </p:cNvGraphicFramePr>
          <p:nvPr>
            <p:ph sz="quarter" idx="13"/>
            <p:extLst>
              <p:ext uri="{D42A27DB-BD31-4B8C-83A1-F6EECF244321}">
                <p14:modId xmlns:p14="http://schemas.microsoft.com/office/powerpoint/2010/main" val="240234195"/>
              </p:ext>
            </p:extLst>
          </p:nvPr>
        </p:nvGraphicFramePr>
        <p:xfrm>
          <a:off x="550862" y="1819275"/>
          <a:ext cx="7489826" cy="1854200"/>
        </p:xfrm>
        <a:graphic>
          <a:graphicData uri="http://schemas.openxmlformats.org/drawingml/2006/table">
            <a:tbl>
              <a:tblPr firstRow="1">
                <a:tableStyleId>{69012ECD-51FC-41F1-AA8D-1B2483CD663E}</a:tableStyleId>
              </a:tblPr>
              <a:tblGrid>
                <a:gridCol w="3744913">
                  <a:extLst>
                    <a:ext uri="{9D8B030D-6E8A-4147-A177-3AD203B41FA5}">
                      <a16:colId xmlns:a16="http://schemas.microsoft.com/office/drawing/2014/main" val="1909452533"/>
                    </a:ext>
                  </a:extLst>
                </a:gridCol>
                <a:gridCol w="3744913">
                  <a:extLst>
                    <a:ext uri="{9D8B030D-6E8A-4147-A177-3AD203B41FA5}">
                      <a16:colId xmlns:a16="http://schemas.microsoft.com/office/drawing/2014/main" val="404384710"/>
                    </a:ext>
                  </a:extLst>
                </a:gridCol>
              </a:tblGrid>
              <a:tr h="370840">
                <a:tc>
                  <a:txBody>
                    <a:bodyPr/>
                    <a:lstStyle/>
                    <a:p>
                      <a:r>
                        <a:rPr lang="ru-RU" b="0" dirty="0"/>
                        <a:t>Заголовок столбца 1</a:t>
                      </a:r>
                    </a:p>
                  </a:txBody>
                  <a:tcPr>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dirty="0"/>
                        <a:t>Заголовок столбца 2</a:t>
                      </a:r>
                    </a:p>
                  </a:txBody>
                  <a:tcPr>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96026228"/>
                  </a:ext>
                </a:extLst>
              </a:tr>
              <a:tr h="370840">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190818409"/>
                  </a:ext>
                </a:extLst>
              </a:tr>
              <a:tr h="370840">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74222480"/>
                  </a:ext>
                </a:extLst>
              </a:tr>
              <a:tr h="370840">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b="0" dirty="0"/>
                        <a:t>Содержимое</a:t>
                      </a:r>
                    </a:p>
                  </a:txBody>
                  <a:tcP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513736554"/>
                  </a:ext>
                </a:extLst>
              </a:tr>
              <a:tr h="370840">
                <a:tc>
                  <a:txBody>
                    <a:bodyPr/>
                    <a:lstStyle/>
                    <a:p>
                      <a:r>
                        <a:rPr lang="ru-RU" b="0" dirty="0"/>
                        <a:t>Содержимое</a:t>
                      </a:r>
                    </a:p>
                  </a:txBody>
                  <a:tcPr>
                    <a:lnT w="6350" cap="flat" cmpd="sng" algn="ctr">
                      <a:solidFill>
                        <a:schemeClr val="accent1"/>
                      </a:solidFill>
                      <a:prstDash val="solid"/>
                      <a:round/>
                      <a:headEnd type="none" w="med" len="med"/>
                      <a:tailEnd type="none" w="med" len="med"/>
                    </a:lnT>
                  </a:tcPr>
                </a:tc>
                <a:tc>
                  <a:txBody>
                    <a:bodyPr/>
                    <a:lstStyle/>
                    <a:p>
                      <a:r>
                        <a:rPr lang="ru-RU" b="0" dirty="0"/>
                        <a:t>Содержимое</a:t>
                      </a:r>
                    </a:p>
                  </a:txBody>
                  <a:tcPr>
                    <a:lnT w="635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477897926"/>
                  </a:ext>
                </a:extLst>
              </a:tr>
            </a:tbl>
          </a:graphicData>
        </a:graphic>
      </p:graphicFrame>
      <p:sp>
        <p:nvSpPr>
          <p:cNvPr id="6" name="Текст 5">
            <a:extLst>
              <a:ext uri="{FF2B5EF4-FFF2-40B4-BE49-F238E27FC236}">
                <a16:creationId xmlns:a16="http://schemas.microsoft.com/office/drawing/2014/main" id="{5C3FCD84-6CE7-4651-AE15-494747B3C68E}"/>
              </a:ext>
            </a:extLst>
          </p:cNvPr>
          <p:cNvSpPr>
            <a:spLocks noGrp="1"/>
          </p:cNvSpPr>
          <p:nvPr>
            <p:ph type="body" sz="quarter" idx="14"/>
          </p:nvPr>
        </p:nvSpPr>
        <p:spPr/>
        <p:txBody>
          <a:bodyPr/>
          <a:lstStyle/>
          <a:p>
            <a:pPr lvl="1"/>
            <a:r>
              <a:rPr lang="ru-RU" dirty="0"/>
              <a:t>Название таблицы</a:t>
            </a:r>
          </a:p>
          <a:p>
            <a:endParaRPr lang="ru-RU" dirty="0"/>
          </a:p>
        </p:txBody>
      </p:sp>
    </p:spTree>
    <p:extLst>
      <p:ext uri="{BB962C8B-B14F-4D97-AF65-F5344CB8AC3E}">
        <p14:creationId xmlns:p14="http://schemas.microsoft.com/office/powerpoint/2010/main" val="1891087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740DF2-20F8-46D6-B551-B71F5AAD9CCA}"/>
              </a:ext>
            </a:extLst>
          </p:cNvPr>
          <p:cNvSpPr>
            <a:spLocks noGrp="1"/>
          </p:cNvSpPr>
          <p:nvPr>
            <p:ph type="title"/>
          </p:nvPr>
        </p:nvSpPr>
        <p:spPr/>
        <p:txBody>
          <a:bodyPr/>
          <a:lstStyle/>
          <a:p>
            <a:r>
              <a:rPr lang="ru-RU" dirty="0"/>
              <a:t>Содержимое слайда в двух колонках с заголовками (универсальный блок)</a:t>
            </a:r>
          </a:p>
        </p:txBody>
      </p:sp>
      <p:graphicFrame>
        <p:nvGraphicFramePr>
          <p:cNvPr id="9" name="Таблица 9">
            <a:extLst>
              <a:ext uri="{FF2B5EF4-FFF2-40B4-BE49-F238E27FC236}">
                <a16:creationId xmlns:a16="http://schemas.microsoft.com/office/drawing/2014/main" id="{3C5F31C6-4F1D-457C-B1A5-A758555C9EBB}"/>
              </a:ext>
            </a:extLst>
          </p:cNvPr>
          <p:cNvGraphicFramePr>
            <a:graphicFrameLocks noGrp="1"/>
          </p:cNvGraphicFramePr>
          <p:nvPr>
            <p:ph sz="quarter" idx="13"/>
            <p:extLst>
              <p:ext uri="{D42A27DB-BD31-4B8C-83A1-F6EECF244321}">
                <p14:modId xmlns:p14="http://schemas.microsoft.com/office/powerpoint/2010/main" val="873494293"/>
              </p:ext>
            </p:extLst>
          </p:nvPr>
        </p:nvGraphicFramePr>
        <p:xfrm>
          <a:off x="550863" y="1828800"/>
          <a:ext cx="5184774" cy="1854200"/>
        </p:xfrm>
        <a:graphic>
          <a:graphicData uri="http://schemas.openxmlformats.org/drawingml/2006/table">
            <a:tbl>
              <a:tblPr firstRow="1">
                <a:tableStyleId>{69012ECD-51FC-41F1-AA8D-1B2483CD663E}</a:tableStyleId>
              </a:tblPr>
              <a:tblGrid>
                <a:gridCol w="2592387">
                  <a:extLst>
                    <a:ext uri="{9D8B030D-6E8A-4147-A177-3AD203B41FA5}">
                      <a16:colId xmlns:a16="http://schemas.microsoft.com/office/drawing/2014/main" val="1909452533"/>
                    </a:ext>
                  </a:extLst>
                </a:gridCol>
                <a:gridCol w="2592387">
                  <a:extLst>
                    <a:ext uri="{9D8B030D-6E8A-4147-A177-3AD203B41FA5}">
                      <a16:colId xmlns:a16="http://schemas.microsoft.com/office/drawing/2014/main" val="404384710"/>
                    </a:ext>
                  </a:extLst>
                </a:gridCol>
              </a:tblGrid>
              <a:tr h="370840">
                <a:tc>
                  <a:txBody>
                    <a:bodyPr/>
                    <a:lstStyle/>
                    <a:p>
                      <a:r>
                        <a:rPr lang="ru-RU" sz="1600" b="0" dirty="0"/>
                        <a:t>Заголовок столбца 1</a:t>
                      </a:r>
                    </a:p>
                  </a:txBody>
                  <a:tcPr marL="63420" marR="63420">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600" b="0" dirty="0"/>
                        <a:t>Заголовок столбца 2</a:t>
                      </a:r>
                    </a:p>
                  </a:txBody>
                  <a:tcPr marL="63420" marR="63420">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96026228"/>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190818409"/>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74222480"/>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513736554"/>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477897926"/>
                  </a:ext>
                </a:extLst>
              </a:tr>
            </a:tbl>
          </a:graphicData>
        </a:graphic>
      </p:graphicFrame>
      <p:sp>
        <p:nvSpPr>
          <p:cNvPr id="6" name="Текст 5">
            <a:extLst>
              <a:ext uri="{FF2B5EF4-FFF2-40B4-BE49-F238E27FC236}">
                <a16:creationId xmlns:a16="http://schemas.microsoft.com/office/drawing/2014/main" id="{55F89892-A76F-4C69-B1A2-12587971ECAB}"/>
              </a:ext>
            </a:extLst>
          </p:cNvPr>
          <p:cNvSpPr>
            <a:spLocks noGrp="1"/>
          </p:cNvSpPr>
          <p:nvPr>
            <p:ph type="body" sz="quarter" idx="14"/>
          </p:nvPr>
        </p:nvSpPr>
        <p:spPr/>
        <p:txBody>
          <a:bodyPr/>
          <a:lstStyle/>
          <a:p>
            <a:pPr lvl="1"/>
            <a:r>
              <a:rPr lang="ru-RU" dirty="0"/>
              <a:t>Название таблицы 1</a:t>
            </a:r>
          </a:p>
        </p:txBody>
      </p:sp>
      <p:graphicFrame>
        <p:nvGraphicFramePr>
          <p:cNvPr id="10" name="Объект 9">
            <a:extLst>
              <a:ext uri="{FF2B5EF4-FFF2-40B4-BE49-F238E27FC236}">
                <a16:creationId xmlns:a16="http://schemas.microsoft.com/office/drawing/2014/main" id="{6DC71701-3E5D-4D40-8EDE-2BC53309891E}"/>
              </a:ext>
            </a:extLst>
          </p:cNvPr>
          <p:cNvGraphicFramePr>
            <a:graphicFrameLocks noGrp="1"/>
          </p:cNvGraphicFramePr>
          <p:nvPr>
            <p:ph sz="quarter" idx="15"/>
            <p:extLst>
              <p:ext uri="{D42A27DB-BD31-4B8C-83A1-F6EECF244321}">
                <p14:modId xmlns:p14="http://schemas.microsoft.com/office/powerpoint/2010/main" val="4139202205"/>
              </p:ext>
            </p:extLst>
          </p:nvPr>
        </p:nvGraphicFramePr>
        <p:xfrm>
          <a:off x="6465888" y="1828800"/>
          <a:ext cx="5184774" cy="1854200"/>
        </p:xfrm>
        <a:graphic>
          <a:graphicData uri="http://schemas.openxmlformats.org/drawingml/2006/table">
            <a:tbl>
              <a:tblPr firstRow="1">
                <a:tableStyleId>{69012ECD-51FC-41F1-AA8D-1B2483CD663E}</a:tableStyleId>
              </a:tblPr>
              <a:tblGrid>
                <a:gridCol w="2592387">
                  <a:extLst>
                    <a:ext uri="{9D8B030D-6E8A-4147-A177-3AD203B41FA5}">
                      <a16:colId xmlns:a16="http://schemas.microsoft.com/office/drawing/2014/main" val="1909452533"/>
                    </a:ext>
                  </a:extLst>
                </a:gridCol>
                <a:gridCol w="2592387">
                  <a:extLst>
                    <a:ext uri="{9D8B030D-6E8A-4147-A177-3AD203B41FA5}">
                      <a16:colId xmlns:a16="http://schemas.microsoft.com/office/drawing/2014/main" val="404384710"/>
                    </a:ext>
                  </a:extLst>
                </a:gridCol>
              </a:tblGrid>
              <a:tr h="370840">
                <a:tc>
                  <a:txBody>
                    <a:bodyPr/>
                    <a:lstStyle/>
                    <a:p>
                      <a:r>
                        <a:rPr lang="ru-RU" sz="1600" b="0" dirty="0"/>
                        <a:t>Заголовок столбца 1</a:t>
                      </a:r>
                    </a:p>
                  </a:txBody>
                  <a:tcPr marL="63420" marR="63420">
                    <a:lnB w="635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600" b="0" dirty="0"/>
                        <a:t>Заголовок столбца 2</a:t>
                      </a:r>
                    </a:p>
                  </a:txBody>
                  <a:tcPr marL="63420" marR="63420">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96026228"/>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190818409"/>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74222480"/>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513736554"/>
                  </a:ext>
                </a:extLst>
              </a:tr>
              <a:tr h="370840">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tcPr>
                </a:tc>
                <a:tc>
                  <a:txBody>
                    <a:bodyPr/>
                    <a:lstStyle/>
                    <a:p>
                      <a:r>
                        <a:rPr lang="ru-RU" sz="1600" b="0" dirty="0"/>
                        <a:t>Содержимое</a:t>
                      </a:r>
                    </a:p>
                  </a:txBody>
                  <a:tcPr marL="63420" marR="63420">
                    <a:lnT w="635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477897926"/>
                  </a:ext>
                </a:extLst>
              </a:tr>
            </a:tbl>
          </a:graphicData>
        </a:graphic>
      </p:graphicFrame>
      <p:sp>
        <p:nvSpPr>
          <p:cNvPr id="8" name="Текст 7">
            <a:extLst>
              <a:ext uri="{FF2B5EF4-FFF2-40B4-BE49-F238E27FC236}">
                <a16:creationId xmlns:a16="http://schemas.microsoft.com/office/drawing/2014/main" id="{1397CC84-36B7-4FBC-A220-9A12D2F0364B}"/>
              </a:ext>
            </a:extLst>
          </p:cNvPr>
          <p:cNvSpPr>
            <a:spLocks noGrp="1"/>
          </p:cNvSpPr>
          <p:nvPr>
            <p:ph type="body" sz="quarter" idx="16"/>
          </p:nvPr>
        </p:nvSpPr>
        <p:spPr/>
        <p:txBody>
          <a:bodyPr/>
          <a:lstStyle/>
          <a:p>
            <a:pPr lvl="1"/>
            <a:r>
              <a:rPr lang="ru-RU" dirty="0"/>
              <a:t>Название таблицы 2</a:t>
            </a:r>
          </a:p>
        </p:txBody>
      </p:sp>
    </p:spTree>
    <p:extLst>
      <p:ext uri="{BB962C8B-B14F-4D97-AF65-F5344CB8AC3E}">
        <p14:creationId xmlns:p14="http://schemas.microsoft.com/office/powerpoint/2010/main" val="6034274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493B891A-77A5-4D74-AF37-CFD642A91314}"/>
              </a:ext>
            </a:extLst>
          </p:cNvPr>
          <p:cNvSpPr>
            <a:spLocks noGrp="1"/>
          </p:cNvSpPr>
          <p:nvPr>
            <p:ph type="title"/>
          </p:nvPr>
        </p:nvSpPr>
        <p:spPr>
          <a:xfrm>
            <a:off x="550863" y="407976"/>
            <a:ext cx="9608330" cy="332399"/>
          </a:xfrm>
        </p:spPr>
        <p:txBody>
          <a:bodyPr/>
          <a:lstStyle/>
          <a:p>
            <a:r>
              <a:rPr lang="ru-RU" dirty="0"/>
              <a:t>Текст и диаграмма в двух колонках (универсальный блок)</a:t>
            </a:r>
          </a:p>
        </p:txBody>
      </p:sp>
      <p:sp>
        <p:nvSpPr>
          <p:cNvPr id="6" name="Текст 5">
            <a:extLst>
              <a:ext uri="{FF2B5EF4-FFF2-40B4-BE49-F238E27FC236}">
                <a16:creationId xmlns:a16="http://schemas.microsoft.com/office/drawing/2014/main" id="{6C87A949-40EC-4A65-A1CD-ED6532408CAD}"/>
              </a:ext>
            </a:extLst>
          </p:cNvPr>
          <p:cNvSpPr>
            <a:spLocks noGrp="1"/>
          </p:cNvSpPr>
          <p:nvPr>
            <p:ph type="body" sz="quarter" idx="16"/>
          </p:nvPr>
        </p:nvSpPr>
        <p:spPr/>
        <p:txBody>
          <a:bodyPr/>
          <a:lstStyle/>
          <a:p>
            <a:pPr lvl="1"/>
            <a:r>
              <a:rPr lang="ru-RU" dirty="0"/>
              <a:t>Название диаграммы</a:t>
            </a:r>
          </a:p>
        </p:txBody>
      </p:sp>
      <p:graphicFrame>
        <p:nvGraphicFramePr>
          <p:cNvPr id="12" name="Объект 16">
            <a:extLst>
              <a:ext uri="{FF2B5EF4-FFF2-40B4-BE49-F238E27FC236}">
                <a16:creationId xmlns:a16="http://schemas.microsoft.com/office/drawing/2014/main" id="{7CD89A33-E832-445D-A979-CE747DCB8FB2}"/>
              </a:ext>
            </a:extLst>
          </p:cNvPr>
          <p:cNvGraphicFramePr>
            <a:graphicFrameLocks noGrp="1"/>
          </p:cNvGraphicFramePr>
          <p:nvPr>
            <p:ph sz="quarter" idx="15"/>
            <p:extLst>
              <p:ext uri="{D42A27DB-BD31-4B8C-83A1-F6EECF244321}">
                <p14:modId xmlns:p14="http://schemas.microsoft.com/office/powerpoint/2010/main" val="2569690680"/>
              </p:ext>
            </p:extLst>
          </p:nvPr>
        </p:nvGraphicFramePr>
        <p:xfrm>
          <a:off x="6456362" y="1805522"/>
          <a:ext cx="5184775" cy="4405312"/>
        </p:xfrm>
        <a:graphic>
          <a:graphicData uri="http://schemas.openxmlformats.org/drawingml/2006/chart">
            <c:chart xmlns:c="http://schemas.openxmlformats.org/drawingml/2006/chart" xmlns:r="http://schemas.openxmlformats.org/officeDocument/2006/relationships" r:id="rId2"/>
          </a:graphicData>
        </a:graphic>
      </p:graphicFrame>
      <p:sp>
        <p:nvSpPr>
          <p:cNvPr id="14" name="Объект 13">
            <a:extLst>
              <a:ext uri="{FF2B5EF4-FFF2-40B4-BE49-F238E27FC236}">
                <a16:creationId xmlns:a16="http://schemas.microsoft.com/office/drawing/2014/main" id="{6E7FFA5D-C895-4F81-A089-1A9AF5F73020}"/>
              </a:ext>
            </a:extLst>
          </p:cNvPr>
          <p:cNvSpPr>
            <a:spLocks noGrp="1"/>
          </p:cNvSpPr>
          <p:nvPr>
            <p:ph sz="quarter" idx="13"/>
          </p:nvPr>
        </p:nvSpPr>
        <p:spPr>
          <a:xfrm>
            <a:off x="550863" y="1341438"/>
            <a:ext cx="5184776" cy="5040311"/>
          </a:xfrm>
        </p:spPr>
        <p:txBody>
          <a:bodyPr>
            <a:normAutofit/>
          </a:bodyPr>
          <a:lstStyle/>
          <a:p>
            <a:pPr lvl="3"/>
            <a:r>
              <a:rPr lang="ru-RU" i="1" dirty="0">
                <a:solidFill>
                  <a:schemeClr val="accent1"/>
                </a:solidFill>
              </a:rPr>
              <a:t>Информационная безопасность </a:t>
            </a:r>
            <a:r>
              <a:rPr lang="ru-RU" dirty="0"/>
              <a:t>(англ. </a:t>
            </a:r>
            <a:r>
              <a:rPr lang="ru-RU" i="1" dirty="0" err="1"/>
              <a:t>Information</a:t>
            </a:r>
            <a:r>
              <a:rPr lang="ru-RU" i="1" dirty="0"/>
              <a:t> </a:t>
            </a:r>
            <a:r>
              <a:rPr lang="ru-RU" i="1" dirty="0" err="1"/>
              <a:t>Security</a:t>
            </a:r>
            <a:r>
              <a:rPr lang="ru-RU" dirty="0"/>
              <a:t>) — практика предотвращения несанкционированного доступа, использования, раскрытия, искажения, изменения, исследования, записи или уничтожения информации. Это универсальное понятие применяется вне зависимости от формы, которую могут принимать данные (электронная или, например, физическая). Основная задача информационной безопасности — сбалансированная защита конфиденциальности, целостности и доступности данных.</a:t>
            </a:r>
          </a:p>
        </p:txBody>
      </p:sp>
    </p:spTree>
    <p:extLst>
      <p:ext uri="{BB962C8B-B14F-4D97-AF65-F5344CB8AC3E}">
        <p14:creationId xmlns:p14="http://schemas.microsoft.com/office/powerpoint/2010/main" val="1743626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493B891A-77A5-4D74-AF37-CFD642A91314}"/>
              </a:ext>
            </a:extLst>
          </p:cNvPr>
          <p:cNvSpPr>
            <a:spLocks noGrp="1"/>
          </p:cNvSpPr>
          <p:nvPr>
            <p:ph type="title"/>
          </p:nvPr>
        </p:nvSpPr>
        <p:spPr>
          <a:xfrm>
            <a:off x="550863" y="407976"/>
            <a:ext cx="9608330" cy="332399"/>
          </a:xfrm>
        </p:spPr>
        <p:txBody>
          <a:bodyPr/>
          <a:lstStyle/>
          <a:p>
            <a:r>
              <a:rPr lang="ru-RU" dirty="0"/>
              <a:t>Текст и рисунок в двух колонках (универсальный блок)</a:t>
            </a:r>
          </a:p>
        </p:txBody>
      </p:sp>
      <p:sp>
        <p:nvSpPr>
          <p:cNvPr id="6" name="Текст 5">
            <a:extLst>
              <a:ext uri="{FF2B5EF4-FFF2-40B4-BE49-F238E27FC236}">
                <a16:creationId xmlns:a16="http://schemas.microsoft.com/office/drawing/2014/main" id="{6C87A949-40EC-4A65-A1CD-ED6532408CAD}"/>
              </a:ext>
            </a:extLst>
          </p:cNvPr>
          <p:cNvSpPr>
            <a:spLocks noGrp="1"/>
          </p:cNvSpPr>
          <p:nvPr>
            <p:ph type="body" sz="quarter" idx="16"/>
          </p:nvPr>
        </p:nvSpPr>
        <p:spPr>
          <a:xfrm>
            <a:off x="6466194" y="5981223"/>
            <a:ext cx="4121919" cy="635000"/>
          </a:xfrm>
        </p:spPr>
        <p:txBody>
          <a:bodyPr/>
          <a:lstStyle/>
          <a:p>
            <a:pPr lvl="2"/>
            <a:r>
              <a:rPr lang="ru-RU" dirty="0"/>
              <a:t>Подпись рисунка (алгоритм скругления угла см. на слайде 7)</a:t>
            </a:r>
          </a:p>
        </p:txBody>
      </p:sp>
      <p:sp>
        <p:nvSpPr>
          <p:cNvPr id="14" name="Объект 13">
            <a:extLst>
              <a:ext uri="{FF2B5EF4-FFF2-40B4-BE49-F238E27FC236}">
                <a16:creationId xmlns:a16="http://schemas.microsoft.com/office/drawing/2014/main" id="{6E7FFA5D-C895-4F81-A089-1A9AF5F73020}"/>
              </a:ext>
            </a:extLst>
          </p:cNvPr>
          <p:cNvSpPr>
            <a:spLocks noGrp="1"/>
          </p:cNvSpPr>
          <p:nvPr>
            <p:ph sz="quarter" idx="13"/>
          </p:nvPr>
        </p:nvSpPr>
        <p:spPr>
          <a:xfrm>
            <a:off x="550863" y="1341438"/>
            <a:ext cx="5184776" cy="5040311"/>
          </a:xfrm>
        </p:spPr>
        <p:txBody>
          <a:bodyPr>
            <a:normAutofit/>
          </a:bodyPr>
          <a:lstStyle/>
          <a:p>
            <a:pPr lvl="3"/>
            <a:r>
              <a:rPr lang="ru-RU" i="1" dirty="0">
                <a:solidFill>
                  <a:schemeClr val="accent1"/>
                </a:solidFill>
              </a:rPr>
              <a:t>Информационная безопасность </a:t>
            </a:r>
            <a:r>
              <a:rPr lang="ru-RU" dirty="0"/>
              <a:t>(англ. </a:t>
            </a:r>
            <a:r>
              <a:rPr lang="ru-RU" i="1" dirty="0" err="1"/>
              <a:t>Information</a:t>
            </a:r>
            <a:r>
              <a:rPr lang="ru-RU" i="1" dirty="0"/>
              <a:t> </a:t>
            </a:r>
            <a:r>
              <a:rPr lang="ru-RU" i="1" dirty="0" err="1"/>
              <a:t>Security</a:t>
            </a:r>
            <a:r>
              <a:rPr lang="ru-RU" dirty="0"/>
              <a:t>) — практика предотвращения несанкционированного доступа, использования, раскрытия, искажения, изменения, исследования, записи или уничтожения информации. Это универсальное понятие применяется вне зависимости от формы, которую могут принимать данные (электронная или, например, физическая). Основная задача информационной безопасности — сбалансированная защита конфиденциальности, целостности и доступности данных.</a:t>
            </a:r>
          </a:p>
        </p:txBody>
      </p:sp>
      <p:pic>
        <p:nvPicPr>
          <p:cNvPr id="9" name="Объект 12">
            <a:extLst>
              <a:ext uri="{FF2B5EF4-FFF2-40B4-BE49-F238E27FC236}">
                <a16:creationId xmlns:a16="http://schemas.microsoft.com/office/drawing/2014/main" id="{AF7DDA71-C74B-4294-9030-4081B1E7C3BA}"/>
              </a:ext>
            </a:extLst>
          </p:cNvPr>
          <p:cNvPicPr>
            <a:picLocks noGrp="1" noChangeAspect="1"/>
          </p:cNvPicPr>
          <p:nvPr>
            <p:ph sz="quarter" idx="15"/>
          </p:nvPr>
        </p:nvPicPr>
        <p:blipFill rotWithShape="1">
          <a:blip r:embed="rId2"/>
          <a:srcRect r="37537"/>
          <a:stretch/>
        </p:blipFill>
        <p:spPr>
          <a:xfrm>
            <a:off x="6466194" y="1341438"/>
            <a:ext cx="4121919" cy="4405312"/>
          </a:xfrm>
          <a:prstGeom prst="snipRoundRect">
            <a:avLst>
              <a:gd name="adj1" fmla="val 16667"/>
              <a:gd name="adj2" fmla="val 0"/>
            </a:avLst>
          </a:prstGeom>
        </p:spPr>
      </p:pic>
    </p:spTree>
    <p:extLst>
      <p:ext uri="{BB962C8B-B14F-4D97-AF65-F5344CB8AC3E}">
        <p14:creationId xmlns:p14="http://schemas.microsoft.com/office/powerpoint/2010/main" val="467328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49219D-55BE-4170-A6F5-796BCF3998D8}"/>
              </a:ext>
            </a:extLst>
          </p:cNvPr>
          <p:cNvSpPr>
            <a:spLocks noGrp="1"/>
          </p:cNvSpPr>
          <p:nvPr>
            <p:ph type="title"/>
          </p:nvPr>
        </p:nvSpPr>
        <p:spPr/>
        <p:txBody>
          <a:bodyPr/>
          <a:lstStyle/>
          <a:p>
            <a:r>
              <a:rPr lang="ru-RU" dirty="0"/>
              <a:t>Схема с использованием базового набора фигур </a:t>
            </a:r>
            <a:br>
              <a:rPr lang="ru-RU" dirty="0"/>
            </a:br>
            <a:r>
              <a:rPr lang="ru-RU" dirty="0"/>
              <a:t>(см. Дополнительные материалы, слайд 26)</a:t>
            </a:r>
          </a:p>
        </p:txBody>
      </p:sp>
      <p:grpSp>
        <p:nvGrpSpPr>
          <p:cNvPr id="5" name="Группа 4">
            <a:extLst>
              <a:ext uri="{FF2B5EF4-FFF2-40B4-BE49-F238E27FC236}">
                <a16:creationId xmlns:a16="http://schemas.microsoft.com/office/drawing/2014/main" id="{5752F947-01A6-4307-8862-1860FA69EA37}"/>
              </a:ext>
            </a:extLst>
          </p:cNvPr>
          <p:cNvGrpSpPr/>
          <p:nvPr/>
        </p:nvGrpSpPr>
        <p:grpSpPr>
          <a:xfrm>
            <a:off x="550222" y="1341438"/>
            <a:ext cx="11096122" cy="4840724"/>
            <a:chOff x="550222" y="1341438"/>
            <a:chExt cx="11096122" cy="4840724"/>
          </a:xfrm>
        </p:grpSpPr>
        <p:cxnSp>
          <p:nvCxnSpPr>
            <p:cNvPr id="6" name="Прямая соединительная линия 5">
              <a:extLst>
                <a:ext uri="{FF2B5EF4-FFF2-40B4-BE49-F238E27FC236}">
                  <a16:creationId xmlns:a16="http://schemas.microsoft.com/office/drawing/2014/main" id="{84F1E9E1-3331-4E8C-A4EF-96532185542E}"/>
                </a:ext>
              </a:extLst>
            </p:cNvPr>
            <p:cNvCxnSpPr>
              <a:cxnSpLocks/>
            </p:cNvCxnSpPr>
            <p:nvPr/>
          </p:nvCxnSpPr>
          <p:spPr>
            <a:xfrm>
              <a:off x="10672601" y="2893425"/>
              <a:ext cx="0" cy="491317"/>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a:extLst>
                <a:ext uri="{FF2B5EF4-FFF2-40B4-BE49-F238E27FC236}">
                  <a16:creationId xmlns:a16="http://schemas.microsoft.com/office/drawing/2014/main" id="{01F55F7B-43ED-49DF-AF14-7357A5A343DC}"/>
                </a:ext>
              </a:extLst>
            </p:cNvPr>
            <p:cNvCxnSpPr>
              <a:cxnSpLocks/>
            </p:cNvCxnSpPr>
            <p:nvPr/>
          </p:nvCxnSpPr>
          <p:spPr>
            <a:xfrm>
              <a:off x="11375141" y="2897604"/>
              <a:ext cx="0" cy="491317"/>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a:extLst>
                <a:ext uri="{FF2B5EF4-FFF2-40B4-BE49-F238E27FC236}">
                  <a16:creationId xmlns:a16="http://schemas.microsoft.com/office/drawing/2014/main" id="{12D764BB-8137-4195-B736-69DFC7023AF3}"/>
                </a:ext>
              </a:extLst>
            </p:cNvPr>
            <p:cNvCxnSpPr>
              <a:cxnSpLocks/>
            </p:cNvCxnSpPr>
            <p:nvPr/>
          </p:nvCxnSpPr>
          <p:spPr>
            <a:xfrm>
              <a:off x="9967261" y="2897604"/>
              <a:ext cx="0" cy="491317"/>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9AA84427-166E-4679-9ABB-ADBBD6C180A3}"/>
                </a:ext>
              </a:extLst>
            </p:cNvPr>
            <p:cNvCxnSpPr>
              <a:cxnSpLocks/>
            </p:cNvCxnSpPr>
            <p:nvPr/>
          </p:nvCxnSpPr>
          <p:spPr>
            <a:xfrm>
              <a:off x="1512934" y="2986684"/>
              <a:ext cx="0" cy="4913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ADEEB675-B187-480C-BC37-AB6B41F313FD}"/>
                </a:ext>
              </a:extLst>
            </p:cNvPr>
            <p:cNvCxnSpPr>
              <a:cxnSpLocks/>
            </p:cNvCxnSpPr>
            <p:nvPr/>
          </p:nvCxnSpPr>
          <p:spPr>
            <a:xfrm>
              <a:off x="2215474" y="2990863"/>
              <a:ext cx="0" cy="4913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a:extLst>
                <a:ext uri="{FF2B5EF4-FFF2-40B4-BE49-F238E27FC236}">
                  <a16:creationId xmlns:a16="http://schemas.microsoft.com/office/drawing/2014/main" id="{35DB9C86-E43C-486B-B845-DA3EE0A9FD9B}"/>
                </a:ext>
              </a:extLst>
            </p:cNvPr>
            <p:cNvCxnSpPr>
              <a:cxnSpLocks/>
              <a:stCxn id="31" idx="2"/>
              <a:endCxn id="22" idx="0"/>
            </p:cNvCxnSpPr>
            <p:nvPr/>
          </p:nvCxnSpPr>
          <p:spPr>
            <a:xfrm>
              <a:off x="6103079" y="2991745"/>
              <a:ext cx="0" cy="1089372"/>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a:extLst>
                <a:ext uri="{FF2B5EF4-FFF2-40B4-BE49-F238E27FC236}">
                  <a16:creationId xmlns:a16="http://schemas.microsoft.com/office/drawing/2014/main" id="{55079EEB-6F3E-4FA4-930E-F062D986B375}"/>
                </a:ext>
              </a:extLst>
            </p:cNvPr>
            <p:cNvCxnSpPr>
              <a:cxnSpLocks/>
            </p:cNvCxnSpPr>
            <p:nvPr/>
          </p:nvCxnSpPr>
          <p:spPr>
            <a:xfrm flipH="1">
              <a:off x="5113152" y="2658264"/>
              <a:ext cx="316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a:extLst>
                <a:ext uri="{FF2B5EF4-FFF2-40B4-BE49-F238E27FC236}">
                  <a16:creationId xmlns:a16="http://schemas.microsoft.com/office/drawing/2014/main" id="{A50D774A-43E9-4A9D-B477-09DA0BAAAD27}"/>
                </a:ext>
              </a:extLst>
            </p:cNvPr>
            <p:cNvCxnSpPr>
              <a:cxnSpLocks/>
              <a:stCxn id="32" idx="1"/>
              <a:endCxn id="31" idx="3"/>
            </p:cNvCxnSpPr>
            <p:nvPr/>
          </p:nvCxnSpPr>
          <p:spPr>
            <a:xfrm flipH="1">
              <a:off x="6777005" y="2663638"/>
              <a:ext cx="3291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51169ADD-E689-4044-81EE-747B517335DD}"/>
                </a:ext>
              </a:extLst>
            </p:cNvPr>
            <p:cNvCxnSpPr>
              <a:cxnSpLocks/>
            </p:cNvCxnSpPr>
            <p:nvPr/>
          </p:nvCxnSpPr>
          <p:spPr>
            <a:xfrm>
              <a:off x="807594" y="2990863"/>
              <a:ext cx="0" cy="491317"/>
            </a:xfrm>
            <a:prstGeom prst="line">
              <a:avLst/>
            </a:prstGeom>
          </p:spPr>
          <p:style>
            <a:lnRef idx="1">
              <a:schemeClr val="accent1"/>
            </a:lnRef>
            <a:fillRef idx="0">
              <a:schemeClr val="accent1"/>
            </a:fillRef>
            <a:effectRef idx="0">
              <a:schemeClr val="accent1"/>
            </a:effectRef>
            <a:fontRef idx="minor">
              <a:schemeClr val="tx1"/>
            </a:fontRef>
          </p:style>
        </p:cxnSp>
        <p:sp>
          <p:nvSpPr>
            <p:cNvPr id="15" name="Прямоугольник 14">
              <a:extLst>
                <a:ext uri="{FF2B5EF4-FFF2-40B4-BE49-F238E27FC236}">
                  <a16:creationId xmlns:a16="http://schemas.microsoft.com/office/drawing/2014/main" id="{9C876AC8-4822-48F2-81D5-F4AB9A2C6030}"/>
                </a:ext>
              </a:extLst>
            </p:cNvPr>
            <p:cNvSpPr/>
            <p:nvPr/>
          </p:nvSpPr>
          <p:spPr>
            <a:xfrm>
              <a:off x="4097180" y="1341438"/>
              <a:ext cx="4011796" cy="65621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t>Основной блок</a:t>
              </a:r>
              <a:endParaRPr lang="ru-RU" sz="1400" dirty="0">
                <a:solidFill>
                  <a:schemeClr val="lt1"/>
                </a:solidFill>
              </a:endParaRPr>
            </a:p>
          </p:txBody>
        </p:sp>
        <p:sp>
          <p:nvSpPr>
            <p:cNvPr id="16" name="Прямоугольник 15">
              <a:extLst>
                <a:ext uri="{FF2B5EF4-FFF2-40B4-BE49-F238E27FC236}">
                  <a16:creationId xmlns:a16="http://schemas.microsoft.com/office/drawing/2014/main" id="{D6BC446A-2DD7-4322-A68A-92984DC83B6D}"/>
                </a:ext>
              </a:extLst>
            </p:cNvPr>
            <p:cNvSpPr/>
            <p:nvPr/>
          </p:nvSpPr>
          <p:spPr>
            <a:xfrm rot="16200000">
              <a:off x="-658734" y="4458460"/>
              <a:ext cx="2932657" cy="514745"/>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1.А</a:t>
              </a:r>
            </a:p>
          </p:txBody>
        </p:sp>
        <p:sp>
          <p:nvSpPr>
            <p:cNvPr id="17" name="Прямоугольник 16">
              <a:extLst>
                <a:ext uri="{FF2B5EF4-FFF2-40B4-BE49-F238E27FC236}">
                  <a16:creationId xmlns:a16="http://schemas.microsoft.com/office/drawing/2014/main" id="{0179CABB-2587-4350-87B5-16C4EDA75012}"/>
                </a:ext>
              </a:extLst>
            </p:cNvPr>
            <p:cNvSpPr/>
            <p:nvPr/>
          </p:nvSpPr>
          <p:spPr>
            <a:xfrm rot="16200000">
              <a:off x="46602" y="4453419"/>
              <a:ext cx="2932665" cy="514747"/>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1.В</a:t>
              </a:r>
            </a:p>
          </p:txBody>
        </p:sp>
        <p:sp>
          <p:nvSpPr>
            <p:cNvPr id="18" name="Прямоугольник 17">
              <a:extLst>
                <a:ext uri="{FF2B5EF4-FFF2-40B4-BE49-F238E27FC236}">
                  <a16:creationId xmlns:a16="http://schemas.microsoft.com/office/drawing/2014/main" id="{3F33CBAB-0C75-4A03-9692-6279D75177AD}"/>
                </a:ext>
              </a:extLst>
            </p:cNvPr>
            <p:cNvSpPr/>
            <p:nvPr/>
          </p:nvSpPr>
          <p:spPr>
            <a:xfrm rot="16200000">
              <a:off x="751664" y="4452677"/>
              <a:ext cx="2927621" cy="521278"/>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1.С</a:t>
              </a:r>
            </a:p>
          </p:txBody>
        </p:sp>
        <p:sp>
          <p:nvSpPr>
            <p:cNvPr id="19" name="Прямоугольник 18">
              <a:extLst>
                <a:ext uri="{FF2B5EF4-FFF2-40B4-BE49-F238E27FC236}">
                  <a16:creationId xmlns:a16="http://schemas.microsoft.com/office/drawing/2014/main" id="{43A3BD38-344B-41D4-86D7-9D39895ABDA0}"/>
                </a:ext>
              </a:extLst>
            </p:cNvPr>
            <p:cNvSpPr/>
            <p:nvPr/>
          </p:nvSpPr>
          <p:spPr>
            <a:xfrm rot="16200000">
              <a:off x="9211629" y="4454005"/>
              <a:ext cx="2932657" cy="523657"/>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2.В</a:t>
              </a:r>
            </a:p>
          </p:txBody>
        </p:sp>
        <p:sp>
          <p:nvSpPr>
            <p:cNvPr id="20" name="Прямоугольник 19">
              <a:extLst>
                <a:ext uri="{FF2B5EF4-FFF2-40B4-BE49-F238E27FC236}">
                  <a16:creationId xmlns:a16="http://schemas.microsoft.com/office/drawing/2014/main" id="{E1CF0B04-8A60-4EDC-BC0F-6026360170E0}"/>
                </a:ext>
              </a:extLst>
            </p:cNvPr>
            <p:cNvSpPr/>
            <p:nvPr/>
          </p:nvSpPr>
          <p:spPr>
            <a:xfrm rot="16200000">
              <a:off x="9918187" y="4454005"/>
              <a:ext cx="2932657" cy="523657"/>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2.С</a:t>
              </a:r>
            </a:p>
          </p:txBody>
        </p:sp>
        <p:sp>
          <p:nvSpPr>
            <p:cNvPr id="21" name="Прямоугольник 20">
              <a:extLst>
                <a:ext uri="{FF2B5EF4-FFF2-40B4-BE49-F238E27FC236}">
                  <a16:creationId xmlns:a16="http://schemas.microsoft.com/office/drawing/2014/main" id="{E9F6AADE-53E9-4099-B99A-2D8E91C393CF}"/>
                </a:ext>
              </a:extLst>
            </p:cNvPr>
            <p:cNvSpPr/>
            <p:nvPr/>
          </p:nvSpPr>
          <p:spPr>
            <a:xfrm rot="16200000">
              <a:off x="8501834" y="4454005"/>
              <a:ext cx="2932657" cy="523657"/>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2.А</a:t>
              </a:r>
            </a:p>
          </p:txBody>
        </p:sp>
        <p:sp>
          <p:nvSpPr>
            <p:cNvPr id="22" name="Прямоугольник 21">
              <a:extLst>
                <a:ext uri="{FF2B5EF4-FFF2-40B4-BE49-F238E27FC236}">
                  <a16:creationId xmlns:a16="http://schemas.microsoft.com/office/drawing/2014/main" id="{164F93F9-8B31-46F6-8366-5E8F5C7B1A35}"/>
                </a:ext>
              </a:extLst>
            </p:cNvPr>
            <p:cNvSpPr/>
            <p:nvPr/>
          </p:nvSpPr>
          <p:spPr>
            <a:xfrm>
              <a:off x="5190876" y="4081117"/>
              <a:ext cx="1824405" cy="1116468"/>
            </a:xfrm>
            <a:prstGeom prst="rect">
              <a:avLst/>
            </a:prstGeom>
            <a:solidFill>
              <a:schemeClr val="accent2">
                <a:lumMod val="20000"/>
                <a:lumOff val="80000"/>
              </a:schemeClr>
            </a:solidFill>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Акцентный блок</a:t>
              </a:r>
            </a:p>
          </p:txBody>
        </p:sp>
        <p:sp>
          <p:nvSpPr>
            <p:cNvPr id="23" name="Полилиния: фигура 22">
              <a:extLst>
                <a:ext uri="{FF2B5EF4-FFF2-40B4-BE49-F238E27FC236}">
                  <a16:creationId xmlns:a16="http://schemas.microsoft.com/office/drawing/2014/main" id="{76218F36-0923-4DA5-B796-8DCD0BAA3C6D}"/>
                </a:ext>
              </a:extLst>
            </p:cNvPr>
            <p:cNvSpPr/>
            <p:nvPr/>
          </p:nvSpPr>
          <p:spPr>
            <a:xfrm>
              <a:off x="2805287" y="2980998"/>
              <a:ext cx="2587109" cy="1102408"/>
            </a:xfrm>
            <a:custGeom>
              <a:avLst/>
              <a:gdLst>
                <a:gd name="connsiteX0" fmla="*/ 0 w 2469734"/>
                <a:gd name="connsiteY0" fmla="*/ 0 h 1102408"/>
                <a:gd name="connsiteX1" fmla="*/ 0 w 2469734"/>
                <a:gd name="connsiteY1" fmla="*/ 726393 h 1102408"/>
                <a:gd name="connsiteX2" fmla="*/ 2469734 w 2469734"/>
                <a:gd name="connsiteY2" fmla="*/ 734938 h 1102408"/>
                <a:gd name="connsiteX3" fmla="*/ 2469734 w 2469734"/>
                <a:gd name="connsiteY3" fmla="*/ 1102408 h 1102408"/>
                <a:gd name="connsiteX0" fmla="*/ 0 w 2469734"/>
                <a:gd name="connsiteY0" fmla="*/ 0 h 1102408"/>
                <a:gd name="connsiteX1" fmla="*/ 0 w 2469734"/>
                <a:gd name="connsiteY1" fmla="*/ 726393 h 1102408"/>
                <a:gd name="connsiteX2" fmla="*/ 2467352 w 2469734"/>
                <a:gd name="connsiteY2" fmla="*/ 730176 h 1102408"/>
                <a:gd name="connsiteX3" fmla="*/ 2469734 w 2469734"/>
                <a:gd name="connsiteY3" fmla="*/ 1102408 h 1102408"/>
              </a:gdLst>
              <a:ahLst/>
              <a:cxnLst>
                <a:cxn ang="0">
                  <a:pos x="connsiteX0" y="connsiteY0"/>
                </a:cxn>
                <a:cxn ang="0">
                  <a:pos x="connsiteX1" y="connsiteY1"/>
                </a:cxn>
                <a:cxn ang="0">
                  <a:pos x="connsiteX2" y="connsiteY2"/>
                </a:cxn>
                <a:cxn ang="0">
                  <a:pos x="connsiteX3" y="connsiteY3"/>
                </a:cxn>
              </a:cxnLst>
              <a:rect l="l" t="t" r="r" b="b"/>
              <a:pathLst>
                <a:path w="2469734" h="1102408">
                  <a:moveTo>
                    <a:pt x="0" y="0"/>
                  </a:moveTo>
                  <a:lnTo>
                    <a:pt x="0" y="726393"/>
                  </a:lnTo>
                  <a:lnTo>
                    <a:pt x="2467352" y="730176"/>
                  </a:lnTo>
                  <a:cubicBezTo>
                    <a:pt x="2467352" y="852666"/>
                    <a:pt x="2469734" y="979918"/>
                    <a:pt x="2469734" y="1102408"/>
                  </a:cubicBezTo>
                </a:path>
              </a:pathLst>
            </a:custGeom>
            <a:noFill/>
            <a:ln>
              <a:solidFill>
                <a:schemeClr val="accent2"/>
              </a:solidFill>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4" name="Полилиния: фигура 23">
              <a:extLst>
                <a:ext uri="{FF2B5EF4-FFF2-40B4-BE49-F238E27FC236}">
                  <a16:creationId xmlns:a16="http://schemas.microsoft.com/office/drawing/2014/main" id="{76001BE1-2B2A-43F6-BE95-410C022201FE}"/>
                </a:ext>
              </a:extLst>
            </p:cNvPr>
            <p:cNvSpPr/>
            <p:nvPr/>
          </p:nvSpPr>
          <p:spPr>
            <a:xfrm>
              <a:off x="4202305" y="2980998"/>
              <a:ext cx="1533331" cy="1102408"/>
            </a:xfrm>
            <a:custGeom>
              <a:avLst/>
              <a:gdLst>
                <a:gd name="connsiteX0" fmla="*/ 0 w 2469734"/>
                <a:gd name="connsiteY0" fmla="*/ 0 h 1102408"/>
                <a:gd name="connsiteX1" fmla="*/ 0 w 2469734"/>
                <a:gd name="connsiteY1" fmla="*/ 726393 h 1102408"/>
                <a:gd name="connsiteX2" fmla="*/ 2469734 w 2469734"/>
                <a:gd name="connsiteY2" fmla="*/ 734938 h 1102408"/>
                <a:gd name="connsiteX3" fmla="*/ 2469734 w 2469734"/>
                <a:gd name="connsiteY3" fmla="*/ 1102408 h 1102408"/>
                <a:gd name="connsiteX0" fmla="*/ 0 w 2469734"/>
                <a:gd name="connsiteY0" fmla="*/ 0 h 1102408"/>
                <a:gd name="connsiteX1" fmla="*/ 0 w 2469734"/>
                <a:gd name="connsiteY1" fmla="*/ 581114 h 1102408"/>
                <a:gd name="connsiteX2" fmla="*/ 2469734 w 2469734"/>
                <a:gd name="connsiteY2" fmla="*/ 734938 h 1102408"/>
                <a:gd name="connsiteX3" fmla="*/ 2469734 w 2469734"/>
                <a:gd name="connsiteY3" fmla="*/ 1102408 h 1102408"/>
                <a:gd name="connsiteX0" fmla="*/ 0 w 2513637"/>
                <a:gd name="connsiteY0" fmla="*/ 0 h 1102408"/>
                <a:gd name="connsiteX1" fmla="*/ 0 w 2513637"/>
                <a:gd name="connsiteY1" fmla="*/ 581114 h 1102408"/>
                <a:gd name="connsiteX2" fmla="*/ 2513637 w 2513637"/>
                <a:gd name="connsiteY2" fmla="*/ 581113 h 1102408"/>
                <a:gd name="connsiteX3" fmla="*/ 2469734 w 2513637"/>
                <a:gd name="connsiteY3" fmla="*/ 1102408 h 1102408"/>
                <a:gd name="connsiteX0" fmla="*/ 0 w 2480711"/>
                <a:gd name="connsiteY0" fmla="*/ 0 h 1102408"/>
                <a:gd name="connsiteX1" fmla="*/ 0 w 2480711"/>
                <a:gd name="connsiteY1" fmla="*/ 581114 h 1102408"/>
                <a:gd name="connsiteX2" fmla="*/ 2480711 w 2480711"/>
                <a:gd name="connsiteY2" fmla="*/ 589659 h 1102408"/>
                <a:gd name="connsiteX3" fmla="*/ 2469734 w 2480711"/>
                <a:gd name="connsiteY3" fmla="*/ 1102408 h 1102408"/>
                <a:gd name="connsiteX0" fmla="*/ 0 w 2469734"/>
                <a:gd name="connsiteY0" fmla="*/ 0 h 1102408"/>
                <a:gd name="connsiteX1" fmla="*/ 0 w 2469734"/>
                <a:gd name="connsiteY1" fmla="*/ 581114 h 1102408"/>
                <a:gd name="connsiteX2" fmla="*/ 2462361 w 2469734"/>
                <a:gd name="connsiteY2" fmla="*/ 584896 h 1102408"/>
                <a:gd name="connsiteX3" fmla="*/ 2469734 w 2469734"/>
                <a:gd name="connsiteY3" fmla="*/ 1102408 h 1102408"/>
              </a:gdLst>
              <a:ahLst/>
              <a:cxnLst>
                <a:cxn ang="0">
                  <a:pos x="connsiteX0" y="connsiteY0"/>
                </a:cxn>
                <a:cxn ang="0">
                  <a:pos x="connsiteX1" y="connsiteY1"/>
                </a:cxn>
                <a:cxn ang="0">
                  <a:pos x="connsiteX2" y="connsiteY2"/>
                </a:cxn>
                <a:cxn ang="0">
                  <a:pos x="connsiteX3" y="connsiteY3"/>
                </a:cxn>
              </a:cxnLst>
              <a:rect l="l" t="t" r="r" b="b"/>
              <a:pathLst>
                <a:path w="2469734" h="1102408">
                  <a:moveTo>
                    <a:pt x="0" y="0"/>
                  </a:moveTo>
                  <a:lnTo>
                    <a:pt x="0" y="581114"/>
                  </a:lnTo>
                  <a:lnTo>
                    <a:pt x="2462361" y="584896"/>
                  </a:lnTo>
                  <a:lnTo>
                    <a:pt x="2469734" y="1102408"/>
                  </a:lnTo>
                </a:path>
              </a:pathLst>
            </a:custGeom>
            <a:noFill/>
            <a:ln>
              <a:solidFill>
                <a:schemeClr val="accent2"/>
              </a:solidFill>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5" name="Полилиния: фигура 24">
              <a:extLst>
                <a:ext uri="{FF2B5EF4-FFF2-40B4-BE49-F238E27FC236}">
                  <a16:creationId xmlns:a16="http://schemas.microsoft.com/office/drawing/2014/main" id="{EF0A761E-366B-4CCF-BC6E-8F070CC35A01}"/>
                </a:ext>
              </a:extLst>
            </p:cNvPr>
            <p:cNvSpPr/>
            <p:nvPr/>
          </p:nvSpPr>
          <p:spPr>
            <a:xfrm flipH="1">
              <a:off x="6788054" y="2991745"/>
              <a:ext cx="2587109" cy="1102408"/>
            </a:xfrm>
            <a:custGeom>
              <a:avLst/>
              <a:gdLst>
                <a:gd name="connsiteX0" fmla="*/ 0 w 2469734"/>
                <a:gd name="connsiteY0" fmla="*/ 0 h 1102408"/>
                <a:gd name="connsiteX1" fmla="*/ 0 w 2469734"/>
                <a:gd name="connsiteY1" fmla="*/ 726393 h 1102408"/>
                <a:gd name="connsiteX2" fmla="*/ 2469734 w 2469734"/>
                <a:gd name="connsiteY2" fmla="*/ 734938 h 1102408"/>
                <a:gd name="connsiteX3" fmla="*/ 2469734 w 2469734"/>
                <a:gd name="connsiteY3" fmla="*/ 1102408 h 1102408"/>
                <a:gd name="connsiteX0" fmla="*/ 0 w 2469734"/>
                <a:gd name="connsiteY0" fmla="*/ 0 h 1102408"/>
                <a:gd name="connsiteX1" fmla="*/ 0 w 2469734"/>
                <a:gd name="connsiteY1" fmla="*/ 726393 h 1102408"/>
                <a:gd name="connsiteX2" fmla="*/ 2467352 w 2469734"/>
                <a:gd name="connsiteY2" fmla="*/ 730176 h 1102408"/>
                <a:gd name="connsiteX3" fmla="*/ 2469734 w 2469734"/>
                <a:gd name="connsiteY3" fmla="*/ 1102408 h 1102408"/>
              </a:gdLst>
              <a:ahLst/>
              <a:cxnLst>
                <a:cxn ang="0">
                  <a:pos x="connsiteX0" y="connsiteY0"/>
                </a:cxn>
                <a:cxn ang="0">
                  <a:pos x="connsiteX1" y="connsiteY1"/>
                </a:cxn>
                <a:cxn ang="0">
                  <a:pos x="connsiteX2" y="connsiteY2"/>
                </a:cxn>
                <a:cxn ang="0">
                  <a:pos x="connsiteX3" y="connsiteY3"/>
                </a:cxn>
              </a:cxnLst>
              <a:rect l="l" t="t" r="r" b="b"/>
              <a:pathLst>
                <a:path w="2469734" h="1102408">
                  <a:moveTo>
                    <a:pt x="0" y="0"/>
                  </a:moveTo>
                  <a:lnTo>
                    <a:pt x="0" y="726393"/>
                  </a:lnTo>
                  <a:lnTo>
                    <a:pt x="2467352" y="730176"/>
                  </a:lnTo>
                  <a:cubicBezTo>
                    <a:pt x="2467352" y="852666"/>
                    <a:pt x="2469734" y="979918"/>
                    <a:pt x="2469734" y="1102408"/>
                  </a:cubicBezTo>
                </a:path>
              </a:pathLst>
            </a:custGeom>
            <a:noFill/>
            <a:ln>
              <a:solidFill>
                <a:schemeClr val="accent2"/>
              </a:solidFill>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6" name="Полилиния: фигура 25">
              <a:extLst>
                <a:ext uri="{FF2B5EF4-FFF2-40B4-BE49-F238E27FC236}">
                  <a16:creationId xmlns:a16="http://schemas.microsoft.com/office/drawing/2014/main" id="{675A9EB2-CFC6-4257-A32E-50A7104E64CF}"/>
                </a:ext>
              </a:extLst>
            </p:cNvPr>
            <p:cNvSpPr/>
            <p:nvPr/>
          </p:nvSpPr>
          <p:spPr>
            <a:xfrm flipH="1">
              <a:off x="6444814" y="2991745"/>
              <a:ext cx="1533331" cy="1102408"/>
            </a:xfrm>
            <a:custGeom>
              <a:avLst/>
              <a:gdLst>
                <a:gd name="connsiteX0" fmla="*/ 0 w 2469734"/>
                <a:gd name="connsiteY0" fmla="*/ 0 h 1102408"/>
                <a:gd name="connsiteX1" fmla="*/ 0 w 2469734"/>
                <a:gd name="connsiteY1" fmla="*/ 726393 h 1102408"/>
                <a:gd name="connsiteX2" fmla="*/ 2469734 w 2469734"/>
                <a:gd name="connsiteY2" fmla="*/ 734938 h 1102408"/>
                <a:gd name="connsiteX3" fmla="*/ 2469734 w 2469734"/>
                <a:gd name="connsiteY3" fmla="*/ 1102408 h 1102408"/>
                <a:gd name="connsiteX0" fmla="*/ 0 w 2469734"/>
                <a:gd name="connsiteY0" fmla="*/ 0 h 1102408"/>
                <a:gd name="connsiteX1" fmla="*/ 0 w 2469734"/>
                <a:gd name="connsiteY1" fmla="*/ 581114 h 1102408"/>
                <a:gd name="connsiteX2" fmla="*/ 2469734 w 2469734"/>
                <a:gd name="connsiteY2" fmla="*/ 734938 h 1102408"/>
                <a:gd name="connsiteX3" fmla="*/ 2469734 w 2469734"/>
                <a:gd name="connsiteY3" fmla="*/ 1102408 h 1102408"/>
                <a:gd name="connsiteX0" fmla="*/ 0 w 2513637"/>
                <a:gd name="connsiteY0" fmla="*/ 0 h 1102408"/>
                <a:gd name="connsiteX1" fmla="*/ 0 w 2513637"/>
                <a:gd name="connsiteY1" fmla="*/ 581114 h 1102408"/>
                <a:gd name="connsiteX2" fmla="*/ 2513637 w 2513637"/>
                <a:gd name="connsiteY2" fmla="*/ 581113 h 1102408"/>
                <a:gd name="connsiteX3" fmla="*/ 2469734 w 2513637"/>
                <a:gd name="connsiteY3" fmla="*/ 1102408 h 1102408"/>
                <a:gd name="connsiteX0" fmla="*/ 0 w 2480711"/>
                <a:gd name="connsiteY0" fmla="*/ 0 h 1102408"/>
                <a:gd name="connsiteX1" fmla="*/ 0 w 2480711"/>
                <a:gd name="connsiteY1" fmla="*/ 581114 h 1102408"/>
                <a:gd name="connsiteX2" fmla="*/ 2480711 w 2480711"/>
                <a:gd name="connsiteY2" fmla="*/ 589659 h 1102408"/>
                <a:gd name="connsiteX3" fmla="*/ 2469734 w 2480711"/>
                <a:gd name="connsiteY3" fmla="*/ 1102408 h 1102408"/>
                <a:gd name="connsiteX0" fmla="*/ 0 w 2469734"/>
                <a:gd name="connsiteY0" fmla="*/ 0 h 1102408"/>
                <a:gd name="connsiteX1" fmla="*/ 0 w 2469734"/>
                <a:gd name="connsiteY1" fmla="*/ 581114 h 1102408"/>
                <a:gd name="connsiteX2" fmla="*/ 2462361 w 2469734"/>
                <a:gd name="connsiteY2" fmla="*/ 584896 h 1102408"/>
                <a:gd name="connsiteX3" fmla="*/ 2469734 w 2469734"/>
                <a:gd name="connsiteY3" fmla="*/ 1102408 h 1102408"/>
              </a:gdLst>
              <a:ahLst/>
              <a:cxnLst>
                <a:cxn ang="0">
                  <a:pos x="connsiteX0" y="connsiteY0"/>
                </a:cxn>
                <a:cxn ang="0">
                  <a:pos x="connsiteX1" y="connsiteY1"/>
                </a:cxn>
                <a:cxn ang="0">
                  <a:pos x="connsiteX2" y="connsiteY2"/>
                </a:cxn>
                <a:cxn ang="0">
                  <a:pos x="connsiteX3" y="connsiteY3"/>
                </a:cxn>
              </a:cxnLst>
              <a:rect l="l" t="t" r="r" b="b"/>
              <a:pathLst>
                <a:path w="2469734" h="1102408">
                  <a:moveTo>
                    <a:pt x="0" y="0"/>
                  </a:moveTo>
                  <a:lnTo>
                    <a:pt x="0" y="581114"/>
                  </a:lnTo>
                  <a:lnTo>
                    <a:pt x="2462361" y="584896"/>
                  </a:lnTo>
                  <a:lnTo>
                    <a:pt x="2469734" y="1102408"/>
                  </a:lnTo>
                </a:path>
              </a:pathLst>
            </a:custGeom>
            <a:noFill/>
            <a:ln>
              <a:solidFill>
                <a:schemeClr val="accent2"/>
              </a:solidFill>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7" name="Полилиния: фигура 26">
              <a:extLst>
                <a:ext uri="{FF2B5EF4-FFF2-40B4-BE49-F238E27FC236}">
                  <a16:creationId xmlns:a16="http://schemas.microsoft.com/office/drawing/2014/main" id="{CB67E190-A707-4939-BAEE-988DCAF5DEB1}"/>
                </a:ext>
              </a:extLst>
            </p:cNvPr>
            <p:cNvSpPr/>
            <p:nvPr/>
          </p:nvSpPr>
          <p:spPr>
            <a:xfrm>
              <a:off x="6454140" y="2994660"/>
              <a:ext cx="2796540" cy="375761"/>
            </a:xfrm>
            <a:custGeom>
              <a:avLst/>
              <a:gdLst>
                <a:gd name="connsiteX0" fmla="*/ 2804160 w 2804160"/>
                <a:gd name="connsiteY0" fmla="*/ 0 h 373380"/>
                <a:gd name="connsiteX1" fmla="*/ 2804160 w 2804160"/>
                <a:gd name="connsiteY1" fmla="*/ 373380 h 373380"/>
                <a:gd name="connsiteX2" fmla="*/ 0 w 2804160"/>
                <a:gd name="connsiteY2" fmla="*/ 373380 h 373380"/>
                <a:gd name="connsiteX3" fmla="*/ 7620 w 2804160"/>
                <a:gd name="connsiteY3" fmla="*/ 0 h 373380"/>
                <a:gd name="connsiteX4" fmla="*/ 7620 w 2804160"/>
                <a:gd name="connsiteY4" fmla="*/ 0 h 373380"/>
                <a:gd name="connsiteX0" fmla="*/ 2796540 w 2796540"/>
                <a:gd name="connsiteY0" fmla="*/ 0 h 375761"/>
                <a:gd name="connsiteX1" fmla="*/ 2796540 w 2796540"/>
                <a:gd name="connsiteY1" fmla="*/ 373380 h 375761"/>
                <a:gd name="connsiteX2" fmla="*/ 1905 w 2796540"/>
                <a:gd name="connsiteY2" fmla="*/ 375761 h 375761"/>
                <a:gd name="connsiteX3" fmla="*/ 0 w 2796540"/>
                <a:gd name="connsiteY3" fmla="*/ 0 h 375761"/>
                <a:gd name="connsiteX4" fmla="*/ 0 w 2796540"/>
                <a:gd name="connsiteY4" fmla="*/ 0 h 3757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6540" h="375761">
                  <a:moveTo>
                    <a:pt x="2796540" y="0"/>
                  </a:moveTo>
                  <a:lnTo>
                    <a:pt x="2796540" y="373380"/>
                  </a:lnTo>
                  <a:lnTo>
                    <a:pt x="1905" y="375761"/>
                  </a:lnTo>
                  <a:lnTo>
                    <a:pt x="0" y="0"/>
                  </a:lnTo>
                  <a:lnTo>
                    <a:pt x="0" y="0"/>
                  </a:lnTo>
                </a:path>
              </a:pathLst>
            </a:custGeom>
            <a:noFill/>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8" name="Полилиния: фигура 27">
              <a:extLst>
                <a:ext uri="{FF2B5EF4-FFF2-40B4-BE49-F238E27FC236}">
                  <a16:creationId xmlns:a16="http://schemas.microsoft.com/office/drawing/2014/main" id="{469CF88D-2312-4BED-81F3-5D5608522681}"/>
                </a:ext>
              </a:extLst>
            </p:cNvPr>
            <p:cNvSpPr/>
            <p:nvPr/>
          </p:nvSpPr>
          <p:spPr>
            <a:xfrm>
              <a:off x="2485440" y="2987674"/>
              <a:ext cx="3253530" cy="1675765"/>
            </a:xfrm>
            <a:custGeom>
              <a:avLst/>
              <a:gdLst>
                <a:gd name="connsiteX0" fmla="*/ 3254375 w 3254375"/>
                <a:gd name="connsiteY0" fmla="*/ 0 h 1250950"/>
                <a:gd name="connsiteX1" fmla="*/ 3251200 w 3254375"/>
                <a:gd name="connsiteY1" fmla="*/ 384175 h 1250950"/>
                <a:gd name="connsiteX2" fmla="*/ 930275 w 3254375"/>
                <a:gd name="connsiteY2" fmla="*/ 384175 h 1250950"/>
                <a:gd name="connsiteX3" fmla="*/ 933450 w 3254375"/>
                <a:gd name="connsiteY3" fmla="*/ 1250950 h 1250950"/>
                <a:gd name="connsiteX4" fmla="*/ 0 w 3254375"/>
                <a:gd name="connsiteY4" fmla="*/ 1250950 h 1250950"/>
                <a:gd name="connsiteX0" fmla="*/ 3254375 w 3254375"/>
                <a:gd name="connsiteY0" fmla="*/ 0 h 1250950"/>
                <a:gd name="connsiteX1" fmla="*/ 3251200 w 3254375"/>
                <a:gd name="connsiteY1" fmla="*/ 384175 h 1250950"/>
                <a:gd name="connsiteX2" fmla="*/ 930275 w 3254375"/>
                <a:gd name="connsiteY2" fmla="*/ 384175 h 1250950"/>
                <a:gd name="connsiteX3" fmla="*/ 2178050 w 3254375"/>
                <a:gd name="connsiteY3" fmla="*/ 1250950 h 1250950"/>
                <a:gd name="connsiteX4" fmla="*/ 0 w 3254375"/>
                <a:gd name="connsiteY4" fmla="*/ 1250950 h 1250950"/>
                <a:gd name="connsiteX0" fmla="*/ 3254375 w 3254375"/>
                <a:gd name="connsiteY0" fmla="*/ 0 h 1250950"/>
                <a:gd name="connsiteX1" fmla="*/ 3251200 w 3254375"/>
                <a:gd name="connsiteY1" fmla="*/ 384175 h 1250950"/>
                <a:gd name="connsiteX2" fmla="*/ 2168525 w 3254375"/>
                <a:gd name="connsiteY2" fmla="*/ 390525 h 1250950"/>
                <a:gd name="connsiteX3" fmla="*/ 2178050 w 3254375"/>
                <a:gd name="connsiteY3" fmla="*/ 1250950 h 1250950"/>
                <a:gd name="connsiteX4" fmla="*/ 0 w 3254375"/>
                <a:gd name="connsiteY4" fmla="*/ 1250950 h 1250950"/>
                <a:gd name="connsiteX0" fmla="*/ 3254375 w 3254375"/>
                <a:gd name="connsiteY0" fmla="*/ 0 h 1250950"/>
                <a:gd name="connsiteX1" fmla="*/ 3251200 w 3254375"/>
                <a:gd name="connsiteY1" fmla="*/ 384175 h 1250950"/>
                <a:gd name="connsiteX2" fmla="*/ 2182812 w 3254375"/>
                <a:gd name="connsiteY2" fmla="*/ 390525 h 1250950"/>
                <a:gd name="connsiteX3" fmla="*/ 2178050 w 3254375"/>
                <a:gd name="connsiteY3" fmla="*/ 1250950 h 1250950"/>
                <a:gd name="connsiteX4" fmla="*/ 0 w 3254375"/>
                <a:gd name="connsiteY4" fmla="*/ 1250950 h 1250950"/>
                <a:gd name="connsiteX0" fmla="*/ 3254375 w 3254375"/>
                <a:gd name="connsiteY0" fmla="*/ 0 h 1250950"/>
                <a:gd name="connsiteX1" fmla="*/ 3251200 w 3254375"/>
                <a:gd name="connsiteY1" fmla="*/ 384175 h 1250950"/>
                <a:gd name="connsiteX2" fmla="*/ 2170906 w 3254375"/>
                <a:gd name="connsiteY2" fmla="*/ 392907 h 1250950"/>
                <a:gd name="connsiteX3" fmla="*/ 2178050 w 3254375"/>
                <a:gd name="connsiteY3" fmla="*/ 1250950 h 1250950"/>
                <a:gd name="connsiteX4" fmla="*/ 0 w 3254375"/>
                <a:gd name="connsiteY4" fmla="*/ 1250950 h 1250950"/>
                <a:gd name="connsiteX0" fmla="*/ 3254375 w 3254375"/>
                <a:gd name="connsiteY0" fmla="*/ 0 h 1250950"/>
                <a:gd name="connsiteX1" fmla="*/ 3251200 w 3254375"/>
                <a:gd name="connsiteY1" fmla="*/ 384175 h 1250950"/>
                <a:gd name="connsiteX2" fmla="*/ 2170906 w 3254375"/>
                <a:gd name="connsiteY2" fmla="*/ 274401 h 1250950"/>
                <a:gd name="connsiteX3" fmla="*/ 2178050 w 3254375"/>
                <a:gd name="connsiteY3" fmla="*/ 1250950 h 1250950"/>
                <a:gd name="connsiteX4" fmla="*/ 0 w 3254375"/>
                <a:gd name="connsiteY4" fmla="*/ 1250950 h 1250950"/>
                <a:gd name="connsiteX0" fmla="*/ 3254375 w 3257725"/>
                <a:gd name="connsiteY0" fmla="*/ 0 h 1250950"/>
                <a:gd name="connsiteX1" fmla="*/ 3257586 w 3257725"/>
                <a:gd name="connsiteY1" fmla="*/ 272780 h 1250950"/>
                <a:gd name="connsiteX2" fmla="*/ 2170906 w 3257725"/>
                <a:gd name="connsiteY2" fmla="*/ 274401 h 1250950"/>
                <a:gd name="connsiteX3" fmla="*/ 2178050 w 3257725"/>
                <a:gd name="connsiteY3" fmla="*/ 1250950 h 1250950"/>
                <a:gd name="connsiteX4" fmla="*/ 0 w 3257725"/>
                <a:gd name="connsiteY4" fmla="*/ 1250950 h 1250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25" h="1250950">
                  <a:moveTo>
                    <a:pt x="3254375" y="0"/>
                  </a:moveTo>
                  <a:cubicBezTo>
                    <a:pt x="3253317" y="128058"/>
                    <a:pt x="3258644" y="144722"/>
                    <a:pt x="3257586" y="272780"/>
                  </a:cubicBezTo>
                  <a:lnTo>
                    <a:pt x="2170906" y="274401"/>
                  </a:lnTo>
                  <a:cubicBezTo>
                    <a:pt x="2171964" y="563326"/>
                    <a:pt x="2176992" y="962025"/>
                    <a:pt x="2178050" y="1250950"/>
                  </a:cubicBezTo>
                  <a:lnTo>
                    <a:pt x="0" y="1250950"/>
                  </a:lnTo>
                </a:path>
              </a:pathLst>
            </a:custGeom>
            <a:noFill/>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29" name="Прямоугольник 28">
              <a:extLst>
                <a:ext uri="{FF2B5EF4-FFF2-40B4-BE49-F238E27FC236}">
                  <a16:creationId xmlns:a16="http://schemas.microsoft.com/office/drawing/2014/main" id="{9A942803-E35E-4E72-8902-99A185307515}"/>
                </a:ext>
              </a:extLst>
            </p:cNvPr>
            <p:cNvSpPr/>
            <p:nvPr/>
          </p:nvSpPr>
          <p:spPr>
            <a:xfrm>
              <a:off x="558874" y="2335529"/>
              <a:ext cx="2496004" cy="656214"/>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1</a:t>
              </a:r>
            </a:p>
          </p:txBody>
        </p:sp>
        <p:sp>
          <p:nvSpPr>
            <p:cNvPr id="30" name="Прямоугольник 29">
              <a:extLst>
                <a:ext uri="{FF2B5EF4-FFF2-40B4-BE49-F238E27FC236}">
                  <a16:creationId xmlns:a16="http://schemas.microsoft.com/office/drawing/2014/main" id="{C5658DFB-B42B-4FF4-8170-FEE45D332088}"/>
                </a:ext>
              </a:extLst>
            </p:cNvPr>
            <p:cNvSpPr/>
            <p:nvPr/>
          </p:nvSpPr>
          <p:spPr>
            <a:xfrm>
              <a:off x="3370941" y="2335530"/>
              <a:ext cx="1755258" cy="656214"/>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2</a:t>
              </a:r>
            </a:p>
          </p:txBody>
        </p:sp>
        <p:sp>
          <p:nvSpPr>
            <p:cNvPr id="31" name="Прямоугольник 30">
              <a:extLst>
                <a:ext uri="{FF2B5EF4-FFF2-40B4-BE49-F238E27FC236}">
                  <a16:creationId xmlns:a16="http://schemas.microsoft.com/office/drawing/2014/main" id="{2514677B-008E-4CFF-9ABC-B39CA9B9786E}"/>
                </a:ext>
              </a:extLst>
            </p:cNvPr>
            <p:cNvSpPr/>
            <p:nvPr/>
          </p:nvSpPr>
          <p:spPr>
            <a:xfrm>
              <a:off x="5429152" y="2335531"/>
              <a:ext cx="1347853" cy="656214"/>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3</a:t>
              </a:r>
            </a:p>
          </p:txBody>
        </p:sp>
        <p:sp>
          <p:nvSpPr>
            <p:cNvPr id="32" name="Прямоугольник 31">
              <a:extLst>
                <a:ext uri="{FF2B5EF4-FFF2-40B4-BE49-F238E27FC236}">
                  <a16:creationId xmlns:a16="http://schemas.microsoft.com/office/drawing/2014/main" id="{6AB8DD61-97F7-4AF0-B7E6-12CD0ED54152}"/>
                </a:ext>
              </a:extLst>
            </p:cNvPr>
            <p:cNvSpPr/>
            <p:nvPr/>
          </p:nvSpPr>
          <p:spPr>
            <a:xfrm>
              <a:off x="7106178" y="2335531"/>
              <a:ext cx="1728099" cy="656214"/>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4</a:t>
              </a:r>
            </a:p>
          </p:txBody>
        </p:sp>
        <p:sp>
          <p:nvSpPr>
            <p:cNvPr id="33" name="Прямоугольник 32">
              <a:extLst>
                <a:ext uri="{FF2B5EF4-FFF2-40B4-BE49-F238E27FC236}">
                  <a16:creationId xmlns:a16="http://schemas.microsoft.com/office/drawing/2014/main" id="{ED4439D1-85C4-45F5-81C9-FEE31246F4AC}"/>
                </a:ext>
              </a:extLst>
            </p:cNvPr>
            <p:cNvSpPr/>
            <p:nvPr/>
          </p:nvSpPr>
          <p:spPr>
            <a:xfrm>
              <a:off x="9150340" y="2335531"/>
              <a:ext cx="2496004" cy="656214"/>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ru-RU" sz="1400" dirty="0">
                  <a:solidFill>
                    <a:schemeClr val="tx2"/>
                  </a:solidFill>
                </a:rPr>
                <a:t>Блок 5</a:t>
              </a:r>
            </a:p>
          </p:txBody>
        </p:sp>
        <p:sp>
          <p:nvSpPr>
            <p:cNvPr id="34" name="Полилиния: фигура 33">
              <a:extLst>
                <a:ext uri="{FF2B5EF4-FFF2-40B4-BE49-F238E27FC236}">
                  <a16:creationId xmlns:a16="http://schemas.microsoft.com/office/drawing/2014/main" id="{DB43CF30-0034-46D2-A67C-A59B2B3BB2DF}"/>
                </a:ext>
              </a:extLst>
            </p:cNvPr>
            <p:cNvSpPr/>
            <p:nvPr/>
          </p:nvSpPr>
          <p:spPr>
            <a:xfrm>
              <a:off x="2476114" y="2991028"/>
              <a:ext cx="1386585" cy="1327957"/>
            </a:xfrm>
            <a:custGeom>
              <a:avLst/>
              <a:gdLst>
                <a:gd name="connsiteX0" fmla="*/ 1384419 w 1384419"/>
                <a:gd name="connsiteY0" fmla="*/ 0 h 1333144"/>
                <a:gd name="connsiteX1" fmla="*/ 1384419 w 1384419"/>
                <a:gd name="connsiteY1" fmla="*/ 1316052 h 1333144"/>
                <a:gd name="connsiteX2" fmla="*/ 8546 w 1384419"/>
                <a:gd name="connsiteY2" fmla="*/ 1324598 h 1333144"/>
                <a:gd name="connsiteX3" fmla="*/ 0 w 1384419"/>
                <a:gd name="connsiteY3" fmla="*/ 1333144 h 1333144"/>
                <a:gd name="connsiteX0" fmla="*/ 1384419 w 1384419"/>
                <a:gd name="connsiteY0" fmla="*/ 0 h 1333144"/>
                <a:gd name="connsiteX1" fmla="*/ 1384419 w 1384419"/>
                <a:gd name="connsiteY1" fmla="*/ 1323195 h 1333144"/>
                <a:gd name="connsiteX2" fmla="*/ 8546 w 1384419"/>
                <a:gd name="connsiteY2" fmla="*/ 1324598 h 1333144"/>
                <a:gd name="connsiteX3" fmla="*/ 0 w 1384419"/>
                <a:gd name="connsiteY3" fmla="*/ 1333144 h 1333144"/>
                <a:gd name="connsiteX0" fmla="*/ 1384419 w 1384419"/>
                <a:gd name="connsiteY0" fmla="*/ 0 h 1333144"/>
                <a:gd name="connsiteX1" fmla="*/ 1384419 w 1384419"/>
                <a:gd name="connsiteY1" fmla="*/ 1332720 h 1333144"/>
                <a:gd name="connsiteX2" fmla="*/ 8546 w 1384419"/>
                <a:gd name="connsiteY2" fmla="*/ 1324598 h 1333144"/>
                <a:gd name="connsiteX3" fmla="*/ 0 w 1384419"/>
                <a:gd name="connsiteY3" fmla="*/ 1333144 h 1333144"/>
                <a:gd name="connsiteX0" fmla="*/ 1384419 w 1384419"/>
                <a:gd name="connsiteY0" fmla="*/ 0 h 1333144"/>
                <a:gd name="connsiteX1" fmla="*/ 1382038 w 1384419"/>
                <a:gd name="connsiteY1" fmla="*/ 1301764 h 1333144"/>
                <a:gd name="connsiteX2" fmla="*/ 8546 w 1384419"/>
                <a:gd name="connsiteY2" fmla="*/ 1324598 h 1333144"/>
                <a:gd name="connsiteX3" fmla="*/ 0 w 1384419"/>
                <a:gd name="connsiteY3" fmla="*/ 1333144 h 1333144"/>
                <a:gd name="connsiteX0" fmla="*/ 1384419 w 1384419"/>
                <a:gd name="connsiteY0" fmla="*/ 0 h 1375582"/>
                <a:gd name="connsiteX1" fmla="*/ 1374894 w 1384419"/>
                <a:gd name="connsiteY1" fmla="*/ 1375582 h 1375582"/>
                <a:gd name="connsiteX2" fmla="*/ 8546 w 1384419"/>
                <a:gd name="connsiteY2" fmla="*/ 1324598 h 1375582"/>
                <a:gd name="connsiteX3" fmla="*/ 0 w 1384419"/>
                <a:gd name="connsiteY3" fmla="*/ 1333144 h 1375582"/>
                <a:gd name="connsiteX0" fmla="*/ 1384419 w 1384419"/>
                <a:gd name="connsiteY0" fmla="*/ 0 h 1333144"/>
                <a:gd name="connsiteX1" fmla="*/ 1382038 w 1384419"/>
                <a:gd name="connsiteY1" fmla="*/ 1327957 h 1333144"/>
                <a:gd name="connsiteX2" fmla="*/ 8546 w 1384419"/>
                <a:gd name="connsiteY2" fmla="*/ 1324598 h 1333144"/>
                <a:gd name="connsiteX3" fmla="*/ 0 w 1384419"/>
                <a:gd name="connsiteY3" fmla="*/ 1333144 h 1333144"/>
                <a:gd name="connsiteX0" fmla="*/ 1375873 w 1375873"/>
                <a:gd name="connsiteY0" fmla="*/ 0 h 1533169"/>
                <a:gd name="connsiteX1" fmla="*/ 1373492 w 1375873"/>
                <a:gd name="connsiteY1" fmla="*/ 1327957 h 1533169"/>
                <a:gd name="connsiteX2" fmla="*/ 0 w 1375873"/>
                <a:gd name="connsiteY2" fmla="*/ 1324598 h 1533169"/>
                <a:gd name="connsiteX3" fmla="*/ 174810 w 1375873"/>
                <a:gd name="connsiteY3" fmla="*/ 1533169 h 1533169"/>
                <a:gd name="connsiteX0" fmla="*/ 1375873 w 1375873"/>
                <a:gd name="connsiteY0" fmla="*/ 0 h 1327957"/>
                <a:gd name="connsiteX1" fmla="*/ 1373492 w 1375873"/>
                <a:gd name="connsiteY1" fmla="*/ 1327957 h 1327957"/>
                <a:gd name="connsiteX2" fmla="*/ 0 w 1375873"/>
                <a:gd name="connsiteY2" fmla="*/ 1324598 h 1327957"/>
              </a:gdLst>
              <a:ahLst/>
              <a:cxnLst>
                <a:cxn ang="0">
                  <a:pos x="connsiteX0" y="connsiteY0"/>
                </a:cxn>
                <a:cxn ang="0">
                  <a:pos x="connsiteX1" y="connsiteY1"/>
                </a:cxn>
                <a:cxn ang="0">
                  <a:pos x="connsiteX2" y="connsiteY2"/>
                </a:cxn>
              </a:cxnLst>
              <a:rect l="l" t="t" r="r" b="b"/>
              <a:pathLst>
                <a:path w="1375873" h="1327957">
                  <a:moveTo>
                    <a:pt x="1375873" y="0"/>
                  </a:moveTo>
                  <a:cubicBezTo>
                    <a:pt x="1375079" y="433921"/>
                    <a:pt x="1374286" y="894036"/>
                    <a:pt x="1373492" y="1327957"/>
                  </a:cubicBezTo>
                  <a:lnTo>
                    <a:pt x="0" y="1324598"/>
                  </a:lnTo>
                </a:path>
              </a:pathLst>
            </a:custGeom>
            <a:noFill/>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sp>
          <p:nvSpPr>
            <p:cNvPr id="35" name="Полилиния: фигура 34">
              <a:extLst>
                <a:ext uri="{FF2B5EF4-FFF2-40B4-BE49-F238E27FC236}">
                  <a16:creationId xmlns:a16="http://schemas.microsoft.com/office/drawing/2014/main" id="{271D1B36-7636-4139-B99B-E370E5DDBA38}"/>
                </a:ext>
              </a:extLst>
            </p:cNvPr>
            <p:cNvSpPr/>
            <p:nvPr/>
          </p:nvSpPr>
          <p:spPr>
            <a:xfrm>
              <a:off x="2466996" y="2994660"/>
              <a:ext cx="7043138" cy="2567940"/>
            </a:xfrm>
            <a:custGeom>
              <a:avLst/>
              <a:gdLst>
                <a:gd name="connsiteX0" fmla="*/ 1384419 w 1384419"/>
                <a:gd name="connsiteY0" fmla="*/ 0 h 1333144"/>
                <a:gd name="connsiteX1" fmla="*/ 1384419 w 1384419"/>
                <a:gd name="connsiteY1" fmla="*/ 1316052 h 1333144"/>
                <a:gd name="connsiteX2" fmla="*/ 8546 w 1384419"/>
                <a:gd name="connsiteY2" fmla="*/ 1324598 h 1333144"/>
                <a:gd name="connsiteX3" fmla="*/ 0 w 1384419"/>
                <a:gd name="connsiteY3" fmla="*/ 1333144 h 1333144"/>
                <a:gd name="connsiteX0" fmla="*/ 1384419 w 1384419"/>
                <a:gd name="connsiteY0" fmla="*/ 0 h 1333144"/>
                <a:gd name="connsiteX1" fmla="*/ 1384419 w 1384419"/>
                <a:gd name="connsiteY1" fmla="*/ 1323195 h 1333144"/>
                <a:gd name="connsiteX2" fmla="*/ 8546 w 1384419"/>
                <a:gd name="connsiteY2" fmla="*/ 1324598 h 1333144"/>
                <a:gd name="connsiteX3" fmla="*/ 0 w 1384419"/>
                <a:gd name="connsiteY3" fmla="*/ 1333144 h 1333144"/>
                <a:gd name="connsiteX0" fmla="*/ 1384419 w 1384419"/>
                <a:gd name="connsiteY0" fmla="*/ 0 h 1333144"/>
                <a:gd name="connsiteX1" fmla="*/ 1384419 w 1384419"/>
                <a:gd name="connsiteY1" fmla="*/ 1332720 h 1333144"/>
                <a:gd name="connsiteX2" fmla="*/ 8546 w 1384419"/>
                <a:gd name="connsiteY2" fmla="*/ 1324598 h 1333144"/>
                <a:gd name="connsiteX3" fmla="*/ 0 w 1384419"/>
                <a:gd name="connsiteY3" fmla="*/ 1333144 h 1333144"/>
                <a:gd name="connsiteX0" fmla="*/ 1384419 w 1384419"/>
                <a:gd name="connsiteY0" fmla="*/ 0 h 1333144"/>
                <a:gd name="connsiteX1" fmla="*/ 1382038 w 1384419"/>
                <a:gd name="connsiteY1" fmla="*/ 1301764 h 1333144"/>
                <a:gd name="connsiteX2" fmla="*/ 8546 w 1384419"/>
                <a:gd name="connsiteY2" fmla="*/ 1324598 h 1333144"/>
                <a:gd name="connsiteX3" fmla="*/ 0 w 1384419"/>
                <a:gd name="connsiteY3" fmla="*/ 1333144 h 1333144"/>
                <a:gd name="connsiteX0" fmla="*/ 1384419 w 1384419"/>
                <a:gd name="connsiteY0" fmla="*/ 0 h 1375582"/>
                <a:gd name="connsiteX1" fmla="*/ 1374894 w 1384419"/>
                <a:gd name="connsiteY1" fmla="*/ 1375582 h 1375582"/>
                <a:gd name="connsiteX2" fmla="*/ 8546 w 1384419"/>
                <a:gd name="connsiteY2" fmla="*/ 1324598 h 1375582"/>
                <a:gd name="connsiteX3" fmla="*/ 0 w 1384419"/>
                <a:gd name="connsiteY3" fmla="*/ 1333144 h 1375582"/>
                <a:gd name="connsiteX0" fmla="*/ 1384419 w 1384419"/>
                <a:gd name="connsiteY0" fmla="*/ 0 h 1333144"/>
                <a:gd name="connsiteX1" fmla="*/ 1382038 w 1384419"/>
                <a:gd name="connsiteY1" fmla="*/ 1327957 h 1333144"/>
                <a:gd name="connsiteX2" fmla="*/ 8546 w 1384419"/>
                <a:gd name="connsiteY2" fmla="*/ 1324598 h 1333144"/>
                <a:gd name="connsiteX3" fmla="*/ 0 w 1384419"/>
                <a:gd name="connsiteY3" fmla="*/ 1333144 h 1333144"/>
                <a:gd name="connsiteX0" fmla="*/ 1375873 w 1375873"/>
                <a:gd name="connsiteY0" fmla="*/ 0 h 1533169"/>
                <a:gd name="connsiteX1" fmla="*/ 1373492 w 1375873"/>
                <a:gd name="connsiteY1" fmla="*/ 1327957 h 1533169"/>
                <a:gd name="connsiteX2" fmla="*/ 0 w 1375873"/>
                <a:gd name="connsiteY2" fmla="*/ 1324598 h 1533169"/>
                <a:gd name="connsiteX3" fmla="*/ 174810 w 1375873"/>
                <a:gd name="connsiteY3" fmla="*/ 1533169 h 1533169"/>
                <a:gd name="connsiteX0" fmla="*/ 1375873 w 1375873"/>
                <a:gd name="connsiteY0" fmla="*/ 0 h 1327957"/>
                <a:gd name="connsiteX1" fmla="*/ 1373492 w 1375873"/>
                <a:gd name="connsiteY1" fmla="*/ 1327957 h 1327957"/>
                <a:gd name="connsiteX2" fmla="*/ 0 w 1375873"/>
                <a:gd name="connsiteY2" fmla="*/ 1324598 h 1327957"/>
              </a:gdLst>
              <a:ahLst/>
              <a:cxnLst>
                <a:cxn ang="0">
                  <a:pos x="connsiteX0" y="connsiteY0"/>
                </a:cxn>
                <a:cxn ang="0">
                  <a:pos x="connsiteX1" y="connsiteY1"/>
                </a:cxn>
                <a:cxn ang="0">
                  <a:pos x="connsiteX2" y="connsiteY2"/>
                </a:cxn>
              </a:cxnLst>
              <a:rect l="l" t="t" r="r" b="b"/>
              <a:pathLst>
                <a:path w="1375873" h="1327957">
                  <a:moveTo>
                    <a:pt x="1375873" y="0"/>
                  </a:moveTo>
                  <a:cubicBezTo>
                    <a:pt x="1375079" y="433921"/>
                    <a:pt x="1374286" y="894036"/>
                    <a:pt x="1373492" y="1327957"/>
                  </a:cubicBezTo>
                  <a:lnTo>
                    <a:pt x="0" y="1324598"/>
                  </a:lnTo>
                </a:path>
              </a:pathLst>
            </a:custGeom>
            <a:noFill/>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ru-RU"/>
            </a:p>
          </p:txBody>
        </p:sp>
      </p:grpSp>
    </p:spTree>
    <p:extLst>
      <p:ext uri="{BB962C8B-B14F-4D97-AF65-F5344CB8AC3E}">
        <p14:creationId xmlns:p14="http://schemas.microsoft.com/office/powerpoint/2010/main" val="596803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7174D0-79A5-405F-875B-6D8A9C002687}"/>
              </a:ext>
            </a:extLst>
          </p:cNvPr>
          <p:cNvSpPr>
            <a:spLocks noGrp="1"/>
          </p:cNvSpPr>
          <p:nvPr>
            <p:ph type="title"/>
          </p:nvPr>
        </p:nvSpPr>
        <p:spPr>
          <a:xfrm>
            <a:off x="550863" y="407976"/>
            <a:ext cx="9608330" cy="332399"/>
          </a:xfrm>
        </p:spPr>
        <p:txBody>
          <a:bodyPr/>
          <a:lstStyle/>
          <a:p>
            <a:r>
              <a:rPr lang="ru-RU" dirty="0"/>
              <a:t>Здание ГУАП со стороны реки Мойки</a:t>
            </a:r>
          </a:p>
        </p:txBody>
      </p:sp>
      <p:pic>
        <p:nvPicPr>
          <p:cNvPr id="3" name="Рисунок 2">
            <a:extLst>
              <a:ext uri="{FF2B5EF4-FFF2-40B4-BE49-F238E27FC236}">
                <a16:creationId xmlns:a16="http://schemas.microsoft.com/office/drawing/2014/main" id="{6BF1AF72-31A0-49C5-BD55-8DC5F4C85F32}"/>
              </a:ext>
            </a:extLst>
          </p:cNvPr>
          <p:cNvPicPr>
            <a:picLocks noChangeAspect="1"/>
          </p:cNvPicPr>
          <p:nvPr/>
        </p:nvPicPr>
        <p:blipFill rotWithShape="1">
          <a:blip r:embed="rId2"/>
          <a:srcRect t="30981" b="922"/>
          <a:stretch/>
        </p:blipFill>
        <p:spPr>
          <a:xfrm>
            <a:off x="550863" y="1341439"/>
            <a:ext cx="11090275" cy="5040312"/>
          </a:xfrm>
          <a:prstGeom prst="snipRoundRect">
            <a:avLst>
              <a:gd name="adj1" fmla="val 16667"/>
              <a:gd name="adj2" fmla="val 0"/>
            </a:avLst>
          </a:prstGeom>
        </p:spPr>
      </p:pic>
    </p:spTree>
    <p:extLst>
      <p:ext uri="{BB962C8B-B14F-4D97-AF65-F5344CB8AC3E}">
        <p14:creationId xmlns:p14="http://schemas.microsoft.com/office/powerpoint/2010/main" val="3689125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EC08BDFC-6FEB-40BF-A409-3BB877EE5372}"/>
              </a:ext>
            </a:extLst>
          </p:cNvPr>
          <p:cNvPicPr>
            <a:picLocks noChangeAspect="1"/>
          </p:cNvPicPr>
          <p:nvPr/>
        </p:nvPicPr>
        <p:blipFill rotWithShape="1">
          <a:blip r:embed="rId2"/>
          <a:srcRect t="7870" b="7870"/>
          <a:stretch/>
        </p:blipFill>
        <p:spPr>
          <a:xfrm>
            <a:off x="0" y="0"/>
            <a:ext cx="12192000" cy="6858000"/>
          </a:xfrm>
          <a:prstGeom prst="rect">
            <a:avLst/>
          </a:prstGeom>
        </p:spPr>
      </p:pic>
      <p:sp>
        <p:nvSpPr>
          <p:cNvPr id="3" name="Прямоугольник: один скругленный угол 2">
            <a:extLst>
              <a:ext uri="{FF2B5EF4-FFF2-40B4-BE49-F238E27FC236}">
                <a16:creationId xmlns:a16="http://schemas.microsoft.com/office/drawing/2014/main" id="{87B914DB-2835-44E9-92CF-E2096DE5FF7C}"/>
              </a:ext>
            </a:extLst>
          </p:cNvPr>
          <p:cNvSpPr/>
          <p:nvPr/>
        </p:nvSpPr>
        <p:spPr>
          <a:xfrm flipH="1" flipV="1">
            <a:off x="9715500" y="-5"/>
            <a:ext cx="2476500" cy="1196975"/>
          </a:xfrm>
          <a:prstGeom prst="round1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200"/>
          </a:p>
        </p:txBody>
      </p:sp>
      <p:pic>
        <p:nvPicPr>
          <p:cNvPr id="5" name="Рисунок 4">
            <a:extLst>
              <a:ext uri="{FF2B5EF4-FFF2-40B4-BE49-F238E27FC236}">
                <a16:creationId xmlns:a16="http://schemas.microsoft.com/office/drawing/2014/main" id="{829480E6-78EF-4F22-9FFF-83FFEDA7EA0B}"/>
              </a:ext>
            </a:extLst>
          </p:cNvPr>
          <p:cNvPicPr>
            <a:picLocks noChangeAspect="1"/>
          </p:cNvPicPr>
          <p:nvPr/>
        </p:nvPicPr>
        <p:blipFill rotWithShape="1">
          <a:blip>
            <a:extLst>
              <a:ext uri="{96DAC541-7B7A-43D3-8B79-37D633B846F1}">
                <asvg:svgBlip xmlns:asvg="http://schemas.microsoft.com/office/drawing/2016/SVG/main" r:embed="rId3"/>
              </a:ext>
            </a:extLst>
          </a:blip>
          <a:srcRect l="37690" t="7363" r="22797" b="22038"/>
          <a:stretch/>
        </p:blipFill>
        <p:spPr>
          <a:xfrm>
            <a:off x="9715499" y="0"/>
            <a:ext cx="2476501" cy="1196975"/>
          </a:xfrm>
          <a:prstGeom prst="rect">
            <a:avLst/>
          </a:prstGeom>
        </p:spPr>
      </p:pic>
      <p:pic>
        <p:nvPicPr>
          <p:cNvPr id="6" name="Рисунок 5">
            <a:extLst>
              <a:ext uri="{FF2B5EF4-FFF2-40B4-BE49-F238E27FC236}">
                <a16:creationId xmlns:a16="http://schemas.microsoft.com/office/drawing/2014/main" id="{599B088E-BE57-4D5C-894F-436E87001D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26875" y="407976"/>
            <a:ext cx="1014262" cy="314912"/>
          </a:xfrm>
          <a:prstGeom prst="rect">
            <a:avLst/>
          </a:prstGeom>
        </p:spPr>
      </p:pic>
    </p:spTree>
    <p:extLst>
      <p:ext uri="{BB962C8B-B14F-4D97-AF65-F5344CB8AC3E}">
        <p14:creationId xmlns:p14="http://schemas.microsoft.com/office/powerpoint/2010/main" val="2699820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EC08BDFC-6FEB-40BF-A409-3BB877EE5372}"/>
              </a:ext>
            </a:extLst>
          </p:cNvPr>
          <p:cNvPicPr>
            <a:picLocks noChangeAspect="1"/>
          </p:cNvPicPr>
          <p:nvPr/>
        </p:nvPicPr>
        <p:blipFill rotWithShape="1">
          <a:blip r:embed="rId2"/>
          <a:srcRect t="7870" b="7870"/>
          <a:stretch/>
        </p:blipFill>
        <p:spPr>
          <a:xfrm>
            <a:off x="0" y="0"/>
            <a:ext cx="12192000" cy="6858000"/>
          </a:xfrm>
          <a:prstGeom prst="rect">
            <a:avLst/>
          </a:prstGeom>
        </p:spPr>
      </p:pic>
      <p:sp>
        <p:nvSpPr>
          <p:cNvPr id="3" name="Прямоугольник: один скругленный угол 2">
            <a:extLst>
              <a:ext uri="{FF2B5EF4-FFF2-40B4-BE49-F238E27FC236}">
                <a16:creationId xmlns:a16="http://schemas.microsoft.com/office/drawing/2014/main" id="{87B914DB-2835-44E9-92CF-E2096DE5FF7C}"/>
              </a:ext>
            </a:extLst>
          </p:cNvPr>
          <p:cNvSpPr/>
          <p:nvPr/>
        </p:nvSpPr>
        <p:spPr>
          <a:xfrm flipH="1" flipV="1">
            <a:off x="550862" y="-1"/>
            <a:ext cx="11641138" cy="1196975"/>
          </a:xfrm>
          <a:prstGeom prst="round1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ru-RU" sz="1200"/>
          </a:p>
        </p:txBody>
      </p:sp>
      <p:sp>
        <p:nvSpPr>
          <p:cNvPr id="4" name="Заголовок 1">
            <a:extLst>
              <a:ext uri="{FF2B5EF4-FFF2-40B4-BE49-F238E27FC236}">
                <a16:creationId xmlns:a16="http://schemas.microsoft.com/office/drawing/2014/main" id="{DDAA141C-6016-4588-85A5-4A4F9CC4B2AF}"/>
              </a:ext>
            </a:extLst>
          </p:cNvPr>
          <p:cNvSpPr txBox="1">
            <a:spLocks/>
          </p:cNvSpPr>
          <p:nvPr/>
        </p:nvSpPr>
        <p:spPr>
          <a:xfrm>
            <a:off x="661208" y="407976"/>
            <a:ext cx="9608330" cy="332399"/>
          </a:xfrm>
          <a:prstGeom prst="rect">
            <a:avLst/>
          </a:prstGeom>
        </p:spPr>
        <p:txBody>
          <a:bodyPr/>
          <a:lstStyle>
            <a:lvl1pPr algn="l" defTabSz="914400" rtl="0" eaLnBrk="1" latinLnBrk="0" hangingPunct="1">
              <a:lnSpc>
                <a:spcPct val="90000"/>
              </a:lnSpc>
              <a:spcBef>
                <a:spcPct val="0"/>
              </a:spcBef>
              <a:buNone/>
              <a:defRPr sz="2400" b="1" kern="1200">
                <a:solidFill>
                  <a:schemeClr val="bg1"/>
                </a:solidFill>
                <a:latin typeface="+mj-lt"/>
                <a:ea typeface="+mj-ea"/>
                <a:cs typeface="+mj-cs"/>
              </a:defRPr>
            </a:lvl1pPr>
          </a:lstStyle>
          <a:p>
            <a:r>
              <a:rPr lang="ru-RU" dirty="0"/>
              <a:t>Здание ГУАП со стороны реки Мойки</a:t>
            </a:r>
          </a:p>
        </p:txBody>
      </p:sp>
      <p:pic>
        <p:nvPicPr>
          <p:cNvPr id="5" name="Рисунок 4">
            <a:extLst>
              <a:ext uri="{FF2B5EF4-FFF2-40B4-BE49-F238E27FC236}">
                <a16:creationId xmlns:a16="http://schemas.microsoft.com/office/drawing/2014/main" id="{829480E6-78EF-4F22-9FFF-83FFEDA7EA0B}"/>
              </a:ext>
            </a:extLst>
          </p:cNvPr>
          <p:cNvPicPr>
            <a:picLocks noChangeAspect="1"/>
          </p:cNvPicPr>
          <p:nvPr/>
        </p:nvPicPr>
        <p:blipFill rotWithShape="1">
          <a:blip>
            <a:extLst>
              <a:ext uri="{96DAC541-7B7A-43D3-8B79-37D633B846F1}">
                <asvg:svgBlip xmlns:asvg="http://schemas.microsoft.com/office/drawing/2016/SVG/main" r:embed="rId3"/>
              </a:ext>
            </a:extLst>
          </a:blip>
          <a:srcRect t="7363" r="22797" b="22038"/>
          <a:stretch/>
        </p:blipFill>
        <p:spPr>
          <a:xfrm>
            <a:off x="7353301" y="0"/>
            <a:ext cx="4838700" cy="1196975"/>
          </a:xfrm>
          <a:prstGeom prst="rect">
            <a:avLst/>
          </a:prstGeom>
        </p:spPr>
      </p:pic>
      <p:pic>
        <p:nvPicPr>
          <p:cNvPr id="6" name="Рисунок 5">
            <a:extLst>
              <a:ext uri="{FF2B5EF4-FFF2-40B4-BE49-F238E27FC236}">
                <a16:creationId xmlns:a16="http://schemas.microsoft.com/office/drawing/2014/main" id="{599B088E-BE57-4D5C-894F-436E87001D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26875" y="407976"/>
            <a:ext cx="1014262" cy="314912"/>
          </a:xfrm>
          <a:prstGeom prst="rect">
            <a:avLst/>
          </a:prstGeom>
        </p:spPr>
      </p:pic>
    </p:spTree>
    <p:extLst>
      <p:ext uri="{BB962C8B-B14F-4D97-AF65-F5344CB8AC3E}">
        <p14:creationId xmlns:p14="http://schemas.microsoft.com/office/powerpoint/2010/main" val="33521971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A5BC97-99E1-4827-A5AA-5E9EBED1B7D1}"/>
              </a:ext>
            </a:extLst>
          </p:cNvPr>
          <p:cNvSpPr>
            <a:spLocks noGrp="1"/>
          </p:cNvSpPr>
          <p:nvPr>
            <p:ph type="title"/>
          </p:nvPr>
        </p:nvSpPr>
        <p:spPr/>
        <p:txBody>
          <a:bodyPr/>
          <a:lstStyle/>
          <a:p>
            <a:r>
              <a:rPr lang="ru-RU" dirty="0"/>
              <a:t>Дополнительные </a:t>
            </a:r>
            <a:br>
              <a:rPr lang="ru-RU" dirty="0"/>
            </a:br>
            <a:r>
              <a:rPr lang="ru-RU" dirty="0"/>
              <a:t>материалы </a:t>
            </a:r>
          </a:p>
        </p:txBody>
      </p:sp>
      <p:sp>
        <p:nvSpPr>
          <p:cNvPr id="3" name="Текст 2">
            <a:extLst>
              <a:ext uri="{FF2B5EF4-FFF2-40B4-BE49-F238E27FC236}">
                <a16:creationId xmlns:a16="http://schemas.microsoft.com/office/drawing/2014/main" id="{51EA8D34-BBBA-48A9-9B83-130C3E8DC9D2}"/>
              </a:ext>
            </a:extLst>
          </p:cNvPr>
          <p:cNvSpPr>
            <a:spLocks noGrp="1"/>
          </p:cNvSpPr>
          <p:nvPr>
            <p:ph type="body" sz="quarter" idx="10"/>
          </p:nvPr>
        </p:nvSpPr>
        <p:spPr/>
        <p:txBody>
          <a:bodyPr>
            <a:normAutofit/>
          </a:bodyPr>
          <a:lstStyle/>
          <a:p>
            <a:br>
              <a:rPr lang="ru-RU" dirty="0"/>
            </a:br>
            <a:endParaRPr lang="ru-RU" dirty="0"/>
          </a:p>
        </p:txBody>
      </p:sp>
    </p:spTree>
    <p:extLst>
      <p:ext uri="{BB962C8B-B14F-4D97-AF65-F5344CB8AC3E}">
        <p14:creationId xmlns:p14="http://schemas.microsoft.com/office/powerpoint/2010/main" val="707344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8F5DBD-2C36-4C1C-8D7E-D225D7320AE5}"/>
              </a:ext>
            </a:extLst>
          </p:cNvPr>
          <p:cNvSpPr>
            <a:spLocks noGrp="1"/>
          </p:cNvSpPr>
          <p:nvPr>
            <p:ph type="title"/>
          </p:nvPr>
        </p:nvSpPr>
        <p:spPr/>
        <p:txBody>
          <a:bodyPr/>
          <a:lstStyle/>
          <a:p>
            <a:r>
              <a:rPr lang="ru-RU" dirty="0"/>
              <a:t>Иконки подразделений. Фирменный цвет подразделений</a:t>
            </a:r>
          </a:p>
        </p:txBody>
      </p:sp>
      <p:pic>
        <p:nvPicPr>
          <p:cNvPr id="5" name="Рисунок 4">
            <a:extLst>
              <a:ext uri="{FF2B5EF4-FFF2-40B4-BE49-F238E27FC236}">
                <a16:creationId xmlns:a16="http://schemas.microsoft.com/office/drawing/2014/main" id="{02E6FD61-773B-4F8F-B195-819E4061AF5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819826" y="2544269"/>
            <a:ext cx="2075894" cy="572489"/>
          </a:xfrm>
          <a:prstGeom prst="rect">
            <a:avLst/>
          </a:prstGeom>
        </p:spPr>
      </p:pic>
      <p:pic>
        <p:nvPicPr>
          <p:cNvPr id="6" name="Рисунок 5">
            <a:extLst>
              <a:ext uri="{FF2B5EF4-FFF2-40B4-BE49-F238E27FC236}">
                <a16:creationId xmlns:a16="http://schemas.microsoft.com/office/drawing/2014/main" id="{A52C6D35-2573-4718-8B2D-60A4748512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9742" y="2544269"/>
            <a:ext cx="1682619" cy="572489"/>
          </a:xfrm>
          <a:prstGeom prst="rect">
            <a:avLst/>
          </a:prstGeom>
        </p:spPr>
      </p:pic>
      <p:pic>
        <p:nvPicPr>
          <p:cNvPr id="7" name="Рисунок 6">
            <a:extLst>
              <a:ext uri="{FF2B5EF4-FFF2-40B4-BE49-F238E27FC236}">
                <a16:creationId xmlns:a16="http://schemas.microsoft.com/office/drawing/2014/main" id="{60BD9149-DBF1-4724-9E78-4796BF8755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9742" y="5231939"/>
            <a:ext cx="1588033" cy="572489"/>
          </a:xfrm>
          <a:prstGeom prst="rect">
            <a:avLst/>
          </a:prstGeom>
        </p:spPr>
      </p:pic>
      <p:pic>
        <p:nvPicPr>
          <p:cNvPr id="8" name="Рисунок 7">
            <a:extLst>
              <a:ext uri="{FF2B5EF4-FFF2-40B4-BE49-F238E27FC236}">
                <a16:creationId xmlns:a16="http://schemas.microsoft.com/office/drawing/2014/main" id="{73918100-00F2-46F2-9672-D1D1C1B14D9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9742" y="3919997"/>
            <a:ext cx="1697553" cy="572489"/>
          </a:xfrm>
          <a:prstGeom prst="rect">
            <a:avLst/>
          </a:prstGeom>
        </p:spPr>
      </p:pic>
      <p:pic>
        <p:nvPicPr>
          <p:cNvPr id="9" name="Рисунок 8">
            <a:extLst>
              <a:ext uri="{FF2B5EF4-FFF2-40B4-BE49-F238E27FC236}">
                <a16:creationId xmlns:a16="http://schemas.microsoft.com/office/drawing/2014/main" id="{614FE9D2-624D-4E3D-9597-734D35800EB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819826" y="1295506"/>
            <a:ext cx="1458602" cy="572489"/>
          </a:xfrm>
          <a:prstGeom prst="rect">
            <a:avLst/>
          </a:prstGeom>
        </p:spPr>
      </p:pic>
      <p:pic>
        <p:nvPicPr>
          <p:cNvPr id="10" name="Рисунок 9">
            <a:extLst>
              <a:ext uri="{FF2B5EF4-FFF2-40B4-BE49-F238E27FC236}">
                <a16:creationId xmlns:a16="http://schemas.microsoft.com/office/drawing/2014/main" id="{6DD59B74-F320-47D8-BAED-E8248C8B759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04325" y="3919997"/>
            <a:ext cx="2026112" cy="572489"/>
          </a:xfrm>
          <a:prstGeom prst="rect">
            <a:avLst/>
          </a:prstGeom>
        </p:spPr>
      </p:pic>
      <p:pic>
        <p:nvPicPr>
          <p:cNvPr id="11" name="Рисунок 10">
            <a:extLst>
              <a:ext uri="{FF2B5EF4-FFF2-40B4-BE49-F238E27FC236}">
                <a16:creationId xmlns:a16="http://schemas.microsoft.com/office/drawing/2014/main" id="{5805959A-AED9-435F-88AB-C0A4DCAA02D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104325" y="5255967"/>
            <a:ext cx="1578077" cy="572489"/>
          </a:xfrm>
          <a:prstGeom prst="rect">
            <a:avLst/>
          </a:prstGeom>
        </p:spPr>
      </p:pic>
      <p:pic>
        <p:nvPicPr>
          <p:cNvPr id="12" name="Рисунок 11">
            <a:extLst>
              <a:ext uri="{FF2B5EF4-FFF2-40B4-BE49-F238E27FC236}">
                <a16:creationId xmlns:a16="http://schemas.microsoft.com/office/drawing/2014/main" id="{3D933651-780C-4314-9FBB-CCD3A23EBD9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104325" y="2544269"/>
            <a:ext cx="1593012" cy="572489"/>
          </a:xfrm>
          <a:prstGeom prst="rect">
            <a:avLst/>
          </a:prstGeom>
        </p:spPr>
      </p:pic>
      <p:pic>
        <p:nvPicPr>
          <p:cNvPr id="13" name="Рисунок 12">
            <a:extLst>
              <a:ext uri="{FF2B5EF4-FFF2-40B4-BE49-F238E27FC236}">
                <a16:creationId xmlns:a16="http://schemas.microsoft.com/office/drawing/2014/main" id="{8D285D54-18C6-460C-A606-0D720014092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819826" y="3919997"/>
            <a:ext cx="1742356" cy="572489"/>
          </a:xfrm>
          <a:prstGeom prst="rect">
            <a:avLst/>
          </a:prstGeom>
        </p:spPr>
      </p:pic>
      <p:pic>
        <p:nvPicPr>
          <p:cNvPr id="14" name="Рисунок 13">
            <a:extLst>
              <a:ext uri="{FF2B5EF4-FFF2-40B4-BE49-F238E27FC236}">
                <a16:creationId xmlns:a16="http://schemas.microsoft.com/office/drawing/2014/main" id="{491BA0C3-1A16-4A6D-8849-7E257272FDF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104325" y="1295506"/>
            <a:ext cx="1413798" cy="572488"/>
          </a:xfrm>
          <a:prstGeom prst="rect">
            <a:avLst/>
          </a:prstGeom>
        </p:spPr>
      </p:pic>
      <p:pic>
        <p:nvPicPr>
          <p:cNvPr id="15" name="Рисунок 14">
            <a:extLst>
              <a:ext uri="{FF2B5EF4-FFF2-40B4-BE49-F238E27FC236}">
                <a16:creationId xmlns:a16="http://schemas.microsoft.com/office/drawing/2014/main" id="{E0D6C905-9D52-4EFF-879F-AF75F124997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819826" y="5309428"/>
            <a:ext cx="1573099" cy="542620"/>
          </a:xfrm>
          <a:prstGeom prst="rect">
            <a:avLst/>
          </a:prstGeom>
        </p:spPr>
      </p:pic>
      <p:pic>
        <p:nvPicPr>
          <p:cNvPr id="16" name="Рисунок 15">
            <a:extLst>
              <a:ext uri="{FF2B5EF4-FFF2-40B4-BE49-F238E27FC236}">
                <a16:creationId xmlns:a16="http://schemas.microsoft.com/office/drawing/2014/main" id="{3061C9CC-FCC9-4DBD-9779-91717499D4A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59742" y="1295506"/>
            <a:ext cx="1826986" cy="572489"/>
          </a:xfrm>
          <a:prstGeom prst="rect">
            <a:avLst/>
          </a:prstGeom>
        </p:spPr>
      </p:pic>
      <p:pic>
        <p:nvPicPr>
          <p:cNvPr id="17" name="Рисунок 16">
            <a:extLst>
              <a:ext uri="{FF2B5EF4-FFF2-40B4-BE49-F238E27FC236}">
                <a16:creationId xmlns:a16="http://schemas.microsoft.com/office/drawing/2014/main" id="{118DE629-5DAB-4483-9B80-46A7C821CA4B}"/>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549221" y="2625840"/>
            <a:ext cx="519028" cy="519028"/>
          </a:xfrm>
          <a:prstGeom prst="rect">
            <a:avLst/>
          </a:prstGeom>
        </p:spPr>
      </p:pic>
      <p:pic>
        <p:nvPicPr>
          <p:cNvPr id="18" name="Рисунок 17">
            <a:extLst>
              <a:ext uri="{FF2B5EF4-FFF2-40B4-BE49-F238E27FC236}">
                <a16:creationId xmlns:a16="http://schemas.microsoft.com/office/drawing/2014/main" id="{5C588A11-E40E-42D8-98D9-F607DB4284F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972752" y="3969660"/>
            <a:ext cx="519028" cy="519028"/>
          </a:xfrm>
          <a:prstGeom prst="rect">
            <a:avLst/>
          </a:prstGeom>
        </p:spPr>
      </p:pic>
      <p:pic>
        <p:nvPicPr>
          <p:cNvPr id="19" name="Рисунок 18">
            <a:extLst>
              <a:ext uri="{FF2B5EF4-FFF2-40B4-BE49-F238E27FC236}">
                <a16:creationId xmlns:a16="http://schemas.microsoft.com/office/drawing/2014/main" id="{0F32ED17-1888-4B66-8DE3-91B163D2AA9F}"/>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9552069" y="1348967"/>
            <a:ext cx="519028" cy="519028"/>
          </a:xfrm>
          <a:prstGeom prst="rect">
            <a:avLst/>
          </a:prstGeom>
        </p:spPr>
      </p:pic>
      <p:pic>
        <p:nvPicPr>
          <p:cNvPr id="20" name="Рисунок 19">
            <a:extLst>
              <a:ext uri="{FF2B5EF4-FFF2-40B4-BE49-F238E27FC236}">
                <a16:creationId xmlns:a16="http://schemas.microsoft.com/office/drawing/2014/main" id="{23D998EB-3C21-4E05-9557-DCB832874F32}"/>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003560" y="5255967"/>
            <a:ext cx="519028" cy="519028"/>
          </a:xfrm>
          <a:prstGeom prst="rect">
            <a:avLst/>
          </a:prstGeom>
        </p:spPr>
      </p:pic>
      <p:pic>
        <p:nvPicPr>
          <p:cNvPr id="21" name="Рисунок 20">
            <a:extLst>
              <a:ext uri="{FF2B5EF4-FFF2-40B4-BE49-F238E27FC236}">
                <a16:creationId xmlns:a16="http://schemas.microsoft.com/office/drawing/2014/main" id="{4B3A74BD-9DBE-453D-A33F-202E0F3F18DA}"/>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9620306" y="5244700"/>
            <a:ext cx="514514" cy="491948"/>
          </a:xfrm>
          <a:prstGeom prst="rect">
            <a:avLst/>
          </a:prstGeom>
        </p:spPr>
      </p:pic>
      <p:pic>
        <p:nvPicPr>
          <p:cNvPr id="22" name="Рисунок 21">
            <a:extLst>
              <a:ext uri="{FF2B5EF4-FFF2-40B4-BE49-F238E27FC236}">
                <a16:creationId xmlns:a16="http://schemas.microsoft.com/office/drawing/2014/main" id="{4DDEA0A1-1668-41EA-8AD4-60E7A349A132}"/>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1122110" y="5309428"/>
            <a:ext cx="519028" cy="519028"/>
          </a:xfrm>
          <a:prstGeom prst="rect">
            <a:avLst/>
          </a:prstGeom>
        </p:spPr>
      </p:pic>
      <p:pic>
        <p:nvPicPr>
          <p:cNvPr id="23" name="Рисунок 22">
            <a:extLst>
              <a:ext uri="{FF2B5EF4-FFF2-40B4-BE49-F238E27FC236}">
                <a16:creationId xmlns:a16="http://schemas.microsoft.com/office/drawing/2014/main" id="{5F79C1CF-5EF7-452F-81C9-8719689CE99F}"/>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1122110" y="3912921"/>
            <a:ext cx="519028" cy="519028"/>
          </a:xfrm>
          <a:prstGeom prst="rect">
            <a:avLst/>
          </a:prstGeom>
        </p:spPr>
      </p:pic>
      <p:pic>
        <p:nvPicPr>
          <p:cNvPr id="24" name="Рисунок 23">
            <a:extLst>
              <a:ext uri="{FF2B5EF4-FFF2-40B4-BE49-F238E27FC236}">
                <a16:creationId xmlns:a16="http://schemas.microsoft.com/office/drawing/2014/main" id="{9347AC24-7332-465E-80B1-0137BE31291C}"/>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11113230" y="2609170"/>
            <a:ext cx="519028" cy="519028"/>
          </a:xfrm>
          <a:prstGeom prst="rect">
            <a:avLst/>
          </a:prstGeom>
        </p:spPr>
      </p:pic>
      <p:pic>
        <p:nvPicPr>
          <p:cNvPr id="25" name="Рисунок 24">
            <a:extLst>
              <a:ext uri="{FF2B5EF4-FFF2-40B4-BE49-F238E27FC236}">
                <a16:creationId xmlns:a16="http://schemas.microsoft.com/office/drawing/2014/main" id="{8510947D-6E62-404B-86F3-B5A9C212A785}"/>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9615792" y="4013467"/>
            <a:ext cx="519028" cy="519028"/>
          </a:xfrm>
          <a:prstGeom prst="rect">
            <a:avLst/>
          </a:prstGeom>
        </p:spPr>
      </p:pic>
      <p:pic>
        <p:nvPicPr>
          <p:cNvPr id="26" name="Рисунок 25">
            <a:extLst>
              <a:ext uri="{FF2B5EF4-FFF2-40B4-BE49-F238E27FC236}">
                <a16:creationId xmlns:a16="http://schemas.microsoft.com/office/drawing/2014/main" id="{A4133B32-631A-4FEC-A14A-AEF652D75105}"/>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11122110" y="1322236"/>
            <a:ext cx="519028" cy="519028"/>
          </a:xfrm>
          <a:prstGeom prst="rect">
            <a:avLst/>
          </a:prstGeom>
        </p:spPr>
      </p:pic>
      <p:pic>
        <p:nvPicPr>
          <p:cNvPr id="27" name="Рисунок 26">
            <a:extLst>
              <a:ext uri="{FF2B5EF4-FFF2-40B4-BE49-F238E27FC236}">
                <a16:creationId xmlns:a16="http://schemas.microsoft.com/office/drawing/2014/main" id="{52F3AF4D-5BEB-4B9A-AFD4-A30160ED2A71}"/>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7964510" y="1367326"/>
            <a:ext cx="519028" cy="519028"/>
          </a:xfrm>
          <a:prstGeom prst="rect">
            <a:avLst/>
          </a:prstGeom>
        </p:spPr>
      </p:pic>
      <p:pic>
        <p:nvPicPr>
          <p:cNvPr id="28" name="Рисунок 27">
            <a:extLst>
              <a:ext uri="{FF2B5EF4-FFF2-40B4-BE49-F238E27FC236}">
                <a16:creationId xmlns:a16="http://schemas.microsoft.com/office/drawing/2014/main" id="{12146B62-9513-479F-9AC7-5589CE9024FD}"/>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7964510" y="2636653"/>
            <a:ext cx="519028" cy="519028"/>
          </a:xfrm>
          <a:prstGeom prst="rect">
            <a:avLst/>
          </a:prstGeom>
        </p:spPr>
      </p:pic>
    </p:spTree>
    <p:extLst>
      <p:ext uri="{BB962C8B-B14F-4D97-AF65-F5344CB8AC3E}">
        <p14:creationId xmlns:p14="http://schemas.microsoft.com/office/powerpoint/2010/main" val="6829925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BEF31BD-843C-4C1A-A648-8AC92260A40B}"/>
              </a:ext>
            </a:extLst>
          </p:cNvPr>
          <p:cNvSpPr>
            <a:spLocks noGrp="1"/>
          </p:cNvSpPr>
          <p:nvPr>
            <p:ph type="title"/>
          </p:nvPr>
        </p:nvSpPr>
        <p:spPr/>
        <p:txBody>
          <a:bodyPr/>
          <a:lstStyle/>
          <a:p>
            <a:r>
              <a:rPr lang="ru-RU" dirty="0"/>
              <a:t>Иконки подразделений. Цветовая палитра ГУАП</a:t>
            </a:r>
          </a:p>
        </p:txBody>
      </p:sp>
      <p:pic>
        <p:nvPicPr>
          <p:cNvPr id="5" name="Рисунок 4">
            <a:extLst>
              <a:ext uri="{FF2B5EF4-FFF2-40B4-BE49-F238E27FC236}">
                <a16:creationId xmlns:a16="http://schemas.microsoft.com/office/drawing/2014/main" id="{DEFD8935-FED8-47E8-9B41-72315E01F332}"/>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819826" y="2544269"/>
            <a:ext cx="2075894" cy="572488"/>
          </a:xfrm>
          <a:prstGeom prst="rect">
            <a:avLst/>
          </a:prstGeom>
        </p:spPr>
      </p:pic>
      <p:pic>
        <p:nvPicPr>
          <p:cNvPr id="6" name="Рисунок 5">
            <a:extLst>
              <a:ext uri="{FF2B5EF4-FFF2-40B4-BE49-F238E27FC236}">
                <a16:creationId xmlns:a16="http://schemas.microsoft.com/office/drawing/2014/main" id="{68784041-BE8A-4EAF-9300-06406A50DB7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59742" y="2544269"/>
            <a:ext cx="1682619" cy="572488"/>
          </a:xfrm>
          <a:prstGeom prst="rect">
            <a:avLst/>
          </a:prstGeom>
        </p:spPr>
      </p:pic>
      <p:pic>
        <p:nvPicPr>
          <p:cNvPr id="7" name="Рисунок 6">
            <a:extLst>
              <a:ext uri="{FF2B5EF4-FFF2-40B4-BE49-F238E27FC236}">
                <a16:creationId xmlns:a16="http://schemas.microsoft.com/office/drawing/2014/main" id="{0375FDDC-51E3-4CB2-AE39-D9F8BDC2570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59742" y="5231939"/>
            <a:ext cx="1588033" cy="572488"/>
          </a:xfrm>
          <a:prstGeom prst="rect">
            <a:avLst/>
          </a:prstGeom>
        </p:spPr>
      </p:pic>
      <p:pic>
        <p:nvPicPr>
          <p:cNvPr id="8" name="Рисунок 7">
            <a:extLst>
              <a:ext uri="{FF2B5EF4-FFF2-40B4-BE49-F238E27FC236}">
                <a16:creationId xmlns:a16="http://schemas.microsoft.com/office/drawing/2014/main" id="{A51A179C-4F63-41D5-99A0-F645A5C78A26}"/>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559742" y="3919997"/>
            <a:ext cx="1697553" cy="572488"/>
          </a:xfrm>
          <a:prstGeom prst="rect">
            <a:avLst/>
          </a:prstGeom>
        </p:spPr>
      </p:pic>
      <p:pic>
        <p:nvPicPr>
          <p:cNvPr id="9" name="Рисунок 8">
            <a:extLst>
              <a:ext uri="{FF2B5EF4-FFF2-40B4-BE49-F238E27FC236}">
                <a16:creationId xmlns:a16="http://schemas.microsoft.com/office/drawing/2014/main" id="{D3D837E6-CD19-45E8-92CA-860F8D3C33D3}"/>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819826" y="1295506"/>
            <a:ext cx="1458602" cy="572488"/>
          </a:xfrm>
          <a:prstGeom prst="rect">
            <a:avLst/>
          </a:prstGeom>
        </p:spPr>
      </p:pic>
      <p:pic>
        <p:nvPicPr>
          <p:cNvPr id="10" name="Рисунок 9">
            <a:extLst>
              <a:ext uri="{FF2B5EF4-FFF2-40B4-BE49-F238E27FC236}">
                <a16:creationId xmlns:a16="http://schemas.microsoft.com/office/drawing/2014/main" id="{9BC85369-0210-46C3-8CED-3854869113B0}"/>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5104325" y="3919997"/>
            <a:ext cx="2026112" cy="572488"/>
          </a:xfrm>
          <a:prstGeom prst="rect">
            <a:avLst/>
          </a:prstGeom>
        </p:spPr>
      </p:pic>
      <p:pic>
        <p:nvPicPr>
          <p:cNvPr id="11" name="Рисунок 10">
            <a:extLst>
              <a:ext uri="{FF2B5EF4-FFF2-40B4-BE49-F238E27FC236}">
                <a16:creationId xmlns:a16="http://schemas.microsoft.com/office/drawing/2014/main" id="{745E95EB-E33C-4682-BE18-293ACE0BE738}"/>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5104325" y="5255967"/>
            <a:ext cx="1578077" cy="572488"/>
          </a:xfrm>
          <a:prstGeom prst="rect">
            <a:avLst/>
          </a:prstGeom>
        </p:spPr>
      </p:pic>
      <p:pic>
        <p:nvPicPr>
          <p:cNvPr id="12" name="Рисунок 11">
            <a:extLst>
              <a:ext uri="{FF2B5EF4-FFF2-40B4-BE49-F238E27FC236}">
                <a16:creationId xmlns:a16="http://schemas.microsoft.com/office/drawing/2014/main" id="{40959364-FBB0-43F1-A65F-B764A19F209E}"/>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5104325" y="2544269"/>
            <a:ext cx="1593012" cy="572488"/>
          </a:xfrm>
          <a:prstGeom prst="rect">
            <a:avLst/>
          </a:prstGeom>
        </p:spPr>
      </p:pic>
      <p:pic>
        <p:nvPicPr>
          <p:cNvPr id="13" name="Рисунок 12">
            <a:extLst>
              <a:ext uri="{FF2B5EF4-FFF2-40B4-BE49-F238E27FC236}">
                <a16:creationId xmlns:a16="http://schemas.microsoft.com/office/drawing/2014/main" id="{DA043FCB-8C28-4BB2-B04D-09D9C9C92FD4}"/>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2819826" y="3919997"/>
            <a:ext cx="1742356" cy="572488"/>
          </a:xfrm>
          <a:prstGeom prst="rect">
            <a:avLst/>
          </a:prstGeom>
        </p:spPr>
      </p:pic>
      <p:pic>
        <p:nvPicPr>
          <p:cNvPr id="14" name="Рисунок 13">
            <a:extLst>
              <a:ext uri="{FF2B5EF4-FFF2-40B4-BE49-F238E27FC236}">
                <a16:creationId xmlns:a16="http://schemas.microsoft.com/office/drawing/2014/main" id="{E8F2DE51-6BCE-4881-A46B-BC97E1711A2B}"/>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5104326" y="1295506"/>
            <a:ext cx="1413796" cy="572488"/>
          </a:xfrm>
          <a:prstGeom prst="rect">
            <a:avLst/>
          </a:prstGeom>
        </p:spPr>
      </p:pic>
      <p:pic>
        <p:nvPicPr>
          <p:cNvPr id="15" name="Рисунок 14">
            <a:extLst>
              <a:ext uri="{FF2B5EF4-FFF2-40B4-BE49-F238E27FC236}">
                <a16:creationId xmlns:a16="http://schemas.microsoft.com/office/drawing/2014/main" id="{F1B99001-7649-4F62-AECD-4650517DAD7A}"/>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2819826" y="5309428"/>
            <a:ext cx="1573099" cy="542619"/>
          </a:xfrm>
          <a:prstGeom prst="rect">
            <a:avLst/>
          </a:prstGeom>
        </p:spPr>
      </p:pic>
      <p:pic>
        <p:nvPicPr>
          <p:cNvPr id="16" name="Рисунок 15">
            <a:extLst>
              <a:ext uri="{FF2B5EF4-FFF2-40B4-BE49-F238E27FC236}">
                <a16:creationId xmlns:a16="http://schemas.microsoft.com/office/drawing/2014/main" id="{C66991D2-362D-4ADC-9912-052D12712A07}"/>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559742" y="1295506"/>
            <a:ext cx="1826986" cy="572488"/>
          </a:xfrm>
          <a:prstGeom prst="rect">
            <a:avLst/>
          </a:prstGeom>
        </p:spPr>
      </p:pic>
      <p:pic>
        <p:nvPicPr>
          <p:cNvPr id="17" name="Рисунок 16">
            <a:extLst>
              <a:ext uri="{FF2B5EF4-FFF2-40B4-BE49-F238E27FC236}">
                <a16:creationId xmlns:a16="http://schemas.microsoft.com/office/drawing/2014/main" id="{89BE070E-2E88-4B83-919B-D7CF525D68FF}"/>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9549221" y="2625840"/>
            <a:ext cx="519028" cy="519028"/>
          </a:xfrm>
          <a:prstGeom prst="rect">
            <a:avLst/>
          </a:prstGeom>
        </p:spPr>
      </p:pic>
      <p:pic>
        <p:nvPicPr>
          <p:cNvPr id="18" name="Рисунок 17">
            <a:extLst>
              <a:ext uri="{FF2B5EF4-FFF2-40B4-BE49-F238E27FC236}">
                <a16:creationId xmlns:a16="http://schemas.microsoft.com/office/drawing/2014/main" id="{4F85BF7F-AD2F-44EC-9016-AE015D5ECB75}"/>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a:off x="7972752" y="3969660"/>
            <a:ext cx="519028" cy="519028"/>
          </a:xfrm>
          <a:prstGeom prst="rect">
            <a:avLst/>
          </a:prstGeom>
        </p:spPr>
      </p:pic>
      <p:pic>
        <p:nvPicPr>
          <p:cNvPr id="19" name="Рисунок 18">
            <a:extLst>
              <a:ext uri="{FF2B5EF4-FFF2-40B4-BE49-F238E27FC236}">
                <a16:creationId xmlns:a16="http://schemas.microsoft.com/office/drawing/2014/main" id="{AF5F9B5C-12F6-4544-801B-C2D3AE4A99C2}"/>
              </a:ext>
            </a:extLst>
          </p:cNvPr>
          <p:cNvPicPr>
            <a:picLocks noChangeAspect="1"/>
          </p:cNvPicPr>
          <p:nvPr/>
        </p:nvPicPr>
        <p:blipFill>
          <a:blip>
            <a:extLst>
              <a:ext uri="{96DAC541-7B7A-43D3-8B79-37D633B846F1}">
                <asvg:svgBlip xmlns:asvg="http://schemas.microsoft.com/office/drawing/2016/SVG/main" r:embed="rId16"/>
              </a:ext>
            </a:extLst>
          </a:blip>
          <a:srcRect/>
          <a:stretch/>
        </p:blipFill>
        <p:spPr>
          <a:xfrm>
            <a:off x="9552069" y="1348967"/>
            <a:ext cx="519028" cy="519028"/>
          </a:xfrm>
          <a:prstGeom prst="rect">
            <a:avLst/>
          </a:prstGeom>
        </p:spPr>
      </p:pic>
      <p:pic>
        <p:nvPicPr>
          <p:cNvPr id="20" name="Рисунок 19">
            <a:extLst>
              <a:ext uri="{FF2B5EF4-FFF2-40B4-BE49-F238E27FC236}">
                <a16:creationId xmlns:a16="http://schemas.microsoft.com/office/drawing/2014/main" id="{043AED66-A308-446B-BB89-74995147F9CF}"/>
              </a:ext>
            </a:extLst>
          </p:cNvPr>
          <p:cNvPicPr>
            <a:picLocks noChangeAspect="1"/>
          </p:cNvPicPr>
          <p:nvPr/>
        </p:nvPicPr>
        <p:blipFill>
          <a:blip>
            <a:extLst>
              <a:ext uri="{96DAC541-7B7A-43D3-8B79-37D633B846F1}">
                <asvg:svgBlip xmlns:asvg="http://schemas.microsoft.com/office/drawing/2016/SVG/main" r:embed="rId17"/>
              </a:ext>
            </a:extLst>
          </a:blip>
          <a:srcRect/>
          <a:stretch/>
        </p:blipFill>
        <p:spPr>
          <a:xfrm>
            <a:off x="8003560" y="5255967"/>
            <a:ext cx="519028" cy="519028"/>
          </a:xfrm>
          <a:prstGeom prst="rect">
            <a:avLst/>
          </a:prstGeom>
        </p:spPr>
      </p:pic>
      <p:pic>
        <p:nvPicPr>
          <p:cNvPr id="21" name="Рисунок 20">
            <a:extLst>
              <a:ext uri="{FF2B5EF4-FFF2-40B4-BE49-F238E27FC236}">
                <a16:creationId xmlns:a16="http://schemas.microsoft.com/office/drawing/2014/main" id="{5104DE08-6E06-4D74-B8E3-6E4BA370A063}"/>
              </a:ext>
            </a:extLst>
          </p:cNvPr>
          <p:cNvPicPr>
            <a:picLocks noChangeAspect="1"/>
          </p:cNvPicPr>
          <p:nvPr/>
        </p:nvPicPr>
        <p:blipFill>
          <a:blip>
            <a:extLst>
              <a:ext uri="{96DAC541-7B7A-43D3-8B79-37D633B846F1}">
                <asvg:svgBlip xmlns:asvg="http://schemas.microsoft.com/office/drawing/2016/SVG/main" r:embed="rId18"/>
              </a:ext>
            </a:extLst>
          </a:blip>
          <a:srcRect/>
          <a:stretch/>
        </p:blipFill>
        <p:spPr>
          <a:xfrm>
            <a:off x="9620306" y="5244700"/>
            <a:ext cx="514514" cy="491947"/>
          </a:xfrm>
          <a:prstGeom prst="rect">
            <a:avLst/>
          </a:prstGeom>
        </p:spPr>
      </p:pic>
      <p:pic>
        <p:nvPicPr>
          <p:cNvPr id="22" name="Рисунок 21">
            <a:extLst>
              <a:ext uri="{FF2B5EF4-FFF2-40B4-BE49-F238E27FC236}">
                <a16:creationId xmlns:a16="http://schemas.microsoft.com/office/drawing/2014/main" id="{5BD54DA6-3B70-4A2B-AB59-F837E2E4C7D2}"/>
              </a:ext>
            </a:extLst>
          </p:cNvPr>
          <p:cNvPicPr>
            <a:picLocks noChangeAspect="1"/>
          </p:cNvPicPr>
          <p:nvPr/>
        </p:nvPicPr>
        <p:blipFill>
          <a:blip>
            <a:extLst>
              <a:ext uri="{96DAC541-7B7A-43D3-8B79-37D633B846F1}">
                <asvg:svgBlip xmlns:asvg="http://schemas.microsoft.com/office/drawing/2016/SVG/main" r:embed="rId19"/>
              </a:ext>
            </a:extLst>
          </a:blip>
          <a:srcRect/>
          <a:stretch/>
        </p:blipFill>
        <p:spPr>
          <a:xfrm>
            <a:off x="11122110" y="5309428"/>
            <a:ext cx="519028" cy="519028"/>
          </a:xfrm>
          <a:prstGeom prst="rect">
            <a:avLst/>
          </a:prstGeom>
        </p:spPr>
      </p:pic>
      <p:pic>
        <p:nvPicPr>
          <p:cNvPr id="23" name="Рисунок 22">
            <a:extLst>
              <a:ext uri="{FF2B5EF4-FFF2-40B4-BE49-F238E27FC236}">
                <a16:creationId xmlns:a16="http://schemas.microsoft.com/office/drawing/2014/main" id="{BC61779C-39CA-4BDB-BDBD-92FCD6C555A9}"/>
              </a:ext>
            </a:extLst>
          </p:cNvPr>
          <p:cNvPicPr>
            <a:picLocks noChangeAspect="1"/>
          </p:cNvPicPr>
          <p:nvPr/>
        </p:nvPicPr>
        <p:blipFill>
          <a:blip>
            <a:extLst>
              <a:ext uri="{96DAC541-7B7A-43D3-8B79-37D633B846F1}">
                <asvg:svgBlip xmlns:asvg="http://schemas.microsoft.com/office/drawing/2016/SVG/main" r:embed="rId20"/>
              </a:ext>
            </a:extLst>
          </a:blip>
          <a:srcRect/>
          <a:stretch/>
        </p:blipFill>
        <p:spPr>
          <a:xfrm>
            <a:off x="11122110" y="3912921"/>
            <a:ext cx="519028" cy="519028"/>
          </a:xfrm>
          <a:prstGeom prst="rect">
            <a:avLst/>
          </a:prstGeom>
        </p:spPr>
      </p:pic>
      <p:pic>
        <p:nvPicPr>
          <p:cNvPr id="24" name="Рисунок 23">
            <a:extLst>
              <a:ext uri="{FF2B5EF4-FFF2-40B4-BE49-F238E27FC236}">
                <a16:creationId xmlns:a16="http://schemas.microsoft.com/office/drawing/2014/main" id="{F1E13F08-6E6B-4B92-9154-A1AC1D3D84CD}"/>
              </a:ext>
            </a:extLst>
          </p:cNvPr>
          <p:cNvPicPr>
            <a:picLocks noChangeAspect="1"/>
          </p:cNvPicPr>
          <p:nvPr/>
        </p:nvPicPr>
        <p:blipFill>
          <a:blip>
            <a:extLst>
              <a:ext uri="{96DAC541-7B7A-43D3-8B79-37D633B846F1}">
                <asvg:svgBlip xmlns:asvg="http://schemas.microsoft.com/office/drawing/2016/SVG/main" r:embed="rId21"/>
              </a:ext>
            </a:extLst>
          </a:blip>
          <a:srcRect/>
          <a:stretch/>
        </p:blipFill>
        <p:spPr>
          <a:xfrm>
            <a:off x="11113230" y="2609170"/>
            <a:ext cx="519028" cy="519028"/>
          </a:xfrm>
          <a:prstGeom prst="rect">
            <a:avLst/>
          </a:prstGeom>
        </p:spPr>
      </p:pic>
      <p:pic>
        <p:nvPicPr>
          <p:cNvPr id="25" name="Рисунок 24">
            <a:extLst>
              <a:ext uri="{FF2B5EF4-FFF2-40B4-BE49-F238E27FC236}">
                <a16:creationId xmlns:a16="http://schemas.microsoft.com/office/drawing/2014/main" id="{2476620A-7CB7-4B83-9A3D-53ED0BB8969F}"/>
              </a:ext>
            </a:extLst>
          </p:cNvPr>
          <p:cNvPicPr>
            <a:picLocks noChangeAspect="1"/>
          </p:cNvPicPr>
          <p:nvPr/>
        </p:nvPicPr>
        <p:blipFill>
          <a:blip>
            <a:extLst>
              <a:ext uri="{96DAC541-7B7A-43D3-8B79-37D633B846F1}">
                <asvg:svgBlip xmlns:asvg="http://schemas.microsoft.com/office/drawing/2016/SVG/main" r:embed="rId22"/>
              </a:ext>
            </a:extLst>
          </a:blip>
          <a:srcRect/>
          <a:stretch/>
        </p:blipFill>
        <p:spPr>
          <a:xfrm>
            <a:off x="9615792" y="4013467"/>
            <a:ext cx="519028" cy="519028"/>
          </a:xfrm>
          <a:prstGeom prst="rect">
            <a:avLst/>
          </a:prstGeom>
        </p:spPr>
      </p:pic>
      <p:pic>
        <p:nvPicPr>
          <p:cNvPr id="26" name="Рисунок 25">
            <a:extLst>
              <a:ext uri="{FF2B5EF4-FFF2-40B4-BE49-F238E27FC236}">
                <a16:creationId xmlns:a16="http://schemas.microsoft.com/office/drawing/2014/main" id="{A14E3F78-6F40-44DB-9AE6-67B699A12C5F}"/>
              </a:ext>
            </a:extLst>
          </p:cNvPr>
          <p:cNvPicPr>
            <a:picLocks noChangeAspect="1"/>
          </p:cNvPicPr>
          <p:nvPr/>
        </p:nvPicPr>
        <p:blipFill>
          <a:blip>
            <a:extLst>
              <a:ext uri="{96DAC541-7B7A-43D3-8B79-37D633B846F1}">
                <asvg:svgBlip xmlns:asvg="http://schemas.microsoft.com/office/drawing/2016/SVG/main" r:embed="rId23"/>
              </a:ext>
            </a:extLst>
          </a:blip>
          <a:srcRect/>
          <a:stretch/>
        </p:blipFill>
        <p:spPr>
          <a:xfrm>
            <a:off x="11122110" y="1322236"/>
            <a:ext cx="519028" cy="519028"/>
          </a:xfrm>
          <a:prstGeom prst="rect">
            <a:avLst/>
          </a:prstGeom>
        </p:spPr>
      </p:pic>
      <p:pic>
        <p:nvPicPr>
          <p:cNvPr id="27" name="Рисунок 26">
            <a:extLst>
              <a:ext uri="{FF2B5EF4-FFF2-40B4-BE49-F238E27FC236}">
                <a16:creationId xmlns:a16="http://schemas.microsoft.com/office/drawing/2014/main" id="{550179F2-15BF-4BE7-BD71-25D27E2EC775}"/>
              </a:ext>
            </a:extLst>
          </p:cNvPr>
          <p:cNvPicPr>
            <a:picLocks noChangeAspect="1"/>
          </p:cNvPicPr>
          <p:nvPr/>
        </p:nvPicPr>
        <p:blipFill>
          <a:blip>
            <a:extLst>
              <a:ext uri="{96DAC541-7B7A-43D3-8B79-37D633B846F1}">
                <asvg:svgBlip xmlns:asvg="http://schemas.microsoft.com/office/drawing/2016/SVG/main" r:embed="rId24"/>
              </a:ext>
            </a:extLst>
          </a:blip>
          <a:srcRect/>
          <a:stretch/>
        </p:blipFill>
        <p:spPr>
          <a:xfrm>
            <a:off x="7964510" y="1367326"/>
            <a:ext cx="519028" cy="519028"/>
          </a:xfrm>
          <a:prstGeom prst="rect">
            <a:avLst/>
          </a:prstGeom>
        </p:spPr>
      </p:pic>
      <p:pic>
        <p:nvPicPr>
          <p:cNvPr id="28" name="Рисунок 27">
            <a:extLst>
              <a:ext uri="{FF2B5EF4-FFF2-40B4-BE49-F238E27FC236}">
                <a16:creationId xmlns:a16="http://schemas.microsoft.com/office/drawing/2014/main" id="{70869772-76AA-4E5C-B4C3-93748D49154E}"/>
              </a:ext>
            </a:extLst>
          </p:cNvPr>
          <p:cNvPicPr>
            <a:picLocks noChangeAspect="1"/>
          </p:cNvPicPr>
          <p:nvPr/>
        </p:nvPicPr>
        <p:blipFill>
          <a:blip>
            <a:extLst>
              <a:ext uri="{96DAC541-7B7A-43D3-8B79-37D633B846F1}">
                <asvg:svgBlip xmlns:asvg="http://schemas.microsoft.com/office/drawing/2016/SVG/main" r:embed="rId25"/>
              </a:ext>
            </a:extLst>
          </a:blip>
          <a:srcRect/>
          <a:stretch/>
        </p:blipFill>
        <p:spPr>
          <a:xfrm>
            <a:off x="7964510" y="2636653"/>
            <a:ext cx="519028" cy="519028"/>
          </a:xfrm>
          <a:prstGeom prst="rect">
            <a:avLst/>
          </a:prstGeom>
        </p:spPr>
      </p:pic>
    </p:spTree>
    <p:extLst>
      <p:ext uri="{BB962C8B-B14F-4D97-AF65-F5344CB8AC3E}">
        <p14:creationId xmlns:p14="http://schemas.microsoft.com/office/powerpoint/2010/main" val="25705048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C08D2B-50D9-4F35-85A7-499AC60D3795}"/>
              </a:ext>
            </a:extLst>
          </p:cNvPr>
          <p:cNvSpPr>
            <a:spLocks noGrp="1"/>
          </p:cNvSpPr>
          <p:nvPr>
            <p:ph type="title"/>
          </p:nvPr>
        </p:nvSpPr>
        <p:spPr/>
        <p:txBody>
          <a:bodyPr/>
          <a:lstStyle/>
          <a:p>
            <a:r>
              <a:rPr lang="ru-RU" dirty="0"/>
              <a:t>Базовый набор фигур *</a:t>
            </a:r>
          </a:p>
        </p:txBody>
      </p:sp>
      <p:sp>
        <p:nvSpPr>
          <p:cNvPr id="5" name="Прямоугольник 4">
            <a:extLst>
              <a:ext uri="{FF2B5EF4-FFF2-40B4-BE49-F238E27FC236}">
                <a16:creationId xmlns:a16="http://schemas.microsoft.com/office/drawing/2014/main" id="{6F9BAD17-BA60-4353-A6A4-3763192B4E4D}"/>
              </a:ext>
            </a:extLst>
          </p:cNvPr>
          <p:cNvSpPr/>
          <p:nvPr/>
        </p:nvSpPr>
        <p:spPr>
          <a:xfrm>
            <a:off x="737294" y="1553687"/>
            <a:ext cx="1486562" cy="1121225"/>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FFFFF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8" name="Прямоугольник 7">
            <a:extLst>
              <a:ext uri="{FF2B5EF4-FFF2-40B4-BE49-F238E27FC236}">
                <a16:creationId xmlns:a16="http://schemas.microsoft.com/office/drawing/2014/main" id="{24117895-0731-41AF-BD9C-F841728C4B87}"/>
              </a:ext>
            </a:extLst>
          </p:cNvPr>
          <p:cNvSpPr/>
          <p:nvPr/>
        </p:nvSpPr>
        <p:spPr>
          <a:xfrm>
            <a:off x="2587625" y="1553686"/>
            <a:ext cx="1486562" cy="1121225"/>
          </a:xfrm>
          <a:prstGeom prst="rect">
            <a:avLst/>
          </a:prstGeom>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9" name="Прямоугольник 8">
            <a:extLst>
              <a:ext uri="{FF2B5EF4-FFF2-40B4-BE49-F238E27FC236}">
                <a16:creationId xmlns:a16="http://schemas.microsoft.com/office/drawing/2014/main" id="{5E783C1E-C34B-4E08-B50B-B7D00CDD374D}"/>
              </a:ext>
            </a:extLst>
          </p:cNvPr>
          <p:cNvSpPr/>
          <p:nvPr/>
        </p:nvSpPr>
        <p:spPr>
          <a:xfrm>
            <a:off x="4418726" y="1553687"/>
            <a:ext cx="1486562" cy="1121225"/>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0" name="Прямоугольник 9">
            <a:extLst>
              <a:ext uri="{FF2B5EF4-FFF2-40B4-BE49-F238E27FC236}">
                <a16:creationId xmlns:a16="http://schemas.microsoft.com/office/drawing/2014/main" id="{5F770163-7F5A-409C-B3AB-0806788A6690}"/>
              </a:ext>
            </a:extLst>
          </p:cNvPr>
          <p:cNvSpPr/>
          <p:nvPr/>
        </p:nvSpPr>
        <p:spPr>
          <a:xfrm>
            <a:off x="737294" y="3231259"/>
            <a:ext cx="1486562" cy="1121225"/>
          </a:xfrm>
          <a:prstGeom prst="rect">
            <a:avLst/>
          </a:prstGeom>
          <a:solidFill>
            <a:schemeClr val="accent1">
              <a:lumMod val="50000"/>
            </a:schemeClr>
          </a:solidFill>
          <a:ln>
            <a:solidFill>
              <a:schemeClr val="accent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FFFFF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1" name="Прямоугольник 10">
            <a:extLst>
              <a:ext uri="{FF2B5EF4-FFF2-40B4-BE49-F238E27FC236}">
                <a16:creationId xmlns:a16="http://schemas.microsoft.com/office/drawing/2014/main" id="{0BCB2B9D-7677-4242-9455-11F6A7B64973}"/>
              </a:ext>
            </a:extLst>
          </p:cNvPr>
          <p:cNvSpPr/>
          <p:nvPr/>
        </p:nvSpPr>
        <p:spPr>
          <a:xfrm>
            <a:off x="2587625" y="3231258"/>
            <a:ext cx="1486562" cy="1121225"/>
          </a:xfrm>
          <a:prstGeom prst="rect">
            <a:avLst/>
          </a:prstGeom>
          <a:solidFill>
            <a:schemeClr val="tx2">
              <a:lumMod val="10000"/>
              <a:lumOff val="90000"/>
            </a:schemeClr>
          </a:solidFill>
          <a:ln>
            <a:solidFill>
              <a:schemeClr val="tx2"/>
            </a:solidFill>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2" name="Прямоугольник 11">
            <a:extLst>
              <a:ext uri="{FF2B5EF4-FFF2-40B4-BE49-F238E27FC236}">
                <a16:creationId xmlns:a16="http://schemas.microsoft.com/office/drawing/2014/main" id="{8A3ED51F-0572-4CD0-9D07-ECC78D5DF193}"/>
              </a:ext>
            </a:extLst>
          </p:cNvPr>
          <p:cNvSpPr/>
          <p:nvPr/>
        </p:nvSpPr>
        <p:spPr>
          <a:xfrm>
            <a:off x="4418726" y="3231259"/>
            <a:ext cx="1486562" cy="1121225"/>
          </a:xfrm>
          <a:prstGeom prst="rect">
            <a:avLst/>
          </a:prstGeom>
          <a:ln>
            <a:solidFill>
              <a:schemeClr val="tx2"/>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3" name="Текст 5">
            <a:extLst>
              <a:ext uri="{FF2B5EF4-FFF2-40B4-BE49-F238E27FC236}">
                <a16:creationId xmlns:a16="http://schemas.microsoft.com/office/drawing/2014/main" id="{98349A26-E60E-4C6A-9928-A6FB0EE26205}"/>
              </a:ext>
            </a:extLst>
          </p:cNvPr>
          <p:cNvSpPr txBox="1">
            <a:spLocks/>
          </p:cNvSpPr>
          <p:nvPr/>
        </p:nvSpPr>
        <p:spPr>
          <a:xfrm>
            <a:off x="6800295" y="4593775"/>
            <a:ext cx="4840843" cy="1787971"/>
          </a:xfrm>
          <a:prstGeom prst="rect">
            <a:avLst/>
          </a:prstGeom>
          <a:solidFill>
            <a:schemeClr val="bg1"/>
          </a:solidFill>
        </p:spPr>
        <p:txBody>
          <a:bodyPr vert="horz" lIns="0" tIns="0" rIns="0" bIns="0" rtlCol="0" anchor="ctr" anchorCtr="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Roboto Light" panose="02000000000000000000" pitchFamily="2" charset="0"/>
              </a:rPr>
              <a:t>* Для копирования свойств стиля в</a:t>
            </a:r>
            <a:r>
              <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rPr>
              <a:t>ыберите фигуру, форматирование которой нужно скопировать, а затем нажмите CTRL+SHIFT+C. После этого выберите фигуру, в которую вы хотите скопировать форматирование и нажмите CTRL+SHIFT+V.</a:t>
            </a:r>
            <a:r>
              <a:rPr kumimoji="0" lang="en-US" sz="800" b="1" i="0" u="none" strike="noStrike" kern="1200" cap="none" spc="0" normalizeH="0" baseline="0" noProof="0" dirty="0">
                <a:ln>
                  <a:noFill/>
                </a:ln>
                <a:solidFill>
                  <a:srgbClr val="242834"/>
                </a:solidFill>
                <a:effectLst/>
                <a:uLnTx/>
                <a:uFillTx/>
                <a:latin typeface="Arial" panose="020B0604020202020204"/>
                <a:ea typeface="+mn-ea"/>
                <a:cs typeface="+mn-cs"/>
              </a:rPr>
              <a:t> </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rPr>
              <a:t>** Для использования стрелок в схемах и рисунках скопируйте нужный образец.</a:t>
            </a:r>
          </a:p>
        </p:txBody>
      </p:sp>
      <p:sp>
        <p:nvSpPr>
          <p:cNvPr id="17" name="Прямоугольник 16">
            <a:extLst>
              <a:ext uri="{FF2B5EF4-FFF2-40B4-BE49-F238E27FC236}">
                <a16:creationId xmlns:a16="http://schemas.microsoft.com/office/drawing/2014/main" id="{03DEA450-5BEE-41B7-B329-D27DB555A6D6}"/>
              </a:ext>
            </a:extLst>
          </p:cNvPr>
          <p:cNvSpPr/>
          <p:nvPr/>
        </p:nvSpPr>
        <p:spPr>
          <a:xfrm>
            <a:off x="737294" y="4960107"/>
            <a:ext cx="1486562" cy="1121225"/>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FFFFF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8" name="Прямоугольник 17">
            <a:extLst>
              <a:ext uri="{FF2B5EF4-FFF2-40B4-BE49-F238E27FC236}">
                <a16:creationId xmlns:a16="http://schemas.microsoft.com/office/drawing/2014/main" id="{D84727AF-56EA-44AD-9F23-4FA0368AE5BA}"/>
              </a:ext>
            </a:extLst>
          </p:cNvPr>
          <p:cNvSpPr/>
          <p:nvPr/>
        </p:nvSpPr>
        <p:spPr>
          <a:xfrm>
            <a:off x="2587625" y="4960106"/>
            <a:ext cx="1486562" cy="1121225"/>
          </a:xfrm>
          <a:prstGeom prst="rect">
            <a:avLst/>
          </a:prstGeom>
          <a:solidFill>
            <a:schemeClr val="accent2">
              <a:lumMod val="20000"/>
              <a:lumOff val="80000"/>
            </a:schemeClr>
          </a:solidFill>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19" name="Прямоугольник 18">
            <a:extLst>
              <a:ext uri="{FF2B5EF4-FFF2-40B4-BE49-F238E27FC236}">
                <a16:creationId xmlns:a16="http://schemas.microsoft.com/office/drawing/2014/main" id="{60C4DB97-651D-4734-BEA7-5FB42B27F17C}"/>
              </a:ext>
            </a:extLst>
          </p:cNvPr>
          <p:cNvSpPr/>
          <p:nvPr/>
        </p:nvSpPr>
        <p:spPr>
          <a:xfrm>
            <a:off x="4418726" y="4960107"/>
            <a:ext cx="1486562" cy="1121225"/>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1000" b="0" i="0" u="none" strike="noStrike" kern="1200" cap="none" spc="0" normalizeH="0" baseline="0" noProof="0" dirty="0">
                <a:ln>
                  <a:noFill/>
                </a:ln>
                <a:solidFill>
                  <a:srgbClr val="002C5F"/>
                </a:solidFill>
                <a:effectLst/>
                <a:uLnTx/>
                <a:uFillTx/>
                <a:latin typeface="Arial" panose="020B0604020202020204"/>
                <a:ea typeface="+mn-ea"/>
                <a:cs typeface="+mn-cs"/>
              </a:rPr>
              <a:t>Государственный университет аэрокосмического приборостроения</a:t>
            </a:r>
          </a:p>
        </p:txBody>
      </p:sp>
      <p:sp>
        <p:nvSpPr>
          <p:cNvPr id="24" name="Стрелка: вправо 23">
            <a:extLst>
              <a:ext uri="{FF2B5EF4-FFF2-40B4-BE49-F238E27FC236}">
                <a16:creationId xmlns:a16="http://schemas.microsoft.com/office/drawing/2014/main" id="{8F4B274B-E1C5-49C7-AC71-79CAC90B16BA}"/>
              </a:ext>
            </a:extLst>
          </p:cNvPr>
          <p:cNvSpPr/>
          <p:nvPr/>
        </p:nvSpPr>
        <p:spPr>
          <a:xfrm flipH="1">
            <a:off x="10946755" y="3616214"/>
            <a:ext cx="163285" cy="254033"/>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25" name="Стрелка: вправо 24">
            <a:extLst>
              <a:ext uri="{FF2B5EF4-FFF2-40B4-BE49-F238E27FC236}">
                <a16:creationId xmlns:a16="http://schemas.microsoft.com/office/drawing/2014/main" id="{61C1CE1C-BE20-4929-AAD1-3B9F580E434A}"/>
              </a:ext>
            </a:extLst>
          </p:cNvPr>
          <p:cNvSpPr/>
          <p:nvPr/>
        </p:nvSpPr>
        <p:spPr>
          <a:xfrm>
            <a:off x="10622823" y="3616214"/>
            <a:ext cx="163285" cy="254033"/>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cxnSp>
        <p:nvCxnSpPr>
          <p:cNvPr id="26" name="Прямая со стрелкой 25">
            <a:extLst>
              <a:ext uri="{FF2B5EF4-FFF2-40B4-BE49-F238E27FC236}">
                <a16:creationId xmlns:a16="http://schemas.microsoft.com/office/drawing/2014/main" id="{5FB4CBEB-F186-4CB3-8F10-B50683561E2E}"/>
              </a:ext>
            </a:extLst>
          </p:cNvPr>
          <p:cNvCxnSpPr>
            <a:cxnSpLocks/>
          </p:cNvCxnSpPr>
          <p:nvPr/>
        </p:nvCxnSpPr>
        <p:spPr>
          <a:xfrm>
            <a:off x="7176502" y="2096099"/>
            <a:ext cx="2438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Прямая со стрелкой 26">
            <a:extLst>
              <a:ext uri="{FF2B5EF4-FFF2-40B4-BE49-F238E27FC236}">
                <a16:creationId xmlns:a16="http://schemas.microsoft.com/office/drawing/2014/main" id="{186FAC55-221F-4BCD-B81D-C534C14C8E63}"/>
              </a:ext>
            </a:extLst>
          </p:cNvPr>
          <p:cNvCxnSpPr>
            <a:cxnSpLocks/>
          </p:cNvCxnSpPr>
          <p:nvPr/>
        </p:nvCxnSpPr>
        <p:spPr>
          <a:xfrm flipH="1">
            <a:off x="7611585" y="2096099"/>
            <a:ext cx="2438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Текст 5">
            <a:extLst>
              <a:ext uri="{FF2B5EF4-FFF2-40B4-BE49-F238E27FC236}">
                <a16:creationId xmlns:a16="http://schemas.microsoft.com/office/drawing/2014/main" id="{C45A4B71-20BB-47D1-AA9F-14F1592660EA}"/>
              </a:ext>
            </a:extLst>
          </p:cNvPr>
          <p:cNvSpPr txBox="1">
            <a:spLocks/>
          </p:cNvSpPr>
          <p:nvPr/>
        </p:nvSpPr>
        <p:spPr>
          <a:xfrm>
            <a:off x="560330" y="1301519"/>
            <a:ext cx="5175309" cy="151023"/>
          </a:xfrm>
          <a:prstGeom prst="rect">
            <a:avLst/>
          </a:prstGeom>
          <a:noFill/>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3">
              <a:lnSpc>
                <a:spcPct val="130000"/>
              </a:lnSpc>
              <a:buClr>
                <a:srgbClr val="005AAA">
                  <a:lumMod val="50000"/>
                </a:srgbClr>
              </a:buClr>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mn-cs"/>
              </a:rPr>
              <a:t>Стили блоков — основные*</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23" name="Текст 5">
            <a:extLst>
              <a:ext uri="{FF2B5EF4-FFF2-40B4-BE49-F238E27FC236}">
                <a16:creationId xmlns:a16="http://schemas.microsoft.com/office/drawing/2014/main" id="{8823D933-1245-4044-8FA6-9F8F352D446B}"/>
              </a:ext>
            </a:extLst>
          </p:cNvPr>
          <p:cNvSpPr txBox="1">
            <a:spLocks/>
          </p:cNvSpPr>
          <p:nvPr/>
        </p:nvSpPr>
        <p:spPr>
          <a:xfrm>
            <a:off x="6800295" y="1301519"/>
            <a:ext cx="4471014" cy="151023"/>
          </a:xfrm>
          <a:prstGeom prst="rect">
            <a:avLst/>
          </a:prstGeom>
          <a:noFill/>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mn-cs"/>
              </a:rPr>
              <a:t>Стиль стрелок — основной*</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28" name="Стрелка: вправо 27">
            <a:extLst>
              <a:ext uri="{FF2B5EF4-FFF2-40B4-BE49-F238E27FC236}">
                <a16:creationId xmlns:a16="http://schemas.microsoft.com/office/drawing/2014/main" id="{F8D0075C-7842-48EB-86C0-2E6FAE0E33ED}"/>
              </a:ext>
            </a:extLst>
          </p:cNvPr>
          <p:cNvSpPr/>
          <p:nvPr/>
        </p:nvSpPr>
        <p:spPr>
          <a:xfrm flipH="1">
            <a:off x="7611585" y="3490578"/>
            <a:ext cx="324795" cy="505305"/>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29" name="Стрелка: вправо 28">
            <a:extLst>
              <a:ext uri="{FF2B5EF4-FFF2-40B4-BE49-F238E27FC236}">
                <a16:creationId xmlns:a16="http://schemas.microsoft.com/office/drawing/2014/main" id="{C38F8DD1-3678-4EFC-9144-F29045BE4059}"/>
              </a:ext>
            </a:extLst>
          </p:cNvPr>
          <p:cNvSpPr/>
          <p:nvPr/>
        </p:nvSpPr>
        <p:spPr>
          <a:xfrm>
            <a:off x="7126143" y="3490578"/>
            <a:ext cx="324795" cy="505305"/>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30" name="Стрелка: вправо 29">
            <a:extLst>
              <a:ext uri="{FF2B5EF4-FFF2-40B4-BE49-F238E27FC236}">
                <a16:creationId xmlns:a16="http://schemas.microsoft.com/office/drawing/2014/main" id="{BADC1891-E7A7-497F-A3F5-F4A7223E09A0}"/>
              </a:ext>
            </a:extLst>
          </p:cNvPr>
          <p:cNvSpPr/>
          <p:nvPr/>
        </p:nvSpPr>
        <p:spPr>
          <a:xfrm flipH="1">
            <a:off x="9329875" y="3553576"/>
            <a:ext cx="243808" cy="379308"/>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31" name="Стрелка: вправо 30">
            <a:extLst>
              <a:ext uri="{FF2B5EF4-FFF2-40B4-BE49-F238E27FC236}">
                <a16:creationId xmlns:a16="http://schemas.microsoft.com/office/drawing/2014/main" id="{A385C67F-0915-4F33-B4F0-5E72F72E4598}"/>
              </a:ext>
            </a:extLst>
          </p:cNvPr>
          <p:cNvSpPr/>
          <p:nvPr/>
        </p:nvSpPr>
        <p:spPr>
          <a:xfrm>
            <a:off x="8925420" y="3553576"/>
            <a:ext cx="243808" cy="379308"/>
          </a:xfrm>
          <a:prstGeom prst="rightArrow">
            <a:avLst>
              <a:gd name="adj1" fmla="val 60119"/>
              <a:gd name="adj2" fmla="val 68979"/>
            </a:avLst>
          </a:prstGeom>
          <a:ln>
            <a:noFill/>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ru-RU" sz="1000" b="0"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32" name="Текст 5">
            <a:extLst>
              <a:ext uri="{FF2B5EF4-FFF2-40B4-BE49-F238E27FC236}">
                <a16:creationId xmlns:a16="http://schemas.microsoft.com/office/drawing/2014/main" id="{25CC532F-76D7-4A22-B7A3-F9848FF5EEE7}"/>
              </a:ext>
            </a:extLst>
          </p:cNvPr>
          <p:cNvSpPr txBox="1">
            <a:spLocks/>
          </p:cNvSpPr>
          <p:nvPr/>
        </p:nvSpPr>
        <p:spPr>
          <a:xfrm>
            <a:off x="6800295" y="2992578"/>
            <a:ext cx="4471014" cy="151024"/>
          </a:xfrm>
          <a:prstGeom prst="rect">
            <a:avLst/>
          </a:prstGeom>
          <a:noFill/>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mn-cs"/>
              </a:rPr>
              <a:t>Стиль стрелок — дополнительный**</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33" name="Текст 5">
            <a:extLst>
              <a:ext uri="{FF2B5EF4-FFF2-40B4-BE49-F238E27FC236}">
                <a16:creationId xmlns:a16="http://schemas.microsoft.com/office/drawing/2014/main" id="{A0526475-D839-4E27-93E4-B888662B673A}"/>
              </a:ext>
            </a:extLst>
          </p:cNvPr>
          <p:cNvSpPr txBox="1">
            <a:spLocks/>
          </p:cNvSpPr>
          <p:nvPr/>
        </p:nvSpPr>
        <p:spPr>
          <a:xfrm>
            <a:off x="560330" y="2992577"/>
            <a:ext cx="5175309" cy="151023"/>
          </a:xfrm>
          <a:prstGeom prst="rect">
            <a:avLst/>
          </a:prstGeom>
          <a:noFill/>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mn-cs"/>
              </a:rPr>
              <a:t>Стили блоков — дополнительные*</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
        <p:nvSpPr>
          <p:cNvPr id="34" name="Текст 5">
            <a:extLst>
              <a:ext uri="{FF2B5EF4-FFF2-40B4-BE49-F238E27FC236}">
                <a16:creationId xmlns:a16="http://schemas.microsoft.com/office/drawing/2014/main" id="{A85AB283-7F16-4202-85CA-BCF7CD559CF7}"/>
              </a:ext>
            </a:extLst>
          </p:cNvPr>
          <p:cNvSpPr txBox="1">
            <a:spLocks/>
          </p:cNvSpPr>
          <p:nvPr/>
        </p:nvSpPr>
        <p:spPr>
          <a:xfrm>
            <a:off x="560330" y="4724943"/>
            <a:ext cx="5175309" cy="151023"/>
          </a:xfrm>
          <a:prstGeom prst="rect">
            <a:avLst/>
          </a:prstGeom>
          <a:noFill/>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kern="1200">
                <a:solidFill>
                  <a:schemeClr val="tx2">
                    <a:lumMod val="90000"/>
                    <a:lumOff val="10000"/>
                  </a:schemeClr>
                </a:solidFill>
                <a:latin typeface="+mn-lt"/>
                <a:ea typeface="+mn-ea"/>
                <a:cs typeface="+mn-cs"/>
              </a:defRPr>
            </a:lvl1pPr>
            <a:lvl2pPr marL="0" indent="0" algn="l" defTabSz="914400" rtl="0" eaLnBrk="1" latinLnBrk="0" hangingPunct="1">
              <a:lnSpc>
                <a:spcPct val="100000"/>
              </a:lnSpc>
              <a:spcBef>
                <a:spcPts val="500"/>
              </a:spcBef>
              <a:buFont typeface="Arial" panose="020B0604020202020204" pitchFamily="34" charset="0"/>
              <a:buNone/>
              <a:defRPr sz="1400" b="1" kern="1200">
                <a:solidFill>
                  <a:schemeClr val="accent1"/>
                </a:solidFill>
                <a:latin typeface="+mn-lt"/>
                <a:ea typeface="+mn-ea"/>
                <a:cs typeface="+mn-cs"/>
              </a:defRPr>
            </a:lvl2pPr>
            <a:lvl3pPr marL="0" indent="0" algn="l" defTabSz="914400" rtl="0" eaLnBrk="1" latinLnBrk="0" hangingPunct="1">
              <a:lnSpc>
                <a:spcPct val="100000"/>
              </a:lnSpc>
              <a:spcBef>
                <a:spcPts val="500"/>
              </a:spcBef>
              <a:buClr>
                <a:schemeClr val="accent1">
                  <a:lumMod val="50000"/>
                </a:schemeClr>
              </a:buClr>
              <a:buSzPct val="120000"/>
              <a:buFont typeface="Wingdings" panose="05000000000000000000" pitchFamily="2" charset="2"/>
              <a:buNone/>
              <a:defRPr sz="1100" b="1" kern="1200">
                <a:solidFill>
                  <a:schemeClr val="tx2"/>
                </a:solidFill>
                <a:latin typeface="+mn-lt"/>
                <a:ea typeface="+mn-ea"/>
                <a:cs typeface="+mn-cs"/>
              </a:defRPr>
            </a:lvl3pPr>
            <a:lvl4pPr marL="0" indent="0" algn="l" defTabSz="914400" rtl="0" eaLnBrk="1" latinLnBrk="0" hangingPunct="1">
              <a:lnSpc>
                <a:spcPct val="100000"/>
              </a:lnSpc>
              <a:spcBef>
                <a:spcPts val="500"/>
              </a:spcBef>
              <a:buClr>
                <a:schemeClr val="accent1">
                  <a:lumMod val="50000"/>
                </a:schemeClr>
              </a:buClr>
              <a:buFont typeface="+mj-lt"/>
              <a:buNone/>
              <a:tabLst>
                <a:tab pos="269875" algn="l"/>
              </a:tabLst>
              <a:defRPr sz="1400" kern="1200">
                <a:solidFill>
                  <a:schemeClr val="tx1"/>
                </a:solidFill>
                <a:latin typeface="+mn-lt"/>
                <a:ea typeface="+mn-ea"/>
                <a:cs typeface="+mn-cs"/>
              </a:defRPr>
            </a:lvl4pPr>
            <a:lvl5pPr marL="271463" indent="-271463" algn="l" defTabSz="914400" rtl="0" eaLnBrk="1" latinLnBrk="0" hangingPunct="1">
              <a:lnSpc>
                <a:spcPct val="100000"/>
              </a:lnSpc>
              <a:spcBef>
                <a:spcPts val="500"/>
              </a:spcBef>
              <a:buFont typeface="Wingdings" panose="05000000000000000000" pitchFamily="2" charset="2"/>
              <a:buChar char="§"/>
              <a:defRPr sz="1200" b="0" kern="1200">
                <a:solidFill>
                  <a:schemeClr val="tx1"/>
                </a:solidFill>
                <a:latin typeface="+mn-lt"/>
                <a:ea typeface="+mn-ea"/>
                <a:cs typeface="+mn-cs"/>
              </a:defRPr>
            </a:lvl5pPr>
            <a:lvl6pPr marL="271463" indent="-271463" algn="l" defTabSz="914400" rtl="0" eaLnBrk="1" latinLnBrk="0" hangingPunct="1">
              <a:lnSpc>
                <a:spcPct val="90000"/>
              </a:lnSpc>
              <a:spcBef>
                <a:spcPts val="500"/>
              </a:spcBef>
              <a:buFont typeface="+mj-lt"/>
              <a:buAutoNum type="arabicPeriod"/>
              <a:defRPr sz="1200" b="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3" indent="0" algn="l" defTabSz="914400" rtl="0" eaLnBrk="1" fontAlgn="auto" latinLnBrk="0" hangingPunct="1">
              <a:lnSpc>
                <a:spcPct val="130000"/>
              </a:lnSpc>
              <a:spcBef>
                <a:spcPts val="500"/>
              </a:spcBef>
              <a:spcAft>
                <a:spcPts val="0"/>
              </a:spcAft>
              <a:buClr>
                <a:srgbClr val="005AAA">
                  <a:lumMod val="50000"/>
                </a:srgbClr>
              </a:buClr>
              <a:buSzTx/>
              <a:buFont typeface="+mj-lt"/>
              <a:buNone/>
              <a:tabLst>
                <a:tab pos="269875" algn="l"/>
              </a:tabLst>
              <a:defRPr/>
            </a:pPr>
            <a:r>
              <a:rPr kumimoji="0" lang="ru-RU" sz="800" b="1" i="0" u="none" strike="noStrike" kern="1200" cap="none" spc="0" normalizeH="0" baseline="0" noProof="0" dirty="0">
                <a:ln>
                  <a:noFill/>
                </a:ln>
                <a:solidFill>
                  <a:srgbClr val="242834"/>
                </a:solidFill>
                <a:effectLst/>
                <a:uLnTx/>
                <a:uFillTx/>
                <a:latin typeface="Arial" panose="020B0604020202020204"/>
                <a:ea typeface="Roboto Light" panose="02000000000000000000" pitchFamily="2" charset="0"/>
                <a:cs typeface="+mn-cs"/>
              </a:rPr>
              <a:t>Стили блоков — акцентные*</a:t>
            </a:r>
            <a:endParaRPr kumimoji="0" lang="ru-RU" sz="800" b="1" i="0" u="none" strike="noStrike" kern="1200" cap="none" spc="0" normalizeH="0" baseline="0" noProof="0" dirty="0">
              <a:ln>
                <a:noFill/>
              </a:ln>
              <a:solidFill>
                <a:srgbClr val="242834"/>
              </a:solidFill>
              <a:effectLst/>
              <a:uLnTx/>
              <a:uFillTx/>
              <a:latin typeface="Arial" panose="020B0604020202020204"/>
              <a:ea typeface="+mn-ea"/>
              <a:cs typeface="+mn-cs"/>
            </a:endParaRPr>
          </a:p>
        </p:txBody>
      </p:sp>
    </p:spTree>
    <p:extLst>
      <p:ext uri="{BB962C8B-B14F-4D97-AF65-F5344CB8AC3E}">
        <p14:creationId xmlns:p14="http://schemas.microsoft.com/office/powerpoint/2010/main" val="1655380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87413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29576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4F707855-C815-4FF1-B493-8351700E1748}"/>
              </a:ext>
            </a:extLst>
          </p:cNvPr>
          <p:cNvSpPr>
            <a:spLocks noGrp="1"/>
          </p:cNvSpPr>
          <p:nvPr>
            <p:ph type="body" sz="quarter" idx="10"/>
          </p:nvPr>
        </p:nvSpPr>
        <p:spPr/>
        <p:txBody>
          <a:bodyPr/>
          <a:lstStyle/>
          <a:p>
            <a:r>
              <a:rPr lang="ru-RU" dirty="0"/>
              <a:t>Контактные данные</a:t>
            </a:r>
          </a:p>
        </p:txBody>
      </p:sp>
    </p:spTree>
    <p:extLst>
      <p:ext uri="{BB962C8B-B14F-4D97-AF65-F5344CB8AC3E}">
        <p14:creationId xmlns:p14="http://schemas.microsoft.com/office/powerpoint/2010/main" val="38727307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480B19-985C-CDAE-9B51-136A47239A05}"/>
              </a:ext>
            </a:extLst>
          </p:cNvPr>
          <p:cNvSpPr>
            <a:spLocks noGrp="1"/>
          </p:cNvSpPr>
          <p:nvPr>
            <p:ph type="title"/>
          </p:nvPr>
        </p:nvSpPr>
        <p:spPr/>
        <p:txBody>
          <a:bodyPr>
            <a:normAutofit/>
          </a:bodyPr>
          <a:lstStyle/>
          <a:p>
            <a:r>
              <a:rPr lang="ru-RU" b="1">
                <a:solidFill>
                  <a:srgbClr val="005AAA"/>
                </a:solidFill>
                <a:latin typeface="Arial" panose="020B0604020202020204" pitchFamily="34" charset="0"/>
              </a:rPr>
              <a:t>Термодинамика наноструктур</a:t>
            </a:r>
          </a:p>
        </p:txBody>
      </p:sp>
      <p:sp>
        <p:nvSpPr>
          <p:cNvPr id="3" name="Текст 2">
            <a:extLst>
              <a:ext uri="{FF2B5EF4-FFF2-40B4-BE49-F238E27FC236}">
                <a16:creationId xmlns:a16="http://schemas.microsoft.com/office/drawing/2014/main" id="{59ADC2F1-7DE5-3425-7FBF-A63335D01D11}"/>
              </a:ext>
            </a:extLst>
          </p:cNvPr>
          <p:cNvSpPr>
            <a:spLocks noGrp="1"/>
          </p:cNvSpPr>
          <p:nvPr>
            <p:ph type="body" sz="quarter" idx="10"/>
          </p:nvPr>
        </p:nvSpPr>
        <p:spPr/>
        <p:txBody>
          <a:bodyPr>
            <a:normAutofit fontScale="92500"/>
          </a:bodyPr>
          <a:lstStyle/>
          <a:p>
            <a:r>
              <a:rPr lang="ru-RU" sz="1700" b="1">
                <a:solidFill>
                  <a:srgbClr val="002C5F"/>
                </a:solidFill>
                <a:latin typeface="Arial" panose="020B0604020202020204" pitchFamily="34" charset="0"/>
              </a:rPr>
              <a:t>Лекция №2: От энергии макросистем к размерным эффектам</a:t>
            </a:r>
          </a:p>
          <a:p>
            <a:r>
              <a:rPr lang="ru-RU" sz="1600">
                <a:solidFill>
                  <a:srgbClr val="242834"/>
                </a:solidFill>
                <a:latin typeface="Arial" panose="020B0604020202020204" pitchFamily="34" charset="0"/>
              </a:rPr>
              <a:t>Курс: Физические основы нанотехнологий (4 курс)</a:t>
            </a:r>
          </a:p>
          <a:p>
            <a:r>
              <a:rPr lang="ru-RU" sz="1600">
                <a:solidFill>
                  <a:srgbClr val="242834"/>
                </a:solidFill>
                <a:latin typeface="Arial" panose="020B0604020202020204" pitchFamily="34" charset="0"/>
              </a:rPr>
              <a:t>Кафедра физики (№3) • Преподаватель: доц. Попов Д.А.</a:t>
            </a:r>
          </a:p>
        </p:txBody>
      </p:sp>
      <p:sp>
        <p:nvSpPr>
          <p:cNvPr id="4" name="Текст 3">
            <a:extLst>
              <a:ext uri="{FF2B5EF4-FFF2-40B4-BE49-F238E27FC236}">
                <a16:creationId xmlns:a16="http://schemas.microsoft.com/office/drawing/2014/main" id="{2DEF2021-ACD5-3DB8-DB7C-938480404BA0}"/>
              </a:ext>
            </a:extLst>
          </p:cNvPr>
          <p:cNvSpPr>
            <a:spLocks noGrp="1"/>
          </p:cNvSpPr>
          <p:nvPr>
            <p:ph type="body" sz="quarter" idx="12"/>
          </p:nvPr>
        </p:nvSpPr>
        <p:spPr/>
        <p:txBody>
          <a:bodyPr>
            <a:noAutofit/>
          </a:bodyPr>
          <a:lstStyle/>
          <a:p>
            <a:r>
              <a:rPr lang="ru-RU" sz="2800" b="1">
                <a:solidFill>
                  <a:srgbClr val="E70F47"/>
                </a:solidFill>
                <a:latin typeface="Arial" panose="020B0604020202020204" pitchFamily="34" charset="0"/>
              </a:rPr>
              <a:t>2026</a:t>
            </a:r>
          </a:p>
        </p:txBody>
      </p:sp>
    </p:spTree>
    <p:extLst>
      <p:ext uri="{BB962C8B-B14F-4D97-AF65-F5344CB8AC3E}">
        <p14:creationId xmlns:p14="http://schemas.microsoft.com/office/powerpoint/2010/main" val="19650452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1032CD3-3CF2-8953-B79E-855C18E6DA46}"/>
              </a:ext>
            </a:extLst>
          </p:cNvPr>
          <p:cNvSpPr>
            <a:spLocks noGrp="1"/>
          </p:cNvSpPr>
          <p:nvPr>
            <p:ph type="title"/>
          </p:nvPr>
        </p:nvSpPr>
        <p:spPr>
          <a:xfrm>
            <a:off x="550863" y="414901"/>
            <a:ext cx="9608330" cy="318549"/>
          </a:xfrm>
        </p:spPr>
        <p:txBody>
          <a:bodyPr/>
          <a:lstStyle/>
          <a:p>
            <a:r>
              <a:rPr lang="ru-RU" sz="2300">
                <a:solidFill>
                  <a:srgbClr val="005AAA"/>
                </a:solidFill>
                <a:latin typeface="Arial" panose="020B0604020202020204" pitchFamily="34" charset="0"/>
              </a:rPr>
              <a:t>Внутренняя энергия, работа и теплота: хранение vs передача</a:t>
            </a:r>
          </a:p>
        </p:txBody>
      </p:sp>
      <p:sp>
        <p:nvSpPr>
          <p:cNvPr id="3" name="Текст 2">
            <a:extLst>
              <a:ext uri="{FF2B5EF4-FFF2-40B4-BE49-F238E27FC236}">
                <a16:creationId xmlns:a16="http://schemas.microsoft.com/office/drawing/2014/main" id="{3426D6DD-EEA5-D0EB-2E2F-2A018DBB6554}"/>
              </a:ext>
            </a:extLst>
          </p:cNvPr>
          <p:cNvSpPr>
            <a:spLocks noGrp="1"/>
          </p:cNvSpPr>
          <p:nvPr>
            <p:ph type="body" sz="quarter" idx="12"/>
          </p:nvPr>
        </p:nvSpPr>
        <p:spPr/>
        <p:txBody>
          <a:bodyPr>
            <a:normAutofit/>
          </a:bodyPr>
          <a:lstStyle/>
          <a:p>
            <a:r>
              <a:rPr lang="ru-RU" sz="1800" b="1" dirty="0">
                <a:solidFill>
                  <a:srgbClr val="002C5F"/>
                </a:solidFill>
                <a:latin typeface="Arial" panose="020B0604020202020204" pitchFamily="34" charset="0"/>
              </a:rPr>
              <a:t>1. Микроскопическая природа внутренней энергии U</a:t>
            </a:r>
          </a:p>
          <a:p>
            <a:r>
              <a:rPr lang="ru-RU" sz="1400" dirty="0">
                <a:solidFill>
                  <a:srgbClr val="242834"/>
                </a:solidFill>
                <a:latin typeface="Arial" panose="020B0604020202020204" pitchFamily="34" charset="0"/>
              </a:rPr>
              <a:t>• Механика </a:t>
            </a:r>
            <a:r>
              <a:rPr lang="ru-RU" sz="1400" dirty="0" err="1">
                <a:solidFill>
                  <a:srgbClr val="242834"/>
                </a:solidFill>
                <a:latin typeface="Arial" panose="020B0604020202020204" pitchFamily="34" charset="0"/>
              </a:rPr>
              <a:t>vs</a:t>
            </a:r>
            <a:r>
              <a:rPr lang="ru-RU" sz="1400" dirty="0">
                <a:solidFill>
                  <a:srgbClr val="242834"/>
                </a:solidFill>
                <a:latin typeface="Arial" panose="020B0604020202020204" pitchFamily="34" charset="0"/>
              </a:rPr>
              <a:t> Термодинамика: кинетическая энергия летящего тела как целого (</a:t>
            </a:r>
            <a:r>
              <a:rPr lang="ru-RU" sz="1400" dirty="0" err="1">
                <a:solidFill>
                  <a:srgbClr val="242834"/>
                </a:solidFill>
                <a:latin typeface="Arial" panose="020B0604020202020204" pitchFamily="34" charset="0"/>
              </a:rPr>
              <a:t>Eкин</a:t>
            </a:r>
            <a:r>
              <a:rPr lang="ru-RU" sz="1400" dirty="0">
                <a:solidFill>
                  <a:srgbClr val="242834"/>
                </a:solidFill>
                <a:latin typeface="Arial" panose="020B0604020202020204" pitchFamily="34" charset="0"/>
              </a:rPr>
              <a:t> = mv²/2) термодинамику не интересует — все молекулы движутся упорядоченно в одну сторону.</a:t>
            </a:r>
          </a:p>
          <a:p>
            <a:r>
              <a:rPr lang="ru-RU" sz="1400" dirty="0">
                <a:solidFill>
                  <a:srgbClr val="242834"/>
                </a:solidFill>
                <a:latin typeface="Arial" panose="020B0604020202020204" pitchFamily="34" charset="0"/>
              </a:rPr>
              <a:t>• Внутренняя энергия U [Дж]: суммарная скрытая энергия покоящегося тела (</a:t>
            </a:r>
            <a:r>
              <a:rPr lang="ru-RU" sz="1400" dirty="0" err="1">
                <a:solidFill>
                  <a:srgbClr val="242834"/>
                </a:solidFill>
                <a:latin typeface="Arial" panose="020B0604020202020204" pitchFamily="34" charset="0"/>
              </a:rPr>
              <a:t>Vцм</a:t>
            </a:r>
            <a:r>
              <a:rPr lang="ru-RU" sz="1400" dirty="0">
                <a:solidFill>
                  <a:srgbClr val="242834"/>
                </a:solidFill>
                <a:latin typeface="Arial" panose="020B0604020202020204" pitchFamily="34" charset="0"/>
              </a:rPr>
              <a:t> = 0), состоящая из двух частей:</a:t>
            </a:r>
          </a:p>
          <a:p>
            <a:r>
              <a:rPr lang="ru-RU" sz="1400" dirty="0">
                <a:solidFill>
                  <a:srgbClr val="242834"/>
                </a:solidFill>
                <a:latin typeface="Arial" panose="020B0604020202020204" pitchFamily="34" charset="0"/>
              </a:rPr>
              <a:t>   – кинетическая часть: тепловое хаотическое движение частиц (поступательное, вращательное, колебательное), мерой которого является температура T;</a:t>
            </a:r>
          </a:p>
          <a:p>
            <a:r>
              <a:rPr lang="ru-RU" sz="1400" dirty="0">
                <a:solidFill>
                  <a:srgbClr val="242834"/>
                </a:solidFill>
                <a:latin typeface="Arial" panose="020B0604020202020204" pitchFamily="34" charset="0"/>
              </a:rPr>
              <a:t>   – потенциальная часть: энергия взаимодействия атомов и молекул (силы притяжения и отталкивания, определяющие агрегатное состояние).</a:t>
            </a:r>
          </a:p>
          <a:p>
            <a:r>
              <a:rPr lang="ru-RU" sz="1400" dirty="0">
                <a:solidFill>
                  <a:srgbClr val="242834"/>
                </a:solidFill>
                <a:latin typeface="Arial" panose="020B0604020202020204" pitchFamily="34" charset="0"/>
              </a:rPr>
              <a:t>• Функция состояния: U строго определяется текущими параметрами (T, P, V) и не зависит от пути перехода в данное состояние.</a:t>
            </a:r>
          </a:p>
        </p:txBody>
      </p:sp>
      <p:sp>
        <p:nvSpPr>
          <p:cNvPr id="4" name="Текст 3">
            <a:extLst>
              <a:ext uri="{FF2B5EF4-FFF2-40B4-BE49-F238E27FC236}">
                <a16:creationId xmlns:a16="http://schemas.microsoft.com/office/drawing/2014/main" id="{9E132821-44B4-6BF9-2429-709CAD8E67DF}"/>
              </a:ext>
            </a:extLst>
          </p:cNvPr>
          <p:cNvSpPr>
            <a:spLocks noGrp="1"/>
          </p:cNvSpPr>
          <p:nvPr>
            <p:ph type="body" sz="quarter" idx="13"/>
          </p:nvPr>
        </p:nvSpPr>
        <p:spPr/>
        <p:txBody>
          <a:bodyPr>
            <a:normAutofit lnSpcReduction="10000"/>
          </a:bodyPr>
          <a:lstStyle/>
          <a:p>
            <a:r>
              <a:rPr lang="ru-RU" sz="1800" b="1" dirty="0">
                <a:solidFill>
                  <a:srgbClr val="002C5F"/>
                </a:solidFill>
                <a:latin typeface="Arial" panose="020B0604020202020204" pitchFamily="34" charset="0"/>
              </a:rPr>
              <a:t>2. Работа A и Теплота Q: первое начало термодинамики</a:t>
            </a:r>
          </a:p>
          <a:p>
            <a:r>
              <a:rPr lang="ru-RU" sz="1400" dirty="0">
                <a:solidFill>
                  <a:srgbClr val="242834"/>
                </a:solidFill>
                <a:latin typeface="Arial" panose="020B0604020202020204" pitchFamily="34" charset="0"/>
              </a:rPr>
              <a:t>• Тело не «содержит» теплоту или работу: Q и A — это не запасы энергии, а способы ее передачи через границу системы (функции процесса).</a:t>
            </a:r>
          </a:p>
          <a:p>
            <a:r>
              <a:rPr lang="ru-RU" sz="1400" dirty="0">
                <a:solidFill>
                  <a:srgbClr val="242834"/>
                </a:solidFill>
                <a:latin typeface="Arial" panose="020B0604020202020204" pitchFamily="34" charset="0"/>
              </a:rPr>
              <a:t>• Работа A [Дж]: упорядоченный способ передачи энергии при </a:t>
            </a:r>
            <a:r>
              <a:rPr lang="ru-RU" sz="1400" dirty="0" err="1">
                <a:solidFill>
                  <a:srgbClr val="242834"/>
                </a:solidFill>
                <a:latin typeface="Arial" panose="020B0604020202020204" pitchFamily="34" charset="0"/>
              </a:rPr>
              <a:t>макросмещении</a:t>
            </a:r>
            <a:r>
              <a:rPr lang="ru-RU" sz="1400" dirty="0">
                <a:solidFill>
                  <a:srgbClr val="242834"/>
                </a:solidFill>
                <a:latin typeface="Arial" panose="020B0604020202020204" pitchFamily="34" charset="0"/>
              </a:rPr>
              <a:t> границы системы (для расширения газа: </a:t>
            </a:r>
            <a:r>
              <a:rPr lang="ru-RU" sz="1400" dirty="0" err="1">
                <a:solidFill>
                  <a:srgbClr val="242834"/>
                </a:solidFill>
                <a:latin typeface="Arial" panose="020B0604020202020204" pitchFamily="34" charset="0"/>
              </a:rPr>
              <a:t>dA</a:t>
            </a:r>
            <a:r>
              <a:rPr lang="ru-RU" sz="1400" dirty="0">
                <a:solidFill>
                  <a:srgbClr val="242834"/>
                </a:solidFill>
                <a:latin typeface="Arial" panose="020B0604020202020204" pitchFamily="34" charset="0"/>
              </a:rPr>
              <a:t> = </a:t>
            </a:r>
            <a:r>
              <a:rPr lang="ru-RU" sz="1400" dirty="0" err="1">
                <a:solidFill>
                  <a:srgbClr val="242834"/>
                </a:solidFill>
                <a:latin typeface="Arial" panose="020B0604020202020204" pitchFamily="34" charset="0"/>
              </a:rPr>
              <a:t>P·dV</a:t>
            </a:r>
            <a:r>
              <a:rPr lang="ru-RU" sz="1400" dirty="0">
                <a:solidFill>
                  <a:srgbClr val="242834"/>
                </a:solidFill>
                <a:latin typeface="Arial" panose="020B0604020202020204" pitchFamily="34" charset="0"/>
              </a:rPr>
              <a:t>, где P [Па], V [м³]).</a:t>
            </a:r>
          </a:p>
          <a:p>
            <a:r>
              <a:rPr lang="ru-RU" sz="1400" dirty="0">
                <a:solidFill>
                  <a:srgbClr val="242834"/>
                </a:solidFill>
                <a:latin typeface="Arial" panose="020B0604020202020204" pitchFamily="34" charset="0"/>
              </a:rPr>
              <a:t>• Теплота Q [Дж]: неупорядоченный микроскопический способ передачи через хаотические соударения частиц на границе контакта.</a:t>
            </a:r>
          </a:p>
          <a:p>
            <a:r>
              <a:rPr lang="ru-RU" sz="1400" dirty="0">
                <a:solidFill>
                  <a:srgbClr val="242834"/>
                </a:solidFill>
                <a:latin typeface="Arial" panose="020B0604020202020204" pitchFamily="34" charset="0"/>
              </a:rPr>
              <a:t>• Первое начало термодинамики (Закон сохранения):</a:t>
            </a:r>
          </a:p>
          <a:p>
            <a:r>
              <a:rPr lang="ru-RU" sz="1400" dirty="0">
                <a:solidFill>
                  <a:srgbClr val="242834"/>
                </a:solidFill>
                <a:latin typeface="Arial" panose="020B0604020202020204" pitchFamily="34" charset="0"/>
              </a:rPr>
              <a:t>   ΔU = Q - A   (или </a:t>
            </a:r>
            <a:r>
              <a:rPr lang="ru-RU" sz="1400" dirty="0" err="1">
                <a:solidFill>
                  <a:srgbClr val="242834"/>
                </a:solidFill>
                <a:latin typeface="Arial" panose="020B0604020202020204" pitchFamily="34" charset="0"/>
              </a:rPr>
              <a:t>dQ</a:t>
            </a:r>
            <a:r>
              <a:rPr lang="ru-RU" sz="1400" dirty="0">
                <a:solidFill>
                  <a:srgbClr val="242834"/>
                </a:solidFill>
                <a:latin typeface="Arial" panose="020B0604020202020204" pitchFamily="34" charset="0"/>
              </a:rPr>
              <a:t> = </a:t>
            </a:r>
            <a:r>
              <a:rPr lang="ru-RU" sz="1400" dirty="0" err="1">
                <a:solidFill>
                  <a:srgbClr val="242834"/>
                </a:solidFill>
                <a:latin typeface="Arial" panose="020B0604020202020204" pitchFamily="34" charset="0"/>
              </a:rPr>
              <a:t>dU</a:t>
            </a:r>
            <a:r>
              <a:rPr lang="ru-RU" sz="1400" dirty="0">
                <a:solidFill>
                  <a:srgbClr val="242834"/>
                </a:solidFill>
                <a:latin typeface="Arial" panose="020B0604020202020204" pitchFamily="34" charset="0"/>
              </a:rPr>
              <a:t> + </a:t>
            </a:r>
            <a:r>
              <a:rPr lang="ru-RU" sz="1400" dirty="0" err="1">
                <a:solidFill>
                  <a:srgbClr val="242834"/>
                </a:solidFill>
                <a:latin typeface="Arial" panose="020B0604020202020204" pitchFamily="34" charset="0"/>
              </a:rPr>
              <a:t>dA</a:t>
            </a:r>
            <a:r>
              <a:rPr lang="ru-RU" sz="1400" dirty="0">
                <a:solidFill>
                  <a:srgbClr val="242834"/>
                </a:solidFill>
                <a:latin typeface="Arial" panose="020B0604020202020204" pitchFamily="34" charset="0"/>
              </a:rPr>
              <a:t>),</a:t>
            </a:r>
          </a:p>
          <a:p>
            <a:r>
              <a:rPr lang="ru-RU" sz="1400" dirty="0">
                <a:solidFill>
                  <a:srgbClr val="242834"/>
                </a:solidFill>
                <a:latin typeface="Arial" panose="020B0604020202020204" pitchFamily="34" charset="0"/>
              </a:rPr>
              <a:t>где ΔU [Дж] — изменение внутренней энергии; Q [Дж] — переданная теплота; A [Дж] — совершенная работа.</a:t>
            </a:r>
          </a:p>
          <a:p>
            <a:r>
              <a:rPr lang="ru-RU" sz="1400" dirty="0">
                <a:solidFill>
                  <a:srgbClr val="242834"/>
                </a:solidFill>
                <a:latin typeface="Arial" panose="020B0604020202020204" pitchFamily="34" charset="0"/>
              </a:rPr>
              <a:t>• Мостик в наномир: в наночастице гигантская доля атомов лежит на поверхности, поэтому избыточная поверхностная энергия меняет баланс ΔU!</a:t>
            </a:r>
          </a:p>
        </p:txBody>
      </p:sp>
    </p:spTree>
    <p:extLst>
      <p:ext uri="{BB962C8B-B14F-4D97-AF65-F5344CB8AC3E}">
        <p14:creationId xmlns:p14="http://schemas.microsoft.com/office/powerpoint/2010/main" val="30300924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12A4CE4-9B56-D065-AB76-683CC0989B81}"/>
              </a:ext>
            </a:extLst>
          </p:cNvPr>
          <p:cNvSpPr>
            <a:spLocks noGrp="1"/>
          </p:cNvSpPr>
          <p:nvPr>
            <p:ph type="title"/>
          </p:nvPr>
        </p:nvSpPr>
        <p:spPr>
          <a:xfrm>
            <a:off x="550863" y="414901"/>
            <a:ext cx="9608330" cy="318549"/>
          </a:xfrm>
        </p:spPr>
        <p:txBody>
          <a:bodyPr/>
          <a:lstStyle/>
          <a:p>
            <a:r>
              <a:rPr lang="ru-RU" sz="2300">
                <a:solidFill>
                  <a:srgbClr val="005AAA"/>
                </a:solidFill>
                <a:latin typeface="Arial" panose="020B0604020202020204" pitchFamily="34" charset="0"/>
              </a:rPr>
              <a:t>Второе начало и энергия Гиббса: куда и почему течет энергия?</a:t>
            </a:r>
          </a:p>
        </p:txBody>
      </p:sp>
      <p:sp>
        <p:nvSpPr>
          <p:cNvPr id="3" name="Текст 2">
            <a:extLst>
              <a:ext uri="{FF2B5EF4-FFF2-40B4-BE49-F238E27FC236}">
                <a16:creationId xmlns:a16="http://schemas.microsoft.com/office/drawing/2014/main" id="{C4E0D70D-2433-4C75-2025-94B12C673502}"/>
              </a:ext>
            </a:extLst>
          </p:cNvPr>
          <p:cNvSpPr>
            <a:spLocks noGrp="1"/>
          </p:cNvSpPr>
          <p:nvPr>
            <p:ph type="body" sz="quarter" idx="12"/>
          </p:nvPr>
        </p:nvSpPr>
        <p:spPr/>
        <p:txBody>
          <a:bodyPr>
            <a:normAutofit lnSpcReduction="10000"/>
          </a:bodyPr>
          <a:lstStyle/>
          <a:p>
            <a:r>
              <a:rPr lang="ru-RU" b="1" dirty="0">
                <a:solidFill>
                  <a:srgbClr val="002C5F"/>
                </a:solidFill>
                <a:latin typeface="Arial" panose="020B0604020202020204" pitchFamily="34" charset="0"/>
              </a:rPr>
              <a:t>1. Второе начало термодинамики и Энтропия S</a:t>
            </a:r>
          </a:p>
          <a:p>
            <a:r>
              <a:rPr lang="ru-RU" sz="1400" dirty="0">
                <a:solidFill>
                  <a:srgbClr val="242834"/>
                </a:solidFill>
                <a:latin typeface="Arial" panose="020B0604020202020204" pitchFamily="34" charset="0"/>
              </a:rPr>
              <a:t>• Неполнота 1-го начала: закон ΔU = Q - A утверждает сохранение энергии, но не указывает направление процессов (почему тепло не течет само от холодного к горячему?).</a:t>
            </a:r>
          </a:p>
          <a:p>
            <a:r>
              <a:rPr lang="ru-RU" sz="1400" dirty="0">
                <a:solidFill>
                  <a:srgbClr val="242834"/>
                </a:solidFill>
                <a:latin typeface="Arial" panose="020B0604020202020204" pitchFamily="34" charset="0"/>
              </a:rPr>
              <a:t>• Стрела времени: все макропроцессы в природе необратимы (горячий чай остывает, газ расширяется в вакуум, чашка разбивается).</a:t>
            </a:r>
          </a:p>
          <a:p>
            <a:r>
              <a:rPr lang="ru-RU" sz="1400" dirty="0">
                <a:solidFill>
                  <a:srgbClr val="242834"/>
                </a:solidFill>
                <a:latin typeface="Arial" panose="020B0604020202020204" pitchFamily="34" charset="0"/>
              </a:rPr>
              <a:t>• Энтропия S [Дж/К]: мера статистического хаоса: </a:t>
            </a:r>
          </a:p>
          <a:p>
            <a:r>
              <a:rPr lang="ru-RU" sz="1400" dirty="0">
                <a:solidFill>
                  <a:srgbClr val="242834"/>
                </a:solidFill>
                <a:latin typeface="Arial" panose="020B0604020202020204" pitchFamily="34" charset="0"/>
              </a:rPr>
              <a:t>	S = </a:t>
            </a:r>
            <a:r>
              <a:rPr lang="ru-RU" sz="1400" dirty="0" err="1">
                <a:solidFill>
                  <a:srgbClr val="242834"/>
                </a:solidFill>
                <a:latin typeface="Arial" panose="020B0604020202020204" pitchFamily="34" charset="0"/>
              </a:rPr>
              <a:t>kB·ln</a:t>
            </a:r>
            <a:r>
              <a:rPr lang="ru-RU" sz="1400" dirty="0">
                <a:solidFill>
                  <a:srgbClr val="242834"/>
                </a:solidFill>
                <a:latin typeface="Arial" panose="020B0604020202020204" pitchFamily="34" charset="0"/>
              </a:rPr>
              <a:t>(W), где:</a:t>
            </a:r>
          </a:p>
          <a:p>
            <a:r>
              <a:rPr lang="ru-RU" sz="1400" dirty="0">
                <a:solidFill>
                  <a:srgbClr val="242834"/>
                </a:solidFill>
                <a:latin typeface="Arial" panose="020B0604020202020204" pitchFamily="34" charset="0"/>
              </a:rPr>
              <a:t>   – </a:t>
            </a:r>
            <a:r>
              <a:rPr lang="ru-RU" sz="1400" dirty="0" err="1">
                <a:solidFill>
                  <a:srgbClr val="242834"/>
                </a:solidFill>
                <a:latin typeface="Arial" panose="020B0604020202020204" pitchFamily="34" charset="0"/>
              </a:rPr>
              <a:t>kB</a:t>
            </a:r>
            <a:r>
              <a:rPr lang="ru-RU" sz="1400" dirty="0">
                <a:solidFill>
                  <a:srgbClr val="242834"/>
                </a:solidFill>
                <a:latin typeface="Arial" panose="020B0604020202020204" pitchFamily="34" charset="0"/>
              </a:rPr>
              <a:t> — постоянная Больцмана [Дж/К];</a:t>
            </a:r>
          </a:p>
          <a:p>
            <a:r>
              <a:rPr lang="ru-RU" sz="1400" dirty="0">
                <a:solidFill>
                  <a:srgbClr val="242834"/>
                </a:solidFill>
                <a:latin typeface="Arial" panose="020B0604020202020204" pitchFamily="34" charset="0"/>
              </a:rPr>
              <a:t>   – W — термодинамическая вероятность (число микросостояний, реализующих данное </a:t>
            </a:r>
            <a:r>
              <a:rPr lang="ru-RU" sz="1400" dirty="0" err="1">
                <a:solidFill>
                  <a:srgbClr val="242834"/>
                </a:solidFill>
                <a:latin typeface="Arial" panose="020B0604020202020204" pitchFamily="34" charset="0"/>
              </a:rPr>
              <a:t>макросостояние</a:t>
            </a:r>
            <a:r>
              <a:rPr lang="ru-RU" sz="1400" dirty="0">
                <a:solidFill>
                  <a:srgbClr val="242834"/>
                </a:solidFill>
                <a:latin typeface="Arial" panose="020B0604020202020204" pitchFamily="34" charset="0"/>
              </a:rPr>
              <a:t>:        W ≥ 1).</a:t>
            </a:r>
          </a:p>
          <a:p>
            <a:r>
              <a:rPr lang="ru-RU" sz="1400" dirty="0">
                <a:solidFill>
                  <a:srgbClr val="242834"/>
                </a:solidFill>
                <a:latin typeface="Arial" panose="020B0604020202020204" pitchFamily="34" charset="0"/>
              </a:rPr>
              <a:t>• Второе начало: в изолированной системе самопроизвольно идут только процессы, увеличивающие суммарный беспорядок: ΔS ≥ 0.</a:t>
            </a:r>
          </a:p>
        </p:txBody>
      </p:sp>
      <p:sp>
        <p:nvSpPr>
          <p:cNvPr id="4" name="Текст 3">
            <a:extLst>
              <a:ext uri="{FF2B5EF4-FFF2-40B4-BE49-F238E27FC236}">
                <a16:creationId xmlns:a16="http://schemas.microsoft.com/office/drawing/2014/main" id="{20DD1975-A353-A048-C026-473CC8DE52B2}"/>
              </a:ext>
            </a:extLst>
          </p:cNvPr>
          <p:cNvSpPr>
            <a:spLocks noGrp="1"/>
          </p:cNvSpPr>
          <p:nvPr>
            <p:ph type="body" sz="quarter" idx="13"/>
          </p:nvPr>
        </p:nvSpPr>
        <p:spPr/>
        <p:txBody>
          <a:bodyPr>
            <a:noAutofit/>
          </a:bodyPr>
          <a:lstStyle/>
          <a:p>
            <a:r>
              <a:rPr lang="ru-RU" sz="1200" b="1" dirty="0">
                <a:solidFill>
                  <a:srgbClr val="002C5F"/>
                </a:solidFill>
                <a:latin typeface="Arial" panose="020B0604020202020204" pitchFamily="34" charset="0"/>
              </a:rPr>
              <a:t>2. Понятие потенциала и критерий процессов</a:t>
            </a:r>
          </a:p>
          <a:p>
            <a:r>
              <a:rPr lang="ru-RU" sz="1200" dirty="0">
                <a:solidFill>
                  <a:srgbClr val="242834"/>
                </a:solidFill>
                <a:latin typeface="Arial" panose="020B0604020202020204" pitchFamily="34" charset="0"/>
              </a:rPr>
              <a:t>• Что такое «потенциал»? Это аналог потенциальной энергии в механике: функция состояния, убыль которой равна полезной работе, а минимум определяет устойчивое равновесие.</a:t>
            </a:r>
          </a:p>
          <a:p>
            <a:r>
              <a:rPr lang="ru-RU" sz="1200" dirty="0">
                <a:solidFill>
                  <a:srgbClr val="242834"/>
                </a:solidFill>
                <a:latin typeface="Arial" panose="020B0604020202020204" pitchFamily="34" charset="0"/>
              </a:rPr>
              <a:t>• Энергия Гиббса G [Дж]: потенциал при постоянных P и T, отражающий баланс порядка и хаоса: G = H - TS, где:</a:t>
            </a:r>
          </a:p>
          <a:p>
            <a:r>
              <a:rPr lang="ru-RU" sz="1200" dirty="0">
                <a:solidFill>
                  <a:srgbClr val="242834"/>
                </a:solidFill>
                <a:latin typeface="Arial" panose="020B0604020202020204" pitchFamily="34" charset="0"/>
              </a:rPr>
              <a:t>   – H — энтальпия [Дж] (теплосодержание, энергия связей: H = U + PV, где U — внутренняя энергия);</a:t>
            </a:r>
          </a:p>
          <a:p>
            <a:r>
              <a:rPr lang="ru-RU" sz="1200" dirty="0">
                <a:solidFill>
                  <a:srgbClr val="242834"/>
                </a:solidFill>
                <a:latin typeface="Arial" panose="020B0604020202020204" pitchFamily="34" charset="0"/>
              </a:rPr>
              <a:t>   – S — энтропия [Дж/К] (мера хаоса из п. 1);</a:t>
            </a:r>
          </a:p>
          <a:p>
            <a:r>
              <a:rPr lang="ru-RU" sz="1200" dirty="0">
                <a:solidFill>
                  <a:srgbClr val="242834"/>
                </a:solidFill>
                <a:latin typeface="Arial" panose="020B0604020202020204" pitchFamily="34" charset="0"/>
              </a:rPr>
              <a:t>   – TS — связанная энергия [Дж] (фактор теплового разупорядочения при температуре T [К]).</a:t>
            </a:r>
          </a:p>
          <a:p>
            <a:r>
              <a:rPr lang="ru-RU" sz="1200" dirty="0">
                <a:solidFill>
                  <a:srgbClr val="242834"/>
                </a:solidFill>
                <a:latin typeface="Arial" panose="020B0604020202020204" pitchFamily="34" charset="0"/>
              </a:rPr>
              <a:t>• Критерий самопроизвольности ΔG [Дж]:</a:t>
            </a:r>
          </a:p>
          <a:p>
            <a:r>
              <a:rPr lang="ru-RU" sz="1200" dirty="0">
                <a:solidFill>
                  <a:srgbClr val="242834"/>
                </a:solidFill>
                <a:latin typeface="Arial" panose="020B0604020202020204" pitchFamily="34" charset="0"/>
              </a:rPr>
              <a:t>   – ΔG &lt; 0 — процесс идет самопроизвольно («скатывание в яму»);</a:t>
            </a:r>
          </a:p>
          <a:p>
            <a:r>
              <a:rPr lang="ru-RU" sz="1200" dirty="0">
                <a:solidFill>
                  <a:srgbClr val="242834"/>
                </a:solidFill>
                <a:latin typeface="Arial" panose="020B0604020202020204" pitchFamily="34" charset="0"/>
              </a:rPr>
              <a:t>   – ΔG = 0 — термодинамическое равновесие (дно потенциальной ямы);</a:t>
            </a:r>
          </a:p>
          <a:p>
            <a:r>
              <a:rPr lang="ru-RU" sz="1200" dirty="0">
                <a:solidFill>
                  <a:srgbClr val="242834"/>
                </a:solidFill>
                <a:latin typeface="Arial" panose="020B0604020202020204" pitchFamily="34" charset="0"/>
              </a:rPr>
              <a:t>   – ΔG &gt; 0 — процесс термодинамически запрещен без подкачки энергии.</a:t>
            </a:r>
          </a:p>
          <a:p>
            <a:r>
              <a:rPr lang="ru-RU" sz="1200" dirty="0">
                <a:solidFill>
                  <a:srgbClr val="242834"/>
                </a:solidFill>
                <a:latin typeface="Arial" panose="020B0604020202020204" pitchFamily="34" charset="0"/>
              </a:rPr>
              <a:t>• В наномире: из-за избытка поверхностных атомов глубина ямы G смещается, меняя свойства вещества!</a:t>
            </a:r>
          </a:p>
        </p:txBody>
      </p:sp>
    </p:spTree>
    <p:extLst>
      <p:ext uri="{BB962C8B-B14F-4D97-AF65-F5344CB8AC3E}">
        <p14:creationId xmlns:p14="http://schemas.microsoft.com/office/powerpoint/2010/main" val="25926071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8FBCDF-041C-3E41-5A93-F085ED03F7B5}"/>
              </a:ext>
            </a:extLst>
          </p:cNvPr>
          <p:cNvSpPr>
            <a:spLocks noGrp="1"/>
          </p:cNvSpPr>
          <p:nvPr>
            <p:ph type="title"/>
          </p:nvPr>
        </p:nvSpPr>
        <p:spPr>
          <a:xfrm>
            <a:off x="550863" y="414901"/>
            <a:ext cx="9608330" cy="318549"/>
          </a:xfrm>
        </p:spPr>
        <p:txBody>
          <a:bodyPr/>
          <a:lstStyle/>
          <a:p>
            <a:r>
              <a:rPr lang="ru-RU" sz="2300">
                <a:solidFill>
                  <a:srgbClr val="005AAA"/>
                </a:solidFill>
                <a:latin typeface="Arial" panose="020B0604020202020204" pitchFamily="34" charset="0"/>
              </a:rPr>
              <a:t>Химический потенциал и равновесие фаз: почему тает лед?</a:t>
            </a:r>
          </a:p>
        </p:txBody>
      </p:sp>
      <p:sp>
        <p:nvSpPr>
          <p:cNvPr id="3" name="Текст 2">
            <a:extLst>
              <a:ext uri="{FF2B5EF4-FFF2-40B4-BE49-F238E27FC236}">
                <a16:creationId xmlns:a16="http://schemas.microsoft.com/office/drawing/2014/main" id="{42BBF0DC-32F7-4591-B4ED-6321BEB1A7DB}"/>
              </a:ext>
            </a:extLst>
          </p:cNvPr>
          <p:cNvSpPr>
            <a:spLocks noGrp="1"/>
          </p:cNvSpPr>
          <p:nvPr>
            <p:ph type="body" sz="quarter" idx="12"/>
          </p:nvPr>
        </p:nvSpPr>
        <p:spPr/>
        <p:txBody>
          <a:bodyPr>
            <a:normAutofit/>
          </a:bodyPr>
          <a:lstStyle/>
          <a:p>
            <a:r>
              <a:rPr lang="ru-RU" b="1" dirty="0">
                <a:solidFill>
                  <a:srgbClr val="002C5F"/>
                </a:solidFill>
                <a:latin typeface="Arial" panose="020B0604020202020204" pitchFamily="34" charset="0"/>
              </a:rPr>
              <a:t>1. Химический потенциал μ — «цена» частицы</a:t>
            </a:r>
          </a:p>
          <a:p>
            <a:r>
              <a:rPr lang="ru-RU" sz="1400" dirty="0">
                <a:solidFill>
                  <a:srgbClr val="242834"/>
                </a:solidFill>
                <a:latin typeface="Arial" panose="020B0604020202020204" pitchFamily="34" charset="0"/>
              </a:rPr>
              <a:t>• Системы с переменным составом: при плавлении, кристаллизации и росте наночастиц вещество переходит между фазами (число частиц n ≠ </a:t>
            </a:r>
            <a:r>
              <a:rPr lang="ru-RU" sz="1400" dirty="0" err="1">
                <a:solidFill>
                  <a:srgbClr val="242834"/>
                </a:solidFill>
                <a:latin typeface="Arial" panose="020B0604020202020204" pitchFamily="34" charset="0"/>
              </a:rPr>
              <a:t>const</a:t>
            </a:r>
            <a:r>
              <a:rPr lang="ru-RU" sz="1400" dirty="0">
                <a:solidFill>
                  <a:srgbClr val="242834"/>
                </a:solidFill>
                <a:latin typeface="Arial" panose="020B0604020202020204" pitchFamily="34" charset="0"/>
              </a:rPr>
              <a:t>).</a:t>
            </a:r>
          </a:p>
          <a:p>
            <a:r>
              <a:rPr lang="ru-RU" sz="1400" dirty="0">
                <a:solidFill>
                  <a:srgbClr val="242834"/>
                </a:solidFill>
                <a:latin typeface="Arial" panose="020B0604020202020204" pitchFamily="34" charset="0"/>
              </a:rPr>
              <a:t>• Определение μ [Дж/моль]: приращение свободной энергии Гиббса G [Дж] при добавлении в фазу 1 моля вещества при постоянных T [К] и P [Па]:</a:t>
            </a:r>
          </a:p>
          <a:p>
            <a:r>
              <a:rPr lang="ru-RU" sz="1400" dirty="0">
                <a:solidFill>
                  <a:srgbClr val="242834"/>
                </a:solidFill>
                <a:latin typeface="Arial" panose="020B0604020202020204" pitchFamily="34" charset="0"/>
              </a:rPr>
              <a:t>   μ = ∂G / ∂n,   где G — энергия Гиббса [Дж], n — количество вещества [моль].</a:t>
            </a:r>
          </a:p>
          <a:p>
            <a:r>
              <a:rPr lang="ru-RU" sz="1400" dirty="0">
                <a:solidFill>
                  <a:srgbClr val="242834"/>
                </a:solidFill>
                <a:latin typeface="Arial" panose="020B0604020202020204" pitchFamily="34" charset="0"/>
              </a:rPr>
              <a:t>• Физический смысл (Принцип сообщающихся сосудов):</a:t>
            </a:r>
          </a:p>
          <a:p>
            <a:r>
              <a:rPr lang="ru-RU" sz="1400" dirty="0">
                <a:solidFill>
                  <a:srgbClr val="242834"/>
                </a:solidFill>
                <a:latin typeface="Arial" panose="020B0604020202020204" pitchFamily="34" charset="0"/>
              </a:rPr>
              <a:t>   – μ — это «энергетическое давление» вещества в данной фазе («стоимость входа» частицы);</a:t>
            </a:r>
          </a:p>
          <a:p>
            <a:r>
              <a:rPr lang="ru-RU" sz="1400" dirty="0">
                <a:solidFill>
                  <a:srgbClr val="242834"/>
                </a:solidFill>
                <a:latin typeface="Arial" panose="020B0604020202020204" pitchFamily="34" charset="0"/>
              </a:rPr>
              <a:t>   – вещество всегда самопроизвольно перетекает из фазы с высоким μ в фазу с низким μ до выравнивания уровней химических потенциалов.</a:t>
            </a:r>
          </a:p>
        </p:txBody>
      </p:sp>
      <p:sp>
        <p:nvSpPr>
          <p:cNvPr id="4" name="Текст 3">
            <a:extLst>
              <a:ext uri="{FF2B5EF4-FFF2-40B4-BE49-F238E27FC236}">
                <a16:creationId xmlns:a16="http://schemas.microsoft.com/office/drawing/2014/main" id="{455589A1-4C7F-5245-F1C1-F7617EE963E6}"/>
              </a:ext>
            </a:extLst>
          </p:cNvPr>
          <p:cNvSpPr>
            <a:spLocks noGrp="1"/>
          </p:cNvSpPr>
          <p:nvPr>
            <p:ph type="body" sz="quarter" idx="13"/>
          </p:nvPr>
        </p:nvSpPr>
        <p:spPr/>
        <p:txBody>
          <a:bodyPr>
            <a:normAutofit/>
          </a:bodyPr>
          <a:lstStyle/>
          <a:p>
            <a:r>
              <a:rPr lang="ru-RU" sz="1800" b="1" dirty="0">
                <a:solidFill>
                  <a:srgbClr val="002C5F"/>
                </a:solidFill>
                <a:latin typeface="Arial" panose="020B0604020202020204" pitchFamily="34" charset="0"/>
              </a:rPr>
              <a:t>2. Условие фазового равновесия (вода и лед)</a:t>
            </a:r>
          </a:p>
          <a:p>
            <a:r>
              <a:rPr lang="ru-RU" sz="1200" dirty="0">
                <a:solidFill>
                  <a:srgbClr val="242834"/>
                </a:solidFill>
                <a:latin typeface="Arial" panose="020B0604020202020204" pitchFamily="34" charset="0"/>
              </a:rPr>
              <a:t>• Понятие фазы: макроскопически однородная часть системы с одинаковыми свойствами, отделенная явной границей раздела (лед, вода, пар).</a:t>
            </a:r>
          </a:p>
          <a:p>
            <a:r>
              <a:rPr lang="ru-RU" sz="1200" dirty="0">
                <a:solidFill>
                  <a:srgbClr val="242834"/>
                </a:solidFill>
                <a:latin typeface="Arial" panose="020B0604020202020204" pitchFamily="34" charset="0"/>
              </a:rPr>
              <a:t>• Условие равновесия: сосуществование фаз возможно тогда и только тогда, когда химические потенциалы вещества в них строго равны:</a:t>
            </a:r>
          </a:p>
          <a:p>
            <a:r>
              <a:rPr lang="ru-RU" sz="1200" dirty="0">
                <a:solidFill>
                  <a:srgbClr val="242834"/>
                </a:solidFill>
                <a:latin typeface="Arial" panose="020B0604020202020204" pitchFamily="34" charset="0"/>
              </a:rPr>
              <a:t>   μ₁ = μ₂   (для воды и льда: </a:t>
            </a:r>
            <a:r>
              <a:rPr lang="ru-RU" sz="1200" dirty="0" err="1">
                <a:solidFill>
                  <a:srgbClr val="242834"/>
                </a:solidFill>
                <a:latin typeface="Arial" panose="020B0604020202020204" pitchFamily="34" charset="0"/>
              </a:rPr>
              <a:t>μтв</a:t>
            </a:r>
            <a:r>
              <a:rPr lang="ru-RU" sz="1200" dirty="0">
                <a:solidFill>
                  <a:srgbClr val="242834"/>
                </a:solidFill>
                <a:latin typeface="Arial" panose="020B0604020202020204" pitchFamily="34" charset="0"/>
              </a:rPr>
              <a:t> = </a:t>
            </a:r>
            <a:r>
              <a:rPr lang="ru-RU" sz="1200" dirty="0" err="1">
                <a:solidFill>
                  <a:srgbClr val="242834"/>
                </a:solidFill>
                <a:latin typeface="Arial" panose="020B0604020202020204" pitchFamily="34" charset="0"/>
              </a:rPr>
              <a:t>μжид</a:t>
            </a:r>
            <a:r>
              <a:rPr lang="ru-RU" sz="1200" dirty="0">
                <a:solidFill>
                  <a:srgbClr val="242834"/>
                </a:solidFill>
                <a:latin typeface="Arial" panose="020B0604020202020204" pitchFamily="34" charset="0"/>
              </a:rPr>
              <a:t>).</a:t>
            </a:r>
          </a:p>
          <a:p>
            <a:r>
              <a:rPr lang="ru-RU" sz="1200" dirty="0">
                <a:solidFill>
                  <a:srgbClr val="242834"/>
                </a:solidFill>
                <a:latin typeface="Arial" panose="020B0604020202020204" pitchFamily="34" charset="0"/>
              </a:rPr>
              <a:t>• Плавление льда при давлении P = 1 </a:t>
            </a:r>
            <a:r>
              <a:rPr lang="ru-RU" sz="1200" dirty="0" err="1">
                <a:solidFill>
                  <a:srgbClr val="242834"/>
                </a:solidFill>
                <a:latin typeface="Arial" panose="020B0604020202020204" pitchFamily="34" charset="0"/>
              </a:rPr>
              <a:t>атм</a:t>
            </a:r>
            <a:r>
              <a:rPr lang="ru-RU" sz="1200" dirty="0">
                <a:solidFill>
                  <a:srgbClr val="242834"/>
                </a:solidFill>
                <a:latin typeface="Arial" panose="020B0604020202020204" pitchFamily="34" charset="0"/>
              </a:rPr>
              <a:t>:</a:t>
            </a:r>
          </a:p>
          <a:p>
            <a:r>
              <a:rPr lang="ru-RU" sz="1200" dirty="0">
                <a:solidFill>
                  <a:srgbClr val="242834"/>
                </a:solidFill>
                <a:latin typeface="Arial" panose="020B0604020202020204" pitchFamily="34" charset="0"/>
              </a:rPr>
              <a:t>   – T &lt; 0 °C (273.15 К): </a:t>
            </a:r>
            <a:r>
              <a:rPr lang="ru-RU" sz="1200" dirty="0" err="1">
                <a:solidFill>
                  <a:srgbClr val="242834"/>
                </a:solidFill>
                <a:latin typeface="Arial" panose="020B0604020202020204" pitchFamily="34" charset="0"/>
              </a:rPr>
              <a:t>μтв</a:t>
            </a:r>
            <a:r>
              <a:rPr lang="ru-RU" sz="1200" dirty="0">
                <a:solidFill>
                  <a:srgbClr val="242834"/>
                </a:solidFill>
                <a:latin typeface="Arial" panose="020B0604020202020204" pitchFamily="34" charset="0"/>
              </a:rPr>
              <a:t> &lt; </a:t>
            </a:r>
            <a:r>
              <a:rPr lang="ru-RU" sz="1200" dirty="0" err="1">
                <a:solidFill>
                  <a:srgbClr val="242834"/>
                </a:solidFill>
                <a:latin typeface="Arial" panose="020B0604020202020204" pitchFamily="34" charset="0"/>
              </a:rPr>
              <a:t>μжид</a:t>
            </a:r>
            <a:r>
              <a:rPr lang="ru-RU" sz="1200" dirty="0">
                <a:solidFill>
                  <a:srgbClr val="242834"/>
                </a:solidFill>
                <a:latin typeface="Arial" panose="020B0604020202020204" pitchFamily="34" charset="0"/>
              </a:rPr>
              <a:t> — вода самопроизвольно замерзает;</a:t>
            </a:r>
          </a:p>
          <a:p>
            <a:r>
              <a:rPr lang="ru-RU" sz="1200" dirty="0">
                <a:solidFill>
                  <a:srgbClr val="242834"/>
                </a:solidFill>
                <a:latin typeface="Arial" panose="020B0604020202020204" pitchFamily="34" charset="0"/>
              </a:rPr>
              <a:t>   – T &gt; 0 °C: </a:t>
            </a:r>
            <a:r>
              <a:rPr lang="ru-RU" sz="1200" dirty="0" err="1">
                <a:solidFill>
                  <a:srgbClr val="242834"/>
                </a:solidFill>
                <a:latin typeface="Arial" panose="020B0604020202020204" pitchFamily="34" charset="0"/>
              </a:rPr>
              <a:t>μжид</a:t>
            </a:r>
            <a:r>
              <a:rPr lang="ru-RU" sz="1200" dirty="0">
                <a:solidFill>
                  <a:srgbClr val="242834"/>
                </a:solidFill>
                <a:latin typeface="Arial" panose="020B0604020202020204" pitchFamily="34" charset="0"/>
              </a:rPr>
              <a:t> &lt; </a:t>
            </a:r>
            <a:r>
              <a:rPr lang="ru-RU" sz="1200" dirty="0" err="1">
                <a:solidFill>
                  <a:srgbClr val="242834"/>
                </a:solidFill>
                <a:latin typeface="Arial" panose="020B0604020202020204" pitchFamily="34" charset="0"/>
              </a:rPr>
              <a:t>μтв</a:t>
            </a:r>
            <a:r>
              <a:rPr lang="ru-RU" sz="1200" dirty="0">
                <a:solidFill>
                  <a:srgbClr val="242834"/>
                </a:solidFill>
                <a:latin typeface="Arial" panose="020B0604020202020204" pitchFamily="34" charset="0"/>
              </a:rPr>
              <a:t> — лед самопроизвольно тает в воду;</a:t>
            </a:r>
          </a:p>
          <a:p>
            <a:r>
              <a:rPr lang="ru-RU" sz="1200" dirty="0">
                <a:solidFill>
                  <a:srgbClr val="242834"/>
                </a:solidFill>
                <a:latin typeface="Arial" panose="020B0604020202020204" pitchFamily="34" charset="0"/>
              </a:rPr>
              <a:t>   – ровно T = 0 °C: </a:t>
            </a:r>
            <a:r>
              <a:rPr lang="ru-RU" sz="1200" dirty="0" err="1">
                <a:solidFill>
                  <a:srgbClr val="242834"/>
                </a:solidFill>
                <a:latin typeface="Arial" panose="020B0604020202020204" pitchFamily="34" charset="0"/>
              </a:rPr>
              <a:t>μтв</a:t>
            </a:r>
            <a:r>
              <a:rPr lang="ru-RU" sz="1200" dirty="0">
                <a:solidFill>
                  <a:srgbClr val="242834"/>
                </a:solidFill>
                <a:latin typeface="Arial" panose="020B0604020202020204" pitchFamily="34" charset="0"/>
              </a:rPr>
              <a:t> = </a:t>
            </a:r>
            <a:r>
              <a:rPr lang="ru-RU" sz="1200" dirty="0" err="1">
                <a:solidFill>
                  <a:srgbClr val="242834"/>
                </a:solidFill>
                <a:latin typeface="Arial" panose="020B0604020202020204" pitchFamily="34" charset="0"/>
              </a:rPr>
              <a:t>μжид</a:t>
            </a:r>
            <a:r>
              <a:rPr lang="ru-RU" sz="1200" dirty="0">
                <a:solidFill>
                  <a:srgbClr val="242834"/>
                </a:solidFill>
                <a:latin typeface="Arial" panose="020B0604020202020204" pitchFamily="34" charset="0"/>
              </a:rPr>
              <a:t> — устойчивое равновесие двух фаз.</a:t>
            </a:r>
          </a:p>
          <a:p>
            <a:r>
              <a:rPr lang="ru-RU" sz="1200" dirty="0">
                <a:solidFill>
                  <a:srgbClr val="242834"/>
                </a:solidFill>
                <a:latin typeface="Arial" panose="020B0604020202020204" pitchFamily="34" charset="0"/>
              </a:rPr>
              <a:t>• Мостик в наномир: из-за кривизны поверхности у наночастицы </a:t>
            </a:r>
            <a:r>
              <a:rPr lang="ru-RU" sz="1200" dirty="0" err="1">
                <a:solidFill>
                  <a:srgbClr val="242834"/>
                </a:solidFill>
                <a:latin typeface="Arial" panose="020B0604020202020204" pitchFamily="34" charset="0"/>
              </a:rPr>
              <a:t>μnano</a:t>
            </a:r>
            <a:r>
              <a:rPr lang="ru-RU" sz="1200" dirty="0">
                <a:solidFill>
                  <a:srgbClr val="242834"/>
                </a:solidFill>
                <a:latin typeface="Arial" panose="020B0604020202020204" pitchFamily="34" charset="0"/>
              </a:rPr>
              <a:t> &gt; μ∞, поэтому температура плавления наночастиц золота падает с 1064 до ~380 °C!</a:t>
            </a:r>
          </a:p>
        </p:txBody>
      </p:sp>
    </p:spTree>
    <p:extLst>
      <p:ext uri="{BB962C8B-B14F-4D97-AF65-F5344CB8AC3E}">
        <p14:creationId xmlns:p14="http://schemas.microsoft.com/office/powerpoint/2010/main" val="2000621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8F92F44-CDA5-5866-751F-2AC730BAC028}"/>
              </a:ext>
            </a:extLst>
          </p:cNvPr>
          <p:cNvSpPr>
            <a:spLocks noGrp="1"/>
          </p:cNvSpPr>
          <p:nvPr>
            <p:ph type="title"/>
          </p:nvPr>
        </p:nvSpPr>
        <p:spPr>
          <a:xfrm>
            <a:off x="550863" y="414901"/>
            <a:ext cx="9608330" cy="318549"/>
          </a:xfrm>
        </p:spPr>
        <p:txBody>
          <a:bodyPr/>
          <a:lstStyle/>
          <a:p>
            <a:r>
              <a:rPr lang="ru-RU" sz="2300">
                <a:solidFill>
                  <a:srgbClr val="005AAA"/>
                </a:solidFill>
                <a:latin typeface="Arial" panose="020B0604020202020204" pitchFamily="34" charset="0"/>
              </a:rPr>
              <a:t>Правило фаз Гиббса: сколько параметров можно менять?</a:t>
            </a:r>
          </a:p>
        </p:txBody>
      </p:sp>
      <p:sp>
        <p:nvSpPr>
          <p:cNvPr id="3" name="Текст 2">
            <a:extLst>
              <a:ext uri="{FF2B5EF4-FFF2-40B4-BE49-F238E27FC236}">
                <a16:creationId xmlns:a16="http://schemas.microsoft.com/office/drawing/2014/main" id="{BCD76BF3-3C26-5A52-AA6C-1CA57E36E767}"/>
              </a:ext>
            </a:extLst>
          </p:cNvPr>
          <p:cNvSpPr>
            <a:spLocks noGrp="1"/>
          </p:cNvSpPr>
          <p:nvPr>
            <p:ph type="body" sz="quarter" idx="12"/>
          </p:nvPr>
        </p:nvSpPr>
        <p:spPr/>
        <p:txBody>
          <a:bodyPr>
            <a:normAutofit/>
          </a:bodyPr>
          <a:lstStyle/>
          <a:p>
            <a:r>
              <a:rPr lang="ru-RU" b="1" dirty="0">
                <a:solidFill>
                  <a:srgbClr val="002C5F"/>
                </a:solidFill>
                <a:latin typeface="Arial" panose="020B0604020202020204" pitchFamily="34" charset="0"/>
              </a:rPr>
              <a:t>1. Правило фаз Гиббса</a:t>
            </a:r>
          </a:p>
          <a:p>
            <a:r>
              <a:rPr lang="ru-RU" sz="1400" dirty="0">
                <a:solidFill>
                  <a:srgbClr val="242834"/>
                </a:solidFill>
                <a:latin typeface="Arial" panose="020B0604020202020204" pitchFamily="34" charset="0"/>
              </a:rPr>
              <a:t>• Правило фаз Гиббса: фундаментальный закон многофазного термодинамического равновесия:</a:t>
            </a:r>
          </a:p>
          <a:p>
            <a:r>
              <a:rPr lang="ru-RU" sz="1400" dirty="0">
                <a:solidFill>
                  <a:srgbClr val="242834"/>
                </a:solidFill>
                <a:latin typeface="Arial" panose="020B0604020202020204" pitchFamily="34" charset="0"/>
              </a:rPr>
              <a:t>   f = k - φ + 2</a:t>
            </a:r>
          </a:p>
          <a:p>
            <a:r>
              <a:rPr lang="ru-RU" sz="1400" dirty="0">
                <a:solidFill>
                  <a:srgbClr val="242834"/>
                </a:solidFill>
                <a:latin typeface="Arial" panose="020B0604020202020204" pitchFamily="34" charset="0"/>
              </a:rPr>
              <a:t>• Строгая расшифровка каждого члена формулы:</a:t>
            </a:r>
          </a:p>
          <a:p>
            <a:r>
              <a:rPr lang="ru-RU" sz="1400" dirty="0">
                <a:solidFill>
                  <a:srgbClr val="242834"/>
                </a:solidFill>
                <a:latin typeface="Arial" panose="020B0604020202020204" pitchFamily="34" charset="0"/>
              </a:rPr>
              <a:t>   – f — число степеней свободы: количество параметров состояния (T, P), которые можно независимо менять без изменения числа и типа сосуществующих фаз;</a:t>
            </a:r>
          </a:p>
          <a:p>
            <a:r>
              <a:rPr lang="ru-RU" sz="1400" dirty="0">
                <a:solidFill>
                  <a:srgbClr val="242834"/>
                </a:solidFill>
                <a:latin typeface="Arial" panose="020B0604020202020204" pitchFamily="34" charset="0"/>
              </a:rPr>
              <a:t>   – k — число независимых компонентов: минимальное число веществ, необходимых для построения всех фаз (для чистой воды k = 1);</a:t>
            </a:r>
          </a:p>
          <a:p>
            <a:r>
              <a:rPr lang="ru-RU" sz="1400" dirty="0">
                <a:solidFill>
                  <a:srgbClr val="242834"/>
                </a:solidFill>
                <a:latin typeface="Arial" panose="020B0604020202020204" pitchFamily="34" charset="0"/>
              </a:rPr>
              <a:t>   – φ — число равновесных фаз: количество однородных частей системы (лед, жидкая вода, пар);</a:t>
            </a:r>
          </a:p>
          <a:p>
            <a:r>
              <a:rPr lang="ru-RU" sz="1400" dirty="0">
                <a:solidFill>
                  <a:srgbClr val="242834"/>
                </a:solidFill>
                <a:latin typeface="Arial" panose="020B0604020202020204" pitchFamily="34" charset="0"/>
              </a:rPr>
              <a:t>   – слагаемое «+2»: два внешних физических параметра системы: температура T [К] и давление P [Па] (при изобарных условиях P = </a:t>
            </a:r>
            <a:r>
              <a:rPr lang="ru-RU" sz="1400" dirty="0" err="1">
                <a:solidFill>
                  <a:srgbClr val="242834"/>
                </a:solidFill>
                <a:latin typeface="Arial" panose="020B0604020202020204" pitchFamily="34" charset="0"/>
              </a:rPr>
              <a:t>const</a:t>
            </a:r>
            <a:r>
              <a:rPr lang="ru-RU" sz="1400" dirty="0">
                <a:solidFill>
                  <a:srgbClr val="242834"/>
                </a:solidFill>
                <a:latin typeface="Arial" panose="020B0604020202020204" pitchFamily="34" charset="0"/>
              </a:rPr>
              <a:t> формула принимает вид: f = k - φ + 1).</a:t>
            </a:r>
          </a:p>
        </p:txBody>
      </p:sp>
      <p:sp>
        <p:nvSpPr>
          <p:cNvPr id="4" name="Текст 3">
            <a:extLst>
              <a:ext uri="{FF2B5EF4-FFF2-40B4-BE49-F238E27FC236}">
                <a16:creationId xmlns:a16="http://schemas.microsoft.com/office/drawing/2014/main" id="{5411E12B-2F99-965A-BF42-96B2B8ED3F69}"/>
              </a:ext>
            </a:extLst>
          </p:cNvPr>
          <p:cNvSpPr>
            <a:spLocks noGrp="1"/>
          </p:cNvSpPr>
          <p:nvPr>
            <p:ph type="body" sz="quarter" idx="13"/>
          </p:nvPr>
        </p:nvSpPr>
        <p:spPr>
          <a:xfrm>
            <a:off x="6456364" y="1228220"/>
            <a:ext cx="5184775" cy="5040312"/>
          </a:xfrm>
        </p:spPr>
        <p:txBody>
          <a:bodyPr>
            <a:normAutofit/>
          </a:bodyPr>
          <a:lstStyle/>
          <a:p>
            <a:r>
              <a:rPr lang="ru-RU" sz="1400" b="1" dirty="0">
                <a:solidFill>
                  <a:srgbClr val="002C5F"/>
                </a:solidFill>
                <a:latin typeface="Arial" panose="020B0604020202020204" pitchFamily="34" charset="0"/>
              </a:rPr>
              <a:t>2. Анализ карты состояний воды (k = 1)</a:t>
            </a:r>
          </a:p>
          <a:p>
            <a:r>
              <a:rPr lang="ru-RU" sz="1200" dirty="0">
                <a:solidFill>
                  <a:srgbClr val="242834"/>
                </a:solidFill>
                <a:latin typeface="Arial" panose="020B0604020202020204" pitchFamily="34" charset="0"/>
              </a:rPr>
              <a:t>• Геометрический смысл правила фаз на плоскости (T, P):</a:t>
            </a:r>
          </a:p>
          <a:p>
            <a:r>
              <a:rPr lang="ru-RU" sz="1200" dirty="0">
                <a:solidFill>
                  <a:srgbClr val="242834"/>
                </a:solidFill>
                <a:latin typeface="Arial" panose="020B0604020202020204" pitchFamily="34" charset="0"/>
              </a:rPr>
              <a:t>   – Области фаз (φ = 1, только пар или вода): f = 1 - 1 + 2 = 2 — </a:t>
            </a:r>
            <a:r>
              <a:rPr lang="ru-RU" sz="1200" dirty="0" err="1">
                <a:solidFill>
                  <a:srgbClr val="242834"/>
                </a:solidFill>
                <a:latin typeface="Arial" panose="020B0604020202020204" pitchFamily="34" charset="0"/>
              </a:rPr>
              <a:t>бивариантное</a:t>
            </a:r>
            <a:r>
              <a:rPr lang="ru-RU" sz="1200" dirty="0">
                <a:solidFill>
                  <a:srgbClr val="242834"/>
                </a:solidFill>
                <a:latin typeface="Arial" panose="020B0604020202020204" pitchFamily="34" charset="0"/>
              </a:rPr>
              <a:t> состояние (двумерное поле: можно свободно менять и T, и P);</a:t>
            </a:r>
          </a:p>
          <a:p>
            <a:r>
              <a:rPr lang="ru-RU" sz="1200" dirty="0">
                <a:solidFill>
                  <a:srgbClr val="242834"/>
                </a:solidFill>
                <a:latin typeface="Arial" panose="020B0604020202020204" pitchFamily="34" charset="0"/>
              </a:rPr>
              <a:t>   – Линии равновесия (φ = 2, кипение / таяние): f = 1 - 2 + 2 = 1 — моновариантное состояние (линия: задав T, мы жестко фиксируем давление насыщенного пара P);</a:t>
            </a:r>
          </a:p>
          <a:p>
            <a:r>
              <a:rPr lang="ru-RU" sz="1200" dirty="0">
                <a:solidFill>
                  <a:srgbClr val="242834"/>
                </a:solidFill>
                <a:latin typeface="Arial" panose="020B0604020202020204" pitchFamily="34" charset="0"/>
              </a:rPr>
              <a:t>   – Тройная точка (φ = 3, лед + вода + пар): f = 1 - 3 + 2 = 0 — инвариантное состояние (точка: строго T = 0.01 °C и P = 611 Па, ни одной степени свободы!).</a:t>
            </a:r>
          </a:p>
          <a:p>
            <a:r>
              <a:rPr lang="ru-RU" sz="1200" dirty="0">
                <a:solidFill>
                  <a:srgbClr val="242834"/>
                </a:solidFill>
                <a:latin typeface="Arial" panose="020B0604020202020204" pitchFamily="34" charset="0"/>
              </a:rPr>
              <a:t>• Мостик в наномир: из-за избытка поверхностной энергии появляется дополнительная переменная — радиус частицы r, что сдвигает линии равновесия и тройную точку!</a:t>
            </a:r>
          </a:p>
        </p:txBody>
      </p:sp>
      <p:pic>
        <p:nvPicPr>
          <p:cNvPr id="6" name="Рисунок 5">
            <a:extLst>
              <a:ext uri="{FF2B5EF4-FFF2-40B4-BE49-F238E27FC236}">
                <a16:creationId xmlns:a16="http://schemas.microsoft.com/office/drawing/2014/main" id="{DA35FB4E-EC50-C935-0A3D-A665E59F485F}"/>
              </a:ext>
            </a:extLst>
          </p:cNvPr>
          <p:cNvPicPr>
            <a:picLocks noChangeAspect="1"/>
          </p:cNvPicPr>
          <p:nvPr/>
        </p:nvPicPr>
        <p:blipFill>
          <a:blip r:embed="rId3"/>
          <a:stretch>
            <a:fillRect/>
          </a:stretch>
        </p:blipFill>
        <p:spPr>
          <a:xfrm>
            <a:off x="8865142" y="4630273"/>
            <a:ext cx="3326858" cy="2227727"/>
          </a:xfrm>
          <a:prstGeom prst="rect">
            <a:avLst/>
          </a:prstGeom>
        </p:spPr>
      </p:pic>
    </p:spTree>
    <p:extLst>
      <p:ext uri="{BB962C8B-B14F-4D97-AF65-F5344CB8AC3E}">
        <p14:creationId xmlns:p14="http://schemas.microsoft.com/office/powerpoint/2010/main" val="12230003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7796592-6E12-8297-1315-C93712D23CEB}"/>
              </a:ext>
            </a:extLst>
          </p:cNvPr>
          <p:cNvSpPr>
            <a:spLocks noGrp="1"/>
          </p:cNvSpPr>
          <p:nvPr>
            <p:ph type="title"/>
          </p:nvPr>
        </p:nvSpPr>
        <p:spPr>
          <a:xfrm>
            <a:off x="550863" y="414901"/>
            <a:ext cx="9608330" cy="318549"/>
          </a:xfrm>
        </p:spPr>
        <p:txBody>
          <a:bodyPr/>
          <a:lstStyle/>
          <a:p>
            <a:r>
              <a:rPr lang="ru-RU" sz="2300">
                <a:solidFill>
                  <a:srgbClr val="005AAA"/>
                </a:solidFill>
                <a:latin typeface="Arial" panose="020B0604020202020204" pitchFamily="34" charset="0"/>
              </a:rPr>
              <a:t>Бинарные системы: сплавы, эвтектика и правило рычага</a:t>
            </a:r>
          </a:p>
        </p:txBody>
      </p:sp>
      <p:sp>
        <p:nvSpPr>
          <p:cNvPr id="3" name="Текст 2">
            <a:extLst>
              <a:ext uri="{FF2B5EF4-FFF2-40B4-BE49-F238E27FC236}">
                <a16:creationId xmlns:a16="http://schemas.microsoft.com/office/drawing/2014/main" id="{DA89E2F7-97D8-60D2-48E2-41B80D9B216B}"/>
              </a:ext>
            </a:extLst>
          </p:cNvPr>
          <p:cNvSpPr>
            <a:spLocks noGrp="1"/>
          </p:cNvSpPr>
          <p:nvPr>
            <p:ph type="body" sz="quarter" idx="12"/>
          </p:nvPr>
        </p:nvSpPr>
        <p:spPr>
          <a:xfrm>
            <a:off x="550863" y="1341438"/>
            <a:ext cx="4028757" cy="5040312"/>
          </a:xfrm>
        </p:spPr>
        <p:txBody>
          <a:bodyPr>
            <a:normAutofit/>
          </a:bodyPr>
          <a:lstStyle/>
          <a:p>
            <a:r>
              <a:rPr lang="ru-RU" sz="1400" b="1" dirty="0">
                <a:solidFill>
                  <a:srgbClr val="002C5F"/>
                </a:solidFill>
                <a:latin typeface="Arial" panose="020B0604020202020204" pitchFamily="34" charset="0"/>
              </a:rPr>
              <a:t>1. Бинарные системы (k = 2) и эвтектика</a:t>
            </a:r>
          </a:p>
          <a:p>
            <a:r>
              <a:rPr lang="ru-RU" sz="1050" dirty="0">
                <a:solidFill>
                  <a:srgbClr val="242834"/>
                </a:solidFill>
                <a:latin typeface="Arial" panose="020B0604020202020204" pitchFamily="34" charset="0"/>
              </a:rPr>
              <a:t>• Изобарные условия (P = </a:t>
            </a:r>
            <a:r>
              <a:rPr lang="ru-RU" sz="1050" dirty="0" err="1">
                <a:solidFill>
                  <a:srgbClr val="242834"/>
                </a:solidFill>
                <a:latin typeface="Arial" panose="020B0604020202020204" pitchFamily="34" charset="0"/>
              </a:rPr>
              <a:t>const</a:t>
            </a:r>
            <a:r>
              <a:rPr lang="ru-RU" sz="1050" dirty="0">
                <a:solidFill>
                  <a:srgbClr val="242834"/>
                </a:solidFill>
                <a:latin typeface="Arial" panose="020B0604020202020204" pitchFamily="34" charset="0"/>
              </a:rPr>
              <a:t> = 1 </a:t>
            </a:r>
            <a:r>
              <a:rPr lang="ru-RU" sz="1050" dirty="0" err="1">
                <a:solidFill>
                  <a:srgbClr val="242834"/>
                </a:solidFill>
                <a:latin typeface="Arial" panose="020B0604020202020204" pitchFamily="34" charset="0"/>
              </a:rPr>
              <a:t>атм</a:t>
            </a:r>
            <a:r>
              <a:rPr lang="ru-RU" sz="1050" dirty="0">
                <a:solidFill>
                  <a:srgbClr val="242834"/>
                </a:solidFill>
                <a:latin typeface="Arial" panose="020B0604020202020204" pitchFamily="34" charset="0"/>
              </a:rPr>
              <a:t>): остаются два параметра — температура T [К] и концентрация x [моль.%]. Правило фаз принимает вид: f = k - φ + 1 = 3 - φ.</a:t>
            </a:r>
          </a:p>
          <a:p>
            <a:r>
              <a:rPr lang="ru-RU" sz="1050" dirty="0">
                <a:solidFill>
                  <a:srgbClr val="242834"/>
                </a:solidFill>
                <a:latin typeface="Arial" panose="020B0604020202020204" pitchFamily="34" charset="0"/>
              </a:rPr>
              <a:t>• Эвтектика (от греч. «легкоплавкий»): состояние и смесь строго определенного состава, кристаллизующаяся при минимально возможной температуре </a:t>
            </a:r>
            <a:r>
              <a:rPr lang="ru-RU" sz="1050" dirty="0" err="1">
                <a:solidFill>
                  <a:srgbClr val="242834"/>
                </a:solidFill>
                <a:latin typeface="Arial" panose="020B0604020202020204" pitchFamily="34" charset="0"/>
              </a:rPr>
              <a:t>Te</a:t>
            </a:r>
            <a:r>
              <a:rPr lang="ru-RU" sz="1050" dirty="0">
                <a:solidFill>
                  <a:srgbClr val="242834"/>
                </a:solidFill>
                <a:latin typeface="Arial" panose="020B0604020202020204" pitchFamily="34" charset="0"/>
              </a:rPr>
              <a:t>:</a:t>
            </a:r>
          </a:p>
          <a:p>
            <a:r>
              <a:rPr lang="ru-RU" sz="1050" dirty="0">
                <a:solidFill>
                  <a:srgbClr val="242834"/>
                </a:solidFill>
                <a:latin typeface="Arial" panose="020B0604020202020204" pitchFamily="34" charset="0"/>
              </a:rPr>
              <a:t>   – распад жидкости сразу на две твердые фазы: L → α + β;</a:t>
            </a:r>
          </a:p>
          <a:p>
            <a:r>
              <a:rPr lang="ru-RU" sz="1050" dirty="0">
                <a:solidFill>
                  <a:srgbClr val="242834"/>
                </a:solidFill>
                <a:latin typeface="Arial" panose="020B0604020202020204" pitchFamily="34" charset="0"/>
              </a:rPr>
              <a:t>   – три фазы в равновесии (φ = 3) ⇒ f = 3 - 3 = 0 (инвариантная эвтектическая точка!).</a:t>
            </a:r>
          </a:p>
          <a:p>
            <a:r>
              <a:rPr lang="ru-RU" sz="1050" dirty="0">
                <a:solidFill>
                  <a:srgbClr val="242834"/>
                </a:solidFill>
                <a:latin typeface="Arial" panose="020B0604020202020204" pitchFamily="34" charset="0"/>
              </a:rPr>
              <a:t>• Физический пример (Au-</a:t>
            </a:r>
            <a:r>
              <a:rPr lang="ru-RU" sz="1050" dirty="0" err="1">
                <a:solidFill>
                  <a:srgbClr val="242834"/>
                </a:solidFill>
                <a:latin typeface="Arial" panose="020B0604020202020204" pitchFamily="34" charset="0"/>
              </a:rPr>
              <a:t>Si</a:t>
            </a:r>
            <a:r>
              <a:rPr lang="ru-RU" sz="1050" dirty="0">
                <a:solidFill>
                  <a:srgbClr val="242834"/>
                </a:solidFill>
                <a:latin typeface="Arial" panose="020B0604020202020204" pitchFamily="34" charset="0"/>
              </a:rPr>
              <a:t>): чистый кремний </a:t>
            </a:r>
            <a:r>
              <a:rPr lang="ru-RU" sz="1050" dirty="0" err="1">
                <a:solidFill>
                  <a:srgbClr val="242834"/>
                </a:solidFill>
                <a:latin typeface="Arial" panose="020B0604020202020204" pitchFamily="34" charset="0"/>
              </a:rPr>
              <a:t>Si</a:t>
            </a:r>
            <a:r>
              <a:rPr lang="ru-RU" sz="1050" dirty="0">
                <a:solidFill>
                  <a:srgbClr val="242834"/>
                </a:solidFill>
                <a:latin typeface="Arial" panose="020B0604020202020204" pitchFamily="34" charset="0"/>
              </a:rPr>
              <a:t> плавится при 1414 °C, чистое золото Au — при 1064 °C, а их эвтектический сплав (19 </a:t>
            </a:r>
            <a:r>
              <a:rPr lang="ru-RU" sz="1050" dirty="0" err="1">
                <a:solidFill>
                  <a:srgbClr val="242834"/>
                </a:solidFill>
                <a:latin typeface="Arial" panose="020B0604020202020204" pitchFamily="34" charset="0"/>
              </a:rPr>
              <a:t>ат</a:t>
            </a:r>
            <a:r>
              <a:rPr lang="ru-RU" sz="1050" dirty="0">
                <a:solidFill>
                  <a:srgbClr val="242834"/>
                </a:solidFill>
                <a:latin typeface="Arial" panose="020B0604020202020204" pitchFamily="34" charset="0"/>
              </a:rPr>
              <a:t>.% </a:t>
            </a:r>
            <a:r>
              <a:rPr lang="ru-RU" sz="1050" dirty="0" err="1">
                <a:solidFill>
                  <a:srgbClr val="242834"/>
                </a:solidFill>
                <a:latin typeface="Arial" panose="020B0604020202020204" pitchFamily="34" charset="0"/>
              </a:rPr>
              <a:t>Si</a:t>
            </a:r>
            <a:r>
              <a:rPr lang="ru-RU" sz="1050" dirty="0">
                <a:solidFill>
                  <a:srgbClr val="242834"/>
                </a:solidFill>
                <a:latin typeface="Arial" panose="020B0604020202020204" pitchFamily="34" charset="0"/>
              </a:rPr>
              <a:t>) плавится всего при 363 °C!</a:t>
            </a:r>
          </a:p>
        </p:txBody>
      </p:sp>
      <p:sp>
        <p:nvSpPr>
          <p:cNvPr id="4" name="Текст 3">
            <a:extLst>
              <a:ext uri="{FF2B5EF4-FFF2-40B4-BE49-F238E27FC236}">
                <a16:creationId xmlns:a16="http://schemas.microsoft.com/office/drawing/2014/main" id="{C914E9F8-B3FE-A250-7307-0345C92758EF}"/>
              </a:ext>
            </a:extLst>
          </p:cNvPr>
          <p:cNvSpPr>
            <a:spLocks noGrp="1"/>
          </p:cNvSpPr>
          <p:nvPr>
            <p:ph type="body" sz="quarter" idx="13"/>
          </p:nvPr>
        </p:nvSpPr>
        <p:spPr>
          <a:xfrm>
            <a:off x="7315200" y="1341437"/>
            <a:ext cx="4325939" cy="5040312"/>
          </a:xfrm>
        </p:spPr>
        <p:txBody>
          <a:bodyPr>
            <a:normAutofit/>
          </a:bodyPr>
          <a:lstStyle/>
          <a:p>
            <a:r>
              <a:rPr lang="ru-RU" sz="1400" b="1" dirty="0">
                <a:solidFill>
                  <a:srgbClr val="002C5F"/>
                </a:solidFill>
                <a:latin typeface="Arial" panose="020B0604020202020204" pitchFamily="34" charset="0"/>
              </a:rPr>
              <a:t>2. Правило рычага и VLS-рост </a:t>
            </a:r>
            <a:r>
              <a:rPr lang="ru-RU" sz="1400" b="1" dirty="0" err="1">
                <a:solidFill>
                  <a:srgbClr val="002C5F"/>
                </a:solidFill>
                <a:latin typeface="Arial" panose="020B0604020202020204" pitchFamily="34" charset="0"/>
              </a:rPr>
              <a:t>нанонитей</a:t>
            </a:r>
            <a:endParaRPr lang="ru-RU" sz="1400" b="1" dirty="0">
              <a:solidFill>
                <a:srgbClr val="002C5F"/>
              </a:solidFill>
              <a:latin typeface="Arial" panose="020B0604020202020204" pitchFamily="34" charset="0"/>
            </a:endParaRPr>
          </a:p>
          <a:p>
            <a:r>
              <a:rPr lang="ru-RU" sz="1050" dirty="0">
                <a:solidFill>
                  <a:srgbClr val="242834"/>
                </a:solidFill>
                <a:latin typeface="Arial" panose="020B0604020202020204" pitchFamily="34" charset="0"/>
              </a:rPr>
              <a:t>• Правило рычага (</a:t>
            </a:r>
            <a:r>
              <a:rPr lang="ru-RU" sz="1050" dirty="0" err="1">
                <a:solidFill>
                  <a:srgbClr val="242834"/>
                </a:solidFill>
                <a:latin typeface="Arial" panose="020B0604020202020204" pitchFamily="34" charset="0"/>
              </a:rPr>
              <a:t>Lever</a:t>
            </a:r>
            <a:r>
              <a:rPr lang="ru-RU" sz="1050" dirty="0">
                <a:solidFill>
                  <a:srgbClr val="242834"/>
                </a:solidFill>
                <a:latin typeface="Arial" panose="020B0604020202020204" pitchFamily="34" charset="0"/>
              </a:rPr>
              <a:t> </a:t>
            </a:r>
            <a:r>
              <a:rPr lang="ru-RU" sz="1050" dirty="0" err="1">
                <a:solidFill>
                  <a:srgbClr val="242834"/>
                </a:solidFill>
                <a:latin typeface="Arial" panose="020B0604020202020204" pitchFamily="34" charset="0"/>
              </a:rPr>
              <a:t>Rule</a:t>
            </a:r>
            <a:r>
              <a:rPr lang="ru-RU" sz="1050" dirty="0">
                <a:solidFill>
                  <a:srgbClr val="242834"/>
                </a:solidFill>
                <a:latin typeface="Arial" panose="020B0604020202020204" pitchFamily="34" charset="0"/>
              </a:rPr>
              <a:t>): в двухфазной области массы сосуществующих фаз обратно пропорциональны отрезкам соединительной линии (</a:t>
            </a:r>
            <a:r>
              <a:rPr lang="ru-RU" sz="1050" dirty="0" err="1">
                <a:solidFill>
                  <a:srgbClr val="242834"/>
                </a:solidFill>
                <a:latin typeface="Arial" panose="020B0604020202020204" pitchFamily="34" charset="0"/>
              </a:rPr>
              <a:t>конноды</a:t>
            </a:r>
            <a:r>
              <a:rPr lang="ru-RU" sz="1050" dirty="0">
                <a:solidFill>
                  <a:srgbClr val="242834"/>
                </a:solidFill>
                <a:latin typeface="Arial" panose="020B0604020202020204" pitchFamily="34" charset="0"/>
              </a:rPr>
              <a:t>):</a:t>
            </a:r>
          </a:p>
          <a:p>
            <a:r>
              <a:rPr lang="ru-RU" sz="1050" dirty="0">
                <a:solidFill>
                  <a:srgbClr val="242834"/>
                </a:solidFill>
                <a:latin typeface="Arial" panose="020B0604020202020204" pitchFamily="34" charset="0"/>
              </a:rPr>
              <a:t>   </a:t>
            </a:r>
            <a:r>
              <a:rPr lang="ru-RU" sz="1050" dirty="0" err="1">
                <a:solidFill>
                  <a:srgbClr val="242834"/>
                </a:solidFill>
                <a:latin typeface="Arial" panose="020B0604020202020204" pitchFamily="34" charset="0"/>
              </a:rPr>
              <a:t>mL</a:t>
            </a:r>
            <a:r>
              <a:rPr lang="ru-RU" sz="1050" dirty="0">
                <a:solidFill>
                  <a:srgbClr val="242834"/>
                </a:solidFill>
                <a:latin typeface="Arial" panose="020B0604020202020204" pitchFamily="34" charset="0"/>
              </a:rPr>
              <a:t> · l₁ = </a:t>
            </a:r>
            <a:r>
              <a:rPr lang="ru-RU" sz="1050" dirty="0" err="1">
                <a:solidFill>
                  <a:srgbClr val="242834"/>
                </a:solidFill>
                <a:latin typeface="Arial" panose="020B0604020202020204" pitchFamily="34" charset="0"/>
              </a:rPr>
              <a:t>mS</a:t>
            </a:r>
            <a:r>
              <a:rPr lang="ru-RU" sz="1050" dirty="0">
                <a:solidFill>
                  <a:srgbClr val="242834"/>
                </a:solidFill>
                <a:latin typeface="Arial" panose="020B0604020202020204" pitchFamily="34" charset="0"/>
              </a:rPr>
              <a:t> · l₂</a:t>
            </a:r>
          </a:p>
          <a:p>
            <a:r>
              <a:rPr lang="ru-RU" sz="1050" dirty="0">
                <a:solidFill>
                  <a:srgbClr val="242834"/>
                </a:solidFill>
                <a:latin typeface="Arial" panose="020B0604020202020204" pitchFamily="34" charset="0"/>
              </a:rPr>
              <a:t>   где </a:t>
            </a:r>
            <a:r>
              <a:rPr lang="ru-RU" sz="1050" dirty="0" err="1">
                <a:solidFill>
                  <a:srgbClr val="242834"/>
                </a:solidFill>
                <a:latin typeface="Arial" panose="020B0604020202020204" pitchFamily="34" charset="0"/>
              </a:rPr>
              <a:t>mL</a:t>
            </a:r>
            <a:r>
              <a:rPr lang="ru-RU" sz="1050" dirty="0">
                <a:solidFill>
                  <a:srgbClr val="242834"/>
                </a:solidFill>
                <a:latin typeface="Arial" panose="020B0604020202020204" pitchFamily="34" charset="0"/>
              </a:rPr>
              <a:t> — масса жидкого расплава [кг], </a:t>
            </a:r>
            <a:r>
              <a:rPr lang="ru-RU" sz="1050" dirty="0" err="1">
                <a:solidFill>
                  <a:srgbClr val="242834"/>
                </a:solidFill>
                <a:latin typeface="Arial" panose="020B0604020202020204" pitchFamily="34" charset="0"/>
              </a:rPr>
              <a:t>mS</a:t>
            </a:r>
            <a:r>
              <a:rPr lang="ru-RU" sz="1050" dirty="0">
                <a:solidFill>
                  <a:srgbClr val="242834"/>
                </a:solidFill>
                <a:latin typeface="Arial" panose="020B0604020202020204" pitchFamily="34" charset="0"/>
              </a:rPr>
              <a:t> — масса твердой фазы [кг], l₁, l₂ — концентрационные плечи рычага [масс.%].</a:t>
            </a:r>
          </a:p>
          <a:p>
            <a:r>
              <a:rPr lang="ru-RU" sz="1050" dirty="0">
                <a:solidFill>
                  <a:srgbClr val="242834"/>
                </a:solidFill>
                <a:latin typeface="Arial" panose="020B0604020202020204" pitchFamily="34" charset="0"/>
              </a:rPr>
              <a:t>• Применение в наноиндустрии (VLS-механизм «Пар–Жидкость–Кристалл»):</a:t>
            </a:r>
          </a:p>
          <a:p>
            <a:r>
              <a:rPr lang="ru-RU" sz="1050" dirty="0">
                <a:solidFill>
                  <a:srgbClr val="242834"/>
                </a:solidFill>
                <a:latin typeface="Arial" panose="020B0604020202020204" pitchFamily="34" charset="0"/>
              </a:rPr>
              <a:t>   – </a:t>
            </a:r>
            <a:r>
              <a:rPr lang="ru-RU" sz="1050" dirty="0" err="1">
                <a:solidFill>
                  <a:srgbClr val="242834"/>
                </a:solidFill>
                <a:latin typeface="Arial" panose="020B0604020202020204" pitchFamily="34" charset="0"/>
              </a:rPr>
              <a:t>нанокапли</a:t>
            </a:r>
            <a:r>
              <a:rPr lang="ru-RU" sz="1050" dirty="0">
                <a:solidFill>
                  <a:srgbClr val="242834"/>
                </a:solidFill>
                <a:latin typeface="Arial" panose="020B0604020202020204" pitchFamily="34" charset="0"/>
              </a:rPr>
              <a:t> золота наносят на кремниевую подложку и нагревают до 400 °C (выше эвтектики 363 °C);</a:t>
            </a:r>
          </a:p>
          <a:p>
            <a:r>
              <a:rPr lang="ru-RU" sz="1050" dirty="0">
                <a:solidFill>
                  <a:srgbClr val="242834"/>
                </a:solidFill>
                <a:latin typeface="Arial" panose="020B0604020202020204" pitchFamily="34" charset="0"/>
              </a:rPr>
              <a:t>   – из газа подают </a:t>
            </a:r>
            <a:r>
              <a:rPr lang="ru-RU" sz="1050" dirty="0" err="1">
                <a:solidFill>
                  <a:srgbClr val="242834"/>
                </a:solidFill>
                <a:latin typeface="Arial" panose="020B0604020202020204" pitchFamily="34" charset="0"/>
              </a:rPr>
              <a:t>силан</a:t>
            </a:r>
            <a:r>
              <a:rPr lang="ru-RU" sz="1050" dirty="0">
                <a:solidFill>
                  <a:srgbClr val="242834"/>
                </a:solidFill>
                <a:latin typeface="Arial" panose="020B0604020202020204" pitchFamily="34" charset="0"/>
              </a:rPr>
              <a:t> </a:t>
            </a:r>
            <a:r>
              <a:rPr lang="ru-RU" sz="1050" dirty="0" err="1">
                <a:solidFill>
                  <a:srgbClr val="242834"/>
                </a:solidFill>
                <a:latin typeface="Arial" panose="020B0604020202020204" pitchFamily="34" charset="0"/>
              </a:rPr>
              <a:t>SiH</a:t>
            </a:r>
            <a:r>
              <a:rPr lang="ru-RU" sz="1050" dirty="0">
                <a:solidFill>
                  <a:srgbClr val="242834"/>
                </a:solidFill>
                <a:latin typeface="Arial" panose="020B0604020202020204" pitchFamily="34" charset="0"/>
              </a:rPr>
              <a:t>₄, кремний растворяется в капле до </a:t>
            </a:r>
            <a:r>
              <a:rPr lang="ru-RU" sz="1050" dirty="0" err="1">
                <a:solidFill>
                  <a:srgbClr val="242834"/>
                </a:solidFill>
                <a:latin typeface="Arial" panose="020B0604020202020204" pitchFamily="34" charset="0"/>
              </a:rPr>
              <a:t>пересыщения</a:t>
            </a:r>
            <a:r>
              <a:rPr lang="ru-RU" sz="1050" dirty="0">
                <a:solidFill>
                  <a:srgbClr val="242834"/>
                </a:solidFill>
                <a:latin typeface="Arial" panose="020B0604020202020204" pitchFamily="34" charset="0"/>
              </a:rPr>
              <a:t>;</a:t>
            </a:r>
          </a:p>
          <a:p>
            <a:r>
              <a:rPr lang="ru-RU" sz="1050" dirty="0">
                <a:solidFill>
                  <a:srgbClr val="242834"/>
                </a:solidFill>
                <a:latin typeface="Arial" panose="020B0604020202020204" pitchFamily="34" charset="0"/>
              </a:rPr>
              <a:t>   – избыточный </a:t>
            </a:r>
            <a:r>
              <a:rPr lang="ru-RU" sz="1050" dirty="0" err="1">
                <a:solidFill>
                  <a:srgbClr val="242834"/>
                </a:solidFill>
                <a:latin typeface="Arial" panose="020B0604020202020204" pitchFamily="34" charset="0"/>
              </a:rPr>
              <a:t>Si</a:t>
            </a:r>
            <a:r>
              <a:rPr lang="ru-RU" sz="1050" dirty="0">
                <a:solidFill>
                  <a:srgbClr val="242834"/>
                </a:solidFill>
                <a:latin typeface="Arial" panose="020B0604020202020204" pitchFamily="34" charset="0"/>
              </a:rPr>
              <a:t> кристаллизуется под каплей, непрерывно выталкивая </a:t>
            </a:r>
            <a:r>
              <a:rPr lang="ru-RU" sz="1050" dirty="0" err="1">
                <a:solidFill>
                  <a:srgbClr val="242834"/>
                </a:solidFill>
                <a:latin typeface="Arial" panose="020B0604020202020204" pitchFamily="34" charset="0"/>
              </a:rPr>
              <a:t>нанонить</a:t>
            </a:r>
            <a:r>
              <a:rPr lang="ru-RU" sz="1050" dirty="0">
                <a:solidFill>
                  <a:srgbClr val="242834"/>
                </a:solidFill>
                <a:latin typeface="Arial" panose="020B0604020202020204" pitchFamily="34" charset="0"/>
              </a:rPr>
              <a:t> кремния вверх!</a:t>
            </a:r>
          </a:p>
        </p:txBody>
      </p:sp>
      <p:pic>
        <p:nvPicPr>
          <p:cNvPr id="6" name="Рисунок 5">
            <a:extLst>
              <a:ext uri="{FF2B5EF4-FFF2-40B4-BE49-F238E27FC236}">
                <a16:creationId xmlns:a16="http://schemas.microsoft.com/office/drawing/2014/main" id="{9CAAEBC4-5216-ABFC-BA30-450B4146847C}"/>
              </a:ext>
            </a:extLst>
          </p:cNvPr>
          <p:cNvPicPr>
            <a:picLocks noChangeAspect="1"/>
          </p:cNvPicPr>
          <p:nvPr/>
        </p:nvPicPr>
        <p:blipFill>
          <a:blip r:embed="rId3"/>
          <a:srcRect t="1747" b="1820"/>
          <a:stretch>
            <a:fillRect/>
          </a:stretch>
        </p:blipFill>
        <p:spPr>
          <a:xfrm>
            <a:off x="4654968" y="2118359"/>
            <a:ext cx="2451680" cy="3048001"/>
          </a:xfrm>
          <a:prstGeom prst="rect">
            <a:avLst/>
          </a:prstGeom>
        </p:spPr>
      </p:pic>
    </p:spTree>
    <p:extLst>
      <p:ext uri="{BB962C8B-B14F-4D97-AF65-F5344CB8AC3E}">
        <p14:creationId xmlns:p14="http://schemas.microsoft.com/office/powerpoint/2010/main" val="40043584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D657A4-5CF8-3ED7-433D-FAC8F74CF433}"/>
              </a:ext>
            </a:extLst>
          </p:cNvPr>
          <p:cNvSpPr>
            <a:spLocks noGrp="1"/>
          </p:cNvSpPr>
          <p:nvPr>
            <p:ph type="title"/>
          </p:nvPr>
        </p:nvSpPr>
        <p:spPr>
          <a:xfrm>
            <a:off x="550863" y="421826"/>
            <a:ext cx="9608330" cy="304699"/>
          </a:xfrm>
        </p:spPr>
        <p:txBody>
          <a:bodyPr/>
          <a:lstStyle/>
          <a:p>
            <a:r>
              <a:rPr lang="ru-RU" sz="2200">
                <a:solidFill>
                  <a:srgbClr val="005AAA"/>
                </a:solidFill>
                <a:latin typeface="Arial" panose="020B0604020202020204" pitchFamily="34" charset="0"/>
              </a:rPr>
              <a:t>Анатомия диаграммы и охлаждение сплава</a:t>
            </a:r>
          </a:p>
        </p:txBody>
      </p:sp>
      <p:sp>
        <p:nvSpPr>
          <p:cNvPr id="3" name="Текст 2">
            <a:extLst>
              <a:ext uri="{FF2B5EF4-FFF2-40B4-BE49-F238E27FC236}">
                <a16:creationId xmlns:a16="http://schemas.microsoft.com/office/drawing/2014/main" id="{67AAA734-6E1C-F509-4B98-704D4CA99E86}"/>
              </a:ext>
            </a:extLst>
          </p:cNvPr>
          <p:cNvSpPr>
            <a:spLocks noGrp="1"/>
          </p:cNvSpPr>
          <p:nvPr>
            <p:ph type="body" sz="quarter" idx="12"/>
          </p:nvPr>
        </p:nvSpPr>
        <p:spPr>
          <a:xfrm>
            <a:off x="550863" y="1341438"/>
            <a:ext cx="3492500" cy="5040313"/>
          </a:xfrm>
        </p:spPr>
        <p:txBody>
          <a:bodyPr lIns="0" tIns="0" rIns="0" bIns="0">
            <a:normAutofit/>
          </a:bodyPr>
          <a:lstStyle/>
          <a:p>
            <a:pPr>
              <a:lnSpc>
                <a:spcPct val="114000"/>
              </a:lnSpc>
              <a:spcAft>
                <a:spcPts val="100"/>
              </a:spcAft>
            </a:pPr>
            <a:r>
              <a:rPr lang="ru-RU" sz="1300" b="1">
                <a:solidFill>
                  <a:srgbClr val="005AAA"/>
                </a:solidFill>
                <a:latin typeface="Arial" panose="020B0604020202020204" pitchFamily="34" charset="0"/>
              </a:rPr>
              <a:t>1. Геометрия диаграммы состояния</a:t>
            </a:r>
          </a:p>
          <a:p>
            <a:pPr>
              <a:lnSpc>
                <a:spcPct val="104000"/>
              </a:lnSpc>
              <a:spcBef>
                <a:spcPts val="250"/>
              </a:spcBef>
              <a:spcAft>
                <a:spcPts val="100"/>
              </a:spcAft>
            </a:pPr>
            <a:r>
              <a:rPr lang="ru-RU" sz="1000">
                <a:solidFill>
                  <a:srgbClr val="342824"/>
                </a:solidFill>
                <a:latin typeface="Arial" panose="020B0604020202020204" pitchFamily="34" charset="0"/>
              </a:rPr>
              <a:t>• Оси: по вертикали — T [°C], по горизонтали — состав x [% B] (от чистого A до B) при P = 1 атм.</a:t>
            </a:r>
          </a:p>
          <a:p>
            <a:pPr>
              <a:lnSpc>
                <a:spcPct val="104000"/>
              </a:lnSpc>
              <a:spcBef>
                <a:spcPts val="200"/>
              </a:spcBef>
              <a:spcAft>
                <a:spcPts val="100"/>
              </a:spcAft>
            </a:pPr>
            <a:r>
              <a:rPr lang="ru-RU" sz="950">
                <a:solidFill>
                  <a:srgbClr val="342824"/>
                </a:solidFill>
                <a:latin typeface="Arial" panose="020B0604020202020204" pitchFamily="34" charset="0"/>
              </a:rPr>
              <a:t>• Ликвидус: кривая начала кристаллизации (выше — гомогенный расплав L).</a:t>
            </a:r>
          </a:p>
          <a:p>
            <a:pPr>
              <a:lnSpc>
                <a:spcPct val="104000"/>
              </a:lnSpc>
              <a:spcBef>
                <a:spcPts val="200"/>
              </a:spcBef>
              <a:spcAft>
                <a:spcPts val="100"/>
              </a:spcAft>
            </a:pPr>
            <a:r>
              <a:rPr lang="ru-RU" sz="950">
                <a:solidFill>
                  <a:srgbClr val="342824"/>
                </a:solidFill>
                <a:latin typeface="Arial" panose="020B0604020202020204" pitchFamily="34" charset="0"/>
              </a:rPr>
              <a:t>• Солидус (горизонталь T_E): линия полного затвердевания (ниже — смесь кристаллов A + B).</a:t>
            </a:r>
          </a:p>
          <a:p>
            <a:pPr>
              <a:lnSpc>
                <a:spcPct val="104000"/>
              </a:lnSpc>
              <a:spcBef>
                <a:spcPts val="200"/>
              </a:spcBef>
              <a:spcAft>
                <a:spcPts val="100"/>
              </a:spcAft>
            </a:pPr>
            <a:r>
              <a:rPr lang="ru-RU" sz="950">
                <a:solidFill>
                  <a:srgbClr val="342824"/>
                </a:solidFill>
                <a:latin typeface="Arial" panose="020B0604020202020204" pitchFamily="34" charset="0"/>
              </a:rPr>
              <a:t>• Эвтектика E: точка минимальной температуры плавления всей системы.</a:t>
            </a:r>
          </a:p>
          <a:p>
            <a:pPr>
              <a:lnSpc>
                <a:spcPct val="104000"/>
              </a:lnSpc>
              <a:spcBef>
                <a:spcPts val="500"/>
              </a:spcBef>
              <a:spcAft>
                <a:spcPts val="100"/>
              </a:spcAft>
            </a:pPr>
            <a:r>
              <a:rPr lang="ru-RU" sz="1200" b="1">
                <a:solidFill>
                  <a:srgbClr val="005AAA"/>
                </a:solidFill>
                <a:latin typeface="Arial" panose="020B0604020202020204" pitchFamily="34" charset="0"/>
              </a:rPr>
              <a:t>2. Синхронное охлаждение (x = 18%)</a:t>
            </a:r>
          </a:p>
          <a:p>
            <a:pPr>
              <a:lnSpc>
                <a:spcPct val="104000"/>
              </a:lnSpc>
              <a:spcBef>
                <a:spcPts val="200"/>
              </a:spcBef>
              <a:spcAft>
                <a:spcPts val="100"/>
              </a:spcAft>
            </a:pPr>
            <a:r>
              <a:rPr lang="ru-RU" sz="950">
                <a:solidFill>
                  <a:srgbClr val="342824"/>
                </a:solidFill>
                <a:latin typeface="Arial" panose="020B0604020202020204" pitchFamily="34" charset="0"/>
              </a:rPr>
              <a:t>• Расплав (T &gt; T_ликв): фигуративная точка опускается строго вертикально вниз (C = 2).</a:t>
            </a:r>
          </a:p>
          <a:p>
            <a:pPr>
              <a:lnSpc>
                <a:spcPct val="104000"/>
              </a:lnSpc>
              <a:spcBef>
                <a:spcPts val="200"/>
              </a:spcBef>
              <a:spcAft>
                <a:spcPts val="100"/>
              </a:spcAft>
            </a:pPr>
            <a:r>
              <a:rPr lang="ru-RU" sz="950">
                <a:solidFill>
                  <a:srgbClr val="342824"/>
                </a:solidFill>
                <a:latin typeface="Arial" panose="020B0604020202020204" pitchFamily="34" charset="0"/>
              </a:rPr>
              <a:t>• Четкий излом на ликвидусе: выпадение кристаллов A. Скрытая теплота ΔH_пл замедляет темп охлаждения (излом кривой, C = 1).</a:t>
            </a:r>
          </a:p>
          <a:p>
            <a:pPr>
              <a:lnSpc>
                <a:spcPct val="104000"/>
              </a:lnSpc>
              <a:spcBef>
                <a:spcPts val="200"/>
              </a:spcBef>
              <a:spcAft>
                <a:spcPts val="100"/>
              </a:spcAft>
            </a:pPr>
            <a:r>
              <a:rPr lang="ru-RU" sz="950">
                <a:solidFill>
                  <a:srgbClr val="342824"/>
                </a:solidFill>
                <a:latin typeface="Arial" panose="020B0604020202020204" pitchFamily="34" charset="0"/>
              </a:rPr>
              <a:t>• Остановка на эвтектике (T_E = const): температура замирает на площадке до полного затвердевания расплава в смесь A + B (Φ = 3 ⇒ C = 0).</a:t>
            </a:r>
          </a:p>
          <a:p>
            <a:pPr>
              <a:lnSpc>
                <a:spcPct val="104000"/>
              </a:lnSpc>
              <a:spcBef>
                <a:spcPts val="200"/>
              </a:spcBef>
              <a:spcAft>
                <a:spcPts val="100"/>
              </a:spcAft>
            </a:pPr>
            <a:r>
              <a:rPr lang="ru-RU" sz="950">
                <a:solidFill>
                  <a:srgbClr val="342824"/>
                </a:solidFill>
                <a:latin typeface="Arial" panose="020B0604020202020204" pitchFamily="34" charset="0"/>
              </a:rPr>
              <a:t>• Твердый сплав (T &lt; T_E): дальнейшее охлаждение смеси (A + B).</a:t>
            </a:r>
          </a:p>
        </p:txBody>
      </p:sp>
      <p:pic>
        <p:nvPicPr>
          <p:cNvPr id="8" name="Рисунок 7">
            <a:extLst>
              <a:ext uri="{FF2B5EF4-FFF2-40B4-BE49-F238E27FC236}">
                <a16:creationId xmlns:a16="http://schemas.microsoft.com/office/drawing/2014/main" id="{0700C868-F673-C01C-94A3-1198D15126D3}"/>
              </a:ext>
            </a:extLst>
          </p:cNvPr>
          <p:cNvPicPr>
            <a:picLocks/>
          </p:cNvPicPr>
          <p:nvPr/>
        </p:nvPicPr>
        <p:blipFill>
          <a:blip r:embed="rId2"/>
          <a:stretch>
            <a:fillRect/>
          </a:stretch>
        </p:blipFill>
        <p:spPr>
          <a:xfrm>
            <a:off x="4297363" y="1623060"/>
            <a:ext cx="7343775" cy="4476750"/>
          </a:xfrm>
          <a:prstGeom prst="rect">
            <a:avLst/>
          </a:prstGeom>
        </p:spPr>
      </p:pic>
    </p:spTree>
    <p:extLst>
      <p:ext uri="{BB962C8B-B14F-4D97-AF65-F5344CB8AC3E}">
        <p14:creationId xmlns:p14="http://schemas.microsoft.com/office/powerpoint/2010/main" val="24153185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875D183-74A7-9B6B-AC1D-4FB8AB9CAC70}"/>
              </a:ext>
            </a:extLst>
          </p:cNvPr>
          <p:cNvSpPr>
            <a:spLocks noGrp="1"/>
          </p:cNvSpPr>
          <p:nvPr>
            <p:ph type="title"/>
          </p:nvPr>
        </p:nvSpPr>
        <p:spPr>
          <a:xfrm>
            <a:off x="550863" y="421826"/>
            <a:ext cx="9608330" cy="304699"/>
          </a:xfrm>
        </p:spPr>
        <p:txBody>
          <a:bodyPr/>
          <a:lstStyle/>
          <a:p>
            <a:r>
              <a:rPr lang="ru-RU" sz="2200">
                <a:solidFill>
                  <a:srgbClr val="005AAA"/>
                </a:solidFill>
                <a:latin typeface="Arial" panose="020B0604020202020204" pitchFamily="34" charset="0"/>
              </a:rPr>
              <a:t>Синтез диаграммы из серии кривых охлаждения</a:t>
            </a:r>
          </a:p>
        </p:txBody>
      </p:sp>
      <p:sp>
        <p:nvSpPr>
          <p:cNvPr id="3" name="Текст 2">
            <a:extLst>
              <a:ext uri="{FF2B5EF4-FFF2-40B4-BE49-F238E27FC236}">
                <a16:creationId xmlns:a16="http://schemas.microsoft.com/office/drawing/2014/main" id="{AB96F622-9300-2508-2ECD-CF2B1D9E46B4}"/>
              </a:ext>
            </a:extLst>
          </p:cNvPr>
          <p:cNvSpPr>
            <a:spLocks noGrp="1"/>
          </p:cNvSpPr>
          <p:nvPr>
            <p:ph type="body" sz="quarter" idx="12"/>
          </p:nvPr>
        </p:nvSpPr>
        <p:spPr>
          <a:xfrm>
            <a:off x="550863" y="1341438"/>
            <a:ext cx="3492500" cy="5040313"/>
          </a:xfrm>
        </p:spPr>
        <p:txBody>
          <a:bodyPr lIns="0" tIns="0" rIns="0" bIns="0">
            <a:normAutofit/>
          </a:bodyPr>
          <a:lstStyle/>
          <a:p>
            <a:pPr>
              <a:lnSpc>
                <a:spcPct val="104000"/>
              </a:lnSpc>
              <a:spcAft>
                <a:spcPts val="100"/>
              </a:spcAft>
            </a:pPr>
            <a:r>
              <a:rPr lang="ru-RU" sz="1200" b="1">
                <a:solidFill>
                  <a:srgbClr val="005AAA"/>
                </a:solidFill>
                <a:latin typeface="Arial" panose="020B0604020202020204" pitchFamily="34" charset="0"/>
              </a:rPr>
              <a:t>1. Метод Таммана (термоанализ)</a:t>
            </a:r>
          </a:p>
          <a:p>
            <a:pPr>
              <a:lnSpc>
                <a:spcPct val="104000"/>
              </a:lnSpc>
              <a:spcBef>
                <a:spcPts val="250"/>
              </a:spcBef>
              <a:spcAft>
                <a:spcPts val="100"/>
              </a:spcAft>
            </a:pPr>
            <a:r>
              <a:rPr lang="ru-RU" sz="950">
                <a:solidFill>
                  <a:srgbClr val="342824"/>
                </a:solidFill>
                <a:latin typeface="Arial" panose="020B0604020202020204" pitchFamily="34" charset="0"/>
              </a:rPr>
              <a:t>• Эксперимент: снятие кривых охлаждения «температура T – время τ» для серии сплавов с концентрацией от 0 до 100% B.</a:t>
            </a:r>
          </a:p>
          <a:p>
            <a:pPr>
              <a:lnSpc>
                <a:spcPct val="104000"/>
              </a:lnSpc>
              <a:spcBef>
                <a:spcPts val="250"/>
              </a:spcBef>
              <a:spcAft>
                <a:spcPts val="100"/>
              </a:spcAft>
            </a:pPr>
            <a:r>
              <a:rPr lang="ru-RU" sz="1000" b="1">
                <a:solidFill>
                  <a:srgbClr val="005AAA"/>
                </a:solidFill>
                <a:latin typeface="Arial" panose="020B0604020202020204" pitchFamily="34" charset="0"/>
              </a:rPr>
              <a:t>• Физический смысл площадок:</a:t>
            </a:r>
          </a:p>
          <a:p>
            <a:pPr>
              <a:lnSpc>
                <a:spcPct val="104000"/>
              </a:lnSpc>
              <a:spcBef>
                <a:spcPts val="150"/>
              </a:spcBef>
              <a:spcAft>
                <a:spcPts val="100"/>
              </a:spcAft>
            </a:pPr>
            <a:r>
              <a:rPr lang="ru-RU" sz="900">
                <a:solidFill>
                  <a:srgbClr val="342824"/>
                </a:solidFill>
                <a:latin typeface="Arial" panose="020B0604020202020204" pitchFamily="34" charset="0"/>
              </a:rPr>
              <a:t>  – Металлы 1 и 6: кристаллизуются при постоянных T_пл(A) и T_пл(B) (C = 0).</a:t>
            </a:r>
          </a:p>
          <a:p>
            <a:pPr>
              <a:lnSpc>
                <a:spcPct val="104000"/>
              </a:lnSpc>
              <a:spcBef>
                <a:spcPts val="150"/>
              </a:spcBef>
              <a:spcAft>
                <a:spcPts val="100"/>
              </a:spcAft>
            </a:pPr>
            <a:r>
              <a:rPr lang="ru-RU" sz="900">
                <a:solidFill>
                  <a:srgbClr val="342824"/>
                </a:solidFill>
                <a:latin typeface="Arial" panose="020B0604020202020204" pitchFamily="34" charset="0"/>
              </a:rPr>
              <a:t>  – Эвтектика 4: расплав затвердевает целиком при минимальной T_E без предварительного выпадения кристаллов.</a:t>
            </a:r>
          </a:p>
          <a:p>
            <a:pPr>
              <a:lnSpc>
                <a:spcPct val="104000"/>
              </a:lnSpc>
              <a:spcBef>
                <a:spcPts val="500"/>
              </a:spcBef>
              <a:spcAft>
                <a:spcPts val="100"/>
              </a:spcAft>
            </a:pPr>
            <a:r>
              <a:rPr lang="ru-RU" sz="1200" b="1">
                <a:solidFill>
                  <a:srgbClr val="005AAA"/>
                </a:solidFill>
                <a:latin typeface="Arial" panose="020B0604020202020204" pitchFamily="34" charset="0"/>
              </a:rPr>
              <a:t>2. Построение линий T – x</a:t>
            </a:r>
          </a:p>
          <a:p>
            <a:pPr>
              <a:lnSpc>
                <a:spcPct val="104000"/>
              </a:lnSpc>
              <a:spcBef>
                <a:spcPts val="200"/>
              </a:spcBef>
              <a:spcAft>
                <a:spcPts val="100"/>
              </a:spcAft>
            </a:pPr>
            <a:r>
              <a:rPr lang="ru-RU" sz="950">
                <a:solidFill>
                  <a:srgbClr val="342824"/>
                </a:solidFill>
                <a:latin typeface="Arial" panose="020B0604020202020204" pitchFamily="34" charset="0"/>
              </a:rPr>
              <a:t>• Ликвидус: плавная кривая, соединяющая все точки изломов на кривых сплавов (2, 5).</a:t>
            </a:r>
          </a:p>
          <a:p>
            <a:pPr>
              <a:lnSpc>
                <a:spcPct val="104000"/>
              </a:lnSpc>
              <a:spcBef>
                <a:spcPts val="200"/>
              </a:spcBef>
              <a:spcAft>
                <a:spcPts val="100"/>
              </a:spcAft>
            </a:pPr>
            <a:r>
              <a:rPr lang="ru-RU" sz="950">
                <a:solidFill>
                  <a:srgbClr val="342824"/>
                </a:solidFill>
                <a:latin typeface="Arial" panose="020B0604020202020204" pitchFamily="34" charset="0"/>
              </a:rPr>
              <a:t>• Солидус: горизонталь, проведенная через площадки превращения при T_E.</a:t>
            </a:r>
          </a:p>
          <a:p>
            <a:pPr>
              <a:lnSpc>
                <a:spcPct val="104000"/>
              </a:lnSpc>
              <a:spcBef>
                <a:spcPts val="250"/>
              </a:spcBef>
              <a:spcAft>
                <a:spcPts val="100"/>
              </a:spcAft>
            </a:pPr>
            <a:r>
              <a:rPr lang="ru-RU" sz="950">
                <a:solidFill>
                  <a:srgbClr val="342824"/>
                </a:solidFill>
                <a:latin typeface="Arial" panose="020B0604020202020204" pitchFamily="34" charset="0"/>
              </a:rPr>
              <a:t>• Вывод: диаграмма T – x есть геометрический синтез серии термических опытов!</a:t>
            </a:r>
          </a:p>
        </p:txBody>
      </p:sp>
      <p:pic>
        <p:nvPicPr>
          <p:cNvPr id="7" name="Picture 5">
            <a:extLst>
              <a:ext uri="{FF2B5EF4-FFF2-40B4-BE49-F238E27FC236}">
                <a16:creationId xmlns:a16="http://schemas.microsoft.com/office/drawing/2014/main" id="{25852C8B-06BA-4C06-CD89-86D96571F6A7}"/>
              </a:ext>
            </a:extLst>
          </p:cNvPr>
          <p:cNvPicPr>
            <a:picLocks/>
          </p:cNvPicPr>
          <p:nvPr/>
        </p:nvPicPr>
        <p:blipFill>
          <a:blip r:embed="rId3"/>
          <a:stretch>
            <a:fillRect/>
          </a:stretch>
        </p:blipFill>
        <p:spPr>
          <a:xfrm>
            <a:off x="4297363" y="1623219"/>
            <a:ext cx="7343775" cy="4476750"/>
          </a:xfrm>
          <a:prstGeom prst="rect">
            <a:avLst/>
          </a:prstGeom>
        </p:spPr>
      </p:pic>
    </p:spTree>
    <p:extLst>
      <p:ext uri="{BB962C8B-B14F-4D97-AF65-F5344CB8AC3E}">
        <p14:creationId xmlns:p14="http://schemas.microsoft.com/office/powerpoint/2010/main" val="15634329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FD654EF-B516-15B5-B1CB-0CAC85E02B10}"/>
              </a:ext>
            </a:extLst>
          </p:cNvPr>
          <p:cNvSpPr>
            <a:spLocks noGrp="1"/>
          </p:cNvSpPr>
          <p:nvPr>
            <p:ph type="title"/>
          </p:nvPr>
        </p:nvSpPr>
        <p:spPr/>
        <p:txBody>
          <a:bodyPr/>
          <a:lstStyle/>
          <a:p>
            <a:r>
              <a:rPr lang="ru-RU">
                <a:solidFill>
                  <a:srgbClr val="002060"/>
                </a:solidFill>
                <a:latin typeface="Arial" panose="020B0604020202020204" pitchFamily="34" charset="0"/>
              </a:rPr>
              <a:t>Правило рычага и система Au–Si</a:t>
            </a:r>
          </a:p>
        </p:txBody>
      </p:sp>
      <p:sp>
        <p:nvSpPr>
          <p:cNvPr id="3" name="Текст 2">
            <a:extLst>
              <a:ext uri="{FF2B5EF4-FFF2-40B4-BE49-F238E27FC236}">
                <a16:creationId xmlns:a16="http://schemas.microsoft.com/office/drawing/2014/main" id="{88A040FD-E52E-A52E-D756-029942CBDD54}"/>
              </a:ext>
            </a:extLst>
          </p:cNvPr>
          <p:cNvSpPr>
            <a:spLocks noGrp="1"/>
          </p:cNvSpPr>
          <p:nvPr>
            <p:ph type="body" sz="quarter" idx="12"/>
          </p:nvPr>
        </p:nvSpPr>
        <p:spPr>
          <a:xfrm>
            <a:off x="551180" y="1168400"/>
            <a:ext cx="3619500" cy="5334000"/>
          </a:xfrm>
        </p:spPr>
        <p:txBody>
          <a:bodyPr wrap="square" lIns="0" tIns="0" rIns="0" bIns="0">
            <a:noAutofit/>
          </a:bodyPr>
          <a:lstStyle/>
          <a:p>
            <a:pPr>
              <a:lnSpc>
                <a:spcPct val="98000"/>
              </a:lnSpc>
            </a:pPr>
            <a:r>
              <a:rPr lang="ru-RU" sz="980" b="1">
                <a:solidFill>
                  <a:srgbClr val="002060"/>
                </a:solidFill>
                <a:latin typeface="Arial" panose="020B0604020202020204" pitchFamily="34" charset="0"/>
              </a:rPr>
              <a:t>1. Зачем правило рычага нужно на практике?</a:t>
            </a:r>
          </a:p>
          <a:p>
            <a:pPr>
              <a:lnSpc>
                <a:spcPct val="98000"/>
              </a:lnSpc>
              <a:spcBef>
                <a:spcPts val="80"/>
              </a:spcBef>
            </a:pPr>
            <a:r>
              <a:rPr lang="ru-RU" sz="760">
                <a:solidFill>
                  <a:srgbClr val="000000"/>
                </a:solidFill>
                <a:latin typeface="Arial" panose="020B0604020202020204" pitchFamily="34" charset="0"/>
              </a:rPr>
              <a:t>• Бесконтактный контроль: при 800–1400 °C в закрытой печи невозможно физически взвесить фазы или отобрать пробу расплава.</a:t>
            </a:r>
          </a:p>
          <a:p>
            <a:pPr>
              <a:lnSpc>
                <a:spcPct val="98000"/>
              </a:lnSpc>
              <a:spcBef>
                <a:spcPts val="80"/>
              </a:spcBef>
            </a:pPr>
            <a:r>
              <a:rPr lang="ru-RU" sz="760">
                <a:solidFill>
                  <a:srgbClr val="000000"/>
                </a:solidFill>
                <a:latin typeface="Arial" panose="020B0604020202020204" pitchFamily="34" charset="0"/>
              </a:rPr>
              <a:t>• Практический расчет: по диаграмме T–x точно определяют:</a:t>
            </a:r>
          </a:p>
          <a:p>
            <a:pPr>
              <a:lnSpc>
                <a:spcPct val="98000"/>
              </a:lnSpc>
              <a:spcBef>
                <a:spcPts val="20"/>
              </a:spcBef>
            </a:pPr>
            <a:r>
              <a:rPr lang="ru-RU" sz="700">
                <a:solidFill>
                  <a:srgbClr val="303030"/>
                </a:solidFill>
                <a:latin typeface="Arial" panose="020B0604020202020204" pitchFamily="34" charset="0"/>
              </a:rPr>
              <a:t>   1) Доли фаз (определяют вязкость, усадку и текучесть при литье);</a:t>
            </a:r>
          </a:p>
          <a:p>
            <a:pPr>
              <a:lnSpc>
                <a:spcPct val="98000"/>
              </a:lnSpc>
              <a:spcBef>
                <a:spcPts val="20"/>
              </a:spcBef>
            </a:pPr>
            <a:r>
              <a:rPr lang="ru-RU" sz="700">
                <a:solidFill>
                  <a:srgbClr val="303030"/>
                </a:solidFill>
                <a:latin typeface="Arial" panose="020B0604020202020204" pitchFamily="34" charset="0"/>
              </a:rPr>
              <a:t>   2) Химический состав расплава (основа зонной очистки кремния и металлургического рафинирования).</a:t>
            </a:r>
          </a:p>
          <a:p>
            <a:pPr>
              <a:lnSpc>
                <a:spcPct val="98000"/>
              </a:lnSpc>
              <a:spcBef>
                <a:spcPts val="300"/>
              </a:spcBef>
            </a:pPr>
            <a:r>
              <a:rPr lang="ru-RU" sz="980" b="1">
                <a:solidFill>
                  <a:srgbClr val="002060"/>
                </a:solidFill>
                <a:latin typeface="Arial" panose="020B0604020202020204" pitchFamily="34" charset="0"/>
              </a:rPr>
              <a:t>2. Физический вывод: баланс массы и моменты</a:t>
            </a:r>
          </a:p>
          <a:p>
            <a:pPr>
              <a:lnSpc>
                <a:spcPct val="98000"/>
              </a:lnSpc>
              <a:spcBef>
                <a:spcPts val="80"/>
              </a:spcBef>
            </a:pPr>
            <a:r>
              <a:rPr lang="ru-RU" sz="760">
                <a:solidFill>
                  <a:srgbClr val="000000"/>
                </a:solidFill>
                <a:latin typeface="Arial" panose="020B0604020202020204" pitchFamily="34" charset="0"/>
              </a:rPr>
              <a:t>• Применимо строго в двухфазной зоне (L + S) при T = const вдоль коноды.</a:t>
            </a:r>
          </a:p>
          <a:p>
            <a:pPr>
              <a:lnSpc>
                <a:spcPct val="98000"/>
              </a:lnSpc>
              <a:spcBef>
                <a:spcPts val="80"/>
              </a:spcBef>
            </a:pPr>
            <a:r>
              <a:rPr lang="ru-RU" sz="760">
                <a:solidFill>
                  <a:srgbClr val="000000"/>
                </a:solidFill>
                <a:latin typeface="Arial" panose="020B0604020202020204" pitchFamily="34" charset="0"/>
              </a:rPr>
              <a:t>• Сохранение массы: m₀ = m_L + m_S;   m₀·x₀ = m_L·x_L + m_S·x_S</a:t>
            </a:r>
          </a:p>
          <a:p>
            <a:pPr>
              <a:lnSpc>
                <a:spcPct val="98000"/>
              </a:lnSpc>
              <a:spcBef>
                <a:spcPts val="80"/>
              </a:spcBef>
            </a:pPr>
            <a:r>
              <a:rPr lang="ru-RU" sz="760">
                <a:solidFill>
                  <a:srgbClr val="000000"/>
                </a:solidFill>
                <a:latin typeface="Arial" panose="020B0604020202020204" pitchFamily="34" charset="0"/>
              </a:rPr>
              <a:t>• Закон рычага Архимеда: m_L·(x_L – x₀) = m_S·(x₀ – x_S) ⇔ m_L·l_L = m_S·l_S</a:t>
            </a:r>
          </a:p>
          <a:p>
            <a:pPr>
              <a:lnSpc>
                <a:spcPct val="98000"/>
              </a:lnSpc>
              <a:spcBef>
                <a:spcPts val="80"/>
              </a:spcBef>
            </a:pPr>
            <a:r>
              <a:rPr lang="ru-RU" sz="760">
                <a:solidFill>
                  <a:srgbClr val="000000"/>
                </a:solidFill>
                <a:latin typeface="Arial" panose="020B0604020202020204" pitchFamily="34" charset="0"/>
              </a:rPr>
              <a:t>• Правило противолежащего плеча: доля фазы пропорциональна противоположному плечу коноды:</a:t>
            </a:r>
          </a:p>
          <a:p>
            <a:pPr>
              <a:lnSpc>
                <a:spcPct val="98000"/>
              </a:lnSpc>
              <a:spcBef>
                <a:spcPts val="20"/>
              </a:spcBef>
            </a:pPr>
            <a:r>
              <a:rPr lang="ru-RU" sz="700">
                <a:solidFill>
                  <a:srgbClr val="303030"/>
                </a:solidFill>
                <a:latin typeface="Arial" panose="020B0604020202020204" pitchFamily="34" charset="0"/>
              </a:rPr>
              <a:t>   m_L / m₀ = l_S / l_общ = (x₀ – x_S) / (x_L – x_S)  (доля расплава);</a:t>
            </a:r>
          </a:p>
          <a:p>
            <a:pPr>
              <a:lnSpc>
                <a:spcPct val="98000"/>
              </a:lnSpc>
              <a:spcBef>
                <a:spcPts val="20"/>
              </a:spcBef>
            </a:pPr>
            <a:r>
              <a:rPr lang="ru-RU" sz="700">
                <a:solidFill>
                  <a:srgbClr val="303030"/>
                </a:solidFill>
                <a:latin typeface="Arial" panose="020B0604020202020204" pitchFamily="34" charset="0"/>
              </a:rPr>
              <a:t>   m_S / m₀ = l_L / l_общ = (x_L – x₀) / (x_L – x_S)  (доля кристаллов).</a:t>
            </a:r>
          </a:p>
          <a:p>
            <a:pPr>
              <a:lnSpc>
                <a:spcPct val="98000"/>
              </a:lnSpc>
              <a:spcBef>
                <a:spcPts val="300"/>
              </a:spcBef>
            </a:pPr>
            <a:r>
              <a:rPr lang="ru-RU" sz="980" b="1">
                <a:solidFill>
                  <a:srgbClr val="002060"/>
                </a:solidFill>
                <a:latin typeface="Arial" panose="020B0604020202020204" pitchFamily="34" charset="0"/>
              </a:rPr>
              <a:t>3. Практический смысл расчета сплава Au–Si</a:t>
            </a:r>
          </a:p>
          <a:p>
            <a:pPr>
              <a:lnSpc>
                <a:spcPct val="98000"/>
              </a:lnSpc>
              <a:spcBef>
                <a:spcPts val="80"/>
              </a:spcBef>
            </a:pPr>
            <a:r>
              <a:rPr lang="ru-RU" sz="760">
                <a:solidFill>
                  <a:srgbClr val="000000"/>
                </a:solidFill>
                <a:latin typeface="Arial" panose="020B0604020202020204" pitchFamily="34" charset="0"/>
              </a:rPr>
              <a:t>• Задача: в печи 400 г сплава 30% Au при 800 °C. Сколько расплава и где золото?</a:t>
            </a:r>
          </a:p>
          <a:p>
            <a:pPr>
              <a:lnSpc>
                <a:spcPct val="98000"/>
              </a:lnSpc>
              <a:spcBef>
                <a:spcPts val="80"/>
              </a:spcBef>
            </a:pPr>
            <a:r>
              <a:rPr lang="ru-RU" sz="760">
                <a:solidFill>
                  <a:srgbClr val="000000"/>
                </a:solidFill>
                <a:latin typeface="Arial" panose="020B0604020202020204" pitchFamily="34" charset="0"/>
              </a:rPr>
              <a:t>• Конода: кристалл Si (0%, т. a) ↔ расплав L (66% Au, т. d).</a:t>
            </a:r>
          </a:p>
          <a:p>
            <a:pPr>
              <a:lnSpc>
                <a:spcPct val="98000"/>
              </a:lnSpc>
              <a:spcBef>
                <a:spcPts val="20"/>
              </a:spcBef>
            </a:pPr>
            <a:r>
              <a:rPr lang="ru-RU" sz="700">
                <a:solidFill>
                  <a:srgbClr val="303030"/>
                </a:solidFill>
                <a:latin typeface="Arial" panose="020B0604020202020204" pitchFamily="34" charset="0"/>
              </a:rPr>
              <a:t>  Плечи коноды: l_общ = 66%,  l_S = 30% (к L),  l_L = 36% (к Si).</a:t>
            </a:r>
          </a:p>
          <a:p>
            <a:pPr>
              <a:lnSpc>
                <a:spcPct val="98000"/>
              </a:lnSpc>
              <a:spcBef>
                <a:spcPts val="80"/>
              </a:spcBef>
            </a:pPr>
            <a:r>
              <a:rPr lang="ru-RU" sz="760">
                <a:solidFill>
                  <a:srgbClr val="000000"/>
                </a:solidFill>
                <a:latin typeface="Arial" panose="020B0604020202020204" pitchFamily="34" charset="0"/>
              </a:rPr>
              <a:t>• Итог: расплав m_L = 400·(30/66) ≈ 181.8 г;  кристаллы m_S = 400·(36/66) ≈ 218.2 г.</a:t>
            </a:r>
          </a:p>
          <a:p>
            <a:pPr>
              <a:lnSpc>
                <a:spcPct val="98000"/>
              </a:lnSpc>
              <a:spcBef>
                <a:spcPts val="80"/>
              </a:spcBef>
            </a:pPr>
            <a:r>
              <a:rPr lang="ru-RU" sz="760">
                <a:solidFill>
                  <a:srgbClr val="000000"/>
                </a:solidFill>
                <a:latin typeface="Arial" panose="020B0604020202020204" pitchFamily="34" charset="0"/>
              </a:rPr>
              <a:t>• Вывод технолога: расплав обогатился Au с 30% до 66% (в 2.2 раза), все 120 г золота перешли в жидкость, а кристаллы — 100% чистый Si!</a:t>
            </a:r>
          </a:p>
        </p:txBody>
      </p:sp>
      <p:pic>
        <p:nvPicPr>
          <p:cNvPr id="5" name="Picture 5">
            <a:extLst>
              <a:ext uri="{FF2B5EF4-FFF2-40B4-BE49-F238E27FC236}">
                <a16:creationId xmlns:a16="http://schemas.microsoft.com/office/drawing/2014/main" id="{FE4D9161-972D-B7CD-B4E1-3EC81724AC53}"/>
              </a:ext>
            </a:extLst>
          </p:cNvPr>
          <p:cNvPicPr>
            <a:picLocks/>
          </p:cNvPicPr>
          <p:nvPr/>
        </p:nvPicPr>
        <p:blipFill>
          <a:blip r:embed="rId3"/>
          <a:stretch>
            <a:fillRect/>
          </a:stretch>
        </p:blipFill>
        <p:spPr>
          <a:xfrm>
            <a:off x="4297680" y="1623060"/>
            <a:ext cx="7343140" cy="4476750"/>
          </a:xfrm>
          <a:prstGeom prst="rect">
            <a:avLst/>
          </a:prstGeom>
        </p:spPr>
      </p:pic>
    </p:spTree>
    <p:extLst>
      <p:ext uri="{BB962C8B-B14F-4D97-AF65-F5344CB8AC3E}">
        <p14:creationId xmlns:p14="http://schemas.microsoft.com/office/powerpoint/2010/main" val="39208089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CFA896-40E7-E602-547D-AD6376597A24}"/>
              </a:ext>
            </a:extLst>
          </p:cNvPr>
          <p:cNvSpPr>
            <a:spLocks noGrp="1"/>
          </p:cNvSpPr>
          <p:nvPr>
            <p:ph type="title"/>
          </p:nvPr>
        </p:nvSpPr>
        <p:spPr/>
        <p:txBody>
          <a:bodyPr/>
          <a:lstStyle/>
          <a:p>
            <a:r>
              <a:rPr lang="ru-RU">
                <a:solidFill>
                  <a:srgbClr val="002060"/>
                </a:solidFill>
                <a:latin typeface="Arial" panose="020B0604020202020204" pitchFamily="34" charset="0"/>
              </a:rPr>
              <a:t>Правило рычага в динамике охлаждения</a:t>
            </a:r>
          </a:p>
        </p:txBody>
      </p:sp>
      <p:sp>
        <p:nvSpPr>
          <p:cNvPr id="3" name="Текст 2">
            <a:extLst>
              <a:ext uri="{FF2B5EF4-FFF2-40B4-BE49-F238E27FC236}">
                <a16:creationId xmlns:a16="http://schemas.microsoft.com/office/drawing/2014/main" id="{B2C917B4-48FD-D379-3265-561EA8909747}"/>
              </a:ext>
            </a:extLst>
          </p:cNvPr>
          <p:cNvSpPr>
            <a:spLocks noGrp="1"/>
          </p:cNvSpPr>
          <p:nvPr>
            <p:ph type="body" sz="quarter" idx="12"/>
          </p:nvPr>
        </p:nvSpPr>
        <p:spPr>
          <a:xfrm>
            <a:off x="551180" y="1168400"/>
            <a:ext cx="3619500" cy="5334000"/>
          </a:xfrm>
        </p:spPr>
        <p:txBody>
          <a:bodyPr wrap="square" lIns="0" tIns="0" rIns="0" bIns="0">
            <a:normAutofit fontScale="25000" lnSpcReduction="20000"/>
          </a:bodyPr>
          <a:lstStyle/>
          <a:p>
            <a:pPr>
              <a:lnSpc>
                <a:spcPct val="118000"/>
              </a:lnSpc>
            </a:pPr>
            <a:r>
              <a:rPr lang="ru-RU" sz="4000" b="1">
                <a:solidFill>
                  <a:srgbClr val="002060"/>
                </a:solidFill>
                <a:latin typeface="Arial" panose="020B0604020202020204" pitchFamily="34" charset="0"/>
              </a:rPr>
              <a:t>1. Динамика правила рычага по точкам</a:t>
            </a:r>
          </a:p>
          <a:p>
            <a:pPr>
              <a:lnSpc>
                <a:spcPct val="118000"/>
              </a:lnSpc>
            </a:pPr>
            <a:r>
              <a:rPr lang="ru-RU" sz="3200" b="1">
                <a:solidFill>
                  <a:srgbClr val="602000"/>
                </a:solidFill>
                <a:latin typeface="Arial" panose="020B0604020202020204" pitchFamily="34" charset="0"/>
              </a:rPr>
              <a:t>• Точка 1 (1200 °C, выше ликвидуса):</a:t>
            </a:r>
          </a:p>
          <a:p>
            <a:pPr>
              <a:lnSpc>
                <a:spcPct val="118000"/>
              </a:lnSpc>
            </a:pPr>
            <a:r>
              <a:rPr lang="ru-RU" sz="2800">
                <a:solidFill>
                  <a:srgbClr val="202020"/>
                </a:solidFill>
                <a:latin typeface="Arial" panose="020B0604020202020204" pitchFamily="34" charset="0"/>
              </a:rPr>
              <a:t>Однофазный расплав L. Рычаг неприменим: 100% жидкости, 0% кристаллов (Ф = 1, C = 2).</a:t>
            </a:r>
          </a:p>
          <a:p>
            <a:pPr>
              <a:lnSpc>
                <a:spcPct val="118000"/>
              </a:lnSpc>
            </a:pPr>
            <a:r>
              <a:rPr lang="ru-RU" sz="3200" b="1">
                <a:solidFill>
                  <a:srgbClr val="602000"/>
                </a:solidFill>
                <a:latin typeface="Arial" panose="020B0604020202020204" pitchFamily="34" charset="0"/>
              </a:rPr>
              <a:t>• Точка 2 (1000 °C, линия ликвидус):</a:t>
            </a:r>
          </a:p>
          <a:p>
            <a:pPr>
              <a:lnSpc>
                <a:spcPct val="118000"/>
              </a:lnSpc>
            </a:pPr>
            <a:r>
              <a:rPr lang="ru-RU" sz="2700">
                <a:solidFill>
                  <a:srgbClr val="202020"/>
                </a:solidFill>
                <a:latin typeface="Arial" panose="020B0604020202020204" pitchFamily="34" charset="0"/>
              </a:rPr>
              <a:t>Конода от Si (0%) до ликвидуса (30%). Точка сплава лежит на самой кривой ликвидуса, поэтому отрезок до кривой равен 0! По правилу противолежащего плеча: кристаллов Si m_S = 0/30 = 0% (кристаллизация только начинается). Отрезок до чистого Si равен 30%, поэтому расплава m_L = 30/30 = 100% (Ф = 2, C = 1).</a:t>
            </a:r>
          </a:p>
          <a:p>
            <a:pPr>
              <a:lnSpc>
                <a:spcPct val="118000"/>
              </a:lnSpc>
            </a:pPr>
            <a:r>
              <a:rPr lang="ru-RU" sz="3200" b="1">
                <a:solidFill>
                  <a:srgbClr val="602000"/>
                </a:solidFill>
                <a:latin typeface="Arial" panose="020B0604020202020204" pitchFamily="34" charset="0"/>
              </a:rPr>
              <a:t>• Точка 3 (800 °C, двухфазная зона L + Si):</a:t>
            </a:r>
          </a:p>
          <a:p>
            <a:pPr>
              <a:lnSpc>
                <a:spcPct val="118000"/>
              </a:lnSpc>
            </a:pPr>
            <a:r>
              <a:rPr lang="ru-RU" sz="2800">
                <a:solidFill>
                  <a:srgbClr val="202020"/>
                </a:solidFill>
                <a:latin typeface="Arial" panose="020B0604020202020204" pitchFamily="34" charset="0"/>
              </a:rPr>
              <a:t>Конода l_общ = 66%. Отрезок к Si = 30%, отрезок к ликвидусу = 36%.</a:t>
            </a:r>
          </a:p>
          <a:p>
            <a:pPr>
              <a:lnSpc>
                <a:spcPct val="118000"/>
              </a:lnSpc>
            </a:pPr>
            <a:r>
              <a:rPr lang="ru-RU" sz="2800">
                <a:solidFill>
                  <a:srgbClr val="202020"/>
                </a:solidFill>
                <a:latin typeface="Arial" panose="020B0604020202020204" pitchFamily="34" charset="0"/>
              </a:rPr>
              <a:t>Расплав: m_L = 30/66 = 45.5%, кристаллы Si: m_S = 36/66 = 54.5%.</a:t>
            </a:r>
          </a:p>
          <a:p>
            <a:pPr>
              <a:lnSpc>
                <a:spcPct val="118000"/>
              </a:lnSpc>
            </a:pPr>
            <a:r>
              <a:rPr lang="ru-RU" sz="3200" b="1">
                <a:solidFill>
                  <a:srgbClr val="602000"/>
                </a:solidFill>
                <a:latin typeface="Arial" panose="020B0604020202020204" pitchFamily="34" charset="0"/>
              </a:rPr>
              <a:t>• Точка 4 (380 °C, над эвтектикой):</a:t>
            </a:r>
          </a:p>
          <a:p>
            <a:pPr>
              <a:lnSpc>
                <a:spcPct val="118000"/>
              </a:lnSpc>
            </a:pPr>
            <a:r>
              <a:rPr lang="ru-RU" sz="2700">
                <a:solidFill>
                  <a:srgbClr val="202020"/>
                </a:solidFill>
                <a:latin typeface="Arial" panose="020B0604020202020204" pitchFamily="34" charset="0"/>
              </a:rPr>
              <a:t>Предельное обогащение расплава золотом (94% Au). Конода l_общ = 94%. Доля жидкости упала до m_L = 30/94 ≈ 31.9%, доля первичного Si выросла до m_S = 64/94 ≈ 68.1%.</a:t>
            </a:r>
          </a:p>
          <a:p>
            <a:pPr>
              <a:lnSpc>
                <a:spcPct val="118000"/>
              </a:lnSpc>
            </a:pPr>
            <a:r>
              <a:rPr lang="ru-RU" sz="3200" b="1">
                <a:solidFill>
                  <a:srgbClr val="602000"/>
                </a:solidFill>
                <a:latin typeface="Arial" panose="020B0604020202020204" pitchFamily="34" charset="0"/>
              </a:rPr>
              <a:t>• Точка 5 (363 °C, площадка эвтектики TE):</a:t>
            </a:r>
          </a:p>
          <a:p>
            <a:pPr>
              <a:lnSpc>
                <a:spcPct val="118000"/>
              </a:lnSpc>
            </a:pPr>
            <a:r>
              <a:rPr lang="ru-RU" sz="2700">
                <a:solidFill>
                  <a:srgbClr val="202020"/>
                </a:solidFill>
                <a:latin typeface="Arial" panose="020B0604020202020204" pitchFamily="34" charset="0"/>
              </a:rPr>
              <a:t>Изотермическая реакция L(94%) → Si + Au при T = const (Ф = 3, C = 0). Все оставшиеся 31.9% расплава затвердевают в мелкодисперсную эвтектику!</a:t>
            </a:r>
          </a:p>
          <a:p>
            <a:pPr>
              <a:lnSpc>
                <a:spcPct val="118000"/>
              </a:lnSpc>
            </a:pPr>
            <a:r>
              <a:rPr lang="ru-RU" sz="3200" b="1">
                <a:solidFill>
                  <a:srgbClr val="602000"/>
                </a:solidFill>
                <a:latin typeface="Arial" panose="020B0604020202020204" pitchFamily="34" charset="0"/>
              </a:rPr>
              <a:t>• Точка 6 (200 °C, твердое состояние):</a:t>
            </a:r>
          </a:p>
          <a:p>
            <a:pPr>
              <a:lnSpc>
                <a:spcPct val="118000"/>
              </a:lnSpc>
            </a:pPr>
            <a:r>
              <a:rPr lang="ru-RU" sz="2800">
                <a:solidFill>
                  <a:srgbClr val="202020"/>
                </a:solidFill>
                <a:latin typeface="Arial" panose="020B0604020202020204" pitchFamily="34" charset="0"/>
              </a:rPr>
              <a:t>Структура слитка: 68.1% первичных кристаллов Si + 31.9% эвтектической смеси (Si + Au).</a:t>
            </a:r>
          </a:p>
          <a:p>
            <a:pPr>
              <a:lnSpc>
                <a:spcPct val="118000"/>
              </a:lnSpc>
            </a:pPr>
            <a:r>
              <a:rPr lang="ru-RU" sz="4000" b="1">
                <a:solidFill>
                  <a:srgbClr val="002060"/>
                </a:solidFill>
                <a:latin typeface="Arial" panose="020B0604020202020204" pitchFamily="34" charset="0"/>
              </a:rPr>
              <a:t>2. Практический вывод для инженера</a:t>
            </a:r>
          </a:p>
          <a:p>
            <a:pPr>
              <a:lnSpc>
                <a:spcPct val="118000"/>
              </a:lnSpc>
            </a:pPr>
            <a:r>
              <a:rPr lang="ru-RU" sz="3200" b="1">
                <a:solidFill>
                  <a:srgbClr val="602000"/>
                </a:solidFill>
                <a:latin typeface="Arial" panose="020B0604020202020204" pitchFamily="34" charset="0"/>
              </a:rPr>
              <a:t>• Правило рычага непрерывно описывает эволюцию расплава от первого микрокристалла до полного затвердевания слитка!</a:t>
            </a:r>
          </a:p>
        </p:txBody>
      </p:sp>
      <p:pic>
        <p:nvPicPr>
          <p:cNvPr id="10" name="Picture 5">
            <a:extLst>
              <a:ext uri="{FF2B5EF4-FFF2-40B4-BE49-F238E27FC236}">
                <a16:creationId xmlns:a16="http://schemas.microsoft.com/office/drawing/2014/main" id="{152AB22D-8177-7DDD-B2BF-50B3484FF4FD}"/>
              </a:ext>
            </a:extLst>
          </p:cNvPr>
          <p:cNvPicPr>
            <a:picLocks/>
          </p:cNvPicPr>
          <p:nvPr/>
        </p:nvPicPr>
        <p:blipFill>
          <a:blip r:embed="rId3"/>
          <a:stretch>
            <a:fillRect/>
          </a:stretch>
        </p:blipFill>
        <p:spPr>
          <a:xfrm>
            <a:off x="4297680" y="1623060"/>
            <a:ext cx="7343140" cy="4476750"/>
          </a:xfrm>
          <a:prstGeom prst="rect">
            <a:avLst/>
          </a:prstGeom>
        </p:spPr>
      </p:pic>
    </p:spTree>
    <p:extLst>
      <p:ext uri="{BB962C8B-B14F-4D97-AF65-F5344CB8AC3E}">
        <p14:creationId xmlns:p14="http://schemas.microsoft.com/office/powerpoint/2010/main" val="3164749984"/>
      </p:ext>
    </p:extLst>
  </p:cSld>
  <p:clrMapOvr>
    <a:masterClrMapping/>
  </p:clrMapOvr>
</p:sld>
</file>

<file path=ppt/theme/theme1.xml><?xml version="1.0" encoding="utf-8"?>
<a:theme xmlns:a="http://schemas.openxmlformats.org/drawingml/2006/main" name="Титульная страница">
  <a:themeElements>
    <a:clrScheme name="Палитра ГУАП">
      <a:dk1>
        <a:srgbClr val="242834"/>
      </a:dk1>
      <a:lt1>
        <a:srgbClr val="FFFFFF"/>
      </a:lt1>
      <a:dk2>
        <a:srgbClr val="002C5F"/>
      </a:dk2>
      <a:lt2>
        <a:srgbClr val="FFFFFF"/>
      </a:lt2>
      <a:accent1>
        <a:srgbClr val="005AAA"/>
      </a:accent1>
      <a:accent2>
        <a:srgbClr val="E70F47"/>
      </a:accent2>
      <a:accent3>
        <a:srgbClr val="00BEF3"/>
      </a:accent3>
      <a:accent4>
        <a:srgbClr val="9269C9"/>
      </a:accent4>
      <a:accent5>
        <a:srgbClr val="FF6418"/>
      </a:accent5>
      <a:accent6>
        <a:srgbClr val="009A49"/>
      </a:accent6>
      <a:hlink>
        <a:srgbClr val="4E41CC"/>
      </a:hlink>
      <a:folHlink>
        <a:srgbClr val="D65D8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ГУАП презентация курса.potx" id="{0DF838E0-DD05-488A-AC6B-E98ACB4C24AD}" vid="{75426110-BF82-4921-B51E-81780A536C48}"/>
    </a:ext>
  </a:extLst>
</a:theme>
</file>

<file path=ppt/theme/theme2.xml><?xml version="1.0" encoding="utf-8"?>
<a:theme xmlns:a="http://schemas.openxmlformats.org/drawingml/2006/main" name="Текстовые блоки">
  <a:themeElements>
    <a:clrScheme name="Палитра ГУАП">
      <a:dk1>
        <a:srgbClr val="242834"/>
      </a:dk1>
      <a:lt1>
        <a:srgbClr val="FFFFFF"/>
      </a:lt1>
      <a:dk2>
        <a:srgbClr val="002C5F"/>
      </a:dk2>
      <a:lt2>
        <a:srgbClr val="FFFFFF"/>
      </a:lt2>
      <a:accent1>
        <a:srgbClr val="005AAA"/>
      </a:accent1>
      <a:accent2>
        <a:srgbClr val="E70F47"/>
      </a:accent2>
      <a:accent3>
        <a:srgbClr val="00BEF3"/>
      </a:accent3>
      <a:accent4>
        <a:srgbClr val="9269C9"/>
      </a:accent4>
      <a:accent5>
        <a:srgbClr val="FF6418"/>
      </a:accent5>
      <a:accent6>
        <a:srgbClr val="009A49"/>
      </a:accent6>
      <a:hlink>
        <a:srgbClr val="4E41CC"/>
      </a:hlink>
      <a:folHlink>
        <a:srgbClr val="D65D8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000" dirty="0">
            <a:solidFill>
              <a:schemeClr val="tx2"/>
            </a:solidFill>
          </a:defRPr>
        </a:defPPr>
      </a:lstStyle>
      <a:style>
        <a:lnRef idx="1">
          <a:schemeClr val="accent1"/>
        </a:lnRef>
        <a:fillRef idx="2">
          <a:schemeClr val="accent1"/>
        </a:fillRef>
        <a:effectRef idx="1">
          <a:schemeClr val="accent1"/>
        </a:effectRef>
        <a:fontRef idx="minor">
          <a:schemeClr val="dk1"/>
        </a:fontRef>
      </a:style>
    </a:spDef>
  </a:objectDefaults>
  <a:extraClrSchemeLst/>
  <a:extLst>
    <a:ext uri="{05A4C25C-085E-4340-85A3-A5531E510DB2}">
      <thm15:themeFamily xmlns:thm15="http://schemas.microsoft.com/office/thememl/2012/main" name="ГУАП презентация курса.potx" id="{0DF838E0-DD05-488A-AC6B-E98ACB4C24AD}" vid="{8C20C85A-CFD0-4C40-80A0-6689F915CE1B}"/>
    </a:ext>
  </a:extLst>
</a:theme>
</file>

<file path=ppt/theme/theme3.xml><?xml version="1.0" encoding="utf-8"?>
<a:theme xmlns:a="http://schemas.openxmlformats.org/drawingml/2006/main" name="Универсальные блоки - таблицы, рисунки, диаграммы">
  <a:themeElements>
    <a:clrScheme name="Палитра ГУАП">
      <a:dk1>
        <a:srgbClr val="242834"/>
      </a:dk1>
      <a:lt1>
        <a:srgbClr val="FFFFFF"/>
      </a:lt1>
      <a:dk2>
        <a:srgbClr val="002C5F"/>
      </a:dk2>
      <a:lt2>
        <a:srgbClr val="FFFFFF"/>
      </a:lt2>
      <a:accent1>
        <a:srgbClr val="005AAA"/>
      </a:accent1>
      <a:accent2>
        <a:srgbClr val="E70F47"/>
      </a:accent2>
      <a:accent3>
        <a:srgbClr val="00BEF3"/>
      </a:accent3>
      <a:accent4>
        <a:srgbClr val="9269C9"/>
      </a:accent4>
      <a:accent5>
        <a:srgbClr val="FF6418"/>
      </a:accent5>
      <a:accent6>
        <a:srgbClr val="009A49"/>
      </a:accent6>
      <a:hlink>
        <a:srgbClr val="4E41CC"/>
      </a:hlink>
      <a:folHlink>
        <a:srgbClr val="D65D8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000" dirty="0">
            <a:solidFill>
              <a:schemeClr val="tx2"/>
            </a:solidFill>
          </a:defRPr>
        </a:defPPr>
      </a:lstStyle>
      <a:style>
        <a:lnRef idx="1">
          <a:schemeClr val="accent1"/>
        </a:lnRef>
        <a:fillRef idx="2">
          <a:schemeClr val="accent1"/>
        </a:fillRef>
        <a:effectRef idx="1">
          <a:schemeClr val="accent1"/>
        </a:effectRef>
        <a:fontRef idx="minor">
          <a:schemeClr val="dk1"/>
        </a:fontRef>
      </a:style>
    </a:spDef>
  </a:objectDefaults>
  <a:extraClrSchemeLst/>
  <a:extLst>
    <a:ext uri="{05A4C25C-085E-4340-85A3-A5531E510DB2}">
      <thm15:themeFamily xmlns:thm15="http://schemas.microsoft.com/office/thememl/2012/main" name="ГУАП презентация курса.potx" id="{0DF838E0-DD05-488A-AC6B-E98ACB4C24AD}" vid="{001A831C-BEEC-4D03-A706-230513593B8E}"/>
    </a:ext>
  </a:extLst>
</a:theme>
</file>

<file path=ppt/theme/theme4.xml><?xml version="1.0" encoding="utf-8"?>
<a:theme xmlns:a="http://schemas.openxmlformats.org/drawingml/2006/main" name="Дополнительные блоки">
  <a:themeElements>
    <a:clrScheme name="Палитра ГУАП">
      <a:dk1>
        <a:srgbClr val="242834"/>
      </a:dk1>
      <a:lt1>
        <a:srgbClr val="FFFFFF"/>
      </a:lt1>
      <a:dk2>
        <a:srgbClr val="002C5F"/>
      </a:dk2>
      <a:lt2>
        <a:srgbClr val="FFFFFF"/>
      </a:lt2>
      <a:accent1>
        <a:srgbClr val="005AAA"/>
      </a:accent1>
      <a:accent2>
        <a:srgbClr val="E70F47"/>
      </a:accent2>
      <a:accent3>
        <a:srgbClr val="00BEF3"/>
      </a:accent3>
      <a:accent4>
        <a:srgbClr val="9269C9"/>
      </a:accent4>
      <a:accent5>
        <a:srgbClr val="FF6418"/>
      </a:accent5>
      <a:accent6>
        <a:srgbClr val="009A49"/>
      </a:accent6>
      <a:hlink>
        <a:srgbClr val="4E41CC"/>
      </a:hlink>
      <a:folHlink>
        <a:srgbClr val="D65D8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000" dirty="0">
            <a:solidFill>
              <a:schemeClr val="tx2"/>
            </a:solidFill>
          </a:defRPr>
        </a:defPPr>
      </a:lstStyle>
      <a:style>
        <a:lnRef idx="1">
          <a:schemeClr val="accent1"/>
        </a:lnRef>
        <a:fillRef idx="2">
          <a:schemeClr val="accent1"/>
        </a:fillRef>
        <a:effectRef idx="1">
          <a:schemeClr val="accent1"/>
        </a:effectRef>
        <a:fontRef idx="minor">
          <a:schemeClr val="dk1"/>
        </a:fontRef>
      </a:style>
    </a:spDef>
  </a:objectDefaults>
  <a:extraClrSchemeLst/>
  <a:extLst>
    <a:ext uri="{05A4C25C-085E-4340-85A3-A5531E510DB2}">
      <thm15:themeFamily xmlns:thm15="http://schemas.microsoft.com/office/thememl/2012/main" name="ГУАП презентация курса.potx" id="{0DF838E0-DD05-488A-AC6B-E98ACB4C24AD}" vid="{AFBC0B84-8B15-49D7-9C5E-B813409B8E8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ГУАП презентация курса - шаблон</Template>
  <TotalTime>261</TotalTime>
  <Words>5161</Words>
  <Application>Microsoft Office PowerPoint</Application>
  <PresentationFormat>Широкоэкранный</PresentationFormat>
  <Paragraphs>331</Paragraphs>
  <Slides>39</Slides>
  <Notes>16</Notes>
  <HiddenSlides>0</HiddenSlides>
  <MMClips>0</MMClips>
  <ScaleCrop>false</ScaleCrop>
  <HeadingPairs>
    <vt:vector size="6" baseType="variant">
      <vt:variant>
        <vt:lpstr>Использованные шрифты</vt:lpstr>
      </vt:variant>
      <vt:variant>
        <vt:i4>3</vt:i4>
      </vt:variant>
      <vt:variant>
        <vt:lpstr>Тема</vt:lpstr>
      </vt:variant>
      <vt:variant>
        <vt:i4>4</vt:i4>
      </vt:variant>
      <vt:variant>
        <vt:lpstr>Заголовки слайдов</vt:lpstr>
      </vt:variant>
      <vt:variant>
        <vt:i4>39</vt:i4>
      </vt:variant>
    </vt:vector>
  </HeadingPairs>
  <TitlesOfParts>
    <vt:vector size="46" baseType="lpstr">
      <vt:lpstr>Wingdings</vt:lpstr>
      <vt:lpstr>Arial</vt:lpstr>
      <vt:lpstr>Calibri</vt:lpstr>
      <vt:lpstr>Титульная страница</vt:lpstr>
      <vt:lpstr>Текстовые блоки</vt:lpstr>
      <vt:lpstr>Универсальные блоки - таблицы, рисунки, диаграммы</vt:lpstr>
      <vt:lpstr>Дополнительные блоки</vt:lpstr>
      <vt:lpstr>Фирменный стиль  презентаций</vt:lpstr>
      <vt:lpstr>Основные правила: направляющие, стили</vt:lpstr>
      <vt:lpstr>Основные правила: макеты и цветовая палитра</vt:lpstr>
      <vt:lpstr>Основные правила: текстовые стили</vt:lpstr>
      <vt:lpstr>Основные правила: текстовые стили</vt:lpstr>
      <vt:lpstr>Основные правила: таблицы</vt:lpstr>
      <vt:lpstr>Основные правила: изображения</vt:lpstr>
      <vt:lpstr>Пример использования  макетов шаблона</vt:lpstr>
      <vt:lpstr>Заголовок презентации</vt:lpstr>
      <vt:lpstr>Текст – один блок</vt:lpstr>
      <vt:lpstr>Текст – два блока</vt:lpstr>
      <vt:lpstr>Текст – два блока (с рамкой)</vt:lpstr>
      <vt:lpstr>Текст – две колонки в одном блоке</vt:lpstr>
      <vt:lpstr>Содержимое слайда в одной колонке (универсальный блок)</vt:lpstr>
      <vt:lpstr>Содержимое слайда в одной колонке с заголовком (универсальный блок)</vt:lpstr>
      <vt:lpstr>Содержимое слайда в двух колонках с заголовками (универсальный блок)</vt:lpstr>
      <vt:lpstr>Текст и диаграмма в двух колонках (универсальный блок)</vt:lpstr>
      <vt:lpstr>Текст и рисунок в двух колонках (универсальный блок)</vt:lpstr>
      <vt:lpstr>Схема с использованием базового набора фигур  (см. Дополнительные материалы, слайд 26)</vt:lpstr>
      <vt:lpstr>Здание ГУАП со стороны реки Мойки</vt:lpstr>
      <vt:lpstr>Презентация PowerPoint</vt:lpstr>
      <vt:lpstr>Презентация PowerPoint</vt:lpstr>
      <vt:lpstr>Дополнительные  материалы </vt:lpstr>
      <vt:lpstr>Иконки подразделений. Фирменный цвет подразделений</vt:lpstr>
      <vt:lpstr>Иконки подразделений. Цветовая палитра ГУАП</vt:lpstr>
      <vt:lpstr>Базовый набор фигур *</vt:lpstr>
      <vt:lpstr>Презентация PowerPoint</vt:lpstr>
      <vt:lpstr>Презентация PowerPoint</vt:lpstr>
      <vt:lpstr>Презентация PowerPoint</vt:lpstr>
      <vt:lpstr>Термодинамика наноструктур</vt:lpstr>
      <vt:lpstr>Внутренняя энергия, работа и теплота: хранение vs передача</vt:lpstr>
      <vt:lpstr>Второе начало и энергия Гиббса: куда и почему течет энергия?</vt:lpstr>
      <vt:lpstr>Химический потенциал и равновесие фаз: почему тает лед?</vt:lpstr>
      <vt:lpstr>Правило фаз Гиббса: сколько параметров можно менять?</vt:lpstr>
      <vt:lpstr>Бинарные системы: сплавы, эвтектика и правило рычага</vt:lpstr>
      <vt:lpstr>Анатомия диаграммы и охлаждение сплава</vt:lpstr>
      <vt:lpstr>Синтез диаграммы из серии кривых охлаждения</vt:lpstr>
      <vt:lpstr>Правило рычага и система Au–Si</vt:lpstr>
      <vt:lpstr>Правило рычага в динамике охлаждения</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Фирменный стиль  презентаций</dc:title>
  <dc:subject/>
  <dc:creator>Алексей Малышев</dc:creator>
  <cp:keywords/>
  <dc:description/>
  <cp:lastModifiedBy>Дмитрий Попов</cp:lastModifiedBy>
  <cp:revision>35</cp:revision>
  <dcterms:created xsi:type="dcterms:W3CDTF">2023-06-16T08:15:39Z</dcterms:created>
  <dcterms:modified xsi:type="dcterms:W3CDTF">2026-10-14T04:40:29Z</dcterms:modified>
  <cp:category/>
</cp:coreProperties>
</file>