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Живая завязка: На прошлой лекции мы выяснили, что одиночная наночастица переполнена поверхностной энергией ΔG_s = σS &gt; 0. Если налить в стакан триллионы таких частиц (гидрозоль золота или гидроксида железа), термодинамика требует их мгновенного слипания!</a:t>
            </a:r>
          </a:p>
          <a:p>
            <a:r>
              <a:t>2. Проблемный вопрос: Почему же рубиновый золь золота Фарадея стоит в музее с 1857 года и не оседает? И почему от одной щепотки соли NaCl он синеет за секунду?</a:t>
            </a:r>
          </a:p>
          <a:p>
            <a:r>
              <a:t>3. Четыре навыка: Сегодня мы получим 4 конкретных инженерных инструмента — от конструктора мицеллы за 4 шага до расчета порога коагуляции электролитами.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Аналогия с картофелиной и теннисным кортом: Когда мы режем картошку на фри, площадь корочки растет. Если кубик золота 1 см³ (площадь 6 см²) раздробить на кубики по 10 нм, площадь вырастет в миллион раз — до 600 м² (два теннисных корта в одной щепотке!).</a:t>
            </a:r>
          </a:p>
          <a:p>
            <a:r>
              <a:t>2. Как запомнить k = 6, 4, 2: У кубика 6 граней (6a²/a³ = 6/a), у цилиндра боковая стенка дает 4/d, у пленки две стороны дают 2/h.</a:t>
            </a:r>
          </a:p>
          <a:p>
            <a:r>
              <a:t>3. Вывод по графику: При размере 2 нм более 75% всех атомов лежат снаружи на поверхности — поэтому наночастицы работают как суперкатализаторы.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Главная параллель: Классический коллоидный диапазон 1–100 нм — это в точности современный наноразмерный диапазон.</a:t>
            </a:r>
          </a:p>
          <a:p>
            <a:r>
              <a:t>2. Лиофильные и лиофобные без сложных формул: Лиофильные (желе, мыло) любят воду (σ ≈ 0) и образуются сами. Лиофобные (золото, серебро, гидроксид железа в воде) не хотят граничить с водой (σ велико) и без электростатической защиты мгновенно слипаются.</a:t>
            </a:r>
          </a:p>
          <a:p>
            <a:r>
              <a:t>3. Примеры в таблице 3×3: Ячейка Т/Ж — это плазмонные гидрозоли Ag, Au и золь Fe(OH)₃; ячейка Г/Т — твердые нанопористые матрицы (аэрогели, цеолиты, пористый Si и Al₂O₃).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Бытовая аналогия (бульон -&gt; холодец): Горячий бульон со свободными белковыми клубками — это золь. В холодильнике цепочки сцепились в 3D-каркас и заперли воду — получился гель (холодец).</a:t>
            </a:r>
          </a:p>
          <a:p>
            <a:r>
              <a:t>2. Почему сминается ксерогель: В поре радиуса 2 нм капиллярное давление воды P_L = 2σ/r достигает 700 атмосфер! Оно сминает гель, как пустую пластиковую бутылку, в плотный ксерогель (шарики силикагеля в коробках с обувью).</a:t>
            </a:r>
          </a:p>
          <a:p>
            <a:r>
              <a:t>3. Секрет аэрогеля («замороженного дыма»): В автоклаве сверхкритический флюид не имеет границы «жидкость–пар» (σ = 0). Капиллярные силы равны нулю, и каркас высыхает без усадки!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Аналогия с калибратором ручной клади в аэропорту «Победа»: Цеолит работает как металлическая рамка у гейта (0.45 нм) — худая прямая молекула н-алкана (0.43 нм) проходит внутрь, а толстый разветвленный изоалкан (0.56 нм) застревает.</a:t>
            </a:r>
          </a:p>
          <a:p>
            <a:r>
              <a:t>2. Сравнение на нижнем графике: У силикагеля — широкий размытый колокол пор, у цеолита — острейшие вертикальные линии строго одного размера.</a:t>
            </a:r>
          </a:p>
          <a:p>
            <a:r>
              <a:t>3. Нанореактор: Если растить наночастицу внутри клетки цеолита, она физически не сможет вырасти больше диаметра полости (1 нм) — получаются идеально одинаковые квантовые точки.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Аналогия «Знаменитость в толпе фанатов»: Агрегат [M]_m — сцена; ПОИ — рок-звезда на сцене, задающая тон (заряд); плотный слой (n−x) — охрана вплотную к сцене (вместе со звездой это Гранула в фигурных скобках); диффузный слой x — фанаты на площади вокруг.</a:t>
            </a:r>
          </a:p>
          <a:p>
            <a:r>
              <a:t>2. Главная ловушка на зачете: «Какой заряд у мицеллы?» Правильный ответ: НУЛЕВОЙ! Заряжена только ГРАНУЛА (то, что внутри фигурных скобок), а вся мицелла электронейтральна.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Отработка Навыка №1: На примере AgI видно, что одно и то же вещество может быть и отрицательным золем (в избытке KI), и положительным (в избытке AgNO₃).</a:t>
            </a:r>
          </a:p>
          <a:p>
            <a:r>
              <a:t>2. Разбор золя Fe(OH)₃ (карточка 2): Классическая учебная задача! Осадок Fe(OH)₃, стабилизатор FeOCl, потенциалопределяющий ион — катион оксожелеза FeO⁺ (или Fe³⁺), противоионы — хлориды Cl⁻.</a:t>
            </a:r>
          </a:p>
          <a:p>
            <a:r>
              <a:t>3. Ключ к задачам на коагуляцию: Раз гранула заряжена плюсом (x+), то осаждать (коагулировать) ее будут отрицательные ионы (анионы) добавляемых солей!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Аналогия с атмосферой Земли: Гравитация тянет воздух к земле, а тепловое движение k_B T разбрасывает молекулы вверх — получается воздушная атмосфера. Точно так же вокруг наночастицы кулоновское притяжение и тепловой хаос создают диффузную ионную атмосферу Гуи–Чепмена!</a:t>
            </a:r>
          </a:p>
          <a:p>
            <a:r>
              <a:t>2. На графике внизу: Синий пунктир — резкий линейный обрыв потенциала в плоском конденсаторе Гельмгольца; красная кривая — плавная экспонента Гуи–Чепмена.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Никакой лишней громоздкости: Нам важен физический закон λ_D ∝ 1 / (z·√c).</a:t>
            </a:r>
          </a:p>
          <a:p>
            <a:r>
              <a:t>2. Аналогия с зимним пуховиком в вакуумном пакете: В чистой воде (c = 10⁻⁴ М, синяя кривая) ионная шуба вокруг наночастицы пушистая (λ_D = 30.4 нм). Капнули соли до 10⁻² М (красная кривая) — шуба сдулась в 10 раз до 3 нм, и частицы оголились для слипания!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Суть модели Штерна: Ионы не могут подойти к стенке ближе своего радиуса δ (серая полоса на графике). Внутри δ — плоский конденсатор Гельмгольца, снаружи — диффузное облако Гуи.</a:t>
            </a:r>
          </a:p>
          <a:p>
            <a:r>
              <a:t>2. Феномен перезарядки (красная кривая 3): Если в раствор с положительными частицами (φ₀ = +80 мВ) добавить многозарядные анионы, они набьются в слой Штерна сверх меры и поменяют знак потенциала снаружи на минус (φ_δ = −32 мВ)!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Как померить потенциал наночастицы: Вольтметром ткнуть нельзя, но можно включить поле и померить скорость движения гранулы — она зависит от потенциала на линии отрыва жидкости (ζ-потенциала).</a:t>
            </a:r>
          </a:p>
          <a:p>
            <a:r>
              <a:t>2. Навык №2 («Магические 30 мВ»): Смотрим на модуль |ζ|. Если |ζ| &gt; 30 мВ (+35 или −40 мВ) — золь живет месяцами. Если добавили соль (переход от зеленой кривой 1 к красной 3 на графике), экспонента прижалась к стенке, ζ упал ниже 15 мВ — золь гибнет!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Простая симметрия 2×2 без зубрежки: В верхнем ряду мы подключаем батарейку E — двигаются либо частицы (электрофорез), либо вода в порах (электроосмос). В нижнем ряду мы двигаем систему механически (гравитацией или насосом ΔP) — и на вольтметре возникает ЭДС!</a:t>
            </a:r>
          </a:p>
          <a:p>
            <a:r>
              <a:t>2. Исторический приоритет: Оба прямых явления открыл в Москве профессор Ф.Ф. Рейсс в 1809 году.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Физический смысл без перегрузки: Когда прибор померил скорость наночастицы v, как пересчитать ее в милливольты ζ? Все зависит от того, кто больше — сама частица r или ее шуба λ_D.</a:t>
            </a:r>
          </a:p>
          <a:p>
            <a:r>
              <a:t>2. На графике справа: Между левой полкой Хюккеля (1.0) и правой полкой Смолуховского (1.5) разница в полтора раза! Наночастицы золота и железа (r ~ 10 нм) живут прямо на переходном склоне (оранжевая точка).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Загадка коллоидного золота: Золото почти в 20 раз тяжелее воды, но рубиновый гидрозоль (r = 5 нм, синяя кривая) абсолютно однороден по высоте пробирки!</a:t>
            </a:r>
          </a:p>
          <a:p>
            <a:r>
              <a:t>2. Сила куба радиуса (1/r³): Стоит частицам потерять заряд и слипнуться всего в 3 раза по радиусу (с 5 до 16 нм, красная кривая), как куб радиуса r³ вырастает в 3.2³ ≈ 33 раза! Тепловое движение проигрывает, и золото камнем падает на дно. Значит, главное — не дать частицам слипнуться!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Яркая аналогия (куртки с липучками внутри надувных шаров для зорбинга): Представьте двух человек в куртках с мощными липучками-велкро (это притяжение Ван-дер-Ваальса −1/h на малых расстояниях). Если они столкнутся вплотную — слипнутся намертво (ближний минимум). Но поверх курток надеты упругие надувные шары (ионные шубы ДЭС, отталкивание U_R). Пока шары надуты (высокий барьер U_max = 29.9 k_B T), люди при столкновении просто упруго отскакивают друг от друга!</a:t>
            </a:r>
          </a:p>
          <a:p>
            <a:r>
              <a:t>2. Что делает соль: Соль выпускает воздух из надувных шаров — барьер падает, и липучки захлопываются.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Магия шестой степени (1 : 1/64 : 1/729): Возводим заряд аниона z = 1, 2, 3 в шестую степень: 1⁶ = 1, 2⁶ = 64, 3⁶ = 729! Трехзарядной красной кровяной соли нужно в 729 раз меньше, чем KCl!</a:t>
            </a:r>
          </a:p>
          <a:p>
            <a:r>
              <a:t>2. Две главные ловушки в расчетных задачах: (1) Почему везде калий K⁺? Чтобы доказать, что одноименный ион не влияет, а работают только анионы-противоионы! (2) Не забывайте прибавлять V_эл к V_золя в знаменателе при расчете γ_кр.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Итоговое резюме: Мы связали воедино геометрию наночастиц, строение мицеллы, двойной электрический слой и теорию устойчивости ДЛФО.</a:t>
            </a:r>
          </a:p>
          <a:p>
            <a:r>
              <a:t>2. Чек-лист к зачету: Во второй карточке и на схеме справа собраны прямые ответы на ключевые контрольные вопросы по теме.</a:t>
            </a:r>
          </a:p>
          <a:p>
            <a:r>
              <a:t>3. Мостик к Лекции №4: На следующей лекции переходим к поверхностному натяжению, изотермам адсорбции Ленгмюра и БЭТ и трем механизмам эпитаксиального роста нанопленок.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Лекция №3. Термодинамика дисперсных систем и коллоидных растворов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Раздел 2 «Особенности термодинамики наноструктур» (Часть 2 из 4)  |  Кафедра №3 ГУАП  |  Преподаватель: Попов Д.А.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9514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Главная загадка коллоидных наносистем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У наночастиц в растворе огромная площадь поверхности и большой избыток энергии Гиббса: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ΔG_s = σ · S &gt; 0   (система стремится слипнуться!)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Почему же рубиновый нанозоль золота стоит годами без осадка? Его защищает двойной электрический слой (ДЭС).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47872"/>
            <a:ext cx="4892040" cy="229514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Четыре практических навыка лекции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Навык 1: Собрать формулу мицеллы золя за 4 простых шага.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Навык 2: По размеру r и ζ-потенциалу (30 мВ) оценить стабильность.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Навык 3: Применить правило 6-й степени (1 : 1/64 : 1/729) для коагуляции.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Навык 4: Отличать золь, гель, ксерогель, аэрогель и цеолит.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1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133" y="1216152"/>
            <a:ext cx="5917885" cy="45628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Физика коллоидных систем — это ключ к управляемому жидкофазному синтезу, стабилизации и осаждению функциональных наноматериалов.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Удельная поверхность S_уд ∝ 1/a — главный геометрический драйвер наносистем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1. Классификация и количественные параметры дисперсных систем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Дисперсность D и удельная поверхность S_уд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Дисперсная система = Дисперсная фаза (частицы размера a) + Дисперсионная среда (матрица вокруг них).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Дисперсность D = 1 / a [м⁻¹] — обратный размер частицы.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Удельная поверхность (на единицу объема V или массы m):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S_уд = S / V = k / a,     S_уд^(m) = S / m = k / (ρ · 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Правило «6 – 4 – 2» для коэффициента формы k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Коэффициент k зависит от размерности нанообъекта: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k = 6 — 3D наночастицы (сфера диаметра d, кубик a);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k = 4 — 1D нанонити, волокна и нанотрубки (d ≪ L);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k = 2 — 2D нанопленки, мембраны и графен (h ≪ L).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Избыточная энергия поверхности:  ΔG_s = σ · S  ∝  1 / 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2_specific_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221815"/>
            <a:ext cx="6099048" cy="45515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При дроблении кубика вещества с ребром 1 см до наночастиц размером 10 нм площадь поверхности возрастает в 1 000 000 раз (до 600 м²).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Классификация дисперсных систем: размер, агрегатное состояние и лиофильность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1. Систематика коллоидных и нанодисперсных материалов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Шкала размеров частиц a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Грубодисперсные (a &gt; 10 мкм): песок, пыль (быстро оседают).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Микрогетерогенные (a = 0.1–10 мкм): суспензии и эмульсии.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Коллоидные = Нанодисперсные системы (наш объект):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a = 1–100 нм (10⁻⁹–10⁻⁷ м)   —   золи, квантовые точки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Истинные растворы (a &lt; 1 нм): молекулы и ионы (однофазные).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Лиофильные vs Лиофобные коллоиды (П.А. Ребиндер)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Лиофильные («любящие среду», натяжение σ ≈ 0):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Мыло (ПАВ), белки, полимеры — растворяются сами, равновесны.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Лиофобные («боящиеся среды», натяжение σ ≫ 0):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ΔG_обр = σ · S &gt; 0   (термодинамически НЕУСТОЙЧИВЫ!)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Золи металлов (Au, Ag), Fe(OH)₃, AgI — живут только за счет заряда ДЭС!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3_classific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9612" y="1216152"/>
            <a:ext cx="6038927" cy="45628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Неорганические нанозоли (Ag, Au, Fe(OH)₃) являются лиофобными системами (ΔG_обр &gt; 0) и требуют принудительной стабилизации от коагуляции.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От золя к гелю, ксерогелю и аэрогелю: эволюция связности наносистемы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1. Золь-гель переход и капиллярная инженерия нанопористых материалов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5486400" cy="1298448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Золь (текучий) → Гель (связный 3D-каркас)</a:t>
            </a:r>
          </a:p>
          <a:p>
            <a:pPr algn="l">
              <a:spcAft>
                <a:spcPts val="25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• Золь: наночастицы свободны и независимо плавают в жидкости.</a:t>
            </a:r>
          </a:p>
          <a:p>
            <a:pPr algn="l">
              <a:spcAft>
                <a:spcPts val="25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• Гель: частицы сшиваются в единую 3D-сетку, запирая воду внутри ячеек.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43000"/>
            <a:ext cx="5516575" cy="1298448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Как высушить гель: Ксерогель vs Аэрогель</a:t>
            </a:r>
          </a:p>
          <a:p>
            <a:pPr algn="l">
              <a:spcAft>
                <a:spcPts val="25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• Обычная сушка: капиллярное давление Лапласа P_L = 2σ/r сминает поры → плотный ксерогель.</a:t>
            </a:r>
          </a:p>
          <a:p>
            <a:pPr algn="l">
              <a:spcAft>
                <a:spcPts val="25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• Сверхкритическая сушка (σ = 0): менисков нет, сохраняется до 99.8% пор → сверхлегкий аэрогель!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42032"/>
            <a:ext cx="11277295" cy="3364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4_sol_gel_xerog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816" y="2615184"/>
            <a:ext cx="10968062" cy="32186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Золь-гель метод позволяет синтезировать высокочистые оксидные наноструктуры, а выбор режима сушки определяет переход в ксерогель или аэрогель.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Цеолиты — регулярные микропористые кристаллы и молекулярные сита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1. Кристаллические связнодисперсные системы с калиброванными наноканалами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Природа цеолитов: кристалл со строгим калибром пор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В аморфном силикагеле поры случайны (2–50 нм), а в цеолите поры заданы самой кристаллической решеткой алюмосиликата!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Тетраэдры SiO₄ и AlO₄ образуют жесткий каркас с входными окнами строго одного диаметра: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d_окна = 0.3 – 1.0 нм   (монодисперсные микропоры &lt; 2 нм)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Замена Si⁴⁺ → Al³⁺ дает каркасу заряд «−», удерживающий ионы Na⁺, K⁺.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Три применения цеолитов в нанотехнологиях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Молекулярные сита: пропускают тонкие линейные молекулы, но отсекают разветвленные изомеры (калибратор молекул).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Ионный обмен и нанокатализ: умягчение воды и крекинг нефти.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Матричный синтез (нанореакторы): выращивание в полостях цеолита квантовых точек (CdS, Ag_n) строго одного размера.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5_zeol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378874"/>
            <a:ext cx="6099048" cy="423741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Цеолиты сочетают развитую удельную поверхность (до 800–1000 м²/г) со строгой кристаллографической монодисперсностью входных окон (0.3–1.0 нм).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Строение коллоидной мицеллы и правило Панета–Фаянса–Пескова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2. Строение мицеллы неорганических веществ и двойной электрический слой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1122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Правило Панета–Фаянса («Кто заряжает ядро?»)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Кристаллическое ядро избирательно адсорбирует из раствора только «РОДНЫЕ» ионы (потенциалопределяющие ионы — ПОИ):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те ионы, которые входят в состав самой решетки ядра;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и при этом находятся в растворе в ИЗБЫТКЕ!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Именно знак заряда ПОИ определяет знак заряда всей гранулы.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364992"/>
            <a:ext cx="4892040" cy="24780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Алгоритм сборки мицеллы за 4 шага (Навык №1)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Шаг 1 (Агрегат): нерастворимое кристаллическое ядро [M]_m (заряд 0).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Шаг 2 (Ядро): сажаем n родных ионов из избытка → [M]_m · n ПОИ⁺.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Шаг 3 (Гранула): добавляем (n−x) противоионов плотного слоя в скобки { ... }^(x+) — гранула ЗАРЯЖЕНА!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Шаг 4 (Мицелла): пишем x противоионов диффузного слоя за скобкой: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{ [M]_m · n ПОИ⁺ · (n − x) ПИ⁻ }^(x+) · x ПИ⁻   (заряд = 0!)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6_micelle_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699" y="1216152"/>
            <a:ext cx="5768753" cy="45628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Гранула (коллоидная частица внутри плоскости скольжения) обладает нескомпенсированным зарядом ±x, но вся мицелла в целом строго электронейтральна!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Формулы мицелл: перезарядка золя AgI и гидрозоль Fe(OH)₃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2. Практика составления мицеллярных формул неорганических гидрозолей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Золь AgI: как избыток реагента меняет знак частицы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Реакция: AgNO₃ + KI → AgI↓ + KNO₃. В решетку AgI входят Ag⁺ и I⁻.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А) В избытке KI (лишние ионы I⁻ → ПОИ = I⁻, гранула «−»):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{ [AgI]_m · n I⁻ · (n − x) K⁺ }^(x−) · x K⁺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Б) В избытке AgNO₃ (лишние ионы Ag⁺ → ПОИ = Ag⁺, гранула «+»):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{ [AgI]_m · n Ag⁺ · (n − x) NO₃⁻ }^(x+) · x NO₃⁻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Классический золь Fe(OH)₃ при гидролизе в кипящей воде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Гидролиз при 100 °C:  FeCl₃ + 3 H₂O → Fe(OH)₃↓ + 3 HCl.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Стабилизатор FeOCl диссоциирует:  FeOCl ⇄ FeO⁺ (ПОИ) + Cl⁻ (ПИ).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Катион FeO⁺ родной ядру → гранула Fe(OH)₃ заряжена ПОЛОЖИТЕЛЬНО: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{ [Fe(OH)₃]_m · n FeO⁺ · (n − x) Cl⁻ }^(x+) · x Cl⁻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7_agi_feoh3_micel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564127"/>
            <a:ext cx="6099048" cy="386690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Гранула гидрозоля Fe(OH)₃ заряжена ПОЛОЖИТЕЛЬНО за счет адсорбции катионов FeO⁺, поэтому коагуляцию этого золя вызывают АНИОНЫ электролита!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Физические модели ДЭС: от конденсатора Гельмгольца к теории Гуи–Чепмена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2. Эволюция представлений о строении двойного электрического слоя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Модель Гельмгольца (1879) — «плоский конденсатор»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Противоионы притянуты к стенке в одну шеренгу на расстоянии радиуса иона d.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Потенциал φ(x) падает внутри зазора d строго по прямой линии: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φ(x) = φ₀ · (1 − x / d),     C_H = ε · ε₀ / d = const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Минус модели: забыта температура T! Не может объяснить электрофорез.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Модель Гуи–Чепмена (1910) — «диффузное облако»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Конкуренция двух сил: кулоновское притяжение к стенке (z·e·φ) против теплового броуновского разбрасывания ионов (k_B T).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Концентрация ионов вокруг частицы подчиняется закону Больцмана: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n(x) = n₀ · exp( − z · e · φ(x) / [k_B · T] 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Вместо плоской шеренги образуется протяженная ионная атмосфера.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8_helmholtz_vs_gou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274894"/>
            <a:ext cx="6099048" cy="444537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Модель Гуи–Чепмена ввела в электростатику поверхности температуру T: тепловое движение размывает слой противоионов в диффузную ионную атмосферу.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Закон спада потенциала и дебаевская толщина ДЭС λ_D = κ⁻¹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2. Как концентрация и заряд соли сжимают защитную ионную «шубу»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Экспоненциальный спад потенциала в диффузном слое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Из уравнения Пуассона–Больцмана следует: потенциал вглубь раствора затухает по экспоненте: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φ(x) = φ₀ · exp( −x / λ_D ) = φ₀ · exp( −κ · x 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Толщина ДЭС (длина Дебая λ_D = κ⁻¹) — это расстояние, на котором потенциал частицы падает в e ≈ 2.72 раза.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Главный рычаг управления: закон сжатия ДЭС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Толщина ионной «шубы» λ_D обратно пропорциональна заряду иона z и корню из концентрации электролита c: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λ_D ∝ 1 / (z · √c)   [в воде: λ_D ≈ 0.304 / (z·√c) нм]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Рост концентрации соли c в 100 раз сжимает толщину ДЭС ровно в 10 раз (с 30.4 нм до 3.04 нм)!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09_debye_scre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293104"/>
            <a:ext cx="6099048" cy="4408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Толщина диффузного слоя λ_D обратно пропорциональна валентности противоиона z и корню из концентрации √c: добавление соли резко сжимает ДЭС.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Объединенная модель ДЭС О. Штерна (1924): плотный и диффузный слои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2. Современная физическая теория двойного электрического слоя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Синтез двух моделей: плоскость Штерна x = δ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Ионы — не математические точки! Они имеют реальный радиус δ ≈ 0.3–0.5 нм.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Штерн разделил ДЭС на две последовательные зоны: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Плотный слой Штерна (0 ≤ x ≤ δ): прямая линия φ₀ → φ_δ;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Диффузный слой Гуи (x &gt; δ): экспонента φ(x) = φ_δ · exp(−κ(x − δ)).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Специфическая адсорбция и перезарядка наночастицы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Два слоя работают как два последовательных конденсатора: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1 / C_ДЭС = 1 / C_плотного + 1 / C_диффузного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Химическое прилипание многозарядных противоионов (Al³⁺, Th⁴⁺) в плотном слое может поменять знак потенциала φ_δ (кривая 3):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φ₀ &gt; 0,   но   φ_δ &lt; 0   (перезарядка поверхности!)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0_stern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364051"/>
            <a:ext cx="6099048" cy="426705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Модель Штерна разделяет падение потенциала на адсорбционный скачок (φ₀ → φ_δ) и диффузный хвост, объясняя феномен перезарядки наночастиц.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Плоскость скольжения и электрокинетический дзета-потенциал (ζ)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3. Дзета-потенциал и диагностика стабильности наноколлоидов (Навык №2)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Плоскость скольжения и смысл ζ-потенциала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При движении наночастицы плотный слой и тонкая гидратная оболочка воды движутся вместе с ядром (это наша гранула).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Плоскость скольжения (x = x_s) — граница отрыва подвижной жидкости.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Дзета-потенциал (ζ) — потенциал ДЭС ровно на плоскости скольжения: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ζ = φ(x_s),     причем всегда   |ζ| ≤ |φ_δ| &lt; |φ₀|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Правило «Магические 30 мВ» (Навык диагностики №2)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|ζ| &gt; 30 мВ — СТАБИЛЬНЫЙ ЗОЛЬ! Частицы сильно отталкиваются (у цитратного золя золота ζ ≈ −40 мВ).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15 &lt; |ζ| &lt; 30 мВ — пограничная зона, начало медленного слипания.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|ζ| &lt; 15 мВ — БЫСТРАЯ КОАГУЛЯЦИЯ и выпадение осадка.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ζ = 0 мВ — изоэлектрическая точка (ИЭТ, мгновенная агрегация)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1_zeta_potent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611276"/>
            <a:ext cx="6099048" cy="377260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Индифферентный электролит не меняет потенциал ядра φ₀, но из-за сжатия экспоненты φ(x) резко снижает ζ-потенциал на плоскости скольжения до критического (&lt; 15 мВ).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Четыре электрокинетических явления: связь движения и электрического поля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3. Открытие Ф.Ф. Рейсса (1809) и нанотехнологические применения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Прямые явления: Поле E → Движение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1) Электрофорез: заряженные наночастицы (гранулы) плывут в неподвижной жидкости к электроду.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Применение: измерение ζ-потенциала, осаждение нанопокрытий (EPD).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2) Электроосмос: жидкость течет сквозь неподвижный пористый каркас или капилляр под действием поля E.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Применение: микронасосы без движущихся частей в чипах Lab-on-a-Chip.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Обратные явления: Движение → Генерация ЭДС (Δφ)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3) Потенциал седиментации: оседающие под действием гравитации заряженные частицы создают разность потенциалов между верхом и дном.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4) Потенциал течения: продавливание жидкости давлением ΔP сквозь пористую мембрану сносит ионы ДЭС и генерирует напряжение: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Δφ_теч  ∝  (ζ / η) · ΔP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2_electrokinetic_phenom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255463"/>
            <a:ext cx="6099048" cy="448423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Все 4 электрокинетических явления обусловлены механическим сдвигом диффузного слоя по плоскости скольжения и прямо пропорциональны ζ-потенциалу.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Как из скорости электрофореза найти ζ-потенциал: роль размера κr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3. Влияние отношения радиуса наночастицы к толщине ионной шубы (κr = r / λ_D)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Электрофоретическая подвижность и формула Генри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В электрическом поле E сила Кулона уравновешивается трением Стокса, и частица плывет с постоянной подвижностью u_e = v / E: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u_e = v / E = [ (2 · ε · ε₀ · ζ) / (3 · η) ] · f(κr)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Коэффициент Генри f(κr) зависит от отношения радиуса частицы r к толщине ее ионной шубы λ_D (где κr = r / λ_D).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Почему для наночастиц важна поправка Генри?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Малая частица в толстой шубе (r ≪ λ_D, предел Хюккеля): f = 1.0.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Крупная частица в тонкой шубе (r ≫ λ_D, предел Смолуховского): f = 1.5 (скорость в 1.5 раза выше при том же ζ!).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Водные нанозоли (r ~ 10 нм, λ_D ~ 4 нм ⇒ κr ≈ 2.5) лежат ровно посередине склона — нужна полная формула Генри!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3_henry_fun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29638"/>
            <a:ext cx="6099048" cy="413588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Для наночастиц в водных золях (r ~ 5–20 нм, λ_D ~ 3–10 нм) параметр κr ~ 1–5 лежит в переходной зоне, поэтому для точного расчета ζ необходима формула Генри!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Седиментационная устойчивость и закон Лапласа–Перрена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4. Почему тяжелые наночастицы золота (ρ = 19.3 г/см³) не падают на дно?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1579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Два вида устойчивости коллоидов (Н.П. Песков)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Седиментационная: частицы не оседают на дно под силой тяжести.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Агрегативная: частицы не слипаются при столкновениях (сохраняют r).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Скорость оседания одиночного шарика в жидкости (закон Стокса):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v_сед = [ 2 · r² · (ρ − ρ₀) · g ] / (9 · η)  ∝  r²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10712"/>
            <a:ext cx="4892040" cy="24323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Дуэль гравитации и теплового движения (закон Перрена)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Оседанию вниз мешает тепловое броуновское движение (k_B T), подбрасывающее наночастицы вверх.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Характерная высота столба золя h_e обратно пропорциональна КУБУ радиуса частицы: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h_e = (3 · k_B · T) / (4 · π · r³ · Δρ · g)  ∝  1 / r³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Вывод: пока частицы малы (r &lt; 10 нм), они не осядут никогда!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4_sedimentation_per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537731"/>
            <a:ext cx="6099048" cy="39196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За счет зависимости h_e ∝ r⁻³ наночастицы золота (r ≤ 10 нм) седиментационно абсолютно устойчивы, пока не произойдет их агрегация!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Агрегативная устойчивость и теория ДЛФО (Дерягин–Ландау–Фервей–Овербек)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4. Борьба ван-дер-ваальсова притяжения и электростатического отталкивания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9514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Сумма двух сил при сближении наночастиц: U(h) = U_A + U_R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1) Притяжение Ван-дер-Ваальса (действует всегда, степенной закон):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U_A(h) = − (A_H · r) / (12 · h)  ∝  − 1 / h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2) Отталкивание при перекрытии ионных шуб ДЭС (экспонента):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U_R(h)  ∝  r · φ_δ² · exp( −h / λ_D 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47872"/>
            <a:ext cx="4892040" cy="229514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Три главные точки на кривой ДЛФО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Ближний (первичный) минимум (h → 0): глубокая яма — необратимое слипание (коагуляция).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Потенциальный барьер U_max: «забор» устойчивости. Чтобы золь жил долго, барьер должен быть выше тепловых ударов: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U_max ≥ 15 – 25 k_B T     (соответствует |ζ| &gt; 30 мВ)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Дальний (вторичный) минимум: слабая обратимая сцепка через воду.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5_dlvo_potent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300516"/>
            <a:ext cx="6099048" cy="439412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Различие законов спадания с расстоянием (степенной −1/h для притяжения и экспоненциальный e^(−κh) для отталкивания) рождает барьер U_max и два минимума!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Коагуляция электролитами: правило Шульце–Гарди и закон шестой степени (z⁻⁶)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Блок 4. Порог коагуляции γ_кр и методика решения задач на коагуляцию (Навык №3)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0370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Порог коагуляции γ_кр и закон Дерягина–Ландау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Порог коагуляции γ_кр (ммоль/л) — минимальная концентрация соли, обнуляющая барьер ДЛФО (U_max = 0, кривая 3 касается оси).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Коагулирует ПРОТИВОИОН (знак, противоположный грануле!), а порог обратно пропорционален ШЕСТОЙ степени его заряда z: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γ_кр  ∝  1 / z⁶   ⇒   γ₁ : γ₂ : γ₃ = 1 : 1/64 : 1/729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56432"/>
            <a:ext cx="4892040" cy="238658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Алгоритм и ловушки в задачах на коагуляцию (золь Fe(OH)₃)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Ловушка 1: В солях KCl, K₂SO₄, K₃[Fe(CN)₆] катион K⁺ НЕ работает (у гранулы Fe(OH)₃ заряд «+»)! Коагулируют анионы: Cl⁻ (z=1), SO₄²⁻ (z=2), [Fe(CN)₆]³⁻ (z=3).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Ловушка 2: В знаменателе формулы порога — ПОЛНЫЙ объем смеси:</a:t>
            </a:r>
          </a:p>
          <a:p>
            <a:pPr algn="l">
              <a:spcBef>
                <a:spcPts val="150"/>
              </a:spcBef>
              <a:spcAft>
                <a:spcPts val="250"/>
              </a:spcAft>
              <a:defRPr sz="1180" b="1">
                <a:solidFill>
                  <a:srgbClr val="0066CC"/>
                </a:solidFill>
                <a:latin typeface="Arial"/>
              </a:defRPr>
            </a:pPr>
            <a:r>
              <a:t>   γ_кр = [ C_эл · V_эл / (V_золя + V_эл) ] · 1000   [ммоль/л]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6_schultze_hardy_coag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324522"/>
            <a:ext cx="6099048" cy="434611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Закон шестой степени Дерягина–Ландау (γ_кр ∝ z⁻⁶) объясняет, почему трехзарядный анион [Fe(CN)₆]³⁻ коагулирует золь Fe(OH)₃ в ~730 раз эффективнее однозарядного Cl⁻!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"/>
            <a:ext cx="11277295" cy="777240"/>
          </a:xfrm>
          <a:prstGeom prst="rect">
            <a:avLst/>
          </a:prstGeom>
          <a:noFill/>
        </p:spPr>
        <p:txBody>
          <a:bodyPr wrap="square" anchor="t" tIns="18288" bIns="18288">
            <a:spAutoFit/>
          </a:bodyPr>
          <a:lstStyle/>
          <a:p>
            <a:pPr algn="l">
              <a:spcAft>
                <a:spcPts val="200"/>
              </a:spcAft>
              <a:defRPr sz="1950" b="1">
                <a:solidFill>
                  <a:srgbClr val="003366"/>
                </a:solidFill>
                <a:latin typeface="Arial"/>
              </a:defRPr>
            </a:pPr>
            <a:r>
              <a:t>Итоги лекции №3 и разбор двух эталонных коллоидных наносистем</a:t>
            </a:r>
          </a:p>
          <a:p>
            <a:pPr algn="l">
              <a:defRPr sz="1200" i="1">
                <a:solidFill>
                  <a:srgbClr val="5A6978"/>
                </a:solidFill>
                <a:latin typeface="Arial"/>
              </a:defRPr>
            </a:pPr>
            <a:r>
              <a:t>Резюме темы «Термодинамика дисперсных систем и коллоидных растворов»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11277295" cy="2743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4892040" cy="224942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1. Четыре практических навыка в вашем арсенале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Геометрия и каркасы: S_уд = k/a (k = 6, 4, 2); отличие золя, геля, ксерогеля (сжат Лапласом), аэрогеля (σ = 0) и цеолита.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Конструктор мицеллы: Агрегат → Ядро (ПОИ из избытка) → Заряженная гранула { ... }^(±x) → Электронейтральная мицелла (заряд 0).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Критерии стабильности: радиус r ≤ 10 нм (Перрен, h_e ∝ 1/r³) и барьер ДЛФО U_max ≥ 15 k_B T при |ζ| &gt; 30 мВ.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02152"/>
            <a:ext cx="4892040" cy="2340864"/>
          </a:xfrm>
          <a:prstGeom prst="roundRect">
            <a:avLst/>
          </a:prstGeom>
          <a:solidFill>
            <a:srgbClr val="F4F7FA"/>
          </a:solidFill>
          <a:ln w="1397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28016" tIns="91440" bIns="73152"/>
          <a:lstStyle/>
          <a:p>
            <a:pPr algn="l">
              <a:spcAft>
                <a:spcPts val="400"/>
              </a:spcAft>
              <a:defRPr sz="1320" b="1">
                <a:solidFill>
                  <a:srgbClr val="003366"/>
                </a:solidFill>
                <a:latin typeface="Arial"/>
              </a:defRPr>
            </a:pPr>
            <a:r>
              <a:t>2. Чек-лист: 3 главных вопроса к зачету по коллоидным системам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Вопрос 1: Почему рубиновый золь Au (520 нм) синеет от соли? → Соль сжимает ДЭС, барьер падает, частицы слипаются!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Вопрос 2: Каков заряд мицеллы Fe(OH)₃? → Мицелла нейтральна (0), а ГРАНУЛА заряжена «+» (ПОИ — катион FeO⁺)!</a:t>
            </a:r>
          </a:p>
          <a:p>
            <a:pPr algn="l">
              <a:spcAft>
                <a:spcPts val="250"/>
              </a:spcAft>
              <a:defRPr sz="1140">
                <a:solidFill>
                  <a:srgbClr val="222222"/>
                </a:solidFill>
                <a:latin typeface="Arial"/>
              </a:defRPr>
            </a:pPr>
            <a:r>
              <a:t>• Вопрос 3: Как относятся пороги коагуляции Cl⁻, SO₄²⁻, [Fe(CN)₆]³⁻? → По закону 6-й степени (z⁻⁶): 1 : 1/64 : 1/729.</a:t>
            </a:r>
          </a:p>
          <a:p>
            <a:pPr algn="l">
              <a:spcAft>
                <a:spcPts val="200"/>
              </a:spcAft>
              <a:defRPr sz="1120">
                <a:solidFill>
                  <a:srgbClr val="222222"/>
                </a:solidFill>
                <a:latin typeface="Arial"/>
              </a:defRPr>
            </a:pPr>
            <a:r>
              <a:t>  - Далее на Лекции №4: смачивание, адсорбция (БЭТ) и рост пленок.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143000"/>
            <a:ext cx="6245352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17_labs_conn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836" y="1216152"/>
            <a:ext cx="6022479" cy="45628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6080760"/>
            <a:ext cx="11277295" cy="502920"/>
          </a:xfrm>
          <a:prstGeom prst="roundRect">
            <a:avLst/>
          </a:prstGeom>
          <a:solidFill>
            <a:srgbClr val="E8F2FC"/>
          </a:solidFill>
          <a:ln w="1524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3366"/>
                </a:solidFill>
                <a:latin typeface="Arial"/>
              </a:defRPr>
            </a:pPr>
            <a:r>
              <a:t>Ключевой вывод: Теория ДЭС и ДЛФО соединяет фундаментальную термодинамику с практикой: от стабилизации плазмонных наночастиц золота до управляемой коагуляции гидрозоля Fe(OH)₃.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