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Раздел 2 «Особенности термодинамики наноструктур» дисциплины «Физические основы нанотехнологий» (бакалавриат, 3 курс ГУАП). Лекция закладывает фундамент жидкофазного синтеза, агрегативной устойчивости наносистем, термодинамики границ раздела, формирования двойного электрического слоя и физико-химических методов коллоидной диагностики.</a:t>
            </a:r>
          </a:p>
          <a:p>
            <a:r>
              <a:t>2. Визуальные акценты: Титульный лист оформлен по академическому дизайн-коду ГУАП: контрастный темно-синий колорит, официальное наименование курса, темы лекции, реквизиты кафедры и преподавателя.</a:t>
            </a:r>
          </a:p>
          <a:p>
            <a:r>
              <a:t>3. Инженерный контекст: Все университетские реквизиты кафедры и преподавателя зафиксированы на титульном листе и далее на рабочих слайдах не повторяются (Single-Point Occurrence). Темы №7 и №8 календарного плана соответствуют РПД.</a:t>
            </a:r>
          </a:p>
          <a:p>
            <a:r>
              <a:t>4. Смысловой переход: Переходим к анализу фундаментального противоречия между длительной стабильностью коллоидов и самопроизвольной агрегацией наночастиц.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Переход к наномасштабу 1–100 нм сопровождается взрывным ростом свободной поверхностной энергии, порождающим шесть фундаментальных технологических проблем: агрегацию (слипание), гравитационное оседание, деградацию при хранении, разрушение при гидродинамическом транспорте, трудности сепарации и несовместимость при формуляции материалов.</a:t>
            </a:r>
          </a:p>
          <a:p>
            <a:r>
              <a:t>2. Визуальные акценты: На слайде сопоставлены два противоположных состояния материи: подлинный рубиновый золь золота Майкла Фарадея 1857 года, сохраняющий устойчивость свыше 170 лет, и ПЭМ-микрофотография агрегатов оксида железа Fe3O4, скоагулировавших в плотный осадок при отсутствии защитного экрана.</a:t>
            </a:r>
          </a:p>
          <a:p>
            <a:r>
              <a:t>3. Инженерный контекст: Без искусственно созданного электростатического или стерического барьера любая дисперсная наносистема неизбежно теряет агрегативную устойчивость и переходит в монолит.</a:t>
            </a:r>
          </a:p>
          <a:p>
            <a:r>
              <a:t>4. Смысловой переход: Для преодоления каждого из шести барьеров сформирован последовательный четырехэтапный инженерный маршрут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Программа лекции представляет собой сквозную цепочку физико-химических инструментов: от геометрии наноповерхности к строению двойного электрического слоя, расчету электрокинетического дзета-потенциала и проектированию барьера теории Дерягина–Ландау–Фервея–Овербека (ДЛФО).</a:t>
            </a:r>
          </a:p>
          <a:p>
            <a:r>
              <a:t>2. Визуальные акценты: Обратите внимание на четыре тематических блока дорожной карты: Раздел 1 анализирует скачок удельной поверхности и капиллярные силы Лапласа; Раздел 2 раскрывает электростатическую броню мицеллы; Раздел 3 рассматривает плоскость скольжения и микрофлюидику; Раздел 4 дает расчет критических порогов коагуляции и стерической защиты поверхностно-активными веществами (ПАВ).</a:t>
            </a:r>
          </a:p>
          <a:p>
            <a:r>
              <a:t>3. Инженерный контекст: Освоение этой сквозной методологии необходимо для проектирования устойчивых коллоидных растворов в микроэлектронике, биомедицине и катализе.</a:t>
            </a:r>
          </a:p>
          <a:p>
            <a:r>
              <a:t>4. Смысловой переход: Приступаем к Разделу 1, посвященному термодинамическому драйверу наномасштаба и капиллярным силам в нанопорах.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Раздел 1 посвящен анализу самопроизвольного слипания частиц под действием избыточной энергии Гиббса и механического сжатия нанопор капиллярным давлением Лапласа.</a:t>
            </a:r>
          </a:p>
          <a:p>
            <a:r>
              <a:t>2. Визуальные акценты: Слайд-разделитель выполнен в корпоративном стиле ГУАП Layout S с акцентными иконками агрегации и сепарации, фиксируя ключевой технологический вызов наноиндустрии.</a:t>
            </a:r>
          </a:p>
          <a:p>
            <a:r>
              <a:t>3. Инженерный контекст: Управление поверхностной энергией и капиллярными силами определяет выход годных наноструктурированных аэрогелей, мембран и стабильных суспензий.</a:t>
            </a:r>
          </a:p>
          <a:p>
            <a:r>
              <a:t>4. Смысловой переход: Количественный масштаб проблемы раскрывается через закон гиперболического роста удельной поверхности при уменьшении радиуса частиц.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При дроблении вещества до коллоидного диапазона 1–100 нм удельная площадь поверхности возрастает обратно пропорционально линейному размеру S_уд = k/a = 3/r, а оптическое рассеяние света на частицах формирует характерный конус Фарадея–Тиндаля.</a:t>
            </a:r>
          </a:p>
          <a:p>
            <a:r>
              <a:t>2. Визуальные акценты: На верхней панели представлено реальное оптическое явление: лазерный луч невидим в истинном молекулярном растворе, но ярко визуализируется в коллоидном золе за счет дифракционного рассеяния. На нижних графиках показан гиперболический рост S_уд и выход свыше 50% атомов на поверхность при диаметре частиц менее 3 нм.</a:t>
            </a:r>
          </a:p>
          <a:p>
            <a:r>
              <a:t>3. Инженерный контекст: Оптический экспресс-контроль конуса Тиндаля служит первичным индикатором коллоидной дисперсности в производственных процессах жидкофазного синтеза.</a:t>
            </a:r>
          </a:p>
          <a:p>
            <a:r>
              <a:t>4. Смысловой переход: Колоссальная площадь фазовой границы порождает избыточную свободную энергию, классификация которой требует введения строгих термодинамических критериев.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Дисперсная система состоит из дисперсной фазы (ДФ) и дисперсионной среды (ДС). Не скомпенсированные межмолекулярные силы на границе создают избыточную энергию Гиббса ΔG = σ·ΔA &gt; 0, стремящуюся скоагулировать частицы.</a:t>
            </a:r>
          </a:p>
          <a:p>
            <a:r>
              <a:t>2. Визуальные акценты: Верхний модульный ярус раскрывает определения ДФ и ДС, термодинамический смысл энергии Гиббса и критерий Ребиндера σ_кр. Нижняя матрица систематизирует 9 классов систем по агрегатному состоянию фаз (Т/Ж, Т/Г, Т/Т, Ж/Т, Г/Т).</a:t>
            </a:r>
          </a:p>
          <a:p>
            <a:r>
              <a:t>3. Инженерный контекст: Неорганические нанозоли термодинамически лиофобны (ΔG &gt; 0) и способны длительно существовать только при наличии защитного силового барьера (электростатического или стерического).</a:t>
            </a:r>
          </a:p>
          <a:p>
            <a:r>
              <a:t>4. Смысловой переход: При сближении и агрегации наночастиц в объеме жидкости происходит золь–гель переход с образованием пространственной трехмерной сетки.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Золь–гель технология основана на формировании непрерывного перколяционного каркаса геля. При обычной конвективной сушке капиллярное давление Лапласа P_L = 2σ/r достигает 70–200 МПа и сминает нанопоры в плотный ксерогель, тогда как сверхкритическая сушка исключает капиллярный коллапс.</a:t>
            </a:r>
          </a:p>
          <a:p>
            <a:r>
              <a:t>2. Визуальные акценты: На четырехпанельной схеме показана последовательность трансформации структуры: свободнодисперсный золь → перколяционный гель → капиллярная усадка в ксерогель (пористость 10–30%) против сверхкритической сушки флюидом СО2 при σ = 0, сохраняющей каркас аэрогеля с пористостью свыше 95%.</a:t>
            </a:r>
          </a:p>
          <a:p>
            <a:r>
              <a:t>3. Инженерный контекст: Диоксидкремниевые аэрогели обладают рекордно низкой теплопроводностью (0.013 Вт/(м·К)) и плотностью, находя широкое применение в теплоизоляции космических аппаратов и катализе.</a:t>
            </a:r>
          </a:p>
          <a:p>
            <a:r>
              <a:t>4. Смысловой переход: В отличие от хаотической аморфной сетки аэрогелей, строго монодисперсную пористость обеспечивают кристаллические цеолиты.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Кристаллические цеолиты на основе тетраэдров [SiO4]4- и [AlO4]5- обладают субнанометровыми окнами 0.3–1.0 нм, калиброванными с точностью до долей ангстрема.</a:t>
            </a:r>
          </a:p>
          <a:p>
            <a:r>
              <a:t>2. Визуальные акценты: На иллюстрации представлены СЭМ-микрофотография кристаллов цеолита и атомная схема полостей. Продемонстрирован молекулярно-ситовой эффект разделения изомеров углеводородов и механизм матричного синтеза полупроводниковых квантовых точек (КТ).</a:t>
            </a:r>
          </a:p>
          <a:p>
            <a:r>
              <a:t>3. Инженерный контекст: Жесткие кристаллические нанореакторы исключают полидисперсность и агрегацию при синтезе квантовых точек, задавая монодисперсное распределение спектров фотолюминесценции.</a:t>
            </a:r>
          </a:p>
          <a:p>
            <a:r>
              <a:t>4. Смысловой переход: Сведем рассмотренные инженерные методы управления поверхностной энергией и капиллярным давлением в единую сводную матрицу Раздела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Инженерный контроль свободной энергии Гиббса и давления Лапласа осуществляется тремя взаимодополняющими стратегиями: снижением поверхностного натяжения σ, устранением капиллярных менисков жидкости и пространственной геометрической локализацией наночастиц.</a:t>
            </a:r>
          </a:p>
          <a:p>
            <a:r>
              <a:t>2. Визуальные акценты: Таблица систематизирует четыре класса технологических решений: лиофобные гидрозоли (стабилизация ДЭС и ПАВ), нанопористые ксерогели (капиллярное формование сорбентов), ультрапористые аэрогели (сверхкритическая сушка при σ = 0) и цеолитные нанореакторы (матричная локализация квантовых точек).</a:t>
            </a:r>
          </a:p>
          <a:p>
            <a:r>
              <a:t>3. Инженерный контекст: Представленный сводный регламент служит практическим руководством для выбора технологии синтеза и сушки нанопористых и дисперсных материалов.</a:t>
            </a:r>
          </a:p>
          <a:p>
            <a:r>
              <a:t>4. Смысловой переход: Для сохранения свободнодисперсных золей в жидкой фазе требуется создать защитный ионный экран на межфазной границе, переходя к Разделу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Раздел 2 исследует электростатическую защиту лиофобных наночастиц от спонтанного слипания путем формирования двойного электрического слоя (ДЭС). Избирательная адсорбция ионов на ядре формирует заряженную гранулу, экранированную диффузной ионной шубой.</a:t>
            </a:r>
          </a:p>
          <a:p>
            <a:r>
              <a:t>2. Визуальные акценты: Слайд-разделитель выполнен в корпоративном темно-синем стиле ГУАП Layout S (#002C5F) с центральными векторными иконками агрегации и технологичности, фокусируя внимание на технологическом вызове №2.</a:t>
            </a:r>
          </a:p>
          <a:p>
            <a:r>
              <a:t>3. Инженерный контекст: Введение электролитов и рост ионной силы вызывают сжатие дебаевской толщины оболочки λ_D, приводя к потере заряда гранулы и необратимой коагуляции золей в технологических процессах.</a:t>
            </a:r>
          </a:p>
          <a:p>
            <a:r>
              <a:t>4. Смысловой переход: Для понимания механизма электростатической защиты детально исследуем пространственную анатомию коллоидной мицеллы и правило избирательной адсорбции.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Коллоидная мицелла гидрозоля представляет собой концентрическую электростатическую структуру, состоящую из нерастворимого кристаллического агрегата, заряженного ядра с потенциалопределяющими ионами (ПОИ) и двойного электрического слоя (ДЭС) противоионов (ПИ).</a:t>
            </a:r>
          </a:p>
          <a:p>
            <a:r>
              <a:t>2. Визуальные акценты: На диаграмме анатомии мицеллы наглядно разграничены четыре концентрические зоны: кристаллический агрегат [M]_m, адсорбционный монослой ПОИ, плотный слой Штерна с противоионами (образующие заряженную гранулу) и внешняя диффузная атмосфера противоионов.</a:t>
            </a:r>
          </a:p>
          <a:p>
            <a:r>
              <a:t>3. Инженерный контекст: Правило Панета–Фаянса–Пескова устанавливает, что заряд наночастицы определяется ионом решетки, находящимся в стехиометрическом избытке, позволяя инженеру программировать знак гранулы при химическом синтезе нанозолей.</a:t>
            </a:r>
          </a:p>
          <a:p>
            <a:r>
              <a:t>4. Смысловой переход: Перейдем от качественной схемы к строгому четырехшаговому алгоритму конструирования формул гидрозолей и феномену перезарядки.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Четырехшаговый алгоритм сборки формулы мицеллы отражает строгую физико-химическую иерархию: нейтральный агрегат → заряженное ядро → электрокинетическая гранула → электронейтральная мицелла. Знак заряда гранулы полностью контролируется выбором реагента в избытке.</a:t>
            </a:r>
          </a:p>
          <a:p>
            <a:r>
              <a:t>2. Визуальные акценты: Верхняя модульная цепочка наглядно демонстрирует переход от шага 1 к шагу 4. Нижние карточки сопоставляют перезарядку золя иодида серебра (отрицательная гранула при избытке KI против положительной при избытке AgNO3) и гидрозоль гидроксида железа с ионами FeO+.</a:t>
            </a:r>
          </a:p>
          <a:p>
            <a:r>
              <a:t>3. Инженерный контекст: Ошибка в дозировании прекурсора на стадии синтеза меняет знак заряда гранулы на противоположный, что приводит к несовместимости компонентов и мгновенному осаждению наносуспензии.</a:t>
            </a:r>
          </a:p>
          <a:p>
            <a:r>
              <a:t>4. Смысловой переход: Пространственное распределение противоионов между гранулой и диффузным слоем описывается классическими электростатическими моделями ДЭС.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Распределение электрического потенциала в двойном электрическом слое (ДЭС) определяется конкуренцией кулоновского притяжения и тепловой диффузии. Модель плоского конденсатора Гельмгольца задает линейный спад потенциала, а модель Гуи–Чепмена описывает диффузную атмосферу распределением Больцмана.</a:t>
            </a:r>
          </a:p>
          <a:p>
            <a:r>
              <a:t>2. Визуальные акценты: На верхней панели сопоставлены жесткая мономолекулярная стенка Гельмгольца и тепловое облако ионов Гуи–Чепмена. На нижнем графике показан резкий линейный спад φ(x) плоского конденсатора в сравнении с плавной экспонентой Пуассона–Больцмана с дебаевской длиной экранирования λ_D.</a:t>
            </a:r>
          </a:p>
          <a:p>
            <a:r>
              <a:t>3. Инженерный контекст: Модель Гельмгольца применима только при экстремально высоких концентрациях солей, тогда как в разбавленных нанозолях доминирует диффузная атмосфера Гуи–Чепмена, определяющая дальнодействующее электростатическое отталкивание частиц.</a:t>
            </a:r>
          </a:p>
          <a:p>
            <a:r>
              <a:t>4. Смысловой переход: Реальный ДЭС совмещает плотный слой у границы раздела и диффузный хвост в объеме жидкости, что объединено в модели Отто Штерна.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Объединенная модель Штерна делит ДЭС на плотный слой толщиной δ (конечный размер гидратированных ионов) и внешнюю диффузную атмосферу. Дебаевская длина экранирования λ_D обратно пропорциональна валентности z и квадратному корню из концентрации электролита c.</a:t>
            </a:r>
          </a:p>
          <a:p>
            <a:r>
              <a:t>2. Визуальные акценты: График модели Штерна демонстрирует излом потенциала на границе x = δ: линейное падение от φ0 до φδ с последующим экспоненциальным затуханием. Показаны три физических режима: базовый спад, специфическая адсорбция и перезарядка поверхности многозарядными катионами Al3+ и Th4+ с инверсией знака φδ.</a:t>
            </a:r>
          </a:p>
          <a:p>
            <a:r>
              <a:t>3. Инженерный контекст: Специфическая хемосорбция многозарядных ионов позволяет искусственно инвертировать знак заряда наночастиц без изменения состава кристаллического ядра, обеспечивая стабильность нанозолей в агрессивных электролитах.</a:t>
            </a:r>
          </a:p>
          <a:p>
            <a:r>
              <a:t>4. Смысловой переход: Количественные закономерности сжатия и перезарядки ДЭС формируют основу промышленного регламента жидкофазного синтеза коллоидов.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Технологический регламент устойчивости коллоидов при жидкофазном синтезе требует поддержания критической дебаевской длины экранирования λ_D ≥ 10 нм и строгого разграничения действия индифферентных и неиндифферентных электролитов на двойной электрический слой (ДЭС).</a:t>
            </a:r>
          </a:p>
          <a:p>
            <a:r>
              <a:t>2. Визуальные акценты: Полноширинная модульная матрица систематизирует четыре ключевых технологических параметра: ионную силу раствора I, стехиометрический избыток неиндифферентных ПОИ, концентрацию индифферентных электролитов и температурно-кондуктометрический режим.</a:t>
            </a:r>
          </a:p>
          <a:p>
            <a:r>
              <a:t>3. Инженерный контекст: Неиндифферентные электролиты достраивают кристаллическую решетку ядра и увеличивают термодинамический потенциал φ0, тогда как индифферентные электролиты лишь сжимают диффузный слой, провоцируя солевой шок при превышении допустимой ионной силы.</a:t>
            </a:r>
          </a:p>
          <a:p>
            <a:r>
              <a:t>4. Смысловой переход: Завершив анализ строения ДЭС, перейдем к Разделу 3, где исследуем электрокинетические явления и методику измерения дзета-потенциала на плоскости скольжения.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Потенциал поверхности наночастицы недоступен для прямых вольтметрических измерений: единственным экспериментально определяемым параметром границы фаз выступает электрокинетический дзета-потенциал, возникающий на гидродинамической плоскости скольжения.</a:t>
            </a:r>
          </a:p>
          <a:p>
            <a:r>
              <a:t>2. Визуальные акценты: Слайд-разделитель выполнен в темно-синем корпоративном стиле ГУАП Layout S (#002C5F) с центральными векторными иконками транспорта жидкостей и технологичности процессов, открывая третий технологический вызов.</a:t>
            </a:r>
          </a:p>
          <a:p>
            <a:r>
              <a:t>3. Инженерный контекст: Электрокинетический потенциал управляет безнасосным транспортом жидкостей в микрофлюидных аналитических лабораториях на чипе Lab-on-a-Chip и процессами электрофоретического осаждения нанопокрытий, а критерий «30 мВ» обеспечивает экспресс-диагностику агрегативной устойчивости суспензий.</a:t>
            </a:r>
          </a:p>
          <a:p>
            <a:r>
              <a:t>4. Смысловой переход: Для практического применения электрокинетики определим точное физическое положение плоскости скольжения и диагностический критерий устойчивости.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При относительном движении фаз плоскость гидродинамического сдвига xs отсекает неподвижный гидратный слой от объема жидкости, определяя электрокинетический дзета-потенциал ζ = φ(xs), величина которого строго подчиняется иерархии |ζ| &lt; |φδ| &lt; |φ0|.</a:t>
            </a:r>
          </a:p>
          <a:p>
            <a:r>
              <a:t>2. Визуальные акценты: На графике наглядно показано положение плоскости скольжения xs за плотным слоем Штерна, а также три диагностические зоны стабильности: зеленая область устойчивости (|ζ| ≥ 30 мВ), оранжевая зона риска (15–30 мВ) и красная зона быстрой коагуляции с изоэлектрической точкой ИЭТ (ζ = 0).</a:t>
            </a:r>
          </a:p>
          <a:p>
            <a:r>
              <a:t>3. Инженерный контекст: Измерение дзета-потенциала методами лазерного рассеяния света ДРС и ЭЛС служит промышленным стандартом входного контроля дисперсий в наноиндустрии и фармацевтике.</a:t>
            </a:r>
          </a:p>
          <a:p>
            <a:r>
              <a:t>4. Смысловой переход: Тангенциальный сдвиг слоев ДЭС по плоскости скольжения лежит в основе четырех классических явлений Рейсса.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Электрокинетические явления вызваны тангенциальным сдвигом подвижной части ДЭС относительно дисперсной фазы по плоскости скольжения и разделяются на прямые (электрическое поле порождает движение) и обратные (механическое движение генерирует разность потенциалов).</a:t>
            </a:r>
          </a:p>
          <a:p>
            <a:r>
              <a:t>2. Визуальные акценты: Четырехпанельная схема сопоставляет прямые явления — электрофорез (движение частиц в жидкости) и электроосмос (поток жидкости в поре со скоростью vэо = -(εε0ζ/η)E) — с обратными явлениями: потенциалом седиментации Дорна и потенциалом течения Квинке (Δφтеч = (εε0ζ/(η·κуд))·ΔP).</a:t>
            </a:r>
          </a:p>
          <a:p>
            <a:r>
              <a:t>3. Инженерный контекст: Прямые эффекты используются для транспортировки жидких сред и осаждения покрытий, а обратные служат высокоточными бесконтактными методами определения дзета-потенциала нанопористых диафрагм и мембранных фильтров.</a:t>
            </a:r>
          </a:p>
          <a:p>
            <a:r>
              <a:t>4. Смысловой переход: Для количественного пересчета экспериментальной подвижности наночастиц в дзета-потенциал необходимо учитывать размерное соотношение частицы и ДЭС по теории Генри.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Электрофоретическая подвижность ue = v/E связана с дзета-потенциалом обобщенным уравнением Генри ue = (2εε0ζ/(3η))·f(κr), где безразмерный параметр κr = r/λD задает отношение радиуса наночастицы к толщине диффузной атмосферы экранирования.</a:t>
            </a:r>
          </a:p>
          <a:p>
            <a:r>
              <a:t>2. Визуальные акценты: Аналитическая кривая демонстрирует монотонный переход функции f(κr) от предела Хюккеля (f = 1.0 при κr ≪ 1, малые частицы в органических растворителях) к пределу Смолуховского (f = 1.5 при κr ≫ 1, крупные частицы в проводящих водных средах).</a:t>
            </a:r>
          </a:p>
          <a:p>
            <a:r>
              <a:t>3. Инженерный контекст: Большинство наноколлоидов с радиусом 5–20 нм попадают в переходный диапазон κr ≈ 1–5, где пренебрежение размерной поправкой Генри приводит к ошибке определения дзета-потенциала до 33%, искажая оценку устойчивости золя.</a:t>
            </a:r>
          </a:p>
          <a:p>
            <a:r>
              <a:t>4. Смысловой переход: Перейдем к анализу практических применений электрокинетики в микрофлюидных устройствах и технологиях осаждения функциональных нанопленок.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Безнасосный электроосмотический поток в микроканалах формирует плоский поршневой профиль скоростей Plug Flow, исключающий гидродинамическую дисперсию Пуазейля, а электрофорез обеспечивает направленное осаждение наночастиц на подложку по кинетическому закону Хэмакера.</a:t>
            </a:r>
          </a:p>
          <a:p>
            <a:r>
              <a:t>2. Визуальные акценты: На схеме представлены прикладные инженерные модули: микрофлюидный чип Lab-on-a-Chip с безнасосной подачей реагентов, электрофоретическое осаждение (ЭФО) монолитных нанопленок на электрод под действием внешнего поля и схема оптического контроля партий золей методами ДРС и ЭЛС.</a:t>
            </a:r>
          </a:p>
          <a:p>
            <a:r>
              <a:t>3. Инженерный контекст: Электроосмотические микронасосы без механических клапанов незаменимы в портативных биосенсорах и ДНК-анализаторах, а метод ЭФО позволяет с высокой однородностью наносить нанопокрытия на проводящие подложки сложной геометрии.</a:t>
            </a:r>
          </a:p>
          <a:p>
            <a:r>
              <a:t>4. Смысловой переход: Завершив анализ электрокинетических явлений, перейдем к Разделу 4, посвященному седиментационной устойчивости, теории ДЛФО и стерической защите наноколлоидов.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Раздел 4 посвящен анализу седиментационно-диффузионного равновесия Перрена, термодинамического барьера устойчивости ДЛФО, каскадного закона солевой коагуляции и стерической защиты коллоидов полимерными щетками.</a:t>
            </a:r>
          </a:p>
          <a:p>
            <a:r>
              <a:t>2. Визуальные акценты: Слайд-разделитель выполнен в корпоративном темно-синем стиле ГУАП Layout S (#002C5F) с центральными векторными иконками седиментации и хранения, четко обозначая переход к завершающему проблемному блоку.</a:t>
            </a:r>
          </a:p>
          <a:p>
            <a:r>
              <a:t>3. Инженерный контекст: В реальных условиях наночастицы испытывают конкуренцию гравитационного осаждения и броуновской диффузии, а добавление электролитов нейтрализует электростатический барьер ДЭС по закону шестой степени, требуя применения стерической стабилизации.</a:t>
            </a:r>
          </a:p>
          <a:p>
            <a:r>
              <a:t>4. Смысловой переход: Начнем анализ с седиментационно-диффузионного равновесия Перрена и вывода критического радиуса наночастиц.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В гравитационном поле Земли взвешенные наночастицы подчиняются седиментационно-диффузионному равновесию Жана Перрена, где квадратичная скорость осаждения Стокса v_сед = 2 r² (ρ - ρ0) g / (9 η) уравновешивается броуновской диффузией.</a:t>
            </a:r>
          </a:p>
          <a:p>
            <a:r>
              <a:t>2. Визуальные акценты: На графиках сопоставлены квадратичный рост скорости оседания v_сед ∝ r² и кубический рост высоты эквивалентной атмосферы he ∝ 1/r³, достигающей сотен метров для частиц радиусом 5–10 нм, что подтверждается устойчивостью феррофлюида во внешнем магнитном поле.</a:t>
            </a:r>
          </a:p>
          <a:p>
            <a:r>
              <a:t>3. Инженерный контекст: За счет кубической зависимости высоты столба наночастицы с радиусом r ≤ 10 нм обладают абсолютной седиментационной стабильностью при условии отсутствия агрегации.</a:t>
            </a:r>
          </a:p>
          <a:p>
            <a:r>
              <a:t>4. Смысловой переход: Теоретическое описание силового барьера против агрегации дает теория ДЛФО.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Фундаментом коллоидной физики выступает теория Дерягина–Ландау–Фервея–Овербека (ДЛФО), постулирующая аддитивность сил межмолекулярного ван-дер-ваальсова притяжения U_vdw ∝ -A_H / h и электростатического кулоновского отталкивания ДЭС U_el ∝ exp(-κ h).</a:t>
            </a:r>
          </a:p>
          <a:p>
            <a:r>
              <a:t>2. Визуальные акценты: На суммарной кривой взаимодействия формируется энергетический профиль с потенциальным барьером U_max: для агрегативной устойчивости высота барьера должна превышать 15–20 k_B T, предотвращая попадание частиц в глубокий первичный потенциальный минимум.</a:t>
            </a:r>
          </a:p>
          <a:p>
            <a:r>
              <a:t>3. Инженерный контекст: Введение электролита увеличивает коэффициент экранирования κ, вызывая крутое затухание экспоненты отталкивания и делая возможным самопроизвольное преодоление барьера и коагуляцию.</a:t>
            </a:r>
          </a:p>
          <a:p>
            <a:r>
              <a:t>4. Смысловой переход: Исследуем порог исчезновения барьера ДЛФО и выведем закон Дерягина–Ландау.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Критическая концентрация электролита, при которой потенциальный барьер ДЛФО снижается до нуля (U = 0 и dU/dh = 0), называется порогом коагуляции γ_кр и обратно пропорциональна шестой степени заряда коагулирующего противоиона (γ_кр ∝ 1/z⁶).</a:t>
            </a:r>
          </a:p>
          <a:p>
            <a:r>
              <a:t>2. Визуальные акценты: На модульном полноширинном слайде сопоставлены три блока: порог коагуляции, каскадный ряд Шульце–Гарди (1 : 1/64 : 1/729 для одно-, двух- и трехзарядных противоионов) и диффузионная кинетика быстрой коагуляции Смолуховского.</a:t>
            </a:r>
          </a:p>
          <a:p>
            <a:r>
              <a:t>3. Инженерный контекст: Закон шестой степени объясняет солевой шок: для коагуляции положительного золя Fe(OH)3 трехзарядным анионом требуется концентрация в 729 раз меньшая, чем для однозарядного хлорид-иона.</a:t>
            </a:r>
          </a:p>
          <a:p>
            <a:r>
              <a:t>4. Смысловой переход: Для защиты коллоидов в средах с высокой концентрацией солей применяется стерическая стабилизация.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В средах с высокой ионной силой электростатический барьер ДЭС подавляется, и универсальным решением выступает стерическая стабилизация полимерами (ПЭГ, ПВП) и поверхностно-активными веществами (ПАВ), создающими упругое отталкивание ΔG_стерич = ΔH_смеш - T ΔS_упруг &gt; 0.</a:t>
            </a:r>
          </a:p>
          <a:p>
            <a:r>
              <a:t>2. Визуальные акценты: На иллюстрации показаны перекрытие полимерных щеток при сближении частиц, снижение конформационной энтропии цепей, мицеллообразование ПАВ при ККМ и адсорбционное снижение поверхностного натяжения по эффекту Ребиндера Δσ = - ∫ Γ dμ &lt; 0.</a:t>
            </a:r>
          </a:p>
          <a:p>
            <a:r>
              <a:t>3. Инженерный контекст: Пэгилирование наночастиц является золотым стандартом наномедицины, обеспечивая сохранение агрегативной устойчивости коллоидов в кровотоке и предотвращая солевую коагуляцию.</a:t>
            </a:r>
          </a:p>
          <a:p>
            <a:r>
              <a:t>4. Смысловой переход: Обобщим все изученные стратегии стабилизации в итоговой инженерной матрице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тезис: Итоговая инженерная матрица управления устойчивостью связывает шесть технологических вызовов нанодисперсности с освоенными физико-химическими инструментами преодоления термодинамических и кинетических барьеров.</a:t>
            </a:r>
          </a:p>
          <a:p>
            <a:r>
              <a:t>2. Визуальные акценты: Полноширинная таблица сопоставляет вызовы (агрегация, седиментация, старение, сдвиг, капиллярный коллапс, полидисперсность), физические барьеры, оптимальные стратегии и промышленные регламенты.</a:t>
            </a:r>
          </a:p>
          <a:p>
            <a:r>
              <a:t>3. Инженерный контекст: Выбор между электростатической, стерической и структурно-механической защитой определяется химической природой среды, солевым фоном и температурным режимом эксплуатации.</a:t>
            </a:r>
          </a:p>
          <a:p>
            <a:r>
              <a:t>4. Смысловой переход: Освоенная система физических принципов и расчетных соотношений составляет теоретическую и практическую базу для проектирования устойчивых нанотехнологических процессов.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uap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3017520" cy="5117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1645920"/>
            <a:ext cx="10728655" cy="27432"/>
          </a:xfrm>
          <a:prstGeom prst="rect">
            <a:avLst/>
          </a:prstGeom>
          <a:solidFill>
            <a:srgbClr val="00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A6978"/>
                </a:solidFill>
                <a:latin typeface="Arial"/>
              </a:defRPr>
            </a:pPr>
            <a:r>
              <a:t>КУРС «ФИЗИЧЕСКИЕ ОСНОВЫ НАНОТЕХНОЛОГИЙ» • 3 КУРС • ЛЕКЦИЯ №3 ИЗ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72865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2C5F"/>
                </a:solidFill>
                <a:latin typeface="Arial"/>
              </a:defRPr>
            </a:pPr>
            <a:r>
              <a:t>Термодинамика дисперсных систем и коллоидных растворов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AAA"/>
                </a:solidFill>
                <a:latin typeface="Arial"/>
              </a:defRPr>
            </a:pPr>
            <a:r>
              <a:rPr sz="1600" b="1">
                <a:solidFill>
                  <a:srgbClr val="005AAA"/>
                </a:solidFill>
                <a:latin typeface="Arial"/>
              </a:rPr>
              <a:t>Поверхностная энергия, капиллярные явления, двойной электрический слой (</a:t>
            </a:r>
            <a:r>
              <a:rPr sz="1600" b="1">
                <a:solidFill>
                  <a:srgbClr val="005AAA"/>
                </a:solidFill>
                <a:latin typeface="Arial"/>
              </a:rPr>
              <a:t>ДЭС</a:t>
            </a:r>
            <a:r>
              <a:rPr sz="1600" b="1">
                <a:solidFill>
                  <a:srgbClr val="005AAA"/>
                </a:solidFill>
                <a:latin typeface="Arial"/>
              </a:rPr>
              <a:t>) и барьеры устойчивости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2C5F"/>
                </a:solidFill>
                <a:latin typeface="Arial"/>
              </a:defRPr>
            </a:pPr>
            <a:r>
              <a:t>Преподаватель: доцент Попов Д.А.</a:t>
            </a:r>
          </a:p>
          <a:p>
            <a:pPr>
              <a:defRPr sz="1200">
                <a:solidFill>
                  <a:srgbClr val="5A6978"/>
                </a:solidFill>
                <a:latin typeface="Arial"/>
              </a:defRPr>
            </a:pPr>
            <a:r>
              <a:t>Кафедра №3 «Физики и нанотехнологий» ГУАП | 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2100" b="1">
                <a:solidFill>
                  <a:srgbClr val="002C5F"/>
                </a:solidFill>
                <a:latin typeface="Arial"/>
              </a:defRPr>
            </a:pPr>
            <a:r>
              <a:t>Шесть технологических вызовов нанодисперсных систем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Фронтальные вызовы нанотехнологий при переходе к масштабу 1–100 нм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aggr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62456"/>
            <a:ext cx="420624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3856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E70F47"/>
                </a:solidFill>
                <a:latin typeface="Arial"/>
              </a:defRPr>
            </a:pPr>
            <a:r>
              <a:t>Агрегация / Слипание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ΔGs = σ · S &gt; 0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Ван-дер-ваальсово схлопывание незащищенных частиц в монолит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sedimen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362456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31335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2C5F"/>
                </a:solidFill>
                <a:latin typeface="Arial"/>
              </a:defRPr>
            </a:pPr>
            <a:r>
              <a:t>Седиментация / Осадок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v = 2 r² Δρ g / (9 η)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Гравитационное оседание агломератов по закону Стокса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sto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91693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3856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FF6418"/>
                </a:solidFill>
                <a:latin typeface="Arial"/>
              </a:defRPr>
            </a:pPr>
            <a:r>
              <a:t>Хранение / Старение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Sr = S∞ exp(2σVm / rRT)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Созревание Оствальда и диффузионная коалесценция золей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tran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848" y="2916936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31335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9269C9"/>
                </a:solidFill>
                <a:latin typeface="Arial"/>
              </a:defRPr>
            </a:pPr>
            <a:r>
              <a:t>Транспорт / Доставка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ΔP = 8 η L Q / (π R⁴)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rPr sz="900">
                <a:solidFill>
                  <a:srgbClr val="242834"/>
                </a:solidFill>
                <a:latin typeface="Arial"/>
              </a:rPr>
              <a:t>Сдвиговая коагуляция в потоке и сжатие </a:t>
            </a:r>
            <a:r>
              <a:rPr sz="900" b="1">
                <a:solidFill>
                  <a:srgbClr val="005AAA"/>
                </a:solidFill>
                <a:latin typeface="Arial"/>
              </a:rPr>
              <a:t>ДЭС</a:t>
            </a:r>
            <a:r>
              <a:rPr sz="900">
                <a:solidFill>
                  <a:srgbClr val="242834"/>
                </a:solidFill>
                <a:latin typeface="Arial"/>
              </a:rPr>
              <a:t> при высоком сдвиге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separ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471416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BEF3"/>
                </a:solidFill>
                <a:latin typeface="Arial"/>
              </a:defRPr>
            </a:pPr>
            <a:r>
              <a:t>Сепарация / Калибровка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J = ΔP / [μ (Rm + Rp)]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Полидисперсность синтеза и забивание мембранных фильтров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processabil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5848" y="4471416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31335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9A49"/>
                </a:solidFill>
                <a:latin typeface="Arial"/>
              </a:defRPr>
            </a:pPr>
            <a:r>
              <a:t>Технологичность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σтг = σтж + σжг cos θ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Смачиваемость, реология и интеграция в композитную матрицу</a:t>
            </a:r>
          </a:p>
        </p:txBody>
      </p:sp>
      <p:pic>
        <p:nvPicPr>
          <p:cNvPr id="23" name="Picture 22" descr="fig_01_split_faraday_vs_fe3o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1234440"/>
            <a:ext cx="5559552" cy="3127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80760" y="5349240"/>
            <a:ext cx="5559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5A6978"/>
                </a:solidFill>
                <a:latin typeface="Arial"/>
              </a:defRPr>
            </a:pPr>
            <a:r>
              <a:rPr sz="1000" i="1">
                <a:solidFill>
                  <a:srgbClr val="5A6978"/>
                </a:solidFill>
                <a:latin typeface="Arial"/>
              </a:rPr>
              <a:t>Научная верификация: Золь золота Фарадея 1857 г. (The Royal Institution) vs </a:t>
            </a:r>
            <a:r>
              <a:rPr sz="1000" i="1" b="1">
                <a:solidFill>
                  <a:srgbClr val="005AAA"/>
                </a:solidFill>
                <a:latin typeface="Arial"/>
              </a:rPr>
              <a:t>ПЭМ</a:t>
            </a:r>
            <a:r>
              <a:rPr sz="1000" i="1">
                <a:solidFill>
                  <a:srgbClr val="5A6978"/>
                </a:solidFill>
                <a:latin typeface="Arial"/>
              </a:rPr>
              <a:t> слипшихся наночастиц Fe3O4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Без электростатического или стерического барьера любая нанодисперсная система неизбежно теряет агрегативную устойчивость и выпадает в осадок.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Инженерный маршрут преодоления барьеров нанодисперсности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rPr sz="1150" i="1">
                <a:solidFill>
                  <a:srgbClr val="5A6978"/>
                </a:solidFill>
                <a:latin typeface="Arial"/>
              </a:rPr>
              <a:t>Четыре сквозных проблемных раздела: от геометрии поверхности к барьеру </a:t>
            </a:r>
            <a:r>
              <a:rPr sz="1150" i="1" b="1">
                <a:solidFill>
                  <a:srgbClr val="005AAA"/>
                </a:solidFill>
                <a:latin typeface="Arial"/>
              </a:rPr>
              <a:t>ДЛФО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389120" cy="470916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Последовательность инженерных задач курса</a:t>
            </a:r>
          </a:p>
          <a:p>
            <a:pPr algn="l">
              <a:spcAft>
                <a:spcPts val="250"/>
              </a:spcAft>
              <a:defRPr sz="1040">
                <a:solidFill>
                  <a:srgbClr val="242834"/>
                </a:solidFill>
                <a:latin typeface="Arial"/>
              </a:defRPr>
            </a:pPr>
            <a:r>
              <a:t>• Раздел 1. Слипание и капиллярный коллапс: термодинамика Гиббса ΔG &gt; 0, скачок S_уд = 3/r, давление Лапласа P_L ~ 200 МПа, аэрогели и цеолиты.</a:t>
            </a:r>
          </a:p>
          <a:p>
            <a:pPr algn="l">
              <a:spcAft>
                <a:spcPts val="250"/>
              </a:spcAft>
              <a:defRPr sz="1040">
                <a:solidFill>
                  <a:srgbClr val="242834"/>
                </a:solidFill>
                <a:latin typeface="Arial"/>
              </a:defRPr>
            </a:pPr>
            <a:r>
              <a:rPr sz="1040">
                <a:solidFill>
                  <a:srgbClr val="242834"/>
                </a:solidFill>
                <a:latin typeface="Arial"/>
              </a:rPr>
              <a:t>• Раздел 2. Потеря заряда и разрушение оболочки: строение мицеллы, правила Панета–Фаянса, экранирование </a:t>
            </a:r>
            <a:r>
              <a:rPr sz="1040" b="1">
                <a:solidFill>
                  <a:srgbClr val="005AAA"/>
                </a:solidFill>
                <a:latin typeface="Arial"/>
              </a:rPr>
              <a:t>ДЭС</a:t>
            </a:r>
            <a:r>
              <a:rPr sz="1040">
                <a:solidFill>
                  <a:srgbClr val="242834"/>
                </a:solidFill>
                <a:latin typeface="Arial"/>
              </a:rPr>
              <a:t> длиной Дебая λ_D ~ 1/(z√c).</a:t>
            </a:r>
          </a:p>
          <a:p>
            <a:pPr algn="l">
              <a:spcAft>
                <a:spcPts val="250"/>
              </a:spcAft>
              <a:defRPr sz="1040">
                <a:solidFill>
                  <a:srgbClr val="242834"/>
                </a:solidFill>
                <a:latin typeface="Arial"/>
              </a:defRPr>
            </a:pPr>
            <a:r>
              <a:t>• Раздел 3. Слепой контроль и микрофлюидика: плоскость скольжения, дзета-потенциал |ζ| ≥ 30 мВ, эффект Рейсса, безнасосный чип Lab-on-a-Chip.</a:t>
            </a:r>
          </a:p>
          <a:p>
            <a:pPr algn="l">
              <a:spcAft>
                <a:spcPts val="250"/>
              </a:spcAft>
              <a:defRPr sz="1040">
                <a:solidFill>
                  <a:srgbClr val="242834"/>
                </a:solidFill>
                <a:latin typeface="Arial"/>
              </a:defRPr>
            </a:pPr>
            <a:r>
              <a:rPr sz="1040">
                <a:solidFill>
                  <a:srgbClr val="242834"/>
                </a:solidFill>
                <a:latin typeface="Arial"/>
              </a:rPr>
              <a:t>• Раздел 4. Седиментация и солевой шок: баланс Перрена, потенциальный барьер </a:t>
            </a:r>
            <a:r>
              <a:rPr sz="1040" b="1">
                <a:solidFill>
                  <a:srgbClr val="005AAA"/>
                </a:solidFill>
                <a:latin typeface="Arial"/>
              </a:rPr>
              <a:t>ДЛФО</a:t>
            </a:r>
            <a:r>
              <a:rPr sz="1040">
                <a:solidFill>
                  <a:srgbClr val="242834"/>
                </a:solidFill>
                <a:latin typeface="Arial"/>
              </a:rPr>
              <a:t> U_max, закон Шульце–Гарди 1/z⁶, стерическая защита </a:t>
            </a:r>
            <a:r>
              <a:rPr sz="1040" b="1">
                <a:solidFill>
                  <a:srgbClr val="005AAA"/>
                </a:solidFill>
                <a:latin typeface="Arial"/>
              </a:rPr>
              <a:t>ПАВ</a:t>
            </a:r>
            <a:r>
              <a:rPr sz="1040">
                <a:solidFill>
                  <a:srgbClr val="242834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143000"/>
            <a:ext cx="652241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1_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398" y="1216152"/>
            <a:ext cx="5964897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Управление устойчивостью коллоидов опирается на сквозную цепочку: термодинамика поверхности → заряд </a:t>
            </a:r>
            <a:r>
              <a:rPr sz="1250" b="1">
                <a:solidFill>
                  <a:srgbClr val="005AAA"/>
                </a:solidFill>
                <a:latin typeface="Arial"/>
              </a:rPr>
              <a:t>ДЭС</a:t>
            </a:r>
            <a:r>
              <a:rPr sz="1250" b="1">
                <a:solidFill>
                  <a:srgbClr val="002C5F"/>
                </a:solidFill>
                <a:latin typeface="Arial"/>
              </a:rPr>
              <a:t> → электрокинетический потенциал → барьер </a:t>
            </a:r>
            <a:r>
              <a:rPr sz="1250" b="1">
                <a:solidFill>
                  <a:srgbClr val="005AAA"/>
                </a:solidFill>
                <a:latin typeface="Arial"/>
              </a:rPr>
              <a:t>ДЛФО</a:t>
            </a:r>
            <a:r>
              <a:rPr sz="1250" b="1">
                <a:solidFill>
                  <a:srgbClr val="002C5F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87" y="1325880"/>
            <a:ext cx="1280160" cy="1280160"/>
          </a:xfrm>
          <a:prstGeom prst="rect">
            <a:avLst/>
          </a:prstGeom>
        </p:spPr>
      </p:pic>
      <p:pic>
        <p:nvPicPr>
          <p:cNvPr id="4" name="Picture 3" descr="icon_sepa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3258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761488"/>
            <a:ext cx="944849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E70F47"/>
                </a:solidFill>
                <a:latin typeface="Arial"/>
              </a:defRPr>
            </a:pPr>
            <a:r>
              <a:t>ПРОБЛЕМНЫЙ РАЗДЕЛ 1: ТЕХНОЛОГИЧЕСКИЙ ВЫЗОВ №1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362895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Самопроизвольное слипание наночастиц и капиллярный коллапс нанопор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78224"/>
            <a:ext cx="101800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>
                <a:solidFill>
                  <a:srgbClr val="DCEBFA"/>
                </a:solidFill>
                <a:latin typeface="Arial"/>
              </a:defRPr>
            </a:pPr>
            <a:r>
              <a:t>Колоссальная удельная площадь поверхности наноматериалов порождает избыточную энергию Гиббса ΔG = σ·ΔA &gt; 0, стремящуюся скоагулировать частицы. При сушке нанопористых гелей капиллярное давление Лапласа достигает сотен МПа, разрушая каркас в ксерогель. Сохранение наноструктур требует термодинамического контроля натяжения σ и сверхкритической сушки.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1. Геометрия наномасштаба и S_уд = 3/r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963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2. Термодинамика Гиббса и критерий Ребиндера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3. Давление Лапласа и аэрогель SiO2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611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4. Кристаллические цеолиты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Удельная поверхность и эффект Фарадея–Тиндаля наномасштаба 1–100 нм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1. Геометрический фактор и оптическая идентификация коллоидной фазы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Дисперсность D и скачок удельной поверхности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Дисперсная система состоит из дисперсной фазы (размер a) и сплошной дисперсионной среды.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Дисперсность D = 1/a [м⁻¹] определяет удельную площадь фазовой границы: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S_уд = S / V = 6 / a = 3 / r,   S_уд^(m) = k / (ρ · a)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Фактор формы k строго зависит от размерности: k = 6 (сфера, 3D), k = 4 (нить, 1D), k = 2 (пленка, 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Конус Фарадея–Тиндаля и доля поверхностных атомов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Рассеяние света на частицах 1–100 нм формирует видимый световой конус в нанозоле в отличие от истинного раствора.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При диаметре частицы менее 3 нм свыше 50% всех атомов выходят на межфазную границу: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Доля поверхностных атомов: N_s / N_tot = 1 - (1 - 2 d_at / d)³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Выход атомов на поверхность определяет экстремальную химическую и каталитическую активность наноматериалов.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2_specific_su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721153"/>
            <a:ext cx="5827471" cy="35528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При уменьшении размера частиц от 1 см до 10 нм удельная площадь поверхности возрастает в миллион раз, а свыше 50% атомов выходят на межфазную границу.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Термодинамика границы раздела: свободная энергия Гиббса и критерий Ребиндера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1. Фундаментальные понятия, условия агрегации и классификационная матрица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3520440" cy="205740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rPr sz="1320" b="1">
                <a:solidFill>
                  <a:srgbClr val="002C5F"/>
                </a:solidFill>
                <a:latin typeface="Arial"/>
              </a:rPr>
              <a:t>1. Фаза (</a:t>
            </a:r>
            <a:r>
              <a:rPr sz="1320" b="1">
                <a:solidFill>
                  <a:srgbClr val="005AAA"/>
                </a:solidFill>
                <a:latin typeface="Arial"/>
              </a:rPr>
              <a:t>ДФ</a:t>
            </a:r>
            <a:r>
              <a:rPr sz="1320" b="1">
                <a:solidFill>
                  <a:srgbClr val="002C5F"/>
                </a:solidFill>
                <a:latin typeface="Arial"/>
              </a:rPr>
              <a:t>) и среда (</a:t>
            </a:r>
            <a:r>
              <a:rPr sz="1320" b="1">
                <a:solidFill>
                  <a:srgbClr val="005AAA"/>
                </a:solidFill>
                <a:latin typeface="Arial"/>
              </a:rPr>
              <a:t>ДС</a:t>
            </a:r>
            <a:r>
              <a:rPr sz="1320" b="1">
                <a:solidFill>
                  <a:srgbClr val="002C5F"/>
                </a:solidFill>
                <a:latin typeface="Arial"/>
              </a:rPr>
              <a:t>)</a:t>
            </a:r>
          </a:p>
          <a:p>
            <a:pPr algn="l">
              <a:spcAft>
                <a:spcPts val="250"/>
              </a:spcAft>
              <a:defRPr sz="1019">
                <a:solidFill>
                  <a:srgbClr val="242834"/>
                </a:solidFill>
                <a:latin typeface="Arial"/>
              </a:defRPr>
            </a:pPr>
            <a:r>
              <a:rPr sz="1019">
                <a:solidFill>
                  <a:srgbClr val="242834"/>
                </a:solidFill>
                <a:latin typeface="Arial"/>
              </a:rPr>
              <a:t>• Дисперсная фаза (</a:t>
            </a:r>
            <a:r>
              <a:rPr sz="1019" b="1">
                <a:solidFill>
                  <a:srgbClr val="005AAA"/>
                </a:solidFill>
                <a:latin typeface="Arial"/>
              </a:rPr>
              <a:t>ДФ</a:t>
            </a:r>
            <a:r>
              <a:rPr sz="1019">
                <a:solidFill>
                  <a:srgbClr val="242834"/>
                </a:solidFill>
                <a:latin typeface="Arial"/>
              </a:rPr>
              <a:t>): раздробленное вещество, образующее гетерогенную границу раздела.</a:t>
            </a:r>
          </a:p>
          <a:p>
            <a:pPr algn="l">
              <a:spcAft>
                <a:spcPts val="250"/>
              </a:spcAft>
              <a:defRPr sz="1019">
                <a:solidFill>
                  <a:srgbClr val="242834"/>
                </a:solidFill>
                <a:latin typeface="Arial"/>
              </a:defRPr>
            </a:pPr>
            <a:r>
              <a:rPr sz="1019">
                <a:solidFill>
                  <a:srgbClr val="242834"/>
                </a:solidFill>
                <a:latin typeface="Arial"/>
              </a:rPr>
              <a:t>• Дисперсионная среда (</a:t>
            </a:r>
            <a:r>
              <a:rPr sz="1019" b="1">
                <a:solidFill>
                  <a:srgbClr val="005AAA"/>
                </a:solidFill>
                <a:latin typeface="Arial"/>
              </a:rPr>
              <a:t>ДС</a:t>
            </a:r>
            <a:r>
              <a:rPr sz="1019">
                <a:solidFill>
                  <a:srgbClr val="242834"/>
                </a:solidFill>
                <a:latin typeface="Arial"/>
              </a:rPr>
              <a:t>): непрерывная среда, в которой распределена фаза.</a:t>
            </a:r>
          </a:p>
          <a:p>
            <a:pPr algn="l">
              <a:spcAft>
                <a:spcPts val="250"/>
              </a:spcAft>
              <a:defRPr sz="1019">
                <a:solidFill>
                  <a:srgbClr val="242834"/>
                </a:solidFill>
                <a:latin typeface="Arial"/>
              </a:defRPr>
            </a:pPr>
            <a:r>
              <a:t>• Межфазная граница характеризуется удельной свободной поверхностной энергией σ [Дж/м²].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143000"/>
            <a:ext cx="3520440" cy="205740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Избыточная энергия Гиббса ΔG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60" b="1">
                <a:solidFill>
                  <a:srgbClr val="005AAA"/>
                </a:solidFill>
                <a:latin typeface="Arial"/>
              </a:defRPr>
            </a:pPr>
            <a:r>
              <a:t>   ΔG_s = σ · ΔA &gt; 0</a:t>
            </a:r>
          </a:p>
          <a:p>
            <a:pPr algn="l">
              <a:spcAft>
                <a:spcPts val="250"/>
              </a:spcAft>
              <a:defRPr sz="1019">
                <a:solidFill>
                  <a:srgbClr val="242834"/>
                </a:solidFill>
                <a:latin typeface="Arial"/>
              </a:defRPr>
            </a:pPr>
            <a:r>
              <a:t>• Термодинамический импульс стремится самопроизвольно сократить избыточную площадь поверхности: ΔA → min.</a:t>
            </a:r>
          </a:p>
          <a:p>
            <a:pPr algn="l">
              <a:spcAft>
                <a:spcPts val="250"/>
              </a:spcAft>
              <a:defRPr sz="1019">
                <a:solidFill>
                  <a:srgbClr val="242834"/>
                </a:solidFill>
                <a:latin typeface="Arial"/>
              </a:defRPr>
            </a:pPr>
            <a:r>
              <a:t>• Слипание (агрегация) частиц термодинамически выгодно при отсутствии энергетического барьера.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143000"/>
            <a:ext cx="3520440" cy="205740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3. Критерий Ребиндера σ_кр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60" b="1">
                <a:solidFill>
                  <a:srgbClr val="005AAA"/>
                </a:solidFill>
                <a:latin typeface="Arial"/>
              </a:defRPr>
            </a:pPr>
            <a:r>
              <a:t>   σ_кр ≈ α · (k_B T / r²)</a:t>
            </a:r>
          </a:p>
          <a:p>
            <a:pPr algn="l">
              <a:spcAft>
                <a:spcPts val="250"/>
              </a:spcAft>
              <a:defRPr sz="1019">
                <a:solidFill>
                  <a:srgbClr val="242834"/>
                </a:solidFill>
                <a:latin typeface="Arial"/>
              </a:defRPr>
            </a:pPr>
            <a:r>
              <a:t>• Лиофильные системы (σ &lt; σ_кр, ΔG_обр &lt; 0): самопроизвольно диспергируют, термодинамически устойчивы.</a:t>
            </a:r>
          </a:p>
          <a:p>
            <a:pPr algn="l">
              <a:spcAft>
                <a:spcPts val="250"/>
              </a:spcAft>
              <a:defRPr sz="1019">
                <a:solidFill>
                  <a:srgbClr val="242834"/>
                </a:solidFill>
                <a:latin typeface="Arial"/>
              </a:defRPr>
            </a:pPr>
            <a:r>
              <a:t>• Лиофобные золи (σ &gt; σ_кр, ΔG_обр &gt; 0): термодинамически нестабильны, требуют силового барьера.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337560"/>
          <a:ext cx="1109441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127248"/>
                <a:gridCol w="3127248"/>
                <a:gridCol w="3148279"/>
              </a:tblGrid>
              <a:tr h="640080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ДФ</a:t>
                      </a: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 \ </a:t>
                      </a: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ДС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ДС</a:t>
                      </a: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: Газ (Г)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ДС</a:t>
                      </a: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: Жидкость (Ж)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ДС</a:t>
                      </a:r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: Твердое тело (Т)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</a:tr>
              <a:tr h="640080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Газ (Г)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Г / Г: Гомогенные смеси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(молекулярный уровень, без границы)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Г / Ж: Газовые эмульсии и пены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(нанопены, флотация, микропузырьки)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Г / Т: Пористые материалы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(аэрогели SiO₂, цеолиты, нанопористый Si)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Жидкость (Ж)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Ж / Г: Аэрозоли (туманы)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(спреи, капельный CVD-аэрозоль)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Ж / Ж: Эмульсии (прямые/обратные)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(обратные мицеллы как нанореакторы)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Ж / Т: Гели, студни, капилляры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(нанопористые мембраны, гидрогели)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640080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Твердое (Т)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Т / Г: Аэрозоли (дымы, порошки)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(нанопорошки ZnO, TiO₂, аэрогели)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Т / Ж: Золи, гидрозоли, суспензии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(золи Au, AgI, Fe(OH)₃, квантовые точки)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Т / Т: Твердые золи и композиты</a:t>
                      </a:r>
                    </a:p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919">
                          <a:solidFill>
                            <a:srgbClr val="242834"/>
                          </a:solidFill>
                          <a:latin typeface="Arial"/>
                        </a:rPr>
                        <a:t>(рубиновое стекло, нанокомпозиты, </a:t>
                      </a:r>
                      <a:r>
                        <a:rPr sz="919" b="1">
                          <a:solidFill>
                            <a:srgbClr val="005AAA"/>
                          </a:solidFill>
                          <a:latin typeface="Arial"/>
                        </a:rPr>
                        <a:t>КТ</a:t>
                      </a:r>
                      <a:r>
                        <a:rPr sz="919">
                          <a:solidFill>
                            <a:srgbClr val="242834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Неорганические нанозоли термодинамически лиофобны (ΔG &gt; 0) и способны существовать только при наличии защитного силового барьера, препятствующего коагуляции.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Золь–гель переход, капиллярное давление Лапласа и сверхкритическая сушка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1. Фазовый переход связности и предотвращение коллапса нанопор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Золь–гель технология и перколяция каркаса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Золь–гель технология: синтез наноматериалов через переход от свободнодисперсного золя к связнодисперсному гелю.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Достижение порога перколяции формирует единый пространственный 3D-каркас с запертой жидкой дисперсионной средой.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Связнодисперсный гель удерживает форму и сопротивляется сдвигу при сохранении наноразмерных каналов.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Капиллярное давление Лапласа P_L и аэрогели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При испарении растворителя капиллярные мениски создают гигантское стягивающее давление: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P_L = (2 σ cos θ) / r_пор ~ 200 МПа  (при r = 1–2 нм)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Обычная сушка сминает нанокаркас в плотный ксерогель с остаточной пористостью 10–30%.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Сверхкритическая сушка (σ = 0) устраняет фазовую границу жидкость–пар, сохраняя ультрапористый аэрогель (&gt;95% пор).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4_sol_gel_xerog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2642515"/>
            <a:ext cx="5827471" cy="17101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Устранение межфазного натяжения (σ = 0) при сверхкритической сушке исключает капиллярный коллапс Лапласа и сохраняет ажурный 3D-каркас аэрогеля с пористостью свыше 95%.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Кристаллические цеолиты: субнанометровые окна и матричные нанореакторы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1. Кристаллические связнодисперсные системы с монодисперсными нанопорами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Алюмосиликатный каркас и калиброванные поры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Цеолиты: кристаллические связнодисперсные алюмосиликаты на основе тетраэдров [SiO4]4- и [AlO4]5-.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Отрицательный каркас компенсируется подвижными катионами (Na+, Ca2+), определяющими сорбционные свойства.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Диаметр входных окон строго калиброван кристаллической решеткой в диапазоне 0.3–1.0 нм.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Молекулярные сита и синтез квантовых точек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Молекулярные сита: селективное разделение молекул по размеру и конфигурации (н-бутан 0.43 нм vs изобутан 0.50 нм).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Полости цеолитов выступают как матричный нанореактор для прецизионного синтеза монодисперсных квантовых точек (</a:t>
            </a:r>
            <a:r>
              <a:rPr sz="1120" b="1">
                <a:solidFill>
                  <a:srgbClr val="005AAA"/>
                </a:solidFill>
                <a:latin typeface="Arial"/>
              </a:rPr>
              <a:t>КТ</a:t>
            </a:r>
            <a:r>
              <a:rPr sz="1120">
                <a:solidFill>
                  <a:srgbClr val="242834"/>
                </a:solidFill>
                <a:latin typeface="Arial"/>
              </a:rPr>
              <a:t>).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Жесткие границы кристаллической поры физически ограничивают рост нанокристалла, обеспечивая квантово-размерный эффект.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5_zeol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473215"/>
            <a:ext cx="5827471" cy="40487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Атомно-монодисперсные входные окна цеолитов (0.3–1.0 нм) совмещают функции молекулярных сит и матричных нанореакторов для прецизионного синтеза квантовых точек.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Инженерные методы управления свободной энергией и капиллярными силами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1. Сводная матрица технологических решений первого барьера нанодисперсности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108960"/>
                <a:gridCol w="2773375"/>
              </a:tblGrid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Технологическая система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Физический барьер и механизм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Инженерный регламент управления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Практический результат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Лиофобные гидрозоли</a:t>
                      </a:r>
                    </a:p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(Au, Ag, оксиды Fe, Ti)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Спонтанная агрегация:</a:t>
                      </a:r>
                    </a:p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ΔG_s = σ · ΔA &gt; 0</a:t>
                      </a:r>
                    </a:p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(ван-дер-ваальсово схлопывание)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980">
                          <a:solidFill>
                            <a:srgbClr val="242834"/>
                          </a:solidFill>
                          <a:latin typeface="Arial"/>
                        </a:rPr>
                        <a:t>Формирование защитного </a:t>
                      </a:r>
                      <a:r>
                        <a:rPr sz="980" b="1">
                          <a:solidFill>
                            <a:srgbClr val="005AAA"/>
                          </a:solidFill>
                          <a:latin typeface="Arial"/>
                        </a:rPr>
                        <a:t>ДЭС</a:t>
                      </a:r>
                      <a:r>
                        <a:rPr sz="980">
                          <a:solidFill>
                            <a:srgbClr val="242834"/>
                          </a:solidFill>
                          <a:latin typeface="Arial"/>
                        </a:rPr>
                        <a:t> путем адсорбции потенциалопределяющих ионов (</a:t>
                      </a:r>
                      <a:r>
                        <a:rPr sz="980" b="1">
                          <a:solidFill>
                            <a:srgbClr val="005AAA"/>
                          </a:solidFill>
                          <a:latin typeface="Arial"/>
                        </a:rPr>
                        <a:t>ПОИ</a:t>
                      </a:r>
                      <a:r>
                        <a:rPr sz="980">
                          <a:solidFill>
                            <a:srgbClr val="242834"/>
                          </a:solidFill>
                          <a:latin typeface="Arial"/>
                        </a:rPr>
                        <a:t>) или введение поверхностно-активных веществ (</a:t>
                      </a:r>
                      <a:r>
                        <a:rPr sz="980" b="1">
                          <a:solidFill>
                            <a:srgbClr val="005AAA"/>
                          </a:solidFill>
                          <a:latin typeface="Arial"/>
                        </a:rPr>
                        <a:t>ПАВ</a:t>
                      </a:r>
                      <a:r>
                        <a:rPr sz="980">
                          <a:solidFill>
                            <a:srgbClr val="242834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Длительная кинетическая стабильность нанозолей (сохранение размерности 1–100 нм)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Нанопористые ксерогели</a:t>
                      </a:r>
                    </a:p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(силикагель, оксидные сорбенты)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Капиллярный коллапс пор:</a:t>
                      </a:r>
                    </a:p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P_L = 2σ/r ~ 200 МПа</a:t>
                      </a:r>
                    </a:p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(менисковое стягивание стенок)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Конвективная сушка золь-гель каркаса с контролируемой усадкой нанопор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Формирование механически прочных гранул сорбентов с остаточной пористостью 10–30%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Ультрапористые аэрогели</a:t>
                      </a:r>
                    </a:p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(монолиты аэрогеля SiO₂)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Разрушение ажурного каркаса</a:t>
                      </a:r>
                    </a:p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капиллярным натяжением при испарении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Сверхкритическая сушка флюидом CO₂ при T &gt; T_c, P &gt; P_c и полном устранении натяжения (σ =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Сохранение исходного 3D-каркаса с пористостью свыше 95% и рекордно низкой теплопроводностью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Цеолитные нанореакторы</a:t>
                      </a:r>
                    </a:p>
                    <a:p>
                      <a:pPr algn="ctr">
                        <a:defRPr sz="9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(кристаллические алюмосиликаты)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Полидисперсность и вторичная агрегация при синтезе нанокластеров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Инкапсуляция прекурсоров в жесткие кристаллографические окна и полости 0.3–1.0 нм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980">
                          <a:solidFill>
                            <a:srgbClr val="242834"/>
                          </a:solidFill>
                          <a:latin typeface="Arial"/>
                        </a:rPr>
                        <a:t>Прецизионный синтез калиброванных квантовых точек (</a:t>
                      </a:r>
                      <a:r>
                        <a:rPr sz="980" b="1">
                          <a:solidFill>
                            <a:srgbClr val="005AAA"/>
                          </a:solidFill>
                          <a:latin typeface="Arial"/>
                        </a:rPr>
                        <a:t>КТ</a:t>
                      </a:r>
                      <a:r>
                        <a:rPr sz="980">
                          <a:solidFill>
                            <a:srgbClr val="242834"/>
                          </a:solidFill>
                          <a:latin typeface="Arial"/>
                        </a:rPr>
                        <a:t>) с монодисперсным спектром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Контроль поверхностной энергии через выбор растворителя, введение </a:t>
            </a:r>
            <a:r>
              <a:rPr sz="1250" b="1">
                <a:solidFill>
                  <a:srgbClr val="005AAA"/>
                </a:solidFill>
                <a:latin typeface="Arial"/>
              </a:rPr>
              <a:t>ПАВ</a:t>
            </a:r>
            <a:r>
              <a:rPr sz="1250" b="1">
                <a:solidFill>
                  <a:srgbClr val="002C5F"/>
                </a:solidFill>
                <a:latin typeface="Arial"/>
              </a:rPr>
              <a:t> и устранение капиллярных менисков позволяет направленно управлять морфологией нанопродуктов.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87" y="1325880"/>
            <a:ext cx="1280160" cy="1280160"/>
          </a:xfrm>
          <a:prstGeom prst="rect">
            <a:avLst/>
          </a:prstGeom>
        </p:spPr>
      </p:pic>
      <p:pic>
        <p:nvPicPr>
          <p:cNvPr id="4" name="Picture 3" descr="icon_process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3258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761488"/>
            <a:ext cx="944849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E70F47"/>
                </a:solidFill>
                <a:latin typeface="Arial"/>
              </a:defRPr>
            </a:pPr>
            <a:r>
              <a:t>ПРОБЛЕМНЫЙ РАЗДЕЛ 2: ТЕХНОЛОГИЧЕСКИЙ ВЫЗОВ №2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362895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Потеря заряда и разрушение защитной оболочки наночастицы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78224"/>
            <a:ext cx="101800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>
                <a:solidFill>
                  <a:srgbClr val="DCEBFA"/>
                </a:solidFill>
                <a:latin typeface="Arial"/>
              </a:defRPr>
            </a:pPr>
            <a:r>
              <a:rPr sz="1300">
                <a:solidFill>
                  <a:srgbClr val="DCEBFA"/>
                </a:solidFill>
                <a:latin typeface="Arial"/>
              </a:rPr>
              <a:t>Лиофобные наночастицы в жидкости удерживаются от термодинамического схлопывания электростатической защитой — двойным электрическим слоем (</a:t>
            </a:r>
            <a:r>
              <a:rPr sz="1300" b="1">
                <a:solidFill>
                  <a:srgbClr val="DCEBFA"/>
                </a:solidFill>
                <a:latin typeface="Arial"/>
              </a:rPr>
              <a:t>ДЭС</a:t>
            </a:r>
            <a:r>
              <a:rPr sz="1300">
                <a:solidFill>
                  <a:srgbClr val="DCEBFA"/>
                </a:solidFill>
                <a:latin typeface="Arial"/>
              </a:rPr>
              <a:t>). Избирательная адсорбция ионов на ядре формирует заряженную гранулу, экранированную диффузным слоем противоионов. Добавление электролитов сжимает дебаевскую толщину оболочки λ_D, приводя к потере заряда и мгновенной агрегации.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1. Анатомия мицеллы и правило Панета–Фаянса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963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2. 4-шаговый конструктор формул AgI и Fe(OH)3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</a:rPr>
              <a:t>3. Модели </a:t>
            </a:r>
            <a:r>
              <a:rPr sz="1050" b="1">
                <a:solidFill>
                  <a:srgbClr val="FFFFFF"/>
                </a:solidFill>
                <a:latin typeface="Arial"/>
              </a:rPr>
              <a:t>ДЭС</a:t>
            </a:r>
            <a:r>
              <a:rPr sz="1050" b="1">
                <a:solidFill>
                  <a:srgbClr val="FFFFFF"/>
                </a:solidFill>
                <a:latin typeface="Arial"/>
              </a:rPr>
              <a:t>: Гельмгольц, Гуи, Штерн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611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4. Длина Дебая λ_D и перезарядка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Анатомия коллоидной мицеллы и правило избирательной адсорбции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2. Формирование межфазного заряда гранулы и ионной оболочки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Концентрическая архитектура коллоидной мицеллы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Коллоидная мицелла гидрозоля состоит из нейтрального кристаллического агрегата [M]_m и двойного электрического слоя (</a:t>
            </a:r>
            <a:r>
              <a:rPr sz="1120" b="1">
                <a:solidFill>
                  <a:srgbClr val="005AAA"/>
                </a:solidFill>
                <a:latin typeface="Arial"/>
              </a:rPr>
              <a:t>ДЭС</a:t>
            </a:r>
            <a:r>
              <a:rPr sz="1120">
                <a:solidFill>
                  <a:srgbClr val="242834"/>
                </a:solidFill>
                <a:latin typeface="Arial"/>
              </a:rPr>
              <a:t>).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Потенциалопределяющие ионы (</a:t>
            </a:r>
            <a:r>
              <a:rPr sz="1120" b="1">
                <a:solidFill>
                  <a:srgbClr val="005AAA"/>
                </a:solidFill>
                <a:latin typeface="Arial"/>
              </a:rPr>
              <a:t>ПОИ</a:t>
            </a:r>
            <a:r>
              <a:rPr sz="1120">
                <a:solidFill>
                  <a:srgbClr val="242834"/>
                </a:solidFill>
                <a:latin typeface="Arial"/>
              </a:rPr>
              <a:t>) хемосорбируются на поверхности агрегата, образуя заряженное ядро.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Противоионы (</a:t>
            </a:r>
            <a:r>
              <a:rPr sz="1120" b="1">
                <a:solidFill>
                  <a:srgbClr val="005AAA"/>
                </a:solidFill>
                <a:latin typeface="Arial"/>
              </a:rPr>
              <a:t>ПИ</a:t>
            </a:r>
            <a:r>
              <a:rPr sz="1120">
                <a:solidFill>
                  <a:srgbClr val="242834"/>
                </a:solidFill>
                <a:latin typeface="Arial"/>
              </a:rPr>
              <a:t>) распределяются между адсорбционным плотным слоем Штерна и диффузным слоем Гуи–Чепмена.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Правило избирательной адсорбции Панета–Фаянса–Пескова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На кристаллическом агрегате преимущественно адсорбируются ионы, входящие в состав его кристаллической решетки.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Обобщенная формула мицеллы: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rPr sz="1160" b="1">
                <a:solidFill>
                  <a:srgbClr val="005AAA"/>
                </a:solidFill>
                <a:latin typeface="Arial"/>
              </a:rPr>
              <a:t>   { [M]_m · n </a:t>
            </a:r>
            <a:r>
              <a:rPr sz="1160" b="1">
                <a:solidFill>
                  <a:srgbClr val="005AAA"/>
                </a:solidFill>
                <a:latin typeface="Arial"/>
              </a:rPr>
              <a:t>ПОИ</a:t>
            </a:r>
            <a:r>
              <a:rPr sz="1160" b="1">
                <a:solidFill>
                  <a:srgbClr val="005AAA"/>
                </a:solidFill>
                <a:latin typeface="Arial"/>
              </a:rPr>
              <a:t>± · (n-x) </a:t>
            </a:r>
            <a:r>
              <a:rPr sz="1160" b="1">
                <a:solidFill>
                  <a:srgbClr val="005AAA"/>
                </a:solidFill>
                <a:latin typeface="Arial"/>
              </a:rPr>
              <a:t>ПИ</a:t>
            </a:r>
            <a:r>
              <a:rPr sz="1160" b="1">
                <a:solidFill>
                  <a:srgbClr val="005AAA"/>
                </a:solidFill>
                <a:latin typeface="Arial"/>
              </a:rPr>
              <a:t>∓ }±x · x </a:t>
            </a:r>
            <a:r>
              <a:rPr sz="1160" b="1">
                <a:solidFill>
                  <a:srgbClr val="005AAA"/>
                </a:solidFill>
                <a:latin typeface="Arial"/>
              </a:rPr>
              <a:t>ПИ</a:t>
            </a:r>
            <a:r>
              <a:rPr sz="1160" b="1">
                <a:solidFill>
                  <a:srgbClr val="005AAA"/>
                </a:solidFill>
                <a:latin typeface="Arial"/>
              </a:rPr>
              <a:t>∓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Гранула мицеллы в фигурных скобках несет заряд ±x, тогда как вся мицелла строго электронейтральна.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6_micelle_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790" y="1216152"/>
            <a:ext cx="5768753" cy="4562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Гранула мицеллы несет нескомпенсированный электрический заряд и перемещается во внешнем поле, тогда как вся коллоидная мицелла строго электронейтральна.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Четырехшаговый алгоритм составления формул мицелл гидрозолей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2. Пошаговая сборка формул и феномен перезарядки золей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06040" cy="196596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002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2C5F"/>
                </a:solidFill>
                <a:latin typeface="Arial"/>
              </a:defRPr>
            </a:pPr>
            <a:r>
              <a:t>Шаг 1: Агрегат</a:t>
            </a:r>
          </a:p>
          <a:p>
            <a:pPr>
              <a:spcBef>
                <a:spcPts val="400"/>
              </a:spcBef>
              <a:defRPr sz="1000">
                <a:solidFill>
                  <a:srgbClr val="242834"/>
                </a:solidFill>
                <a:latin typeface="Arial"/>
              </a:defRPr>
            </a:pPr>
            <a:r>
              <a:t>Нерастворимый остов [M]_m</a:t>
            </a:r>
            <a:br/>
            <a:r>
              <a:t>(электронейтрален, q = 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7793" y="1143000"/>
            <a:ext cx="2606040" cy="196596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5AAA"/>
                </a:solidFill>
                <a:latin typeface="Arial"/>
              </a:defRPr>
            </a:pPr>
            <a:r>
              <a:t>Шаг 2: Ядро</a:t>
            </a:r>
          </a:p>
          <a:p>
            <a:pPr>
              <a:spcBef>
                <a:spcPts val="400"/>
              </a:spcBef>
              <a:defRPr sz="1000">
                <a:solidFill>
                  <a:srgbClr val="242834"/>
                </a:solidFill>
                <a:latin typeface="Arial"/>
              </a:defRPr>
            </a:pPr>
            <a:r>
              <a:rPr sz="1000">
                <a:solidFill>
                  <a:srgbClr val="242834"/>
                </a:solidFill>
                <a:latin typeface="Arial"/>
              </a:rPr>
              <a:t>Адсорбция n родных </a:t>
            </a:r>
            <a:r>
              <a:rPr sz="1000" b="1">
                <a:solidFill>
                  <a:srgbClr val="005AAA"/>
                </a:solidFill>
                <a:latin typeface="Arial"/>
              </a:rPr>
              <a:t>ПОИ</a:t>
            </a:r>
            <a:r>
              <a:rPr sz="1000">
                <a:solidFill>
                  <a:srgbClr val="242834"/>
                </a:solidFill>
                <a:latin typeface="Arial"/>
              </a:rPr>
              <a:t> из избытка: [M]_m · n </a:t>
            </a:r>
            <a:r>
              <a:rPr sz="1000" b="1">
                <a:solidFill>
                  <a:srgbClr val="005AAA"/>
                </a:solidFill>
                <a:latin typeface="Arial"/>
              </a:rPr>
              <a:t>ПОИ</a:t>
            </a:r>
            <a:r>
              <a:rPr sz="1000">
                <a:solidFill>
                  <a:srgbClr val="242834"/>
                </a:solidFill>
                <a:latin typeface="Arial"/>
              </a:rPr>
              <a:t>± (заряд ±n)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6947" y="1143000"/>
            <a:ext cx="2606040" cy="196596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0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70F47"/>
                </a:solidFill>
                <a:latin typeface="Arial"/>
              </a:defRPr>
            </a:pPr>
            <a:r>
              <a:t>Шаг 3: Гранула</a:t>
            </a:r>
          </a:p>
          <a:p>
            <a:pPr>
              <a:spcBef>
                <a:spcPts val="400"/>
              </a:spcBef>
              <a:defRPr sz="1000">
                <a:solidFill>
                  <a:srgbClr val="242834"/>
                </a:solidFill>
                <a:latin typeface="Arial"/>
              </a:defRPr>
            </a:pPr>
            <a:r>
              <a:rPr sz="1000">
                <a:solidFill>
                  <a:srgbClr val="242834"/>
                </a:solidFill>
                <a:latin typeface="Arial"/>
              </a:rPr>
              <a:t>Связывание (n-x) </a:t>
            </a:r>
            <a:r>
              <a:rPr sz="1000" b="1">
                <a:solidFill>
                  <a:srgbClr val="005AAA"/>
                </a:solidFill>
                <a:latin typeface="Arial"/>
              </a:rPr>
              <a:t>ПИ</a:t>
            </a:r>
            <a:r>
              <a:rPr sz="1000">
                <a:solidFill>
                  <a:srgbClr val="242834"/>
                </a:solidFill>
                <a:latin typeface="Arial"/>
              </a:rPr>
              <a:t> в плотный слой: {[M]_m · n </a:t>
            </a:r>
            <a:r>
              <a:rPr sz="1000" b="1">
                <a:solidFill>
                  <a:srgbClr val="005AAA"/>
                </a:solidFill>
                <a:latin typeface="Arial"/>
              </a:rPr>
              <a:t>ПОИ</a:t>
            </a:r>
            <a:r>
              <a:rPr sz="1000">
                <a:solidFill>
                  <a:srgbClr val="242834"/>
                </a:solidFill>
                <a:latin typeface="Arial"/>
              </a:rPr>
              <a:t>± · (n-x) </a:t>
            </a:r>
            <a:r>
              <a:rPr sz="1000" b="1">
                <a:solidFill>
                  <a:srgbClr val="005AAA"/>
                </a:solidFill>
                <a:latin typeface="Arial"/>
              </a:rPr>
              <a:t>ПИ</a:t>
            </a:r>
            <a:r>
              <a:rPr sz="1000">
                <a:solidFill>
                  <a:srgbClr val="242834"/>
                </a:solidFill>
                <a:latin typeface="Arial"/>
              </a:rPr>
              <a:t>∓}±x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36100" y="1143000"/>
            <a:ext cx="2606040" cy="196596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009A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9A49"/>
                </a:solidFill>
                <a:latin typeface="Arial"/>
              </a:defRPr>
            </a:pPr>
            <a:r>
              <a:t>Шаг 4: Мицелла</a:t>
            </a:r>
          </a:p>
          <a:p>
            <a:pPr>
              <a:spcBef>
                <a:spcPts val="400"/>
              </a:spcBef>
              <a:defRPr sz="1000">
                <a:solidFill>
                  <a:srgbClr val="242834"/>
                </a:solidFill>
                <a:latin typeface="Arial"/>
              </a:defRPr>
            </a:pPr>
            <a:r>
              <a:rPr sz="1000">
                <a:solidFill>
                  <a:srgbClr val="242834"/>
                </a:solidFill>
                <a:latin typeface="Arial"/>
              </a:rPr>
              <a:t>Диффузный слой x </a:t>
            </a:r>
            <a:r>
              <a:rPr sz="1000" b="1">
                <a:solidFill>
                  <a:srgbClr val="005AAA"/>
                </a:solidFill>
                <a:latin typeface="Arial"/>
              </a:rPr>
              <a:t>ПИ</a:t>
            </a:r>
            <a:r>
              <a:rPr sz="1000">
                <a:solidFill>
                  <a:srgbClr val="242834"/>
                </a:solidFill>
                <a:latin typeface="Arial"/>
              </a:rPr>
              <a:t> за скобкой: {Гранула}±x · x </a:t>
            </a:r>
            <a:r>
              <a:rPr sz="1000" b="1">
                <a:solidFill>
                  <a:srgbClr val="005AAA"/>
                </a:solidFill>
                <a:latin typeface="Arial"/>
              </a:rPr>
              <a:t>ПИ</a:t>
            </a:r>
            <a:r>
              <a:rPr sz="1000">
                <a:solidFill>
                  <a:srgbClr val="242834"/>
                </a:solidFill>
                <a:latin typeface="Arial"/>
              </a:rPr>
              <a:t>∓ (заряд 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37560"/>
            <a:ext cx="5394960" cy="251460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Перезарядка золя иодида серебра (AgI)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rPr sz="1000">
                <a:solidFill>
                  <a:srgbClr val="242834"/>
                </a:solidFill>
                <a:latin typeface="Arial"/>
              </a:rPr>
              <a:t>• Избыток KI (I⁻ — </a:t>
            </a:r>
            <a:r>
              <a:rPr sz="1000" b="1">
                <a:solidFill>
                  <a:srgbClr val="005AAA"/>
                </a:solidFill>
                <a:latin typeface="Arial"/>
              </a:rPr>
              <a:t>ПОИ</a:t>
            </a:r>
            <a:r>
              <a:rPr sz="1000">
                <a:solidFill>
                  <a:srgbClr val="242834"/>
                </a:solidFill>
                <a:latin typeface="Arial"/>
              </a:rPr>
              <a:t>, K⁺ — </a:t>
            </a:r>
            <a:r>
              <a:rPr sz="1000" b="1">
                <a:solidFill>
                  <a:srgbClr val="005AAA"/>
                </a:solidFill>
                <a:latin typeface="Arial"/>
              </a:rPr>
              <a:t>ПИ</a:t>
            </a:r>
            <a:r>
              <a:rPr sz="1000">
                <a:solidFill>
                  <a:srgbClr val="242834"/>
                </a:solidFill>
                <a:latin typeface="Arial"/>
              </a:rPr>
              <a:t>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{[AgI]_m · n I⁻ · (n-x) K⁺}ˣ⁻ · x K⁺   (гранула отрицательна)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rPr sz="1000">
                <a:solidFill>
                  <a:srgbClr val="242834"/>
                </a:solidFill>
                <a:latin typeface="Arial"/>
              </a:rPr>
              <a:t>• Избыток AgNO₃ (Ag⁺ — </a:t>
            </a:r>
            <a:r>
              <a:rPr sz="1000" b="1">
                <a:solidFill>
                  <a:srgbClr val="005AAA"/>
                </a:solidFill>
                <a:latin typeface="Arial"/>
              </a:rPr>
              <a:t>ПОИ</a:t>
            </a:r>
            <a:r>
              <a:rPr sz="1000">
                <a:solidFill>
                  <a:srgbClr val="242834"/>
                </a:solidFill>
                <a:latin typeface="Arial"/>
              </a:rPr>
              <a:t>, NO₃⁻ — </a:t>
            </a:r>
            <a:r>
              <a:rPr sz="1000" b="1">
                <a:solidFill>
                  <a:srgbClr val="005AAA"/>
                </a:solidFill>
                <a:latin typeface="Arial"/>
              </a:rPr>
              <a:t>ПИ</a:t>
            </a:r>
            <a:r>
              <a:rPr sz="1000">
                <a:solidFill>
                  <a:srgbClr val="242834"/>
                </a:solidFill>
                <a:latin typeface="Arial"/>
              </a:rPr>
              <a:t>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{[AgI]_m · n Ag⁺ · (n-x) NO₃⁻}ˣ⁺ · x NO₃⁻   (гранула положительна)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337560"/>
            <a:ext cx="5394960" cy="251460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Гидрозоль гидроксида железа (Fe(OH)₃)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Гидролиз FeCl₃ в кипящей воде со стабилизатором FeOCl ⇄ FeO⁺ + Cl⁻:</a:t>
            </a:r>
          </a:p>
          <a:p>
            <a:pPr algn="l">
              <a:spcAft>
                <a:spcPts val="200"/>
              </a:spcAft>
              <a:defRPr sz="980">
                <a:solidFill>
                  <a:srgbClr val="242834"/>
                </a:solidFill>
                <a:latin typeface="Arial"/>
              </a:defRPr>
            </a:pPr>
            <a:r>
              <a:rPr sz="980">
                <a:solidFill>
                  <a:srgbClr val="242834"/>
                </a:solidFill>
                <a:latin typeface="Arial"/>
              </a:rPr>
              <a:t>  - Катион оксожелеза FeO⁺ адсорбируется как </a:t>
            </a:r>
            <a:r>
              <a:rPr sz="980" b="1">
                <a:solidFill>
                  <a:srgbClr val="005AAA"/>
                </a:solidFill>
                <a:latin typeface="Arial"/>
              </a:rPr>
              <a:t>ПОИ</a:t>
            </a:r>
            <a:r>
              <a:rPr sz="980">
                <a:solidFill>
                  <a:srgbClr val="242834"/>
                </a:solidFill>
                <a:latin typeface="Arial"/>
              </a:rPr>
              <a:t>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{[Fe(OH)₃]_m · n FeO⁺ · (n-x) Cl⁻}ˣ⁺ · x Cl⁻</a:t>
            </a:r>
          </a:p>
          <a:p>
            <a:pPr algn="l">
              <a:spcAft>
                <a:spcPts val="200"/>
              </a:spcAft>
              <a:defRPr sz="980">
                <a:solidFill>
                  <a:srgbClr val="242834"/>
                </a:solidFill>
                <a:latin typeface="Arial"/>
              </a:defRPr>
            </a:pPr>
            <a:r>
              <a:t>  - Гранула заряжена строго положительно, анионы Cl⁻ в диффузном слое.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Знак заряда коллоидной гранулы однозначно определяется знаком потенциалопределяющего иона, находящегося в избытке при проведении химической реакции синтеза.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rPr sz="1850" b="1">
                <a:solidFill>
                  <a:srgbClr val="002C5F"/>
                </a:solidFill>
                <a:latin typeface="Arial"/>
              </a:rPr>
              <a:t>Классические модели </a:t>
            </a:r>
            <a:r>
              <a:rPr sz="1850" b="1">
                <a:solidFill>
                  <a:srgbClr val="005AAA"/>
                </a:solidFill>
                <a:latin typeface="Arial"/>
              </a:rPr>
              <a:t>ДЭС</a:t>
            </a:r>
            <a:r>
              <a:rPr sz="1850" b="1">
                <a:solidFill>
                  <a:srgbClr val="002C5F"/>
                </a:solidFill>
                <a:latin typeface="Arial"/>
              </a:rPr>
              <a:t>: теории Гельмгольца и Гуи–Чепмена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2. Эволюция представлений о пространственном распределении противоионов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Модель плоского конденсатора Гельмгольца (1879)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Предположение: жесткая мономолекулярная плоскость противоионов на расстоянии молекулярного радиуса d.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Линейный спад потенциала: φ(x) = φ₀ · (1 - x / d)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Недостаток модели: полное игнорирование теплового броуновского движения и диффузии противоионов вглубь раствора.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Диффузная атмосфера Гуи–Чепмена (1910)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Равновесие электростатического притяжения и тепловой диффузии по распределению Больцмана: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n_i(x) = n_i₀ · exp(- z_i e φ(x) / k_B T)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Экспоненциальный профиль потенциала: φ(x) = φ₀ · exp(- κ x).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Толщина диффузной атмосферы описывается дебаевской длиной экранирования λ_D = κ⁻¹.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8_helmholtz_vs_gou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373866"/>
            <a:ext cx="5827471" cy="42474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Тепловое броуновское движение противодействует электростатическому осаждению противоионов на стенку, формируя экспоненциально спадающую диффузную атмосферу.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Объединенная модель Штерна, длина Дебая λ_D и феномен перезарядки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2. Компрессия диффузного слоя электролитами и специфическая адсорбция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Объединенная модель Отто Штерна (1924)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</a:t>
            </a:r>
            <a:r>
              <a:rPr sz="1120" b="1">
                <a:solidFill>
                  <a:srgbClr val="005AAA"/>
                </a:solidFill>
                <a:latin typeface="Arial"/>
              </a:rPr>
              <a:t>ДЭС</a:t>
            </a:r>
            <a:r>
              <a:rPr sz="1120">
                <a:solidFill>
                  <a:srgbClr val="242834"/>
                </a:solidFill>
                <a:latin typeface="Arial"/>
              </a:rPr>
              <a:t> делится на плотный слой Штерна (толщина δ) и диффузный слой Гуи–Чепмена.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Последовательное соединение емкостей: 1 / C = 1 / C_пл + 1 / C_диф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В слое Штерна потенциал падает линейно от φ₀ до φ_δ, а далее спадает экспоненциально в диффузной области.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Дебаевская длина λ_D и феномен перезарядки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Длина экранирования Дебая: λ_D = κ⁻¹ ∝ 1 / (z · √c)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Рост ионной силы c сжимает защитную шубу </a:t>
            </a:r>
            <a:r>
              <a:rPr sz="1120" b="1">
                <a:solidFill>
                  <a:srgbClr val="005AAA"/>
                </a:solidFill>
                <a:latin typeface="Arial"/>
              </a:rPr>
              <a:t>ДЭС</a:t>
            </a:r>
            <a:r>
              <a:rPr sz="1120">
                <a:solidFill>
                  <a:srgbClr val="242834"/>
                </a:solidFill>
                <a:latin typeface="Arial"/>
              </a:rPr>
              <a:t> до единиц нанометров, провоцируя агрегацию.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Специфическая хемосорбция многозарядных ионов (Al³⁺, Th⁴⁺) в слое Штерна способна инвертировать знак потенциала φ_δ.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0_stern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459052"/>
            <a:ext cx="5827471" cy="40770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Толщина защитной ионной шубы λ_D сжимается обратно пропорционально корню из концентрации соли и валентности иона, а специфическая адсорбция способна инвертировать знак потенциала.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Технологический регламент стабилизации гидрозолей при жидкофазном синтезе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rPr sz="1150" i="1">
                <a:solidFill>
                  <a:srgbClr val="5A6978"/>
                </a:solidFill>
                <a:latin typeface="Arial"/>
              </a:rPr>
              <a:t>Раздел 2. Сводная матрица физико-химических параметров устойчивости </a:t>
            </a:r>
            <a:r>
              <a:rPr sz="1150" i="1" b="1">
                <a:solidFill>
                  <a:srgbClr val="005AAA"/>
                </a:solidFill>
                <a:latin typeface="Arial"/>
              </a:rPr>
              <a:t>ДЭС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2834640"/>
                <a:gridCol w="2956255"/>
              </a:tblGrid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Параметр синтеза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Физический механизм влияния на </a:t>
                      </a:r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ДЭС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Технологическое ограничение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Инженерное решение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Ионная сила раствора I</a:t>
                      </a:r>
                    </a:p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и дебаевская длина λ_D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Компрессия диффузного слоя по закону экранирования:</a:t>
                      </a:r>
                    </a:p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λ_D = [εε₀ k_B T / (2 e² N_A I)]¹/² ∝ 1/√(I)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Критическая дебаевская толщина λ_D &lt; 10 нм провоцирует коагуляцию;</a:t>
                      </a:r>
                    </a:p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допустимый предел ионной силы I ≤ 10⁻³ моль/л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Синтез нанозолей в разбавленных средах с непрерывным кондуктометрическим контролем электропроводности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Неиндифферентные</a:t>
                      </a:r>
                    </a:p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rPr sz="880" b="1">
                          <a:solidFill>
                            <a:srgbClr val="002C5F"/>
                          </a:solidFill>
                          <a:latin typeface="Arial"/>
                        </a:rPr>
                        <a:t>электролиты (избыток </a:t>
                      </a:r>
                      <a:r>
                        <a:rPr sz="880" b="1">
                          <a:solidFill>
                            <a:srgbClr val="005AAA"/>
                          </a:solidFill>
                          <a:latin typeface="Arial"/>
                        </a:rPr>
                        <a:t>ПОИ</a:t>
                      </a:r>
                      <a:r>
                        <a:rPr sz="880" b="1">
                          <a:solidFill>
                            <a:srgbClr val="002C5F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Избирательная хемосорбция родных ионов на агрегате по правилу Панета–Фаянса–Пескова, рост потенциала φ₀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880">
                          <a:solidFill>
                            <a:srgbClr val="242834"/>
                          </a:solidFill>
                          <a:latin typeface="Arial"/>
                        </a:rPr>
                        <a:t>Недостаток </a:t>
                      </a:r>
                      <a:r>
                        <a:rPr sz="880" b="1">
                          <a:solidFill>
                            <a:srgbClr val="005AAA"/>
                          </a:solidFill>
                          <a:latin typeface="Arial"/>
                        </a:rPr>
                        <a:t>ПОИ</a:t>
                      </a:r>
                      <a:r>
                        <a:rPr sz="880">
                          <a:solidFill>
                            <a:srgbClr val="242834"/>
                          </a:solidFill>
                          <a:latin typeface="Arial"/>
                        </a:rPr>
                        <a:t> не создает защитного барьера;</a:t>
                      </a:r>
                    </a:p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880">
                          <a:solidFill>
                            <a:srgbClr val="242834"/>
                          </a:solidFill>
                          <a:latin typeface="Arial"/>
                        </a:rPr>
                        <a:t>избыток </a:t>
                      </a:r>
                      <a:r>
                        <a:rPr sz="880" b="1">
                          <a:solidFill>
                            <a:srgbClr val="005AAA"/>
                          </a:solidFill>
                          <a:latin typeface="Arial"/>
                        </a:rPr>
                        <a:t>ПОИ</a:t>
                      </a:r>
                      <a:r>
                        <a:rPr sz="880">
                          <a:solidFill>
                            <a:srgbClr val="242834"/>
                          </a:solidFill>
                          <a:latin typeface="Arial"/>
                        </a:rPr>
                        <a:t> свыше 15–20% сжимает диффузный слой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Строго дозированный стехиометрический избыток стабилизатора 5–15% моль по отношению к прекурсору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Индифферентные</a:t>
                      </a:r>
                    </a:p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электролиты и валентность z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Ионы не входят в решетку агрегата; увеличивают ионную силу ∝ z², вызывая компрессию диффузного слоя (λ_D ∝ 1/(z√c))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Многозарядные примесные катионы и анионы (Al³⁺, Fe³⁺, SO₄²⁻) вызывают солевой шок при микроконцентрациях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Применение деионизованной воды высокой очистки (сопротивление 18.2 МОм·см) и ультрачистых реактивов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Специфическая адсорбция</a:t>
                      </a:r>
                    </a:p>
                    <a:p>
                      <a:pPr algn="ctr">
                        <a:defRPr sz="880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и перезарядка поверхности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Внедрение поливалентных противоионов в плотный слой Штерна с инверсией знака потенциала φ_δ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880">
                          <a:solidFill>
                            <a:srgbClr val="242834"/>
                          </a:solidFill>
                          <a:latin typeface="Arial"/>
                        </a:rPr>
                        <a:t>Прохождение через изоэлектрическую точку (</a:t>
                      </a:r>
                      <a:r>
                        <a:rPr sz="880" b="1">
                          <a:solidFill>
                            <a:srgbClr val="005AAA"/>
                          </a:solidFill>
                          <a:latin typeface="Arial"/>
                        </a:rPr>
                        <a:t>ИЭТ</a:t>
                      </a:r>
                      <a:r>
                        <a:rPr sz="880">
                          <a:solidFill>
                            <a:srgbClr val="242834"/>
                          </a:solidFill>
                          <a:latin typeface="Arial"/>
                        </a:rPr>
                        <a:t>, φ_δ = 0) с мгновенным выпадением гидрозоля в осадок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880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Быстрый ввод раствора перезаряжающего электролита (Al³⁺, Th⁴⁺) при интенсивном гидродинамическом перемешивании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Для предотвращения спонтанной коагуляции технологический регламент требует поддержания ионной силы раствора ниже критической и строгого дозирования избытка </a:t>
            </a:r>
            <a:r>
              <a:rPr sz="1250" b="1">
                <a:solidFill>
                  <a:srgbClr val="005AAA"/>
                </a:solidFill>
                <a:latin typeface="Arial"/>
              </a:rPr>
              <a:t>ПОИ</a:t>
            </a:r>
            <a:r>
              <a:rPr sz="1250" b="1">
                <a:solidFill>
                  <a:srgbClr val="002C5F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_trans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87" y="1325880"/>
            <a:ext cx="1280160" cy="1280160"/>
          </a:xfrm>
          <a:prstGeom prst="rect">
            <a:avLst/>
          </a:prstGeom>
        </p:spPr>
      </p:pic>
      <p:pic>
        <p:nvPicPr>
          <p:cNvPr id="4" name="Picture 3" descr="icon_process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3258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761488"/>
            <a:ext cx="944849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E70F47"/>
                </a:solidFill>
                <a:latin typeface="Arial"/>
              </a:defRPr>
            </a:pPr>
            <a:r>
              <a:t>ПРОБЛЕМНЫЙ РАЗДЕЛ 3: ТЕХНОЛОГИЧЕСКИЙ ВЫЗОВ №3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362895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Слепой контроль стабильности и безнасосный транспорт на чипе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78224"/>
            <a:ext cx="101800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>
                <a:solidFill>
                  <a:srgbClr val="DCEBFA"/>
                </a:solidFill>
                <a:latin typeface="Arial"/>
              </a:defRPr>
            </a:pPr>
            <a:r>
              <a:rPr sz="1300">
                <a:solidFill>
                  <a:srgbClr val="DCEBFA"/>
                </a:solidFill>
                <a:latin typeface="Arial"/>
              </a:rPr>
              <a:t>Потенциал наночастицы невозможно измерить контактным вольтметром: границей отрыва подвижной жидкости выступает плоскость скольжения, определяющая дзета-потенциал ζ. Потенциал скольжения управляет четырьмя электрокинетическими явлениями Рейсса, позволяя реализовать безнасосный электроосмотический транспорт в чипах Lab-on-a-Chip и электрофоретическое осаждение нанопокрытий. Диагностический критерий «30 мВ» обеспечивает оперативный контроль стабильности суспензий методами </a:t>
            </a:r>
            <a:r>
              <a:rPr sz="1300" b="1">
                <a:solidFill>
                  <a:srgbClr val="DCEBFA"/>
                </a:solidFill>
                <a:latin typeface="Arial"/>
              </a:rPr>
              <a:t>ДРС</a:t>
            </a:r>
            <a:r>
              <a:rPr sz="1300">
                <a:solidFill>
                  <a:srgbClr val="DCEBFA"/>
                </a:solidFill>
                <a:latin typeface="Arial"/>
              </a:rPr>
              <a:t> и </a:t>
            </a:r>
            <a:r>
              <a:rPr sz="1300" b="1">
                <a:solidFill>
                  <a:srgbClr val="DCEBFA"/>
                </a:solidFill>
                <a:latin typeface="Arial"/>
              </a:rPr>
              <a:t>ЭЛС</a:t>
            </a:r>
            <a:r>
              <a:rPr sz="1300">
                <a:solidFill>
                  <a:srgbClr val="DCEBFA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</a:rPr>
              <a:t>1. Плоскость скольжения, </a:t>
            </a:r>
            <a:r>
              <a:rPr sz="1050" b="1">
                <a:solidFill>
                  <a:srgbClr val="FFFFFF"/>
                </a:solidFill>
                <a:latin typeface="Arial"/>
              </a:rPr>
              <a:t>ζ-потенциал</a:t>
            </a:r>
            <a:r>
              <a:rPr sz="1050" b="1">
                <a:solidFill>
                  <a:srgbClr val="FFFFFF"/>
                </a:solidFill>
                <a:latin typeface="Arial"/>
              </a:rPr>
              <a:t> и правило 30 мВ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963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2. 4 явления Рейсса (матрица 2×2)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3. Подвижность u_e и функция Генри f(κr)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611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</a:rPr>
              <a:t>4. Чипы Lab-on-a-Chip и контроль </a:t>
            </a:r>
            <a:r>
              <a:rPr sz="1050" b="1">
                <a:solidFill>
                  <a:srgbClr val="FFFFFF"/>
                </a:solidFill>
                <a:latin typeface="Arial"/>
              </a:rPr>
              <a:t>ДРС</a:t>
            </a:r>
            <a:r>
              <a:rPr sz="1050" b="1">
                <a:solidFill>
                  <a:srgbClr val="FFFFFF"/>
                </a:solidFill>
                <a:latin typeface="Arial"/>
              </a:rPr>
              <a:t>/</a:t>
            </a:r>
            <a:r>
              <a:rPr sz="1050" b="1">
                <a:solidFill>
                  <a:srgbClr val="FFFFFF"/>
                </a:solidFill>
                <a:latin typeface="Arial"/>
              </a:rPr>
              <a:t>ЭЛС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Плоскость скольжения, дзета-потенциал (ζ) и критерий устойчивости «30 мВ»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3. Электрокинетический потенциал как оперативный индикатор стабильности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Плоскость скольжения x_s и дзета-потенциал (ζ)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При движении частицы в жидкости гидратная оболочка частично увлекается за ней.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Плоскость гидродинамического сдвига x_s отсекает неподвижный слой жидкости от подвижного объема.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rPr sz="1160" b="1">
                <a:solidFill>
                  <a:srgbClr val="005AAA"/>
                </a:solidFill>
                <a:latin typeface="Arial"/>
              </a:rPr>
              <a:t>   Электрокинетический дзета-потенциал (</a:t>
            </a:r>
            <a:r>
              <a:rPr sz="1160" b="1">
                <a:solidFill>
                  <a:srgbClr val="005AAA"/>
                </a:solidFill>
                <a:latin typeface="Arial"/>
              </a:rPr>
              <a:t>ζ-потенциал</a:t>
            </a:r>
            <a:r>
              <a:rPr sz="1160" b="1">
                <a:solidFill>
                  <a:srgbClr val="005AAA"/>
                </a:solidFill>
                <a:latin typeface="Arial"/>
              </a:rPr>
              <a:t>): ζ = φ(x_s)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Потенциал ζ строго меньше потенциала поверхности: |ζ| &lt; |φ_δ| &lt; |φ₀|.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Диагностический критерий стабильности «30 мВ»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|ζ| ≥ 30 мВ — длительная агрегативная устойчивость нанозоля.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15 мВ &lt; |ζ| &lt; 30 мВ — зона коагуляционного риска и медленной агрегации.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|ζ| ≤ 15 мВ — зона потери барьера и быстрой коагуляции.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rPr sz="1160" b="1">
                <a:solidFill>
                  <a:srgbClr val="005AAA"/>
                </a:solidFill>
                <a:latin typeface="Arial"/>
              </a:rPr>
              <a:t>   ζ = 0 мВ — изоэлектрическая точка (</a:t>
            </a:r>
            <a:r>
              <a:rPr sz="1160" b="1">
                <a:solidFill>
                  <a:srgbClr val="005AAA"/>
                </a:solidFill>
                <a:latin typeface="Arial"/>
              </a:rPr>
              <a:t>ИЭТ</a:t>
            </a:r>
            <a:r>
              <a:rPr sz="1160" b="1">
                <a:solidFill>
                  <a:srgbClr val="005AAA"/>
                </a:solidFill>
                <a:latin typeface="Arial"/>
              </a:rPr>
              <a:t>), мгновенное выпадение осадка.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Контроль ζ методами лазерного рассеяния света (</a:t>
            </a:r>
            <a:r>
              <a:rPr sz="1120" b="1">
                <a:solidFill>
                  <a:srgbClr val="005AAA"/>
                </a:solidFill>
                <a:latin typeface="Arial"/>
              </a:rPr>
              <a:t>ДРС</a:t>
            </a:r>
            <a:r>
              <a:rPr sz="1120">
                <a:solidFill>
                  <a:srgbClr val="242834"/>
                </a:solidFill>
                <a:latin typeface="Arial"/>
              </a:rPr>
              <a:t> и </a:t>
            </a:r>
            <a:r>
              <a:rPr sz="1120" b="1">
                <a:solidFill>
                  <a:srgbClr val="005AAA"/>
                </a:solidFill>
                <a:latin typeface="Arial"/>
              </a:rPr>
              <a:t>ЭЛС</a:t>
            </a:r>
            <a:r>
              <a:rPr sz="1120">
                <a:solidFill>
                  <a:srgbClr val="242834"/>
                </a:solidFill>
                <a:latin typeface="Arial"/>
              </a:rPr>
              <a:t>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1_zeta_potent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695269"/>
            <a:ext cx="5827471" cy="360462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Пороговое значение |ζ| ≥ 30 мВ служит общепринятым критерием длительной агрегативной устойчивости коллоидных суспензий в промышленности.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Четыре электрокинетических явления Рейсса: движение и электрическое поле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3. Прямые и обратные электрокинетические эффекты на границе фаз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Прямые электрокинетические явления (E → движение)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Электрофорез: направленное перемещение заряженных наночастиц в неподвижной жидкости под действием внешнего поля E.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Электроосмос: движение полярной жидкости через неподвижную пористую диафрагму или капилляр при наложении поля E.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Скорость электроосмоса: v_эо = - (ε ε₀ ζ / η) · 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Обратные электрокинетические явления (движение → E)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Потенциал седиментации (эффект Дорна): возникновение разности потенциалов при гравитационном оседании заряженных наночастиц.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Потенциал течения (эффект Квинке): появление электрического поля при прокачивании жидкости через пористую мембрану давлением ΔP: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Потенциал течения: Δφ_теч = (ε ε₀ ζ / (η · κ_уд)) · ΔP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2_electrokinetic_phenome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355299"/>
            <a:ext cx="5827471" cy="428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Все 4 явления вызваны взаимным сдвигом заряженных слоев </a:t>
            </a:r>
            <a:r>
              <a:rPr sz="1250" b="1">
                <a:solidFill>
                  <a:srgbClr val="005AAA"/>
                </a:solidFill>
                <a:latin typeface="Arial"/>
              </a:rPr>
              <a:t>ДЭС</a:t>
            </a:r>
            <a:r>
              <a:rPr sz="1250" b="1">
                <a:solidFill>
                  <a:srgbClr val="002C5F"/>
                </a:solidFill>
                <a:latin typeface="Arial"/>
              </a:rPr>
              <a:t> по плоскости скольжения и прямо пропорциональны электрокинетическому дзета-потенциалу.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2100" b="1">
                <a:solidFill>
                  <a:srgbClr val="002C5F"/>
                </a:solidFill>
                <a:latin typeface="Arial"/>
              </a:defRPr>
            </a:pPr>
            <a:r>
              <a:t>Электрофоретическая подвижность и уравнение Генри f(κr)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3. Теоретический расчет дзета-потенциала в переходной нанометровой области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Электрофоретическая подвижность u_e и уравнение Генри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Электрофоретическая подвижность: u_e = v / E [(м/с)/(В/м)].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Обобщенное уравнение Д. Генри (1931):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u_e = [ (2 ε ε₀ ζ) / (3 η) ] · f(κ r)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Безразмерный аргумент κr = r / λ_D определяет отношение радиуса частицы к толщине диффузного слоя </a:t>
            </a:r>
            <a:r>
              <a:rPr sz="1120" b="1">
                <a:solidFill>
                  <a:srgbClr val="005AAA"/>
                </a:solidFill>
                <a:latin typeface="Arial"/>
              </a:rPr>
              <a:t>ДЭС</a:t>
            </a:r>
            <a:r>
              <a:rPr sz="1120">
                <a:solidFill>
                  <a:srgbClr val="242834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Предельные режимы: Хюккель vs Смолуховский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Предел Хюккеля (κr ≪ 1, толстый </a:t>
            </a:r>
            <a:r>
              <a:rPr sz="1120" b="1">
                <a:solidFill>
                  <a:srgbClr val="005AAA"/>
                </a:solidFill>
                <a:latin typeface="Arial"/>
              </a:rPr>
              <a:t>ДЭС</a:t>
            </a:r>
            <a:r>
              <a:rPr sz="1120">
                <a:solidFill>
                  <a:srgbClr val="242834"/>
                </a:solidFill>
                <a:latin typeface="Arial"/>
              </a:rPr>
              <a:t>, неполярные среды): f(κr) = 1.0.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Предел Смолуховского (κr ≫ 1, тонкий </a:t>
            </a:r>
            <a:r>
              <a:rPr sz="1120" b="1">
                <a:solidFill>
                  <a:srgbClr val="005AAA"/>
                </a:solidFill>
                <a:latin typeface="Arial"/>
              </a:rPr>
              <a:t>ДЭС</a:t>
            </a:r>
            <a:r>
              <a:rPr sz="1120">
                <a:solidFill>
                  <a:srgbClr val="242834"/>
                </a:solidFill>
                <a:latin typeface="Arial"/>
              </a:rPr>
              <a:t>, электролиты): f(κr) = 1.5.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Большинство наноколлоидов (r ≈ 5–20 нм, λ_D ≈ 3–10 нм) попадают в переходную область κr ≈ 1–5, требующую полного расчета по функции Генри.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3_henry_fun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521719"/>
            <a:ext cx="5827471" cy="3951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Большинство водных нанозолей (r ~ 5–20 нм, λ_D ~ 3–10 нм) попадают в переходную область κr ~ 1–5, где расчет дзета-потенциала требует полной формулы Генри.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Микрофлюидика на чипе и электрофоретическое осаждение нанопокрытий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3. Промышленные применения электрокинетических явлений в наноиндустрии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Безнасосная микрофлюидика на чипе (Lab-on-a-Chip)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Электроосмотический поток в микроканалах чипа создает плоский профиль скоростей без параболической дисперсии Пуазейля.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Отсутствие механических подвижных элементов обеспечивает надежность микронасосов в химических биосенсорах.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Управление напряжением E позволяет с нанолитровой точностью дозировать потоки реактивов.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rPr sz="1320" b="1">
                <a:solidFill>
                  <a:srgbClr val="002C5F"/>
                </a:solidFill>
                <a:latin typeface="Arial"/>
              </a:rPr>
              <a:t>2. Электрофоретическое осаждение нанопокрытий (</a:t>
            </a:r>
            <a:r>
              <a:rPr sz="1320" b="1">
                <a:solidFill>
                  <a:srgbClr val="005AAA"/>
                </a:solidFill>
                <a:latin typeface="Arial"/>
              </a:rPr>
              <a:t>ЭФО</a:t>
            </a:r>
            <a:r>
              <a:rPr sz="1320" b="1">
                <a:solidFill>
                  <a:srgbClr val="002C5F"/>
                </a:solidFill>
                <a:latin typeface="Arial"/>
              </a:rPr>
              <a:t>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Направленный перенос заряженных наночастиц на электрод с формированием плотных равномерных нанопленок.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Масса осадка (закон Хэмакера): m = ∫ η_e C u_e E A dt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Промышленный контроль синтезированных партий методами лазерного рассеяния света (</a:t>
            </a:r>
            <a:r>
              <a:rPr sz="1120" b="1">
                <a:solidFill>
                  <a:srgbClr val="005AAA"/>
                </a:solidFill>
                <a:latin typeface="Arial"/>
              </a:rPr>
              <a:t>ДРС</a:t>
            </a:r>
            <a:r>
              <a:rPr sz="1120">
                <a:solidFill>
                  <a:srgbClr val="242834"/>
                </a:solidFill>
                <a:latin typeface="Arial"/>
              </a:rPr>
              <a:t> и </a:t>
            </a:r>
            <a:r>
              <a:rPr sz="1120" b="1">
                <a:solidFill>
                  <a:srgbClr val="005AAA"/>
                </a:solidFill>
                <a:latin typeface="Arial"/>
              </a:rPr>
              <a:t>ЭЛС</a:t>
            </a:r>
            <a:r>
              <a:rPr sz="1120">
                <a:solidFill>
                  <a:srgbClr val="242834"/>
                </a:solidFill>
                <a:latin typeface="Arial"/>
              </a:rPr>
              <a:t>) исключает брак.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7_colloid_appl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492036"/>
            <a:ext cx="5827471" cy="401108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Электроосмос позволяет создавать микронасосы без механических подвижных элементов, а электрофорез обеспечивает прецизионное нанесение равномерных наноструктурированных слоев.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_sedi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87" y="1325880"/>
            <a:ext cx="1280160" cy="1280160"/>
          </a:xfrm>
          <a:prstGeom prst="rect">
            <a:avLst/>
          </a:prstGeom>
        </p:spPr>
      </p:pic>
      <p:pic>
        <p:nvPicPr>
          <p:cNvPr id="4" name="Picture 3" descr="icon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3258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761488"/>
            <a:ext cx="944849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E70F47"/>
                </a:solidFill>
                <a:latin typeface="Arial"/>
              </a:defRPr>
            </a:pPr>
            <a:r>
              <a:t>ПРОБЛЕМНЫЙ РАЗДЕЛ 4: ТЕХНОЛОГИЧЕСКИЙ ВЫЗОВ №4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10362895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Расслоение при хранении, солевой шок и рецептуры «вечных» коллоидов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78224"/>
            <a:ext cx="101800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>
                <a:solidFill>
                  <a:srgbClr val="DCEBFA"/>
                </a:solidFill>
                <a:latin typeface="Arial"/>
              </a:defRPr>
            </a:pPr>
            <a:r>
              <a:rPr sz="1300">
                <a:solidFill>
                  <a:srgbClr val="DCEBFA"/>
                </a:solidFill>
                <a:latin typeface="Arial"/>
              </a:rPr>
              <a:t>Седиментация частиц под действием гравитации подавляется тепловым броуновским движением лишь при радиусе r ≤ 10 нм по закону Перрена. Агрегативная стабильность определяется балансом сил ван-дер-ваальсова притяжения и кулоновского отталкивания </a:t>
            </a:r>
            <a:r>
              <a:rPr sz="1300" b="1">
                <a:solidFill>
                  <a:srgbClr val="DCEBFA"/>
                </a:solidFill>
                <a:latin typeface="Arial"/>
              </a:rPr>
              <a:t>ДЭС</a:t>
            </a:r>
            <a:r>
              <a:rPr sz="1300">
                <a:solidFill>
                  <a:srgbClr val="DCEBFA"/>
                </a:solidFill>
                <a:latin typeface="Arial"/>
              </a:rPr>
              <a:t> по теории </a:t>
            </a:r>
            <a:r>
              <a:rPr sz="1300" b="1">
                <a:solidFill>
                  <a:srgbClr val="DCEBFA"/>
                </a:solidFill>
                <a:latin typeface="Arial"/>
              </a:rPr>
              <a:t>ДЛФО</a:t>
            </a:r>
            <a:r>
              <a:rPr sz="1300">
                <a:solidFill>
                  <a:srgbClr val="DCEBFA"/>
                </a:solidFill>
                <a:latin typeface="Arial"/>
              </a:rPr>
              <a:t> с потенциальным барьером U_max ≥ 15 k_B T. Солевой шок подчиняется закону шестой степени Шульце–Гарди 1/z⁶, а долговременная устойчивость в концентрированных средах достигается стерической защитой </a:t>
            </a:r>
            <a:r>
              <a:rPr sz="1300" b="1">
                <a:solidFill>
                  <a:srgbClr val="DCEBFA"/>
                </a:solidFill>
                <a:latin typeface="Arial"/>
              </a:rPr>
              <a:t>ПАВ</a:t>
            </a:r>
            <a:r>
              <a:rPr sz="1300">
                <a:solidFill>
                  <a:srgbClr val="DCEBFA"/>
                </a:solidFill>
                <a:latin typeface="Arial"/>
              </a:rPr>
              <a:t> и полимерами.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1. Седиментация Перрена и феррофлюид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963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</a:rPr>
              <a:t>2. Барьер теории </a:t>
            </a:r>
            <a:r>
              <a:rPr sz="1050" b="1">
                <a:solidFill>
                  <a:srgbClr val="FFFFFF"/>
                </a:solidFill>
                <a:latin typeface="Arial"/>
              </a:rPr>
              <a:t>ДЛФО</a:t>
            </a:r>
            <a:r>
              <a:rPr sz="1050" b="1">
                <a:solidFill>
                  <a:srgbClr val="FFFFFF"/>
                </a:solidFill>
                <a:latin typeface="Arial"/>
              </a:rPr>
              <a:t> U_max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3. Закон Шульце–Гарди 1/z⁶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611" y="5074920"/>
            <a:ext cx="2636443" cy="457200"/>
          </a:xfrm>
          <a:prstGeom prst="roundRect">
            <a:avLst/>
          </a:prstGeom>
          <a:solidFill>
            <a:srgbClr val="0F3C73"/>
          </a:solidFill>
          <a:ln w="12700">
            <a:solidFill>
              <a:srgbClr val="00B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</a:rPr>
              <a:t>4. Стерическая стабилизация </a:t>
            </a:r>
            <a:r>
              <a:rPr sz="1050" b="1">
                <a:solidFill>
                  <a:srgbClr val="FFFFFF"/>
                </a:solidFill>
                <a:latin typeface="Arial"/>
              </a:rPr>
              <a:t>ПАВ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Седиментационная устойчивость: баланс Стокса и диффузии Перрена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4. Гравитационное расслоение и барометрическое распределение наночастиц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Скорость гравитационного осаждения Стокса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Скорость оседания шарообразной частицы: v_сед = 2 r² Δρ g / (9 η)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Квадратичная зависимость от радиуса: для микрочастиц (r = 1 мкм) осаждение происходит за минуты.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Для наночастиц (r = 5 нм) скорость осаждения составляет доли миллиметра в год.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Барометрическое равновесие Лапласа–Перрена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Броуновская диффузия противодействует гравитационному осаждению: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Распределение концентрации по высоте: n(h) = n₀ · exp(- h / h_e)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Высота эффективного столба: h_e = (3 k_B T) / (4 π r³ Δρ g) ∝ 1 / r³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При радиусе r ≤ 10 нм высота h_e превышает сотни метров: коллоид абсолютно седиментационно устойчив (феррофлюид).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4_sedimentation_perr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624999"/>
            <a:ext cx="5827471" cy="3745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За счет кубической зависимости высоты столба he ∝ r⁻³ наночастицы с радиусом r ≤ 10 нм обладают абсолютной седиментационной стабильностью при условии отсутствия агрегации.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rPr sz="1850" b="1">
                <a:solidFill>
                  <a:srgbClr val="002C5F"/>
                </a:solidFill>
                <a:latin typeface="Arial"/>
              </a:rPr>
              <a:t>Теория устойчивости </a:t>
            </a:r>
            <a:r>
              <a:rPr sz="1850" b="1">
                <a:solidFill>
                  <a:srgbClr val="005AAA"/>
                </a:solidFill>
                <a:latin typeface="Arial"/>
              </a:rPr>
              <a:t>ДЛФО</a:t>
            </a:r>
            <a:r>
              <a:rPr sz="1850" b="1">
                <a:solidFill>
                  <a:srgbClr val="002C5F"/>
                </a:solidFill>
                <a:latin typeface="Arial"/>
              </a:rPr>
              <a:t>: баланс сил притяжения и отталкивания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4. Потенциальный барьер U_max, первичный и вторичный минимумы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rPr sz="1320" b="1">
                <a:solidFill>
                  <a:srgbClr val="002C5F"/>
                </a:solidFill>
                <a:latin typeface="Arial"/>
              </a:rPr>
              <a:t>1. Конкуренция притяжения и отталкивания в теории </a:t>
            </a:r>
            <a:r>
              <a:rPr sz="1320" b="1">
                <a:solidFill>
                  <a:srgbClr val="005AAA"/>
                </a:solidFill>
                <a:latin typeface="Arial"/>
              </a:rPr>
              <a:t>ДЛФО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Суммарная потенциальная энергия взаимодействия двух частиц: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U_total(h) = U_vdw(h) + U_el(h)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Молекулярное притяжение Ван-дер-Ваальса: U_vdw(h) = - (A_H · r) / (12 h) (степенной спад).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Электростатическое отталкивание перекрывающихся </a:t>
            </a:r>
            <a:r>
              <a:rPr sz="1120" b="1">
                <a:solidFill>
                  <a:srgbClr val="005AAA"/>
                </a:solidFill>
                <a:latin typeface="Arial"/>
              </a:rPr>
              <a:t>ДЭС</a:t>
            </a:r>
            <a:r>
              <a:rPr sz="1120">
                <a:solidFill>
                  <a:srgbClr val="242834"/>
                </a:solidFill>
                <a:latin typeface="Arial"/>
              </a:rPr>
              <a:t>: U_el(h) ∝ r ψ₀² · exp(- κ h) (экспоненциальный спад).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Потенциальный барьер U_max и минимумы энергии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Критерий агрегативной стабильности: U_max ≥ 15–20 k_B T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Первичный минимум (h → 0): глубокая яма, необратимая коагуляция в монолит.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Вторичный минимум (h ~ λ_D): неглубокая яма (1–3 k_B T), обратимая коагуляция с возможностью легкой пептизации.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5_dlvo_potent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398346"/>
            <a:ext cx="5827471" cy="419846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Для предотвращения коагуляции наночастиц потенциальный барьер отталкивания </a:t>
            </a:r>
            <a:r>
              <a:rPr sz="1250" b="1">
                <a:solidFill>
                  <a:srgbClr val="005AAA"/>
                </a:solidFill>
                <a:latin typeface="Arial"/>
              </a:rPr>
              <a:t>ДЛФО</a:t>
            </a:r>
            <a:r>
              <a:rPr sz="1250" b="1">
                <a:solidFill>
                  <a:srgbClr val="002C5F"/>
                </a:solidFill>
                <a:latin typeface="Arial"/>
              </a:rPr>
              <a:t> должен превышать энергию тепловых столкновений (U_max ≥ 15–20 k_B 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Порог коагуляции, закон 1/z⁶ Шульце–Гарди и кинетика Смолуховского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4. Критические концентрации коагуляции и каскадное действие многозарядных ионов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3520440" cy="4526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Порог коагуляции γ_кр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Минимальная концентрация электролита, вызывающая исчезновение барьера U_max ≤ 0.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Формула расчета порога в растворе: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γ_кр = (C_эл · V_эл) / (V_золя + V_эл) · 1000  (ммоль/л)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Разграничение зон скрытой, медленной и быстрой коагуляции.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143000"/>
            <a:ext cx="3520440" cy="4526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Закон 1/z⁶ Шульце–Гарди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rPr sz="1000">
                <a:solidFill>
                  <a:srgbClr val="242834"/>
                </a:solidFill>
                <a:latin typeface="Arial"/>
              </a:rPr>
              <a:t>• Теория Дерягина–Ландау: сжатие барьера </a:t>
            </a:r>
            <a:r>
              <a:rPr sz="1000" b="1">
                <a:solidFill>
                  <a:srgbClr val="005AAA"/>
                </a:solidFill>
                <a:latin typeface="Arial"/>
              </a:rPr>
              <a:t>ДЭС</a:t>
            </a:r>
            <a:r>
              <a:rPr sz="1000">
                <a:solidFill>
                  <a:srgbClr val="242834"/>
                </a:solidFill>
                <a:latin typeface="Arial"/>
              </a:rPr>
              <a:t> до нуля: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γ_кр = C · (εε₀)³ (k_B T)⁵ / (A_H² e⁶) · (1 / z⁶)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Коагулирующим действием обладает противоион.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Каскадный ряд порогов коагуляции: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1 : 1/64 : 1/729  для  Na⁺ : Ca²⁺ : Al³⁺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Трехвалентные ионы в 729 раз активнее одновалентных.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143000"/>
            <a:ext cx="3520440" cy="4526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3. Кинетика Смолуховского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Быстрая коагуляция: каждое тепловое столкновение эффективно: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1 / ν(t) = 1 / ν₀ + k_d · t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Диффузионная константа скорости: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040" b="1">
                <a:solidFill>
                  <a:srgbClr val="005AAA"/>
                </a:solidFill>
                <a:latin typeface="Arial"/>
              </a:defRPr>
            </a:pPr>
            <a:r>
              <a:t>   k_d = 4 k_B T / (3 η) ≈ 6.1 · 10⁻¹⁸ м³/с</a:t>
            </a:r>
          </a:p>
          <a:p>
            <a:pPr algn="l">
              <a:spcAft>
                <a:spcPts val="250"/>
              </a:spcAft>
              <a:defRPr sz="1000">
                <a:solidFill>
                  <a:srgbClr val="242834"/>
                </a:solidFill>
                <a:latin typeface="Arial"/>
              </a:defRPr>
            </a:pPr>
            <a:r>
              <a:t>• Время половинной коагуляции τ₁/₂ = 1 / (k_d · ν₀) зависит только от исходной концентрации частиц.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Критическая концентрация коагуляции падает обратно пропорционально шестой степени заряда противоиона (z⁻⁶), делая трехвалентные ионы в 700 раз активнее одновалентных.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rPr sz="1850" b="1">
                <a:solidFill>
                  <a:srgbClr val="002C5F"/>
                </a:solidFill>
                <a:latin typeface="Arial"/>
              </a:rPr>
              <a:t>Стерическая стабилизация наносистем полимерами (</a:t>
            </a:r>
            <a:r>
              <a:rPr sz="1850" b="1">
                <a:solidFill>
                  <a:srgbClr val="005AAA"/>
                </a:solidFill>
                <a:latin typeface="Arial"/>
              </a:rPr>
              <a:t>ПЭГ</a:t>
            </a:r>
            <a:r>
              <a:rPr sz="1850" b="1">
                <a:solidFill>
                  <a:srgbClr val="002C5F"/>
                </a:solidFill>
                <a:latin typeface="Arial"/>
              </a:rPr>
              <a:t>, </a:t>
            </a:r>
            <a:r>
              <a:rPr sz="1850" b="1">
                <a:solidFill>
                  <a:srgbClr val="005AAA"/>
                </a:solidFill>
                <a:latin typeface="Arial"/>
              </a:rPr>
              <a:t>ПВП</a:t>
            </a:r>
            <a:r>
              <a:rPr sz="1850" b="1">
                <a:solidFill>
                  <a:srgbClr val="002C5F"/>
                </a:solidFill>
                <a:latin typeface="Arial"/>
              </a:rPr>
              <a:t>) и </a:t>
            </a:r>
            <a:r>
              <a:rPr sz="1850" b="1">
                <a:solidFill>
                  <a:srgbClr val="005AAA"/>
                </a:solidFill>
                <a:latin typeface="Arial"/>
              </a:rPr>
              <a:t>ПАВ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rPr sz="1150" i="1">
                <a:solidFill>
                  <a:srgbClr val="5A6978"/>
                </a:solidFill>
                <a:latin typeface="Arial"/>
              </a:rPr>
              <a:t>Раздел 4. Полимерные щетки, адсорбционные слои </a:t>
            </a:r>
            <a:r>
              <a:rPr sz="1150" i="1" b="1">
                <a:solidFill>
                  <a:srgbClr val="005AAA"/>
                </a:solidFill>
                <a:latin typeface="Arial"/>
              </a:rPr>
              <a:t>ПАВ</a:t>
            </a:r>
            <a:r>
              <a:rPr sz="1150" i="1">
                <a:solidFill>
                  <a:srgbClr val="5A6978"/>
                </a:solidFill>
                <a:latin typeface="Arial"/>
              </a:rPr>
              <a:t> и эффект Ребиндера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rPr sz="1320" b="1">
                <a:solidFill>
                  <a:srgbClr val="002C5F"/>
                </a:solidFill>
                <a:latin typeface="Arial"/>
              </a:rPr>
              <a:t>1. Стерическая стабилизация полимерами и </a:t>
            </a:r>
            <a:r>
              <a:rPr sz="1320" b="1">
                <a:solidFill>
                  <a:srgbClr val="005AAA"/>
                </a:solidFill>
                <a:latin typeface="Arial"/>
              </a:rPr>
              <a:t>ПАВ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Адсорбция длинноцепочечных молекул (</a:t>
            </a:r>
            <a:r>
              <a:rPr sz="1120" b="1">
                <a:solidFill>
                  <a:srgbClr val="005AAA"/>
                </a:solidFill>
                <a:latin typeface="Arial"/>
              </a:rPr>
              <a:t>ПЭГ</a:t>
            </a:r>
            <a:r>
              <a:rPr sz="1120">
                <a:solidFill>
                  <a:srgbClr val="242834"/>
                </a:solidFill>
                <a:latin typeface="Arial"/>
              </a:rPr>
              <a:t>, </a:t>
            </a:r>
            <a:r>
              <a:rPr sz="1120" b="1">
                <a:solidFill>
                  <a:srgbClr val="005AAA"/>
                </a:solidFill>
                <a:latin typeface="Arial"/>
              </a:rPr>
              <a:t>ПВП</a:t>
            </a:r>
            <a:r>
              <a:rPr sz="1120">
                <a:solidFill>
                  <a:srgbClr val="242834"/>
                </a:solidFill>
                <a:latin typeface="Arial"/>
              </a:rPr>
              <a:t>) формирует упругую полимерную щетку на поверхности ядра.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При сближении частиц перекрытие полимерных цепей уменьшает конформационную энтропию: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ΔG_стерич = ΔH_смеш - T ΔS_упруг &gt; 0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Стерическая защита не зависит от концентрации электролитов и предотвращает коагуляцию в физиологических средах.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93008"/>
            <a:ext cx="4892040" cy="2240280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rPr sz="1320" b="1">
                <a:solidFill>
                  <a:srgbClr val="002C5F"/>
                </a:solidFill>
                <a:latin typeface="Arial"/>
              </a:rPr>
              <a:t>2. Мицеллообразование (</a:t>
            </a:r>
            <a:r>
              <a:rPr sz="1320" b="1">
                <a:solidFill>
                  <a:srgbClr val="005AAA"/>
                </a:solidFill>
                <a:latin typeface="Arial"/>
              </a:rPr>
              <a:t>ККМ</a:t>
            </a:r>
            <a:r>
              <a:rPr sz="1320" b="1">
                <a:solidFill>
                  <a:srgbClr val="002C5F"/>
                </a:solidFill>
                <a:latin typeface="Arial"/>
              </a:rPr>
              <a:t>) и эффект Ребиндера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Поверхностно-активные вещества (</a:t>
            </a:r>
            <a:r>
              <a:rPr sz="1120" b="1">
                <a:solidFill>
                  <a:srgbClr val="005AAA"/>
                </a:solidFill>
                <a:latin typeface="Arial"/>
              </a:rPr>
              <a:t>ПАВ</a:t>
            </a:r>
            <a:r>
              <a:rPr sz="1120">
                <a:solidFill>
                  <a:srgbClr val="242834"/>
                </a:solidFill>
                <a:latin typeface="Arial"/>
              </a:rPr>
              <a:t>) при критической концентрации мицеллообразования (</a:t>
            </a:r>
            <a:r>
              <a:rPr sz="1120" b="1">
                <a:solidFill>
                  <a:srgbClr val="005AAA"/>
                </a:solidFill>
                <a:latin typeface="Arial"/>
              </a:rPr>
              <a:t>ККМ</a:t>
            </a:r>
            <a:r>
              <a:rPr sz="1120">
                <a:solidFill>
                  <a:srgbClr val="242834"/>
                </a:solidFill>
                <a:latin typeface="Arial"/>
              </a:rPr>
              <a:t>) образуют прямые и обратные мицеллы.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rPr sz="1120">
                <a:solidFill>
                  <a:srgbClr val="242834"/>
                </a:solidFill>
                <a:latin typeface="Arial"/>
              </a:rPr>
              <a:t>• Эффект Ребиндера: адсорбционное понижение поверхностной энергии твердого тела при диспергировании в присутствии </a:t>
            </a:r>
            <a:r>
              <a:rPr sz="1120" b="1">
                <a:solidFill>
                  <a:srgbClr val="005AAA"/>
                </a:solidFill>
                <a:latin typeface="Arial"/>
              </a:rPr>
              <a:t>ПАВ</a:t>
            </a:r>
            <a:r>
              <a:rPr sz="1120">
                <a:solidFill>
                  <a:srgbClr val="242834"/>
                </a:solidFill>
                <a:latin typeface="Arial"/>
              </a:rPr>
              <a:t>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60" b="1">
                <a:solidFill>
                  <a:srgbClr val="005AAA"/>
                </a:solidFill>
                <a:latin typeface="Arial"/>
              </a:defRPr>
            </a:pPr>
            <a:r>
              <a:t>   Δσ = - ∫ Γ dμ &lt; 0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Облегчает механическое измельчение и предотвращает слипание свежеобразованных наноструктур.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6_schultze_hardy_coagu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421283"/>
            <a:ext cx="5827471" cy="415259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Стерическая стабилизация полимерами не зависит от ионной силы электролита и обеспечивает агрегативную устойчивость коллоидов в физиологических и агрессивных средах.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Инженерная матрица выбора стратегии стабилизации наносистем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Раздел 4. Сводное технологическое руководство преодоления барьеров нанодисперсности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2926080"/>
                <a:gridCol w="3139135"/>
              </a:tblGrid>
              <a:tr h="679268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Технологический вызов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Физический барьер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Оптимальная стратегия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019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Промышленный регламент</a:t>
                      </a:r>
                    </a:p>
                  </a:txBody>
                  <a:tcPr anchor="ctr">
                    <a:solidFill>
                      <a:srgbClr val="002C5F"/>
                    </a:solidFill>
                  </a:tcPr>
                </a:tc>
              </a:tr>
              <a:tr h="679268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1. Агрегация нанозолей (Au, Ag)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ΔG_s &gt; 0, ван-дер-ваальсово схлопывание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919">
                          <a:solidFill>
                            <a:srgbClr val="242834"/>
                          </a:solidFill>
                          <a:latin typeface="Arial"/>
                        </a:rPr>
                        <a:t>Электростатическая стабилизация </a:t>
                      </a:r>
                      <a:r>
                        <a:rPr sz="919" b="1">
                          <a:solidFill>
                            <a:srgbClr val="005AAA"/>
                          </a:solidFill>
                          <a:latin typeface="Arial"/>
                        </a:rPr>
                        <a:t>ДЭС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Поддержание |ζ| ≥ 30 мВ и низкой ионной силы среды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2. Седиментация и оседание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Гравитационный осадок по Стоксу (v ∝ r²)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Суб-10 нм масштаб и броуновский баланс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Синтез наночастиц r ≤ 10 нм по барометрическому закону Перрена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679268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3. Созревание при хранении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Оствальдов перенос массы (Кельвин–Томсон)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rPr sz="919">
                          <a:solidFill>
                            <a:srgbClr val="242834"/>
                          </a:solidFill>
                          <a:latin typeface="Arial"/>
                        </a:rPr>
                        <a:t>Стерическая защита полимерами (</a:t>
                      </a:r>
                      <a:r>
                        <a:rPr sz="919" b="1">
                          <a:solidFill>
                            <a:srgbClr val="005AAA"/>
                          </a:solidFill>
                          <a:latin typeface="Arial"/>
                        </a:rPr>
                        <a:t>ПЭГ</a:t>
                      </a:r>
                      <a:r>
                        <a:rPr sz="919">
                          <a:solidFill>
                            <a:srgbClr val="242834"/>
                          </a:solidFill>
                          <a:latin typeface="Arial"/>
                        </a:rPr>
                        <a:t>, </a:t>
                      </a:r>
                      <a:r>
                        <a:rPr sz="919" b="1">
                          <a:solidFill>
                            <a:srgbClr val="005AAA"/>
                          </a:solidFill>
                          <a:latin typeface="Arial"/>
                        </a:rPr>
                        <a:t>ПВП</a:t>
                      </a:r>
                      <a:r>
                        <a:rPr sz="919">
                          <a:solidFill>
                            <a:srgbClr val="242834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Создание упругих полимерных оболочек, экранирующих наночастицы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4. Сдвиговая деградация в потоке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Динамический срыв ионной атмосферы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Ковалентная модификация поверхности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Плотная прививка длинноцепочечных лигандов к ядру частицы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679268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5. Капиллярный коллапс нанопор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Лапласово давление P_L = 2σ/r ~ 200 МПа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Сверхкритическая сушка флюидом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Полное устранение межфазного натяжения (σ = 0) при T &gt; T_c, P &gt; P_c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919" b="1">
                          <a:solidFill>
                            <a:srgbClr val="002C5F"/>
                          </a:solidFill>
                          <a:latin typeface="Arial"/>
                        </a:defRPr>
                      </a:pPr>
                      <a:r>
                        <a:t>6. Полидисперсность синтеза</a:t>
                      </a:r>
                    </a:p>
                  </a:txBody>
                  <a:tcPr anchor="ctr">
                    <a:solidFill>
                      <a:srgbClr val="EEF4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Неконтролируемая кинетика кристаллизации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Матричные нанореакторы (цеолиты)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l">
                        <a:defRPr sz="919">
                          <a:solidFill>
                            <a:srgbClr val="242834"/>
                          </a:solidFill>
                          <a:latin typeface="Arial"/>
                        </a:defRPr>
                      </a:pPr>
                      <a:r>
                        <a:t>Синтез в калиброванных субнанометровых порах 0.3–1.0 нм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Выбор между электростатической, стерической и структурно-механической защитой определяется химической природой среды, солевым фоном и температурным режимом эксплуатации.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