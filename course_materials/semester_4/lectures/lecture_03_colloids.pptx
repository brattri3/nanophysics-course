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Термодинамический парадокс: Одиночная наночастица обладает колоссальным избытком свободной энергии Гиббса ΔG_s = σS &gt; 0. Без специальной стабилизации частицы неизбежно агрегируют и выпадают в осадок (как оксид железа слева на фотографии).</a:t>
            </a:r>
          </a:p>
          <a:p>
            <a:r>
              <a:t>2. Исторический эталон: Рубиновый гидрозоль золота, синтезированный Майклом Фарадеем в 1857 году, хранится в Королевском институте Лондона уже более 170 лет без признаков седиментации благодаря защитному барьеру двойного электрического слоя.</a:t>
            </a:r>
          </a:p>
          <a:p>
            <a:r>
              <a:t>3. Четыре шага лекции: Мы последовательно разберем геометрию поверхности, правила сборки мицелл, физический смысл дзета-потенциала и теорию устойчивости ДЛФО.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Геометрический взрыв поверхности: При дроблении макроскопического кубика золота 1 см³ до наночастиц 10 нм суммарная площадь поверхности возрастает с 6 см² до 600 м².</a:t>
            </a:r>
          </a:p>
          <a:p>
            <a:r>
              <a:t>2. Фактор формы k: Из размерных соображений отношение S/V равно 6/a для 3D-кубика и сферы, 4/d для длинного 1D-цилиндра и 2/h для тонкой 2D-пленки.</a:t>
            </a:r>
          </a:p>
          <a:p>
            <a:r>
              <a:t>3. Поверхностные атомы: При диаметре менее 2–3 нм свыше 50–70% всех атомов находятся на межфазной границе, определяя уникальную реакционную способность наноматериалов.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Диапазон коллоидов: Фундаментальный размерный интервал 1–100 нм объединяет классическую коллоидную химию и современную нанофизику.</a:t>
            </a:r>
          </a:p>
          <a:p>
            <a:r>
              <a:t>2. Критерий Ребиндера: Лиофильные системы самопроизвольно диспергируют за счет теплового движения, если поверхностное натяжение ничтожно мало (σ &lt; σ_кр). Лиофобные системы требуют затраты работы и термодинамически метастабильны.</a:t>
            </a:r>
          </a:p>
          <a:p>
            <a:r>
              <a:t>3. Матрица дисперсности: Рассмотрены системы с твердой, жидкой и газовой дисперсной фазой и средой, включая твердые пористые матрицы.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Переход золь–гель: Свободнодисперсный золь при достижении порога перколяции формирует непрерывную пространственную сетку — гель.</a:t>
            </a:r>
          </a:p>
          <a:p>
            <a:r>
              <a:t>2. Капиллярный коллапс Лапласа: При обычной сушке в нанопорах радиусом r ≈ 2–5 нм мениски жидкости создают огромное капиллярное разрежение P_L = 2σ/r (до 200–500 МПа), разрушающее поры и приводящее к образованию плотного ксерогеля.</a:t>
            </a:r>
          </a:p>
          <a:p>
            <a:r>
              <a:t>3. Сверхкритическая сушка: Перевод растворителя в сверхкритическое состояние устраняет фазовую границу жидкость–пар (σ = 0). Отсутствие менисков позволяет сохранить исходный объем пор до 95–99% в аэрогеле.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Строение цеолитов: В отличие от аморфного силикагеля с широким распределением пор по размерам (2–50 нм), цеолит — это кристалл. Диаметр входных окон жестко зафиксирован параметрами кристаллической решетки алюмосиликата.</a:t>
            </a:r>
          </a:p>
          <a:p>
            <a:r>
              <a:t>2. Молекулярные сита: Если диаметр окна составляет 0.45 нм, линейный н-алкан (диаметр 0.43 нм) диффундирует внутрь каналов, а разветвленный изоалкан (0.56 нм) не может войти в пору.</a:t>
            </a:r>
          </a:p>
          <a:p>
            <a:r>
              <a:t>3. Цеолиты как нанореакторы: Полости цеолитов служат шаблонами для синтеза изолированных квантовых точек и субнанометровых металлических кластеров с жестким пространственным ограничением роста.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Аналогия «Знаменитость в толпе фанатов»: Агрегат [M]_m — сцена; ПОИ — рок-звезда на сцене, задающая тон (заряд); плотный слой (n−x) — охрана вплотную к сцене (вместе со звездой это Гранула в фигурных скобках); диффузный слой x — фанаты на площади вокруг.</a:t>
            </a:r>
          </a:p>
          <a:p>
            <a:r>
              <a:t>2. Главная ловушка на зачете: «Какой заряд у мицеллы?» Правильный ответ: НУЛЕВОЙ! Заряжена только ГРАНУЛА (то, что внутри фигурных скобок), а вся мицелла электронейтральна.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Отработка Навыка №1: На примере AgI видно, что одно и то же вещество может быть и отрицательным золем (в избытке KI), и положительным (в избытке AgNO₃).</a:t>
            </a:r>
          </a:p>
          <a:p>
            <a:r>
              <a:t>2. Разбор золя Fe(OH)₃ (карточка 2): Классическая учебная задача! Осадок Fe(OH)₃, стабилизатор FeOCl, потенциалопределяющий ион — катион оксожелеза FeO⁺ (или Fe³⁺), противоионы — хлориды Cl⁻.</a:t>
            </a:r>
          </a:p>
          <a:p>
            <a:r>
              <a:t>3. Ключ к задачам на коагуляцию: Раз гранула заряжена плюсом (x+), то осаждать (коагулировать) ее будут отрицательные ионы (анионы) добавляемых солей!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Аналогия с атмосферой Земли: Гравитация тянет воздух к земле, а тепловое движение k_B T разбрасывает молекулы вверх — получается воздушная атмосфера. Точно так же вокруг наночастицы кулоновское притяжение и тепловой хаос создают диффузную ионную атмосферу Гуи–Чепмена!</a:t>
            </a:r>
          </a:p>
          <a:p>
            <a:r>
              <a:t>2. На графике внизу: Синий пунктир — резкий линейный обрыв потенциала в плоском конденсаторе Гельмгольца; красная кривая — плавная экспонента Гуи–Чепмена.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Никакой лишней громоздкости: Нам важен физический закон λ_D ∝ 1 / (z·√c).</a:t>
            </a:r>
          </a:p>
          <a:p>
            <a:r>
              <a:t>2. Аналогия с зимним пуховиком в вакуумном пакете: В чистой воде (c = 10⁻⁴ М, синяя кривая) ионная шуба вокруг наночастицы пушистая (λ_D = 30.4 нм). Капнули соли до 10⁻² М (красная кривая) — шуба сдулась в 10 раз до 3 нм, и частицы оголились для слипания!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Суть модели Штерна: Ионы не могут подойти к стенке ближе своего радиуса δ (серая полоса на графике). Внутри δ — плоский конденсатор Гельмгольца, снаружи — диффузное облако Гуи.</a:t>
            </a:r>
          </a:p>
          <a:p>
            <a:r>
              <a:t>2. Феномен перезарядки (красная кривая 3): Если в раствор с положительными частицами (φ₀ = +80 мВ) добавить многозарядные анионы, они набьются в слой Штерна сверх меры и поменяют знак потенциала снаружи на минус (φ_δ = −32 мВ)!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Как померить потенциал наночастицы: Вольтметром ткнуть нельзя, но можно включить поле и померить скорость движения гранулы — она зависит от потенциала на линии отрыва жидкости (ζ-потенциала).</a:t>
            </a:r>
          </a:p>
          <a:p>
            <a:r>
              <a:t>2. Навык №2 («Магические 30 мВ»): Смотрим на модуль |ζ|. Если |ζ| &gt; 30 мВ (+35 или −40 мВ) — золь живет месяцами. Если добавили соль (переход от зеленой кривой 1 к красной 3 на графике), экспонента прижалась к стенке, ζ упал ниже 15 мВ — золь гибнет!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Простая симметрия 2×2 без зубрежки: В верхнем ряду мы подключаем батарейку E — двигаются либо частицы (электрофорез), либо вода в порах (электроосмос). В нижнем ряду мы двигаем систему механически (гравитацией или насосом ΔP) — и на вольтметре возникает ЭДС!</a:t>
            </a:r>
          </a:p>
          <a:p>
            <a:r>
              <a:t>2. Исторический приоритет: Оба прямых явления открыл в Москве профессор Ф.Ф. Рейсс в 1809 году.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Физический смысл без перегрузки: Когда прибор померил скорость наночастицы v, как пересчитать ее в милливольты ζ? Все зависит от того, кто больше — сама частица r или ее шуба λ_D.</a:t>
            </a:r>
          </a:p>
          <a:p>
            <a:r>
              <a:t>2. На графике справа: Между левой полкой Хюккеля (1.0) и правой полкой Смолуховского (1.5) разница в полтора раза! Наночастицы золота и железа (r ~ 10 нм) живут прямо на переходном склоне (оранжевая точка).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Загадка коллоидного золота: Золото почти в 20 раз тяжелее воды, но рубиновый гидрозоль (r = 5 нм, синяя кривая) абсолютно однороден по высоте пробирки!</a:t>
            </a:r>
          </a:p>
          <a:p>
            <a:r>
              <a:t>2. Сила куба радиуса (1/r³): Стоит частицам потерять заряд и слипнуться всего в 3 раза по радиусу (с 5 до 16 нм, красная кривая), как куб радиуса r³ вырастает в 3.2³ ≈ 33 раза! Тепловое движение проигрывает, и золото камнем падает на дно. Значит, главное — не дать частицам слипнуться!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Яркая аналогия (куртки с липучками внутри надувных шаров для зорбинга): Представьте двух человек в куртках с мощными липучками-велкро (это притяжение Ван-дер-Ваальса −1/h на малых расстояниях). Если они столкнутся вплотную — слипнутся намертво (ближний минимум). Но поверх курток надеты упругие надувные шары (ионные шубы ДЭС, отталкивание U_R). Пока шары надуты (высокий барьер U_max = 29.9 k_B T), люди при столкновении просто упруго отскакивают друг от друга!</a:t>
            </a:r>
          </a:p>
          <a:p>
            <a:r>
              <a:t>2. Что делает соль: Соль выпускает воздух из надувных шаров — барьер падает, и липучки захлопываются.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Магия шестой степени (1 : 1/64 : 1/729): Возводим заряд аниона z = 1, 2, 3 в шестую степень: 1⁶ = 1, 2⁶ = 64, 3⁶ = 729! Трехзарядной красной кровяной соли нужно в 729 раз меньше, чем KCl!</a:t>
            </a:r>
          </a:p>
          <a:p>
            <a:r>
              <a:t>2. Две главные ловушки в расчетных задачах: (1) Почему везде калий K⁺? Чтобы доказать, что одноименный ион не влияет, а работают только анионы-противоионы! (2) Не забывайте прибавлять V_эл к V_золя в знаменателе при расчете γ_кр.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Модельная система №1 (золь золота): Синтез по методу Туркевича дает отрицательно заряженную гранулу со стабилизатором цитратом натрия (ζ ≈ -40 мВ). Высокий электростатический барьер обеспечивает долговременную стабильность. При добавлении электролита сжатие ДЭС вызывает агрегацию и сдвиг плазмонного резонанса 520 -&gt; 650 нм (раствор синеет).</a:t>
            </a:r>
          </a:p>
          <a:p>
            <a:r>
              <a:t>2. Модельная система №2 (гидрозоль Fe(OH)₃): Конденсационный синтез дает положительно заряженную гранулу с ПОИ FeO⁺. Коагуляция вызывается анионами-противоионами, а пороги коагуляции строго следуют закону шестой степени Дерягина–Ландау (1 : 1/64 : 1/729 для z = 1, 2, 3).</a:t>
            </a:r>
          </a:p>
          <a:p>
            <a:r>
              <a:t>3. Переход к следующей лекции: В Лекции №4 мы перейдем к термодинамике адсорбции на твердых поверхностях (изотермы Ленгмюра и БЭТ), краевому углу смачивания и атомным механизмам роста тонких пленок.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19456"/>
            <a:ext cx="11277295" cy="777240"/>
          </a:xfrm>
          <a:prstGeom prst="rect">
            <a:avLst/>
          </a:prstGeom>
          <a:noFill/>
        </p:spPr>
        <p:txBody>
          <a:bodyPr wrap="square" anchor="t" tIns="18288" bIns="18288">
            <a:spAutoFit/>
          </a:bodyPr>
          <a:lstStyle/>
          <a:p>
            <a:pPr algn="l">
              <a:spcAft>
                <a:spcPts val="200"/>
              </a:spcAft>
              <a:defRPr sz="1950" b="1">
                <a:solidFill>
                  <a:srgbClr val="003366"/>
                </a:solidFill>
                <a:latin typeface="Arial"/>
              </a:defRPr>
            </a:pPr>
            <a:r>
              <a:t>Лекция №3. Термодинамика дисперсных систем и коллоидных растворов</a:t>
            </a:r>
          </a:p>
          <a:p>
            <a:pPr algn="l">
              <a:defRPr sz="1200" i="1">
                <a:solidFill>
                  <a:srgbClr val="5A6978"/>
                </a:solidFill>
                <a:latin typeface="Arial"/>
              </a:defRPr>
            </a:pPr>
            <a:r>
              <a:t>Раздел 2 «Особенности термодинамики наноструктур» (Часть 2 из 4)  |  Кафедра №3 ГУАП  |  Преподаватель: Попов Д.А.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24128"/>
            <a:ext cx="11277295" cy="27432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143000"/>
            <a:ext cx="4892040" cy="2295144"/>
          </a:xfrm>
          <a:prstGeom prst="roundRect">
            <a:avLst/>
          </a:prstGeom>
          <a:solidFill>
            <a:srgbClr val="F4F7FA"/>
          </a:solidFill>
          <a:ln w="13970">
            <a:solidFill>
              <a:srgbClr val="C8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28016" tIns="91440" bIns="73152"/>
          <a:lstStyle/>
          <a:p>
            <a:pPr algn="l">
              <a:spcAft>
                <a:spcPts val="400"/>
              </a:spcAft>
              <a:defRPr sz="1320" b="1">
                <a:solidFill>
                  <a:srgbClr val="003366"/>
                </a:solidFill>
                <a:latin typeface="Arial"/>
              </a:defRPr>
            </a:pPr>
            <a:r>
              <a:t>1. Термодинамический парадокс наностабильности</a:t>
            </a:r>
          </a:p>
          <a:p>
            <a:pPr algn="l">
              <a:spcAft>
                <a:spcPts val="250"/>
              </a:spcAft>
              <a:defRPr sz="1140">
                <a:solidFill>
                  <a:srgbClr val="222222"/>
                </a:solidFill>
                <a:latin typeface="Arial"/>
              </a:defRPr>
            </a:pPr>
            <a:r>
              <a:t>• У наночастиц в растворе колоссальная площадь поверхности и избыток энергии Гиббса:</a:t>
            </a:r>
          </a:p>
          <a:p>
            <a:pPr algn="l">
              <a:spcBef>
                <a:spcPts val="150"/>
              </a:spcBef>
              <a:spcAft>
                <a:spcPts val="250"/>
              </a:spcAft>
              <a:defRPr sz="1180" b="1">
                <a:solidFill>
                  <a:srgbClr val="0066CC"/>
                </a:solidFill>
                <a:latin typeface="Arial"/>
              </a:defRPr>
            </a:pPr>
            <a:r>
              <a:t>   ΔG_s = σ · S &gt; 0   (незащищенный оксид железа слипается в осадок)</a:t>
            </a:r>
          </a:p>
          <a:p>
            <a:pPr algn="l">
              <a:spcAft>
                <a:spcPts val="250"/>
              </a:spcAft>
              <a:defRPr sz="1140">
                <a:solidFill>
                  <a:srgbClr val="222222"/>
                </a:solidFill>
                <a:latin typeface="Arial"/>
              </a:defRPr>
            </a:pPr>
            <a:r>
              <a:t>• Рубиновый золь золота Фарадея 1857 г. стабилен &gt;170 лет благодаря электростатическому барьеру ДЭС.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3547872"/>
            <a:ext cx="4892040" cy="2295144"/>
          </a:xfrm>
          <a:prstGeom prst="roundRect">
            <a:avLst/>
          </a:prstGeom>
          <a:solidFill>
            <a:srgbClr val="F4F7FA"/>
          </a:solidFill>
          <a:ln w="13970">
            <a:solidFill>
              <a:srgbClr val="C8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28016" tIns="91440" bIns="73152"/>
          <a:lstStyle/>
          <a:p>
            <a:pPr algn="l">
              <a:spcAft>
                <a:spcPts val="400"/>
              </a:spcAft>
              <a:defRPr sz="1320" b="1">
                <a:solidFill>
                  <a:srgbClr val="003366"/>
                </a:solidFill>
                <a:latin typeface="Arial"/>
              </a:defRPr>
            </a:pPr>
            <a:r>
              <a:t>2. Четыре ключевых шага лекции</a:t>
            </a:r>
          </a:p>
          <a:p>
            <a:pPr algn="l">
              <a:spcAft>
                <a:spcPts val="250"/>
              </a:spcAft>
              <a:defRPr sz="1140">
                <a:solidFill>
                  <a:srgbClr val="222222"/>
                </a:solidFill>
                <a:latin typeface="Arial"/>
              </a:defRPr>
            </a:pPr>
            <a:r>
              <a:t>• Шаг 1: Геометрический взрыв поверхности и капиллярные силы.</a:t>
            </a:r>
          </a:p>
          <a:p>
            <a:pPr algn="l">
              <a:spcAft>
                <a:spcPts val="250"/>
              </a:spcAft>
              <a:defRPr sz="1140">
                <a:solidFill>
                  <a:srgbClr val="222222"/>
                </a:solidFill>
                <a:latin typeface="Arial"/>
              </a:defRPr>
            </a:pPr>
            <a:r>
              <a:t>• Шаг 2: Строение мицеллы и двойного электрического слоя.</a:t>
            </a:r>
          </a:p>
          <a:p>
            <a:pPr algn="l">
              <a:spcAft>
                <a:spcPts val="250"/>
              </a:spcAft>
              <a:defRPr sz="1140">
                <a:solidFill>
                  <a:srgbClr val="222222"/>
                </a:solidFill>
                <a:latin typeface="Arial"/>
              </a:defRPr>
            </a:pPr>
            <a:r>
              <a:t>• Шаг 3: Дзета-потенциал и электрокинетические эффекты.</a:t>
            </a:r>
          </a:p>
          <a:p>
            <a:pPr algn="l">
              <a:spcAft>
                <a:spcPts val="250"/>
              </a:spcAft>
              <a:defRPr sz="1140">
                <a:solidFill>
                  <a:srgbClr val="222222"/>
                </a:solidFill>
                <a:latin typeface="Arial"/>
              </a:defRPr>
            </a:pPr>
            <a:r>
              <a:t>• Шаг 4: Теория устойчивости ДЛФО и закон 6-й степени.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0" y="1143000"/>
            <a:ext cx="6245352" cy="4709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ig_01_faraday_vs_iron_oxid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59552" y="1795520"/>
            <a:ext cx="6099048" cy="3404119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457200" y="6080760"/>
            <a:ext cx="11277295" cy="502920"/>
          </a:xfrm>
          <a:prstGeom prst="roundRect">
            <a:avLst/>
          </a:prstGeom>
          <a:solidFill>
            <a:srgbClr val="E8F2FC"/>
          </a:solidFill>
          <a:ln w="1524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50" b="1">
                <a:solidFill>
                  <a:srgbClr val="003366"/>
                </a:solidFill>
                <a:latin typeface="Arial"/>
              </a:defRPr>
            </a:pPr>
            <a:r>
              <a:t>Ключевой вывод: Устойчивость наносистем — результат динамического баланса между ван-дер-ваальсовым слипанием и барьером ДЭС.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19456"/>
            <a:ext cx="11277295" cy="777240"/>
          </a:xfrm>
          <a:prstGeom prst="rect">
            <a:avLst/>
          </a:prstGeom>
          <a:noFill/>
        </p:spPr>
        <p:txBody>
          <a:bodyPr wrap="square" anchor="t" tIns="18288" bIns="18288">
            <a:spAutoFit/>
          </a:bodyPr>
          <a:lstStyle/>
          <a:p>
            <a:pPr algn="l">
              <a:spcAft>
                <a:spcPts val="200"/>
              </a:spcAft>
              <a:defRPr sz="1950" b="1">
                <a:solidFill>
                  <a:srgbClr val="003366"/>
                </a:solidFill>
                <a:latin typeface="Arial"/>
              </a:defRPr>
            </a:pPr>
            <a:r>
              <a:t>Удельная поверхность S_уд ∝ 1/a — главный геометрический драйвер наносистем</a:t>
            </a:r>
          </a:p>
          <a:p>
            <a:pPr algn="l">
              <a:defRPr sz="1200" i="1">
                <a:solidFill>
                  <a:srgbClr val="5A6978"/>
                </a:solidFill>
                <a:latin typeface="Arial"/>
              </a:defRPr>
            </a:pPr>
            <a:r>
              <a:t>Блок 1. Классификация и количественные параметры дисперсных систем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24128"/>
            <a:ext cx="11277295" cy="27432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143000"/>
            <a:ext cx="4892040" cy="2249424"/>
          </a:xfrm>
          <a:prstGeom prst="roundRect">
            <a:avLst/>
          </a:prstGeom>
          <a:solidFill>
            <a:srgbClr val="F4F7FA"/>
          </a:solidFill>
          <a:ln w="13970">
            <a:solidFill>
              <a:srgbClr val="C8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28016" tIns="91440" bIns="73152"/>
          <a:lstStyle/>
          <a:p>
            <a:pPr algn="l">
              <a:spcAft>
                <a:spcPts val="400"/>
              </a:spcAft>
              <a:defRPr sz="1320" b="1">
                <a:solidFill>
                  <a:srgbClr val="003366"/>
                </a:solidFill>
                <a:latin typeface="Arial"/>
              </a:defRPr>
            </a:pPr>
            <a:r>
              <a:t>1. Дисперсность D и удельная поверхность S_уд</a:t>
            </a:r>
          </a:p>
          <a:p>
            <a:pPr algn="l">
              <a:spcAft>
                <a:spcPts val="250"/>
              </a:spcAft>
              <a:defRPr sz="1140">
                <a:solidFill>
                  <a:srgbClr val="222222"/>
                </a:solidFill>
                <a:latin typeface="Arial"/>
              </a:defRPr>
            </a:pPr>
            <a:r>
              <a:t>• Дисперсная система состоит из дисперсной фазы (размер a) и сплошной дисперсионной среды.</a:t>
            </a:r>
          </a:p>
          <a:p>
            <a:pPr algn="l">
              <a:spcAft>
                <a:spcPts val="250"/>
              </a:spcAft>
              <a:defRPr sz="1140">
                <a:solidFill>
                  <a:srgbClr val="222222"/>
                </a:solidFill>
                <a:latin typeface="Arial"/>
              </a:defRPr>
            </a:pPr>
            <a:r>
              <a:t>• Дисперсность D = 1/a [м⁻¹] определяет удельную площадь фазовой границы:</a:t>
            </a:r>
          </a:p>
          <a:p>
            <a:pPr algn="l">
              <a:spcBef>
                <a:spcPts val="150"/>
              </a:spcBef>
              <a:spcAft>
                <a:spcPts val="250"/>
              </a:spcAft>
              <a:defRPr sz="1180" b="1">
                <a:solidFill>
                  <a:srgbClr val="0066CC"/>
                </a:solidFill>
                <a:latin typeface="Arial"/>
              </a:defRPr>
            </a:pPr>
            <a:r>
              <a:t>   S_уд = S / V = k / a,     S_уд^(m) = S / m = k / (ρ · a)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3502152"/>
            <a:ext cx="4892040" cy="2340864"/>
          </a:xfrm>
          <a:prstGeom prst="roundRect">
            <a:avLst/>
          </a:prstGeom>
          <a:solidFill>
            <a:srgbClr val="F4F7FA"/>
          </a:solidFill>
          <a:ln w="13970">
            <a:solidFill>
              <a:srgbClr val="C8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28016" tIns="91440" bIns="73152"/>
          <a:lstStyle/>
          <a:p>
            <a:pPr algn="l">
              <a:spcAft>
                <a:spcPts val="400"/>
              </a:spcAft>
              <a:defRPr sz="1320" b="1">
                <a:solidFill>
                  <a:srgbClr val="003366"/>
                </a:solidFill>
                <a:latin typeface="Arial"/>
              </a:defRPr>
            </a:pPr>
            <a:r>
              <a:t>2. Правило «6 – 4 – 2» для фактора формы k</a:t>
            </a:r>
          </a:p>
          <a:p>
            <a:pPr algn="l">
              <a:spcAft>
                <a:spcPts val="250"/>
              </a:spcAft>
              <a:defRPr sz="1140">
                <a:solidFill>
                  <a:srgbClr val="222222"/>
                </a:solidFill>
                <a:latin typeface="Arial"/>
              </a:defRPr>
            </a:pPr>
            <a:r>
              <a:t>• Фактор формы k строго зависит от размерности наноструктуры:</a:t>
            </a:r>
          </a:p>
          <a:p>
            <a:pPr algn="l">
              <a:spcAft>
                <a:spcPts val="200"/>
              </a:spcAft>
              <a:defRPr sz="1120">
                <a:solidFill>
                  <a:srgbClr val="222222"/>
                </a:solidFill>
                <a:latin typeface="Arial"/>
              </a:defRPr>
            </a:pPr>
            <a:r>
              <a:t>  - k = 6 — 3D-наночастицы (сфера, куб); k = 4 — 1D-нити; k = 2 — 2D-пленки.</a:t>
            </a:r>
          </a:p>
          <a:p>
            <a:pPr algn="l">
              <a:spcBef>
                <a:spcPts val="150"/>
              </a:spcBef>
              <a:spcAft>
                <a:spcPts val="250"/>
              </a:spcAft>
              <a:defRPr sz="1180" b="1">
                <a:solidFill>
                  <a:srgbClr val="0066CC"/>
                </a:solidFill>
                <a:latin typeface="Arial"/>
              </a:defRPr>
            </a:pPr>
            <a:r>
              <a:t>   Избыточная свободная энергия границы:  ΔG_s = σ · S ∝ 1 / 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0" y="1143000"/>
            <a:ext cx="6245352" cy="4709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ig_02_specific_surfa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59552" y="1221815"/>
            <a:ext cx="6099048" cy="4551528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457200" y="6080760"/>
            <a:ext cx="11277295" cy="502920"/>
          </a:xfrm>
          <a:prstGeom prst="roundRect">
            <a:avLst/>
          </a:prstGeom>
          <a:solidFill>
            <a:srgbClr val="E8F2FC"/>
          </a:solidFill>
          <a:ln w="1524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50" b="1">
                <a:solidFill>
                  <a:srgbClr val="003366"/>
                </a:solidFill>
                <a:latin typeface="Arial"/>
              </a:defRPr>
            </a:pPr>
            <a:r>
              <a:t>Ключевой вывод: При дроблении вещества от 1 см до наночастиц 10 нм площадь поверхности и поверхностная энергия Гиббса возрастают в 1 000 000 раз.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19456"/>
            <a:ext cx="11277295" cy="777240"/>
          </a:xfrm>
          <a:prstGeom prst="rect">
            <a:avLst/>
          </a:prstGeom>
          <a:noFill/>
        </p:spPr>
        <p:txBody>
          <a:bodyPr wrap="square" anchor="t" tIns="18288" bIns="18288">
            <a:spAutoFit/>
          </a:bodyPr>
          <a:lstStyle/>
          <a:p>
            <a:pPr algn="l">
              <a:spcAft>
                <a:spcPts val="200"/>
              </a:spcAft>
              <a:defRPr sz="1950" b="1">
                <a:solidFill>
                  <a:srgbClr val="003366"/>
                </a:solidFill>
                <a:latin typeface="Arial"/>
              </a:defRPr>
            </a:pPr>
            <a:r>
              <a:t>Классификация дисперсных систем: размер, агрегатное состояние и лиофильность</a:t>
            </a:r>
          </a:p>
          <a:p>
            <a:pPr algn="l">
              <a:defRPr sz="1200" i="1">
                <a:solidFill>
                  <a:srgbClr val="5A6978"/>
                </a:solidFill>
                <a:latin typeface="Arial"/>
              </a:defRPr>
            </a:pPr>
            <a:r>
              <a:t>Блок 1. Систематика коллоидных и нанодисперсных материалов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24128"/>
            <a:ext cx="11277295" cy="27432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143000"/>
            <a:ext cx="4892040" cy="2249424"/>
          </a:xfrm>
          <a:prstGeom prst="roundRect">
            <a:avLst/>
          </a:prstGeom>
          <a:solidFill>
            <a:srgbClr val="F4F7FA"/>
          </a:solidFill>
          <a:ln w="13970">
            <a:solidFill>
              <a:srgbClr val="C8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28016" tIns="91440" bIns="73152"/>
          <a:lstStyle/>
          <a:p>
            <a:pPr algn="l">
              <a:spcAft>
                <a:spcPts val="400"/>
              </a:spcAft>
              <a:defRPr sz="1320" b="1">
                <a:solidFill>
                  <a:srgbClr val="003366"/>
                </a:solidFill>
                <a:latin typeface="Arial"/>
              </a:defRPr>
            </a:pPr>
            <a:r>
              <a:t>1. Классификация по размеру дисперсной фазы</a:t>
            </a:r>
          </a:p>
          <a:p>
            <a:pPr algn="l">
              <a:spcAft>
                <a:spcPts val="250"/>
              </a:spcAft>
              <a:defRPr sz="1140">
                <a:solidFill>
                  <a:srgbClr val="222222"/>
                </a:solidFill>
                <a:latin typeface="Arial"/>
              </a:defRPr>
            </a:pPr>
            <a:r>
              <a:t>• Нанодисперсные (коллоидные) системы занимают фундаментальный диапазон 1–100 нм.</a:t>
            </a:r>
          </a:p>
          <a:p>
            <a:pPr algn="l">
              <a:spcAft>
                <a:spcPts val="250"/>
              </a:spcAft>
              <a:defRPr sz="1140">
                <a:solidFill>
                  <a:srgbClr val="222222"/>
                </a:solidFill>
                <a:latin typeface="Arial"/>
              </a:defRPr>
            </a:pPr>
            <a:r>
              <a:t>• Грубодисперсные (a &gt; 10 мкм) быстро седиментируют; истинные растворы (a &lt; 1 нм) однофазны.</a:t>
            </a:r>
          </a:p>
          <a:p>
            <a:pPr algn="l">
              <a:spcBef>
                <a:spcPts val="150"/>
              </a:spcBef>
              <a:spcAft>
                <a:spcPts val="250"/>
              </a:spcAft>
              <a:defRPr sz="1180" b="1">
                <a:solidFill>
                  <a:srgbClr val="0066CC"/>
                </a:solidFill>
                <a:latin typeface="Arial"/>
              </a:defRPr>
            </a:pPr>
            <a:r>
              <a:t>   a = 1–100 нм (10⁻⁹–10⁻⁷ м): нанозоли, квантовые точки, мицеллы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3502152"/>
            <a:ext cx="4892040" cy="2340864"/>
          </a:xfrm>
          <a:prstGeom prst="roundRect">
            <a:avLst/>
          </a:prstGeom>
          <a:solidFill>
            <a:srgbClr val="F4F7FA"/>
          </a:solidFill>
          <a:ln w="13970">
            <a:solidFill>
              <a:srgbClr val="C8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28016" tIns="91440" bIns="73152"/>
          <a:lstStyle/>
          <a:p>
            <a:pPr algn="l">
              <a:spcAft>
                <a:spcPts val="400"/>
              </a:spcAft>
              <a:defRPr sz="1320" b="1">
                <a:solidFill>
                  <a:srgbClr val="003366"/>
                </a:solidFill>
                <a:latin typeface="Arial"/>
              </a:defRPr>
            </a:pPr>
            <a:r>
              <a:t>2. Лиофильные vs Лиофобные системы (критерий Ребиндера)</a:t>
            </a:r>
          </a:p>
          <a:p>
            <a:pPr algn="l">
              <a:spcAft>
                <a:spcPts val="250"/>
              </a:spcAft>
              <a:defRPr sz="1140">
                <a:solidFill>
                  <a:srgbClr val="222222"/>
                </a:solidFill>
                <a:latin typeface="Arial"/>
              </a:defRPr>
            </a:pPr>
            <a:r>
              <a:t>• Лиофильные (ПАВ, растворы биополимеров): σ ≈ 0, термодинамически устойчивы (ΔG_обр &lt; 0).</a:t>
            </a:r>
          </a:p>
          <a:p>
            <a:pPr algn="l">
              <a:spcAft>
                <a:spcPts val="250"/>
              </a:spcAft>
              <a:defRPr sz="1140">
                <a:solidFill>
                  <a:srgbClr val="222222"/>
                </a:solidFill>
                <a:latin typeface="Arial"/>
              </a:defRPr>
            </a:pPr>
            <a:r>
              <a:t>• Лиофобные нанозоли (Au, Ag, Fe(OH)₃): высокое натяжение σ ≫ 0, термодинамически нестабильны:</a:t>
            </a:r>
          </a:p>
          <a:p>
            <a:pPr algn="l">
              <a:spcBef>
                <a:spcPts val="150"/>
              </a:spcBef>
              <a:spcAft>
                <a:spcPts val="250"/>
              </a:spcAft>
              <a:defRPr sz="1180" b="1">
                <a:solidFill>
                  <a:srgbClr val="0066CC"/>
                </a:solidFill>
                <a:latin typeface="Arial"/>
              </a:defRPr>
            </a:pPr>
            <a:r>
              <a:t>   ΔG_обр = σ · S &gt; 0   (существуют исключительно благодаря ДЭС)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0" y="1143000"/>
            <a:ext cx="6245352" cy="4709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ig_03_classificati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89612" y="1216152"/>
            <a:ext cx="6038927" cy="4562856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457200" y="6080760"/>
            <a:ext cx="11277295" cy="502920"/>
          </a:xfrm>
          <a:prstGeom prst="roundRect">
            <a:avLst/>
          </a:prstGeom>
          <a:solidFill>
            <a:srgbClr val="E8F2FC"/>
          </a:solidFill>
          <a:ln w="1524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50" b="1">
                <a:solidFill>
                  <a:srgbClr val="003366"/>
                </a:solidFill>
                <a:latin typeface="Arial"/>
              </a:defRPr>
            </a:pPr>
            <a:r>
              <a:t>Ключевой вывод: Неорганические нанозоли (Au, Ag, Fe(OH)₃) являются лиофобными системами (ΔG &gt; 0) и требуют электростатического барьера ДЭС для предотвращения коагуляции.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19456"/>
            <a:ext cx="11277295" cy="777240"/>
          </a:xfrm>
          <a:prstGeom prst="rect">
            <a:avLst/>
          </a:prstGeom>
          <a:noFill/>
        </p:spPr>
        <p:txBody>
          <a:bodyPr wrap="square" anchor="t" tIns="18288" bIns="18288">
            <a:spAutoFit/>
          </a:bodyPr>
          <a:lstStyle/>
          <a:p>
            <a:pPr algn="l">
              <a:spcAft>
                <a:spcPts val="200"/>
              </a:spcAft>
              <a:defRPr sz="1950" b="1">
                <a:solidFill>
                  <a:srgbClr val="003366"/>
                </a:solidFill>
                <a:latin typeface="Arial"/>
              </a:defRPr>
            </a:pPr>
            <a:r>
              <a:t>От золя к гелю, ксерогелю и аэрогелю: эволюция связности наносистемы</a:t>
            </a:r>
          </a:p>
          <a:p>
            <a:pPr algn="l">
              <a:defRPr sz="1200" i="1">
                <a:solidFill>
                  <a:srgbClr val="5A6978"/>
                </a:solidFill>
                <a:latin typeface="Arial"/>
              </a:defRPr>
            </a:pPr>
            <a:r>
              <a:t>Блок 1. Золь-гель переход и капиллярная инженерия нанопористых материалов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24128"/>
            <a:ext cx="11277295" cy="27432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143000"/>
            <a:ext cx="5486400" cy="1298448"/>
          </a:xfrm>
          <a:prstGeom prst="roundRect">
            <a:avLst/>
          </a:prstGeom>
          <a:solidFill>
            <a:srgbClr val="F4F7FA"/>
          </a:solidFill>
          <a:ln w="13970">
            <a:solidFill>
              <a:srgbClr val="C8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28016" tIns="91440" bIns="73152"/>
          <a:lstStyle/>
          <a:p>
            <a:pPr algn="l">
              <a:spcAft>
                <a:spcPts val="400"/>
              </a:spcAft>
              <a:defRPr sz="1320" b="1">
                <a:solidFill>
                  <a:srgbClr val="003366"/>
                </a:solidFill>
                <a:latin typeface="Arial"/>
              </a:defRPr>
            </a:pPr>
            <a:r>
              <a:t>1. Золь (свободнодисперсный) → Гель (связнодисперсный)</a:t>
            </a:r>
          </a:p>
          <a:p>
            <a:pPr algn="l">
              <a:spcAft>
                <a:spcPts val="250"/>
              </a:spcAft>
              <a:defRPr sz="1120">
                <a:solidFill>
                  <a:srgbClr val="222222"/>
                </a:solidFill>
                <a:latin typeface="Arial"/>
              </a:defRPr>
            </a:pPr>
            <a:r>
              <a:t>• Золь: изолированные наночастицы совершают броуновское движение в растворе.</a:t>
            </a:r>
          </a:p>
          <a:p>
            <a:pPr algn="l">
              <a:spcAft>
                <a:spcPts val="250"/>
              </a:spcAft>
              <a:defRPr sz="1120">
                <a:solidFill>
                  <a:srgbClr val="222222"/>
                </a:solidFill>
                <a:latin typeface="Arial"/>
              </a:defRPr>
            </a:pPr>
            <a:r>
              <a:t>• Гель: агрегация и сшивка формируют единый перколяционный 3D-каркас с запертой средой.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143000"/>
            <a:ext cx="5516575" cy="1298448"/>
          </a:xfrm>
          <a:prstGeom prst="roundRect">
            <a:avLst/>
          </a:prstGeom>
          <a:solidFill>
            <a:srgbClr val="F4F7FA"/>
          </a:solidFill>
          <a:ln w="13970">
            <a:solidFill>
              <a:srgbClr val="C8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28016" tIns="91440" bIns="73152"/>
          <a:lstStyle/>
          <a:p>
            <a:pPr algn="l">
              <a:spcAft>
                <a:spcPts val="400"/>
              </a:spcAft>
              <a:defRPr sz="1320" b="1">
                <a:solidFill>
                  <a:srgbClr val="003366"/>
                </a:solidFill>
                <a:latin typeface="Arial"/>
              </a:defRPr>
            </a:pPr>
            <a:r>
              <a:t>2. Капиллярный коллапс Лапласа vs Сверхкритическая сушка</a:t>
            </a:r>
          </a:p>
          <a:p>
            <a:pPr algn="l">
              <a:spcAft>
                <a:spcPts val="250"/>
              </a:spcAft>
              <a:defRPr sz="1120">
                <a:solidFill>
                  <a:srgbClr val="222222"/>
                </a:solidFill>
                <a:latin typeface="Arial"/>
              </a:defRPr>
            </a:pPr>
            <a:r>
              <a:t>• Сушка испарением: капиллярное давление P_L = 2σ/r (до сотен МПа) сминает каркас в ксерогель.</a:t>
            </a:r>
          </a:p>
          <a:p>
            <a:pPr algn="l">
              <a:spcAft>
                <a:spcPts val="250"/>
              </a:spcAft>
              <a:defRPr sz="1120">
                <a:solidFill>
                  <a:srgbClr val="222222"/>
                </a:solidFill>
                <a:latin typeface="Arial"/>
              </a:defRPr>
            </a:pPr>
            <a:r>
              <a:t>• Сверхкритическая сушка (T &gt; T_c, P &gt; P_c): σ = 0 исключает мениски → пористый аэрогель (&gt;95% пор).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542032"/>
            <a:ext cx="11277295" cy="3364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ig_04_sol_gel_xerog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816" y="2615184"/>
            <a:ext cx="10968062" cy="3218688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457200" y="6080760"/>
            <a:ext cx="11277295" cy="502920"/>
          </a:xfrm>
          <a:prstGeom prst="roundRect">
            <a:avLst/>
          </a:prstGeom>
          <a:solidFill>
            <a:srgbClr val="E8F2FC"/>
          </a:solidFill>
          <a:ln w="1524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50" b="1">
                <a:solidFill>
                  <a:srgbClr val="003366"/>
                </a:solidFill>
                <a:latin typeface="Arial"/>
              </a:defRPr>
            </a:pPr>
            <a:r>
              <a:t>Ключевой вывод: Управление капиллярным давлением Лапласа при сушке геля определяет переход либо в уплотненный ксерогель, либо в ультрапористый аэрогель.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19456"/>
            <a:ext cx="11277295" cy="777240"/>
          </a:xfrm>
          <a:prstGeom prst="rect">
            <a:avLst/>
          </a:prstGeom>
          <a:noFill/>
        </p:spPr>
        <p:txBody>
          <a:bodyPr wrap="square" anchor="t" tIns="18288" bIns="18288">
            <a:spAutoFit/>
          </a:bodyPr>
          <a:lstStyle/>
          <a:p>
            <a:pPr algn="l">
              <a:spcAft>
                <a:spcPts val="200"/>
              </a:spcAft>
              <a:defRPr sz="1950" b="1">
                <a:solidFill>
                  <a:srgbClr val="003366"/>
                </a:solidFill>
                <a:latin typeface="Arial"/>
              </a:defRPr>
            </a:pPr>
            <a:r>
              <a:t>Цеолиты — регулярные микропористые кристаллы и молекулярные сита</a:t>
            </a:r>
          </a:p>
          <a:p>
            <a:pPr algn="l">
              <a:defRPr sz="1200" i="1">
                <a:solidFill>
                  <a:srgbClr val="5A6978"/>
                </a:solidFill>
                <a:latin typeface="Arial"/>
              </a:defRPr>
            </a:pPr>
            <a:r>
              <a:t>Блок 1. Кристаллические связнодисперсные системы с калиброванными наноканалами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24128"/>
            <a:ext cx="11277295" cy="27432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143000"/>
            <a:ext cx="4892040" cy="2249424"/>
          </a:xfrm>
          <a:prstGeom prst="roundRect">
            <a:avLst/>
          </a:prstGeom>
          <a:solidFill>
            <a:srgbClr val="F4F7FA"/>
          </a:solidFill>
          <a:ln w="13970">
            <a:solidFill>
              <a:srgbClr val="C8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28016" tIns="91440" bIns="73152"/>
          <a:lstStyle/>
          <a:p>
            <a:pPr algn="l">
              <a:spcAft>
                <a:spcPts val="400"/>
              </a:spcAft>
              <a:defRPr sz="1320" b="1">
                <a:solidFill>
                  <a:srgbClr val="003366"/>
                </a:solidFill>
                <a:latin typeface="Arial"/>
              </a:defRPr>
            </a:pPr>
            <a:r>
              <a:t>1. Кристаллическая природа микропористых цеолитов</a:t>
            </a:r>
          </a:p>
          <a:p>
            <a:pPr algn="l">
              <a:spcAft>
                <a:spcPts val="250"/>
              </a:spcAft>
              <a:defRPr sz="1140">
                <a:solidFill>
                  <a:srgbClr val="222222"/>
                </a:solidFill>
                <a:latin typeface="Arial"/>
              </a:defRPr>
            </a:pPr>
            <a:r>
              <a:t>• Каркас из тетраэдров [SiO₄]⁴⁻ и [AlO₄]⁵⁻ образует регулярную 3D-систему субнанометровых каналов.</a:t>
            </a:r>
          </a:p>
          <a:p>
            <a:pPr algn="l">
              <a:spcAft>
                <a:spcPts val="250"/>
              </a:spcAft>
              <a:defRPr sz="1140">
                <a:solidFill>
                  <a:srgbClr val="222222"/>
                </a:solidFill>
                <a:latin typeface="Arial"/>
              </a:defRPr>
            </a:pPr>
            <a:r>
              <a:t>• Изоморфное замещение Si⁴⁺ → Al³⁺ сообщает каркасу отрицательный заряд, удерживающий катионы (Na⁺, Ca²⁺).</a:t>
            </a:r>
          </a:p>
          <a:p>
            <a:pPr algn="l">
              <a:spcBef>
                <a:spcPts val="150"/>
              </a:spcBef>
              <a:spcAft>
                <a:spcPts val="250"/>
              </a:spcAft>
              <a:defRPr sz="1180" b="1">
                <a:solidFill>
                  <a:srgbClr val="0066CC"/>
                </a:solidFill>
                <a:latin typeface="Arial"/>
              </a:defRPr>
            </a:pPr>
            <a:r>
              <a:t>   d_окна = 0.3 – 1.0 нм   (строго монодисперсные субнанометровые поры)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3502152"/>
            <a:ext cx="4892040" cy="2340864"/>
          </a:xfrm>
          <a:prstGeom prst="roundRect">
            <a:avLst/>
          </a:prstGeom>
          <a:solidFill>
            <a:srgbClr val="F4F7FA"/>
          </a:solidFill>
          <a:ln w="13970">
            <a:solidFill>
              <a:srgbClr val="C8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28016" tIns="91440" bIns="73152"/>
          <a:lstStyle/>
          <a:p>
            <a:pPr algn="l">
              <a:spcAft>
                <a:spcPts val="400"/>
              </a:spcAft>
              <a:defRPr sz="1320" b="1">
                <a:solidFill>
                  <a:srgbClr val="003366"/>
                </a:solidFill>
                <a:latin typeface="Arial"/>
              </a:defRPr>
            </a:pPr>
            <a:r>
              <a:t>2. Молекулярные сита и матричные нанореакторы</a:t>
            </a:r>
          </a:p>
          <a:p>
            <a:pPr algn="l">
              <a:spcAft>
                <a:spcPts val="250"/>
              </a:spcAft>
              <a:defRPr sz="1140">
                <a:solidFill>
                  <a:srgbClr val="222222"/>
                </a:solidFill>
                <a:latin typeface="Arial"/>
              </a:defRPr>
            </a:pPr>
            <a:r>
              <a:t>• Молекулярные сита: точная кинетическая сепарация молекул по их критическому диаметру.</a:t>
            </a:r>
          </a:p>
          <a:p>
            <a:pPr algn="l">
              <a:spcAft>
                <a:spcPts val="250"/>
              </a:spcAft>
              <a:defRPr sz="1140">
                <a:solidFill>
                  <a:srgbClr val="222222"/>
                </a:solidFill>
                <a:latin typeface="Arial"/>
              </a:defRPr>
            </a:pPr>
            <a:r>
              <a:t>• Гетерогенный нанокатализ: высокая плотность активных кислотных центров в объеме пор.</a:t>
            </a:r>
          </a:p>
          <a:p>
            <a:pPr algn="l">
              <a:spcAft>
                <a:spcPts val="250"/>
              </a:spcAft>
              <a:defRPr sz="1140">
                <a:solidFill>
                  <a:srgbClr val="222222"/>
                </a:solidFill>
                <a:latin typeface="Arial"/>
              </a:defRPr>
            </a:pPr>
            <a:r>
              <a:t>• Матричный синтез (нанореакторы): пространственно ограниченный рост квантовых точек строго заданного размера.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0" y="1143000"/>
            <a:ext cx="6245352" cy="4709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ig_05_zeolit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59552" y="1378874"/>
            <a:ext cx="6099048" cy="4237411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457200" y="6080760"/>
            <a:ext cx="11277295" cy="502920"/>
          </a:xfrm>
          <a:prstGeom prst="roundRect">
            <a:avLst/>
          </a:prstGeom>
          <a:solidFill>
            <a:srgbClr val="E8F2FC"/>
          </a:solidFill>
          <a:ln w="1524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50" b="1">
                <a:solidFill>
                  <a:srgbClr val="003366"/>
                </a:solidFill>
                <a:latin typeface="Arial"/>
              </a:defRPr>
            </a:pPr>
            <a:r>
              <a:t>Ключевой вывод: Цеолиты сочетают удельную площадь до 1000 м²/г с кристаллографической монодисперсностью входных окон (0.3–1.0 нм), функционируя как сита и нанореакторы.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19456"/>
            <a:ext cx="11277295" cy="777240"/>
          </a:xfrm>
          <a:prstGeom prst="rect">
            <a:avLst/>
          </a:prstGeom>
          <a:noFill/>
        </p:spPr>
        <p:txBody>
          <a:bodyPr wrap="square" anchor="t" tIns="18288" bIns="18288">
            <a:spAutoFit/>
          </a:bodyPr>
          <a:lstStyle/>
          <a:p>
            <a:pPr algn="l">
              <a:spcAft>
                <a:spcPts val="200"/>
              </a:spcAft>
              <a:defRPr sz="1950" b="1">
                <a:solidFill>
                  <a:srgbClr val="003366"/>
                </a:solidFill>
                <a:latin typeface="Arial"/>
              </a:defRPr>
            </a:pPr>
            <a:r>
              <a:t>Строение коллоидной мицеллы и правило Панета–Фаянса–Пескова</a:t>
            </a:r>
          </a:p>
          <a:p>
            <a:pPr algn="l">
              <a:defRPr sz="1200" i="1">
                <a:solidFill>
                  <a:srgbClr val="5A6978"/>
                </a:solidFill>
                <a:latin typeface="Arial"/>
              </a:defRPr>
            </a:pPr>
            <a:r>
              <a:t>Блок 2. Строение мицеллы неорганических веществ и двойной электрический слой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24128"/>
            <a:ext cx="11277295" cy="27432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143000"/>
            <a:ext cx="4892040" cy="2112264"/>
          </a:xfrm>
          <a:prstGeom prst="roundRect">
            <a:avLst/>
          </a:prstGeom>
          <a:solidFill>
            <a:srgbClr val="F4F7FA"/>
          </a:solidFill>
          <a:ln w="13970">
            <a:solidFill>
              <a:srgbClr val="C8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28016" tIns="91440" bIns="73152"/>
          <a:lstStyle/>
          <a:p>
            <a:pPr algn="l">
              <a:spcAft>
                <a:spcPts val="400"/>
              </a:spcAft>
              <a:defRPr sz="1320" b="1">
                <a:solidFill>
                  <a:srgbClr val="003366"/>
                </a:solidFill>
                <a:latin typeface="Arial"/>
              </a:defRPr>
            </a:pPr>
            <a:r>
              <a:t>1. Правило Панета–Фаянса («Кто заряжает ядро?»)</a:t>
            </a:r>
          </a:p>
          <a:p>
            <a:pPr algn="l">
              <a:spcAft>
                <a:spcPts val="250"/>
              </a:spcAft>
              <a:defRPr sz="1140">
                <a:solidFill>
                  <a:srgbClr val="222222"/>
                </a:solidFill>
                <a:latin typeface="Arial"/>
              </a:defRPr>
            </a:pPr>
            <a:r>
              <a:t>• Кристаллическое ядро избирательно адсорбирует из раствора только «РОДНЫЕ» ионы (потенциалопределяющие ионы — ПОИ):</a:t>
            </a:r>
          </a:p>
          <a:p>
            <a:pPr algn="l">
              <a:spcAft>
                <a:spcPts val="200"/>
              </a:spcAft>
              <a:defRPr sz="1120">
                <a:solidFill>
                  <a:srgbClr val="222222"/>
                </a:solidFill>
                <a:latin typeface="Arial"/>
              </a:defRPr>
            </a:pPr>
            <a:r>
              <a:t>  - те ионы, которые входят в состав самой решетки ядра;</a:t>
            </a:r>
          </a:p>
          <a:p>
            <a:pPr algn="l">
              <a:spcAft>
                <a:spcPts val="200"/>
              </a:spcAft>
              <a:defRPr sz="1120">
                <a:solidFill>
                  <a:srgbClr val="222222"/>
                </a:solidFill>
                <a:latin typeface="Arial"/>
              </a:defRPr>
            </a:pPr>
            <a:r>
              <a:t>  - и при этом находятся в растворе в ИЗБЫТКЕ!</a:t>
            </a:r>
          </a:p>
          <a:p>
            <a:pPr algn="l">
              <a:spcAft>
                <a:spcPts val="250"/>
              </a:spcAft>
              <a:defRPr sz="1140">
                <a:solidFill>
                  <a:srgbClr val="222222"/>
                </a:solidFill>
                <a:latin typeface="Arial"/>
              </a:defRPr>
            </a:pPr>
            <a:r>
              <a:t>• Именно знак заряда ПОИ определяет знак заряда всей гранулы.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3364992"/>
            <a:ext cx="4892040" cy="2478024"/>
          </a:xfrm>
          <a:prstGeom prst="roundRect">
            <a:avLst/>
          </a:prstGeom>
          <a:solidFill>
            <a:srgbClr val="F4F7FA"/>
          </a:solidFill>
          <a:ln w="13970">
            <a:solidFill>
              <a:srgbClr val="C8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28016" tIns="91440" bIns="73152"/>
          <a:lstStyle/>
          <a:p>
            <a:pPr algn="l">
              <a:spcAft>
                <a:spcPts val="400"/>
              </a:spcAft>
              <a:defRPr sz="1320" b="1">
                <a:solidFill>
                  <a:srgbClr val="003366"/>
                </a:solidFill>
                <a:latin typeface="Arial"/>
              </a:defRPr>
            </a:pPr>
            <a:r>
              <a:t>2. Алгоритм сборки мицеллы за 4 шага (Навык №1)</a:t>
            </a:r>
          </a:p>
          <a:p>
            <a:pPr algn="l">
              <a:spcAft>
                <a:spcPts val="250"/>
              </a:spcAft>
              <a:defRPr sz="1140">
                <a:solidFill>
                  <a:srgbClr val="222222"/>
                </a:solidFill>
                <a:latin typeface="Arial"/>
              </a:defRPr>
            </a:pPr>
            <a:r>
              <a:t>• Шаг 1 (Агрегат): нерастворимое кристаллическое ядро [M]_m (заряд 0).</a:t>
            </a:r>
          </a:p>
          <a:p>
            <a:pPr algn="l">
              <a:spcAft>
                <a:spcPts val="250"/>
              </a:spcAft>
              <a:defRPr sz="1140">
                <a:solidFill>
                  <a:srgbClr val="222222"/>
                </a:solidFill>
                <a:latin typeface="Arial"/>
              </a:defRPr>
            </a:pPr>
            <a:r>
              <a:t>• Шаг 2 (Ядро): сажаем n родных ионов из избытка → [M]_m · n ПОИ⁺.</a:t>
            </a:r>
          </a:p>
          <a:p>
            <a:pPr algn="l">
              <a:spcAft>
                <a:spcPts val="250"/>
              </a:spcAft>
              <a:defRPr sz="1140">
                <a:solidFill>
                  <a:srgbClr val="222222"/>
                </a:solidFill>
                <a:latin typeface="Arial"/>
              </a:defRPr>
            </a:pPr>
            <a:r>
              <a:t>• Шаг 3 (Гранула): добавляем (n−x) противоионов плотного слоя в скобки { ... }^(x+) — гранула ЗАРЯЖЕНА!</a:t>
            </a:r>
          </a:p>
          <a:p>
            <a:pPr algn="l">
              <a:spcAft>
                <a:spcPts val="250"/>
              </a:spcAft>
              <a:defRPr sz="1140">
                <a:solidFill>
                  <a:srgbClr val="222222"/>
                </a:solidFill>
                <a:latin typeface="Arial"/>
              </a:defRPr>
            </a:pPr>
            <a:r>
              <a:t>• Шаг 4 (Мицелла): пишем x противоионов диффузного слоя за скобкой:</a:t>
            </a:r>
          </a:p>
          <a:p>
            <a:pPr algn="l">
              <a:spcBef>
                <a:spcPts val="150"/>
              </a:spcBef>
              <a:spcAft>
                <a:spcPts val="250"/>
              </a:spcAft>
              <a:defRPr sz="1180" b="1">
                <a:solidFill>
                  <a:srgbClr val="0066CC"/>
                </a:solidFill>
                <a:latin typeface="Arial"/>
              </a:defRPr>
            </a:pPr>
            <a:r>
              <a:t>   { [M]_m · n ПОИ⁺ · (n − x) ПИ⁻ }^(x+) · x ПИ⁻   (заряд = 0!)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0" y="1143000"/>
            <a:ext cx="6245352" cy="4709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ig_06_micelle_anatom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24699" y="1216152"/>
            <a:ext cx="5768753" cy="4562856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457200" y="6080760"/>
            <a:ext cx="11277295" cy="502920"/>
          </a:xfrm>
          <a:prstGeom prst="roundRect">
            <a:avLst/>
          </a:prstGeom>
          <a:solidFill>
            <a:srgbClr val="E8F2FC"/>
          </a:solidFill>
          <a:ln w="1524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50" b="1">
                <a:solidFill>
                  <a:srgbClr val="003366"/>
                </a:solidFill>
                <a:latin typeface="Arial"/>
              </a:defRPr>
            </a:pPr>
            <a:r>
              <a:t>Ключевой вывод: Гранула (коллоидная частица внутри плоскости скольжения) обладает нескомпенсированным зарядом ±x, но вся мицелла в целом строго электронейтральна!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19456"/>
            <a:ext cx="11277295" cy="777240"/>
          </a:xfrm>
          <a:prstGeom prst="rect">
            <a:avLst/>
          </a:prstGeom>
          <a:noFill/>
        </p:spPr>
        <p:txBody>
          <a:bodyPr wrap="square" anchor="t" tIns="18288" bIns="18288">
            <a:spAutoFit/>
          </a:bodyPr>
          <a:lstStyle/>
          <a:p>
            <a:pPr algn="l">
              <a:spcAft>
                <a:spcPts val="200"/>
              </a:spcAft>
              <a:defRPr sz="1950" b="1">
                <a:solidFill>
                  <a:srgbClr val="003366"/>
                </a:solidFill>
                <a:latin typeface="Arial"/>
              </a:defRPr>
            </a:pPr>
            <a:r>
              <a:t>Формулы мицелл: перезарядка золя AgI и гидрозоль Fe(OH)₃</a:t>
            </a:r>
          </a:p>
          <a:p>
            <a:pPr algn="l">
              <a:defRPr sz="1200" i="1">
                <a:solidFill>
                  <a:srgbClr val="5A6978"/>
                </a:solidFill>
                <a:latin typeface="Arial"/>
              </a:defRPr>
            </a:pPr>
            <a:r>
              <a:t>Блок 2. Практика составления мицеллярных формул неорганических гидрозолей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24128"/>
            <a:ext cx="11277295" cy="27432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143000"/>
            <a:ext cx="4892040" cy="2203704"/>
          </a:xfrm>
          <a:prstGeom prst="roundRect">
            <a:avLst/>
          </a:prstGeom>
          <a:solidFill>
            <a:srgbClr val="F4F7FA"/>
          </a:solidFill>
          <a:ln w="13970">
            <a:solidFill>
              <a:srgbClr val="C8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28016" tIns="91440" bIns="73152"/>
          <a:lstStyle/>
          <a:p>
            <a:pPr algn="l">
              <a:spcAft>
                <a:spcPts val="400"/>
              </a:spcAft>
              <a:defRPr sz="1320" b="1">
                <a:solidFill>
                  <a:srgbClr val="003366"/>
                </a:solidFill>
                <a:latin typeface="Arial"/>
              </a:defRPr>
            </a:pPr>
            <a:r>
              <a:t>1. Золь AgI: как избыток реагента меняет знак частицы</a:t>
            </a:r>
          </a:p>
          <a:p>
            <a:pPr algn="l">
              <a:spcAft>
                <a:spcPts val="250"/>
              </a:spcAft>
              <a:defRPr sz="1140">
                <a:solidFill>
                  <a:srgbClr val="222222"/>
                </a:solidFill>
                <a:latin typeface="Arial"/>
              </a:defRPr>
            </a:pPr>
            <a:r>
              <a:t>• Реакция: AgNO₃ + KI → AgI↓ + KNO₃. В решетку AgI входят Ag⁺ и I⁻.</a:t>
            </a:r>
          </a:p>
          <a:p>
            <a:pPr algn="l">
              <a:spcAft>
                <a:spcPts val="250"/>
              </a:spcAft>
              <a:defRPr sz="1140">
                <a:solidFill>
                  <a:srgbClr val="222222"/>
                </a:solidFill>
                <a:latin typeface="Arial"/>
              </a:defRPr>
            </a:pPr>
            <a:r>
              <a:t>• А) В избытке KI (лишние ионы I⁻ → ПОИ = I⁻, гранула «−»):</a:t>
            </a:r>
          </a:p>
          <a:p>
            <a:pPr algn="l">
              <a:spcBef>
                <a:spcPts val="150"/>
              </a:spcBef>
              <a:spcAft>
                <a:spcPts val="250"/>
              </a:spcAft>
              <a:defRPr sz="1180" b="1">
                <a:solidFill>
                  <a:srgbClr val="0066CC"/>
                </a:solidFill>
                <a:latin typeface="Arial"/>
              </a:defRPr>
            </a:pPr>
            <a:r>
              <a:t>   { [AgI]_m · n I⁻ · (n − x) K⁺ }^(x−) · x K⁺</a:t>
            </a:r>
          </a:p>
          <a:p>
            <a:pPr algn="l">
              <a:spcAft>
                <a:spcPts val="250"/>
              </a:spcAft>
              <a:defRPr sz="1140">
                <a:solidFill>
                  <a:srgbClr val="222222"/>
                </a:solidFill>
                <a:latin typeface="Arial"/>
              </a:defRPr>
            </a:pPr>
            <a:r>
              <a:t>• Б) В избытке AgNO₃ (лишние ионы Ag⁺ → ПОИ = Ag⁺, гранула «+»):</a:t>
            </a:r>
          </a:p>
          <a:p>
            <a:pPr algn="l">
              <a:spcBef>
                <a:spcPts val="150"/>
              </a:spcBef>
              <a:spcAft>
                <a:spcPts val="250"/>
              </a:spcAft>
              <a:defRPr sz="1180" b="1">
                <a:solidFill>
                  <a:srgbClr val="0066CC"/>
                </a:solidFill>
                <a:latin typeface="Arial"/>
              </a:defRPr>
            </a:pPr>
            <a:r>
              <a:t>   { [AgI]_m · n Ag⁺ · (n − x) NO₃⁻ }^(x+) · x NO₃⁻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3456432"/>
            <a:ext cx="4892040" cy="2386584"/>
          </a:xfrm>
          <a:prstGeom prst="roundRect">
            <a:avLst/>
          </a:prstGeom>
          <a:solidFill>
            <a:srgbClr val="F4F7FA"/>
          </a:solidFill>
          <a:ln w="13970">
            <a:solidFill>
              <a:srgbClr val="C8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28016" tIns="91440" bIns="73152"/>
          <a:lstStyle/>
          <a:p>
            <a:pPr algn="l">
              <a:spcAft>
                <a:spcPts val="400"/>
              </a:spcAft>
              <a:defRPr sz="1320" b="1">
                <a:solidFill>
                  <a:srgbClr val="003366"/>
                </a:solidFill>
                <a:latin typeface="Arial"/>
              </a:defRPr>
            </a:pPr>
            <a:r>
              <a:t>2. Классический золь Fe(OH)₃ при гидролизе в кипящей воде</a:t>
            </a:r>
          </a:p>
          <a:p>
            <a:pPr algn="l">
              <a:spcAft>
                <a:spcPts val="250"/>
              </a:spcAft>
              <a:defRPr sz="1140">
                <a:solidFill>
                  <a:srgbClr val="222222"/>
                </a:solidFill>
                <a:latin typeface="Arial"/>
              </a:defRPr>
            </a:pPr>
            <a:r>
              <a:t>• Гидролиз при 100 °C:  FeCl₃ + 3 H₂O → Fe(OH)₃↓ + 3 HCl.</a:t>
            </a:r>
          </a:p>
          <a:p>
            <a:pPr algn="l">
              <a:spcAft>
                <a:spcPts val="250"/>
              </a:spcAft>
              <a:defRPr sz="1140">
                <a:solidFill>
                  <a:srgbClr val="222222"/>
                </a:solidFill>
                <a:latin typeface="Arial"/>
              </a:defRPr>
            </a:pPr>
            <a:r>
              <a:t>• Стабилизатор FeOCl диссоциирует:  FeOCl ⇄ FeO⁺ (ПОИ) + Cl⁻ (ПИ).</a:t>
            </a:r>
          </a:p>
          <a:p>
            <a:pPr algn="l">
              <a:spcAft>
                <a:spcPts val="250"/>
              </a:spcAft>
              <a:defRPr sz="1140">
                <a:solidFill>
                  <a:srgbClr val="222222"/>
                </a:solidFill>
                <a:latin typeface="Arial"/>
              </a:defRPr>
            </a:pPr>
            <a:r>
              <a:t>• Катион FeO⁺ родной ядру → гранула Fe(OH)₃ заряжена ПОЛОЖИТЕЛЬНО:</a:t>
            </a:r>
          </a:p>
          <a:p>
            <a:pPr algn="l">
              <a:spcBef>
                <a:spcPts val="150"/>
              </a:spcBef>
              <a:spcAft>
                <a:spcPts val="250"/>
              </a:spcAft>
              <a:defRPr sz="1180" b="1">
                <a:solidFill>
                  <a:srgbClr val="0066CC"/>
                </a:solidFill>
                <a:latin typeface="Arial"/>
              </a:defRPr>
            </a:pPr>
            <a:r>
              <a:t>   { [Fe(OH)₃]_m · n FeO⁺ · (n − x) Cl⁻ }^(x+) · x Cl⁻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0" y="1143000"/>
            <a:ext cx="6245352" cy="4709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ig_07_agi_feoh3_micel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59552" y="1564127"/>
            <a:ext cx="6099048" cy="3866905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457200" y="6080760"/>
            <a:ext cx="11277295" cy="502920"/>
          </a:xfrm>
          <a:prstGeom prst="roundRect">
            <a:avLst/>
          </a:prstGeom>
          <a:solidFill>
            <a:srgbClr val="E8F2FC"/>
          </a:solidFill>
          <a:ln w="1524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50" b="1">
                <a:solidFill>
                  <a:srgbClr val="003366"/>
                </a:solidFill>
                <a:latin typeface="Arial"/>
              </a:defRPr>
            </a:pPr>
            <a:r>
              <a:t>Ключевой вывод: Гранула гидрозоля Fe(OH)₃ заряжена ПОЛОЖИТЕЛЬНО за счет адсорбции катионов FeO⁺, поэтому коагуляцию этого золя вызывают АНИОНЫ электролита!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19456"/>
            <a:ext cx="11277295" cy="777240"/>
          </a:xfrm>
          <a:prstGeom prst="rect">
            <a:avLst/>
          </a:prstGeom>
          <a:noFill/>
        </p:spPr>
        <p:txBody>
          <a:bodyPr wrap="square" anchor="t" tIns="18288" bIns="18288">
            <a:spAutoFit/>
          </a:bodyPr>
          <a:lstStyle/>
          <a:p>
            <a:pPr algn="l">
              <a:spcAft>
                <a:spcPts val="200"/>
              </a:spcAft>
              <a:defRPr sz="1950" b="1">
                <a:solidFill>
                  <a:srgbClr val="003366"/>
                </a:solidFill>
                <a:latin typeface="Arial"/>
              </a:defRPr>
            </a:pPr>
            <a:r>
              <a:t>Физические модели ДЭС: от конденсатора Гельмгольца к теории Гуи–Чепмена</a:t>
            </a:r>
          </a:p>
          <a:p>
            <a:pPr algn="l">
              <a:defRPr sz="1200" i="1">
                <a:solidFill>
                  <a:srgbClr val="5A6978"/>
                </a:solidFill>
                <a:latin typeface="Arial"/>
              </a:defRPr>
            </a:pPr>
            <a:r>
              <a:t>Блок 2. Эволюция представлений о строении двойного электрического слоя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24128"/>
            <a:ext cx="11277295" cy="27432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143000"/>
            <a:ext cx="4892040" cy="2203704"/>
          </a:xfrm>
          <a:prstGeom prst="roundRect">
            <a:avLst/>
          </a:prstGeom>
          <a:solidFill>
            <a:srgbClr val="F4F7FA"/>
          </a:solidFill>
          <a:ln w="13970">
            <a:solidFill>
              <a:srgbClr val="C8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28016" tIns="91440" bIns="73152"/>
          <a:lstStyle/>
          <a:p>
            <a:pPr algn="l">
              <a:spcAft>
                <a:spcPts val="400"/>
              </a:spcAft>
              <a:defRPr sz="1320" b="1">
                <a:solidFill>
                  <a:srgbClr val="003366"/>
                </a:solidFill>
                <a:latin typeface="Arial"/>
              </a:defRPr>
            </a:pPr>
            <a:r>
              <a:t>1. Модель Гельмгольца (1879) — «плоский конденсатор»</a:t>
            </a:r>
          </a:p>
          <a:p>
            <a:pPr algn="l">
              <a:spcAft>
                <a:spcPts val="250"/>
              </a:spcAft>
              <a:defRPr sz="1140">
                <a:solidFill>
                  <a:srgbClr val="222222"/>
                </a:solidFill>
                <a:latin typeface="Arial"/>
              </a:defRPr>
            </a:pPr>
            <a:r>
              <a:t>• Противоионы притянуты к стенке в одну шеренгу на расстоянии радиуса иона d.</a:t>
            </a:r>
          </a:p>
          <a:p>
            <a:pPr algn="l">
              <a:spcAft>
                <a:spcPts val="250"/>
              </a:spcAft>
              <a:defRPr sz="1140">
                <a:solidFill>
                  <a:srgbClr val="222222"/>
                </a:solidFill>
                <a:latin typeface="Arial"/>
              </a:defRPr>
            </a:pPr>
            <a:r>
              <a:t>• Потенциал φ(x) падает внутри зазора d строго по прямой линии:</a:t>
            </a:r>
          </a:p>
          <a:p>
            <a:pPr algn="l">
              <a:spcBef>
                <a:spcPts val="150"/>
              </a:spcBef>
              <a:spcAft>
                <a:spcPts val="250"/>
              </a:spcAft>
              <a:defRPr sz="1180" b="1">
                <a:solidFill>
                  <a:srgbClr val="0066CC"/>
                </a:solidFill>
                <a:latin typeface="Arial"/>
              </a:defRPr>
            </a:pPr>
            <a:r>
              <a:t>   φ(x) = φ₀ · (1 − x / d),     C_H = ε · ε₀ / d = const</a:t>
            </a:r>
          </a:p>
          <a:p>
            <a:pPr algn="l">
              <a:spcAft>
                <a:spcPts val="250"/>
              </a:spcAft>
              <a:defRPr sz="1140">
                <a:solidFill>
                  <a:srgbClr val="222222"/>
                </a:solidFill>
                <a:latin typeface="Arial"/>
              </a:defRPr>
            </a:pPr>
            <a:r>
              <a:t>• Минус модели: забыта температура T! Не может объяснить электрофорез.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3456432"/>
            <a:ext cx="4892040" cy="2386584"/>
          </a:xfrm>
          <a:prstGeom prst="roundRect">
            <a:avLst/>
          </a:prstGeom>
          <a:solidFill>
            <a:srgbClr val="F4F7FA"/>
          </a:solidFill>
          <a:ln w="13970">
            <a:solidFill>
              <a:srgbClr val="C8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28016" tIns="91440" bIns="73152"/>
          <a:lstStyle/>
          <a:p>
            <a:pPr algn="l">
              <a:spcAft>
                <a:spcPts val="400"/>
              </a:spcAft>
              <a:defRPr sz="1320" b="1">
                <a:solidFill>
                  <a:srgbClr val="003366"/>
                </a:solidFill>
                <a:latin typeface="Arial"/>
              </a:defRPr>
            </a:pPr>
            <a:r>
              <a:t>2. Модель Гуи–Чепмена (1910) — «диффузное облако»</a:t>
            </a:r>
          </a:p>
          <a:p>
            <a:pPr algn="l">
              <a:spcAft>
                <a:spcPts val="250"/>
              </a:spcAft>
              <a:defRPr sz="1140">
                <a:solidFill>
                  <a:srgbClr val="222222"/>
                </a:solidFill>
                <a:latin typeface="Arial"/>
              </a:defRPr>
            </a:pPr>
            <a:r>
              <a:t>• Конкуренция двух сил: кулоновское притяжение к стенке (z·e·φ) против теплового броуновского разбрасывания ионов (k_B T).</a:t>
            </a:r>
          </a:p>
          <a:p>
            <a:pPr algn="l">
              <a:spcAft>
                <a:spcPts val="250"/>
              </a:spcAft>
              <a:defRPr sz="1140">
                <a:solidFill>
                  <a:srgbClr val="222222"/>
                </a:solidFill>
                <a:latin typeface="Arial"/>
              </a:defRPr>
            </a:pPr>
            <a:r>
              <a:t>• Концентрация ионов вокруг частицы подчиняется закону Больцмана:</a:t>
            </a:r>
          </a:p>
          <a:p>
            <a:pPr algn="l">
              <a:spcBef>
                <a:spcPts val="150"/>
              </a:spcBef>
              <a:spcAft>
                <a:spcPts val="250"/>
              </a:spcAft>
              <a:defRPr sz="1180" b="1">
                <a:solidFill>
                  <a:srgbClr val="0066CC"/>
                </a:solidFill>
                <a:latin typeface="Arial"/>
              </a:defRPr>
            </a:pPr>
            <a:r>
              <a:t>   n(x) = n₀ · exp( − z · e · φ(x) / [k_B · T] )</a:t>
            </a:r>
          </a:p>
          <a:p>
            <a:pPr algn="l">
              <a:spcAft>
                <a:spcPts val="250"/>
              </a:spcAft>
              <a:defRPr sz="1140">
                <a:solidFill>
                  <a:srgbClr val="222222"/>
                </a:solidFill>
                <a:latin typeface="Arial"/>
              </a:defRPr>
            </a:pPr>
            <a:r>
              <a:t>• Вместо плоской шеренги образуется протяженная ионная атмосфера.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0" y="1143000"/>
            <a:ext cx="6245352" cy="4709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ig_08_helmholtz_vs_gou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59552" y="1274894"/>
            <a:ext cx="6099048" cy="444537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457200" y="6080760"/>
            <a:ext cx="11277295" cy="502920"/>
          </a:xfrm>
          <a:prstGeom prst="roundRect">
            <a:avLst/>
          </a:prstGeom>
          <a:solidFill>
            <a:srgbClr val="E8F2FC"/>
          </a:solidFill>
          <a:ln w="1524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50" b="1">
                <a:solidFill>
                  <a:srgbClr val="003366"/>
                </a:solidFill>
                <a:latin typeface="Arial"/>
              </a:defRPr>
            </a:pPr>
            <a:r>
              <a:t>Ключевой вывод: Модель Гуи–Чепмена ввела в электростатику поверхности температуру T: тепловое движение размывает слой противоионов в диффузную ионную атмосферу.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19456"/>
            <a:ext cx="11277295" cy="777240"/>
          </a:xfrm>
          <a:prstGeom prst="rect">
            <a:avLst/>
          </a:prstGeom>
          <a:noFill/>
        </p:spPr>
        <p:txBody>
          <a:bodyPr wrap="square" anchor="t" tIns="18288" bIns="18288">
            <a:spAutoFit/>
          </a:bodyPr>
          <a:lstStyle/>
          <a:p>
            <a:pPr algn="l">
              <a:spcAft>
                <a:spcPts val="200"/>
              </a:spcAft>
              <a:defRPr sz="1950" b="1">
                <a:solidFill>
                  <a:srgbClr val="003366"/>
                </a:solidFill>
                <a:latin typeface="Arial"/>
              </a:defRPr>
            </a:pPr>
            <a:r>
              <a:t>Закон спада потенциала и дебаевская толщина ДЭС λ_D = κ⁻¹</a:t>
            </a:r>
          </a:p>
          <a:p>
            <a:pPr algn="l">
              <a:defRPr sz="1200" i="1">
                <a:solidFill>
                  <a:srgbClr val="5A6978"/>
                </a:solidFill>
                <a:latin typeface="Arial"/>
              </a:defRPr>
            </a:pPr>
            <a:r>
              <a:t>Блок 2. Как концентрация и заряд соли сжимают защитную ионную «шубу»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24128"/>
            <a:ext cx="11277295" cy="27432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143000"/>
            <a:ext cx="4892040" cy="2203704"/>
          </a:xfrm>
          <a:prstGeom prst="roundRect">
            <a:avLst/>
          </a:prstGeom>
          <a:solidFill>
            <a:srgbClr val="F4F7FA"/>
          </a:solidFill>
          <a:ln w="13970">
            <a:solidFill>
              <a:srgbClr val="C8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28016" tIns="91440" bIns="73152"/>
          <a:lstStyle/>
          <a:p>
            <a:pPr algn="l">
              <a:spcAft>
                <a:spcPts val="400"/>
              </a:spcAft>
              <a:defRPr sz="1320" b="1">
                <a:solidFill>
                  <a:srgbClr val="003366"/>
                </a:solidFill>
                <a:latin typeface="Arial"/>
              </a:defRPr>
            </a:pPr>
            <a:r>
              <a:t>1. Экспоненциальный спад потенциала в диффузном слое</a:t>
            </a:r>
          </a:p>
          <a:p>
            <a:pPr algn="l">
              <a:spcAft>
                <a:spcPts val="250"/>
              </a:spcAft>
              <a:defRPr sz="1140">
                <a:solidFill>
                  <a:srgbClr val="222222"/>
                </a:solidFill>
                <a:latin typeface="Arial"/>
              </a:defRPr>
            </a:pPr>
            <a:r>
              <a:t>• Из уравнения Пуассона–Больцмана следует: потенциал вглубь раствора затухает по экспоненте:</a:t>
            </a:r>
          </a:p>
          <a:p>
            <a:pPr algn="l">
              <a:spcBef>
                <a:spcPts val="150"/>
              </a:spcBef>
              <a:spcAft>
                <a:spcPts val="250"/>
              </a:spcAft>
              <a:defRPr sz="1180" b="1">
                <a:solidFill>
                  <a:srgbClr val="0066CC"/>
                </a:solidFill>
                <a:latin typeface="Arial"/>
              </a:defRPr>
            </a:pPr>
            <a:r>
              <a:t>   φ(x) = φ₀ · exp( −x / λ_D ) = φ₀ · exp( −κ · x )</a:t>
            </a:r>
          </a:p>
          <a:p>
            <a:pPr algn="l">
              <a:spcAft>
                <a:spcPts val="250"/>
              </a:spcAft>
              <a:defRPr sz="1140">
                <a:solidFill>
                  <a:srgbClr val="222222"/>
                </a:solidFill>
                <a:latin typeface="Arial"/>
              </a:defRPr>
            </a:pPr>
            <a:r>
              <a:t>• Толщина ДЭС (длина Дебая λ_D = κ⁻¹) — это расстояние, на котором потенциал частицы падает в e ≈ 2.72 раза.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3456432"/>
            <a:ext cx="4892040" cy="2386584"/>
          </a:xfrm>
          <a:prstGeom prst="roundRect">
            <a:avLst/>
          </a:prstGeom>
          <a:solidFill>
            <a:srgbClr val="F4F7FA"/>
          </a:solidFill>
          <a:ln w="13970">
            <a:solidFill>
              <a:srgbClr val="C8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28016" tIns="91440" bIns="73152"/>
          <a:lstStyle/>
          <a:p>
            <a:pPr algn="l">
              <a:spcAft>
                <a:spcPts val="400"/>
              </a:spcAft>
              <a:defRPr sz="1320" b="1">
                <a:solidFill>
                  <a:srgbClr val="003366"/>
                </a:solidFill>
                <a:latin typeface="Arial"/>
              </a:defRPr>
            </a:pPr>
            <a:r>
              <a:t>2. Главный рычаг управления: закон сжатия ДЭС</a:t>
            </a:r>
          </a:p>
          <a:p>
            <a:pPr algn="l">
              <a:spcAft>
                <a:spcPts val="250"/>
              </a:spcAft>
              <a:defRPr sz="1140">
                <a:solidFill>
                  <a:srgbClr val="222222"/>
                </a:solidFill>
                <a:latin typeface="Arial"/>
              </a:defRPr>
            </a:pPr>
            <a:r>
              <a:t>• Толщина ионной «шубы» λ_D обратно пропорциональна заряду иона z и корню из концентрации электролита c:</a:t>
            </a:r>
          </a:p>
          <a:p>
            <a:pPr algn="l">
              <a:spcBef>
                <a:spcPts val="150"/>
              </a:spcBef>
              <a:spcAft>
                <a:spcPts val="250"/>
              </a:spcAft>
              <a:defRPr sz="1180" b="1">
                <a:solidFill>
                  <a:srgbClr val="0066CC"/>
                </a:solidFill>
                <a:latin typeface="Arial"/>
              </a:defRPr>
            </a:pPr>
            <a:r>
              <a:t>   λ_D ∝ 1 / (z · √c)   [в воде: λ_D ≈ 0.304 / (z·√c) нм]</a:t>
            </a:r>
          </a:p>
          <a:p>
            <a:pPr algn="l">
              <a:spcAft>
                <a:spcPts val="250"/>
              </a:spcAft>
              <a:defRPr sz="1140">
                <a:solidFill>
                  <a:srgbClr val="222222"/>
                </a:solidFill>
                <a:latin typeface="Arial"/>
              </a:defRPr>
            </a:pPr>
            <a:r>
              <a:t>• Рост концентрации соли c в 100 раз сжимает толщину ДЭС ровно в 10 раз (с 30.4 нм до 3.04 нм)!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0" y="1143000"/>
            <a:ext cx="6245352" cy="4709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ig_09_debye_screen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59552" y="1293104"/>
            <a:ext cx="6099048" cy="440895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457200" y="6080760"/>
            <a:ext cx="11277295" cy="502920"/>
          </a:xfrm>
          <a:prstGeom prst="roundRect">
            <a:avLst/>
          </a:prstGeom>
          <a:solidFill>
            <a:srgbClr val="E8F2FC"/>
          </a:solidFill>
          <a:ln w="1524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50" b="1">
                <a:solidFill>
                  <a:srgbClr val="003366"/>
                </a:solidFill>
                <a:latin typeface="Arial"/>
              </a:defRPr>
            </a:pPr>
            <a:r>
              <a:t>Ключевой вывод: Толщина диффузного слоя λ_D обратно пропорциональна валентности противоиона z и корню из концентрации √c: добавление соли резко сжимает ДЭС.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19456"/>
            <a:ext cx="11277295" cy="777240"/>
          </a:xfrm>
          <a:prstGeom prst="rect">
            <a:avLst/>
          </a:prstGeom>
          <a:noFill/>
        </p:spPr>
        <p:txBody>
          <a:bodyPr wrap="square" anchor="t" tIns="18288" bIns="18288">
            <a:spAutoFit/>
          </a:bodyPr>
          <a:lstStyle/>
          <a:p>
            <a:pPr algn="l">
              <a:spcAft>
                <a:spcPts val="200"/>
              </a:spcAft>
              <a:defRPr sz="1950" b="1">
                <a:solidFill>
                  <a:srgbClr val="003366"/>
                </a:solidFill>
                <a:latin typeface="Arial"/>
              </a:defRPr>
            </a:pPr>
            <a:r>
              <a:t>Объединенная модель ДЭС О. Штерна (1924): плотный и диффузный слои</a:t>
            </a:r>
          </a:p>
          <a:p>
            <a:pPr algn="l">
              <a:defRPr sz="1200" i="1">
                <a:solidFill>
                  <a:srgbClr val="5A6978"/>
                </a:solidFill>
                <a:latin typeface="Arial"/>
              </a:defRPr>
            </a:pPr>
            <a:r>
              <a:t>Блок 2. Современная физическая теория двойного электрического слоя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24128"/>
            <a:ext cx="11277295" cy="27432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143000"/>
            <a:ext cx="4892040" cy="2249424"/>
          </a:xfrm>
          <a:prstGeom prst="roundRect">
            <a:avLst/>
          </a:prstGeom>
          <a:solidFill>
            <a:srgbClr val="F4F7FA"/>
          </a:solidFill>
          <a:ln w="13970">
            <a:solidFill>
              <a:srgbClr val="C8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28016" tIns="91440" bIns="73152"/>
          <a:lstStyle/>
          <a:p>
            <a:pPr algn="l">
              <a:spcAft>
                <a:spcPts val="400"/>
              </a:spcAft>
              <a:defRPr sz="1320" b="1">
                <a:solidFill>
                  <a:srgbClr val="003366"/>
                </a:solidFill>
                <a:latin typeface="Arial"/>
              </a:defRPr>
            </a:pPr>
            <a:r>
              <a:t>1. Синтез двух моделей: плоскость Штерна x = δ</a:t>
            </a:r>
          </a:p>
          <a:p>
            <a:pPr algn="l">
              <a:spcAft>
                <a:spcPts val="250"/>
              </a:spcAft>
              <a:defRPr sz="1140">
                <a:solidFill>
                  <a:srgbClr val="222222"/>
                </a:solidFill>
                <a:latin typeface="Arial"/>
              </a:defRPr>
            </a:pPr>
            <a:r>
              <a:t>• Ионы — не математические точки! Они имеют реальный радиус δ ≈ 0.3–0.5 нм.</a:t>
            </a:r>
          </a:p>
          <a:p>
            <a:pPr algn="l">
              <a:spcAft>
                <a:spcPts val="250"/>
              </a:spcAft>
              <a:defRPr sz="1140">
                <a:solidFill>
                  <a:srgbClr val="222222"/>
                </a:solidFill>
                <a:latin typeface="Arial"/>
              </a:defRPr>
            </a:pPr>
            <a:r>
              <a:t>• Штерн разделил ДЭС на две последовательные зоны:</a:t>
            </a:r>
          </a:p>
          <a:p>
            <a:pPr algn="l">
              <a:spcAft>
                <a:spcPts val="200"/>
              </a:spcAft>
              <a:defRPr sz="1120">
                <a:solidFill>
                  <a:srgbClr val="222222"/>
                </a:solidFill>
                <a:latin typeface="Arial"/>
              </a:defRPr>
            </a:pPr>
            <a:r>
              <a:t>  - Плотный слой Штерна (0 ≤ x ≤ δ): прямая линия φ₀ → φ_δ;</a:t>
            </a:r>
          </a:p>
          <a:p>
            <a:pPr algn="l">
              <a:spcAft>
                <a:spcPts val="200"/>
              </a:spcAft>
              <a:defRPr sz="1120">
                <a:solidFill>
                  <a:srgbClr val="222222"/>
                </a:solidFill>
                <a:latin typeface="Arial"/>
              </a:defRPr>
            </a:pPr>
            <a:r>
              <a:t>  - Диффузный слой Гуи (x &gt; δ): экспонента φ(x) = φ_δ · exp(−κ(x − δ)).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3502152"/>
            <a:ext cx="4892040" cy="2340864"/>
          </a:xfrm>
          <a:prstGeom prst="roundRect">
            <a:avLst/>
          </a:prstGeom>
          <a:solidFill>
            <a:srgbClr val="F4F7FA"/>
          </a:solidFill>
          <a:ln w="13970">
            <a:solidFill>
              <a:srgbClr val="C8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28016" tIns="91440" bIns="73152"/>
          <a:lstStyle/>
          <a:p>
            <a:pPr algn="l">
              <a:spcAft>
                <a:spcPts val="400"/>
              </a:spcAft>
              <a:defRPr sz="1320" b="1">
                <a:solidFill>
                  <a:srgbClr val="003366"/>
                </a:solidFill>
                <a:latin typeface="Arial"/>
              </a:defRPr>
            </a:pPr>
            <a:r>
              <a:t>2. Специфическая адсорбция и перезарядка наночастицы</a:t>
            </a:r>
          </a:p>
          <a:p>
            <a:pPr algn="l">
              <a:spcAft>
                <a:spcPts val="250"/>
              </a:spcAft>
              <a:defRPr sz="1140">
                <a:solidFill>
                  <a:srgbClr val="222222"/>
                </a:solidFill>
                <a:latin typeface="Arial"/>
              </a:defRPr>
            </a:pPr>
            <a:r>
              <a:t>• Два слоя работают как два последовательных конденсатора:</a:t>
            </a:r>
          </a:p>
          <a:p>
            <a:pPr algn="l">
              <a:spcBef>
                <a:spcPts val="150"/>
              </a:spcBef>
              <a:spcAft>
                <a:spcPts val="250"/>
              </a:spcAft>
              <a:defRPr sz="1180" b="1">
                <a:solidFill>
                  <a:srgbClr val="0066CC"/>
                </a:solidFill>
                <a:latin typeface="Arial"/>
              </a:defRPr>
            </a:pPr>
            <a:r>
              <a:t>   1 / C_ДЭС = 1 / C_плотного + 1 / C_диффузного</a:t>
            </a:r>
          </a:p>
          <a:p>
            <a:pPr algn="l">
              <a:spcAft>
                <a:spcPts val="250"/>
              </a:spcAft>
              <a:defRPr sz="1140">
                <a:solidFill>
                  <a:srgbClr val="222222"/>
                </a:solidFill>
                <a:latin typeface="Arial"/>
              </a:defRPr>
            </a:pPr>
            <a:r>
              <a:t>• Химическое прилипание многозарядных противоионов (Al³⁺, Th⁴⁺) в плотном слое может поменять знак потенциала φ_δ (кривая 3):</a:t>
            </a:r>
          </a:p>
          <a:p>
            <a:pPr algn="l">
              <a:spcBef>
                <a:spcPts val="150"/>
              </a:spcBef>
              <a:spcAft>
                <a:spcPts val="250"/>
              </a:spcAft>
              <a:defRPr sz="1180" b="1">
                <a:solidFill>
                  <a:srgbClr val="0066CC"/>
                </a:solidFill>
                <a:latin typeface="Arial"/>
              </a:defRPr>
            </a:pPr>
            <a:r>
              <a:t>   φ₀ &gt; 0,   но   φ_δ &lt; 0   (перезарядка поверхности!)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0" y="1143000"/>
            <a:ext cx="6245352" cy="4709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ig_10_stern_mod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59552" y="1364051"/>
            <a:ext cx="6099048" cy="4267057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457200" y="6080760"/>
            <a:ext cx="11277295" cy="502920"/>
          </a:xfrm>
          <a:prstGeom prst="roundRect">
            <a:avLst/>
          </a:prstGeom>
          <a:solidFill>
            <a:srgbClr val="E8F2FC"/>
          </a:solidFill>
          <a:ln w="1524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50" b="1">
                <a:solidFill>
                  <a:srgbClr val="003366"/>
                </a:solidFill>
                <a:latin typeface="Arial"/>
              </a:defRPr>
            </a:pPr>
            <a:r>
              <a:t>Ключевой вывод: Модель Штерна разделяет падение потенциала на адсорбционный скачок (φ₀ → φ_δ) и диффузный хвост, объясняя феномен перезарядки наночастиц.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19456"/>
            <a:ext cx="11277295" cy="777240"/>
          </a:xfrm>
          <a:prstGeom prst="rect">
            <a:avLst/>
          </a:prstGeom>
          <a:noFill/>
        </p:spPr>
        <p:txBody>
          <a:bodyPr wrap="square" anchor="t" tIns="18288" bIns="18288">
            <a:spAutoFit/>
          </a:bodyPr>
          <a:lstStyle/>
          <a:p>
            <a:pPr algn="l">
              <a:spcAft>
                <a:spcPts val="200"/>
              </a:spcAft>
              <a:defRPr sz="1950" b="1">
                <a:solidFill>
                  <a:srgbClr val="003366"/>
                </a:solidFill>
                <a:latin typeface="Arial"/>
              </a:defRPr>
            </a:pPr>
            <a:r>
              <a:t>Плоскость скольжения и электрокинетический дзета-потенциал (ζ)</a:t>
            </a:r>
          </a:p>
          <a:p>
            <a:pPr algn="l">
              <a:defRPr sz="1200" i="1">
                <a:solidFill>
                  <a:srgbClr val="5A6978"/>
                </a:solidFill>
                <a:latin typeface="Arial"/>
              </a:defRPr>
            </a:pPr>
            <a:r>
              <a:t>Блок 3. Дзета-потенциал и диагностика стабильности наноколлоидов (Навык №2)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24128"/>
            <a:ext cx="11277295" cy="27432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143000"/>
            <a:ext cx="4892040" cy="2203704"/>
          </a:xfrm>
          <a:prstGeom prst="roundRect">
            <a:avLst/>
          </a:prstGeom>
          <a:solidFill>
            <a:srgbClr val="F4F7FA"/>
          </a:solidFill>
          <a:ln w="13970">
            <a:solidFill>
              <a:srgbClr val="C8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28016" tIns="91440" bIns="73152"/>
          <a:lstStyle/>
          <a:p>
            <a:pPr algn="l">
              <a:spcAft>
                <a:spcPts val="400"/>
              </a:spcAft>
              <a:defRPr sz="1320" b="1">
                <a:solidFill>
                  <a:srgbClr val="003366"/>
                </a:solidFill>
                <a:latin typeface="Arial"/>
              </a:defRPr>
            </a:pPr>
            <a:r>
              <a:t>1. Плоскость скольжения и смысл ζ-потенциала</a:t>
            </a:r>
          </a:p>
          <a:p>
            <a:pPr algn="l">
              <a:spcAft>
                <a:spcPts val="250"/>
              </a:spcAft>
              <a:defRPr sz="1140">
                <a:solidFill>
                  <a:srgbClr val="222222"/>
                </a:solidFill>
                <a:latin typeface="Arial"/>
              </a:defRPr>
            </a:pPr>
            <a:r>
              <a:t>• При движении наночастицы плотный слой и тонкая гидратная оболочка воды движутся вместе с ядром (это наша гранула).</a:t>
            </a:r>
          </a:p>
          <a:p>
            <a:pPr algn="l">
              <a:spcAft>
                <a:spcPts val="250"/>
              </a:spcAft>
              <a:defRPr sz="1140">
                <a:solidFill>
                  <a:srgbClr val="222222"/>
                </a:solidFill>
                <a:latin typeface="Arial"/>
              </a:defRPr>
            </a:pPr>
            <a:r>
              <a:t>• Плоскость скольжения (x = x_s) — граница отрыва подвижной жидкости.</a:t>
            </a:r>
          </a:p>
          <a:p>
            <a:pPr algn="l">
              <a:spcAft>
                <a:spcPts val="250"/>
              </a:spcAft>
              <a:defRPr sz="1140">
                <a:solidFill>
                  <a:srgbClr val="222222"/>
                </a:solidFill>
                <a:latin typeface="Arial"/>
              </a:defRPr>
            </a:pPr>
            <a:r>
              <a:t>• Дзета-потенциал (ζ) — потенциал ДЭС ровно на плоскости скольжения:</a:t>
            </a:r>
          </a:p>
          <a:p>
            <a:pPr algn="l">
              <a:spcBef>
                <a:spcPts val="150"/>
              </a:spcBef>
              <a:spcAft>
                <a:spcPts val="250"/>
              </a:spcAft>
              <a:defRPr sz="1180" b="1">
                <a:solidFill>
                  <a:srgbClr val="0066CC"/>
                </a:solidFill>
                <a:latin typeface="Arial"/>
              </a:defRPr>
            </a:pPr>
            <a:r>
              <a:t>   ζ = φ(x_s),     причем всегда   |ζ| ≤ |φ_δ| &lt; |φ₀|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3456432"/>
            <a:ext cx="4892040" cy="2386584"/>
          </a:xfrm>
          <a:prstGeom prst="roundRect">
            <a:avLst/>
          </a:prstGeom>
          <a:solidFill>
            <a:srgbClr val="F4F7FA"/>
          </a:solidFill>
          <a:ln w="13970">
            <a:solidFill>
              <a:srgbClr val="C8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28016" tIns="91440" bIns="73152"/>
          <a:lstStyle/>
          <a:p>
            <a:pPr algn="l">
              <a:spcAft>
                <a:spcPts val="400"/>
              </a:spcAft>
              <a:defRPr sz="1320" b="1">
                <a:solidFill>
                  <a:srgbClr val="003366"/>
                </a:solidFill>
                <a:latin typeface="Arial"/>
              </a:defRPr>
            </a:pPr>
            <a:r>
              <a:t>2. Правило «Магические 30 мВ» (Навык диагностики №2)</a:t>
            </a:r>
          </a:p>
          <a:p>
            <a:pPr algn="l">
              <a:spcAft>
                <a:spcPts val="250"/>
              </a:spcAft>
              <a:defRPr sz="1140">
                <a:solidFill>
                  <a:srgbClr val="222222"/>
                </a:solidFill>
                <a:latin typeface="Arial"/>
              </a:defRPr>
            </a:pPr>
            <a:r>
              <a:t>• |ζ| &gt; 30 мВ — СТАБИЛЬНЫЙ ЗОЛЬ! Частицы сильно отталкиваются (у цитратного золя золота ζ ≈ −40 мВ).</a:t>
            </a:r>
          </a:p>
          <a:p>
            <a:pPr algn="l">
              <a:spcAft>
                <a:spcPts val="250"/>
              </a:spcAft>
              <a:defRPr sz="1140">
                <a:solidFill>
                  <a:srgbClr val="222222"/>
                </a:solidFill>
                <a:latin typeface="Arial"/>
              </a:defRPr>
            </a:pPr>
            <a:r>
              <a:t>• 15 &lt; |ζ| &lt; 30 мВ — пограничная зона, начало медленного слипания.</a:t>
            </a:r>
          </a:p>
          <a:p>
            <a:pPr algn="l">
              <a:spcAft>
                <a:spcPts val="250"/>
              </a:spcAft>
              <a:defRPr sz="1140">
                <a:solidFill>
                  <a:srgbClr val="222222"/>
                </a:solidFill>
                <a:latin typeface="Arial"/>
              </a:defRPr>
            </a:pPr>
            <a:r>
              <a:t>• |ζ| &lt; 15 мВ — БЫСТРАЯ КОАГУЛЯЦИЯ и выпадение осадка.</a:t>
            </a:r>
          </a:p>
          <a:p>
            <a:pPr algn="l">
              <a:spcBef>
                <a:spcPts val="150"/>
              </a:spcBef>
              <a:spcAft>
                <a:spcPts val="250"/>
              </a:spcAft>
              <a:defRPr sz="1180" b="1">
                <a:solidFill>
                  <a:srgbClr val="0066CC"/>
                </a:solidFill>
                <a:latin typeface="Arial"/>
              </a:defRPr>
            </a:pPr>
            <a:r>
              <a:t>   ζ = 0 мВ — изоэлектрическая точка (ИЭТ, мгновенная агрегация)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0" y="1143000"/>
            <a:ext cx="6245352" cy="4709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ig_11_zeta_potent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59552" y="1611276"/>
            <a:ext cx="6099048" cy="3772607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457200" y="6080760"/>
            <a:ext cx="11277295" cy="502920"/>
          </a:xfrm>
          <a:prstGeom prst="roundRect">
            <a:avLst/>
          </a:prstGeom>
          <a:solidFill>
            <a:srgbClr val="E8F2FC"/>
          </a:solidFill>
          <a:ln w="1524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50" b="1">
                <a:solidFill>
                  <a:srgbClr val="003366"/>
                </a:solidFill>
                <a:latin typeface="Arial"/>
              </a:defRPr>
            </a:pPr>
            <a:r>
              <a:t>Ключевой вывод: Индифферентный электролит не меняет потенциал ядра φ₀, но из-за сжатия экспоненты φ(x) резко снижает ζ-потенциал на плоскости скольжения до критического (&lt; 15 мВ).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19456"/>
            <a:ext cx="11277295" cy="777240"/>
          </a:xfrm>
          <a:prstGeom prst="rect">
            <a:avLst/>
          </a:prstGeom>
          <a:noFill/>
        </p:spPr>
        <p:txBody>
          <a:bodyPr wrap="square" anchor="t" tIns="18288" bIns="18288">
            <a:spAutoFit/>
          </a:bodyPr>
          <a:lstStyle/>
          <a:p>
            <a:pPr algn="l">
              <a:spcAft>
                <a:spcPts val="200"/>
              </a:spcAft>
              <a:defRPr sz="1950" b="1">
                <a:solidFill>
                  <a:srgbClr val="003366"/>
                </a:solidFill>
                <a:latin typeface="Arial"/>
              </a:defRPr>
            </a:pPr>
            <a:r>
              <a:t>Четыре электрокинетических явления: связь движения и электрического поля</a:t>
            </a:r>
          </a:p>
          <a:p>
            <a:pPr algn="l">
              <a:defRPr sz="1200" i="1">
                <a:solidFill>
                  <a:srgbClr val="5A6978"/>
                </a:solidFill>
                <a:latin typeface="Arial"/>
              </a:defRPr>
            </a:pPr>
            <a:r>
              <a:t>Блок 3. Открытие Ф.Ф. Рейсса (1809) и нанотехнологические применения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24128"/>
            <a:ext cx="11277295" cy="27432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143000"/>
            <a:ext cx="4892040" cy="2249424"/>
          </a:xfrm>
          <a:prstGeom prst="roundRect">
            <a:avLst/>
          </a:prstGeom>
          <a:solidFill>
            <a:srgbClr val="F4F7FA"/>
          </a:solidFill>
          <a:ln w="13970">
            <a:solidFill>
              <a:srgbClr val="C8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28016" tIns="91440" bIns="73152"/>
          <a:lstStyle/>
          <a:p>
            <a:pPr algn="l">
              <a:spcAft>
                <a:spcPts val="400"/>
              </a:spcAft>
              <a:defRPr sz="1320" b="1">
                <a:solidFill>
                  <a:srgbClr val="003366"/>
                </a:solidFill>
                <a:latin typeface="Arial"/>
              </a:defRPr>
            </a:pPr>
            <a:r>
              <a:t>1. Прямые явления: Поле E → Движение</a:t>
            </a:r>
          </a:p>
          <a:p>
            <a:pPr algn="l">
              <a:spcAft>
                <a:spcPts val="250"/>
              </a:spcAft>
              <a:defRPr sz="1140">
                <a:solidFill>
                  <a:srgbClr val="222222"/>
                </a:solidFill>
                <a:latin typeface="Arial"/>
              </a:defRPr>
            </a:pPr>
            <a:r>
              <a:t>• 1) Электрофорез: заряженные наночастицы (гранулы) плывут в неподвижной жидкости к электроду.</a:t>
            </a:r>
          </a:p>
          <a:p>
            <a:pPr algn="l">
              <a:spcAft>
                <a:spcPts val="200"/>
              </a:spcAft>
              <a:defRPr sz="1120">
                <a:solidFill>
                  <a:srgbClr val="222222"/>
                </a:solidFill>
                <a:latin typeface="Arial"/>
              </a:defRPr>
            </a:pPr>
            <a:r>
              <a:t>  - Применение: измерение ζ-потенциала, осаждение нанопокрытий (EPD).</a:t>
            </a:r>
          </a:p>
          <a:p>
            <a:pPr algn="l">
              <a:spcAft>
                <a:spcPts val="250"/>
              </a:spcAft>
              <a:defRPr sz="1140">
                <a:solidFill>
                  <a:srgbClr val="222222"/>
                </a:solidFill>
                <a:latin typeface="Arial"/>
              </a:defRPr>
            </a:pPr>
            <a:r>
              <a:t>• 2) Электроосмос: жидкость течет сквозь неподвижный пористый каркас или капилляр под действием поля E.</a:t>
            </a:r>
          </a:p>
          <a:p>
            <a:pPr algn="l">
              <a:spcAft>
                <a:spcPts val="200"/>
              </a:spcAft>
              <a:defRPr sz="1120">
                <a:solidFill>
                  <a:srgbClr val="222222"/>
                </a:solidFill>
                <a:latin typeface="Arial"/>
              </a:defRPr>
            </a:pPr>
            <a:r>
              <a:t>  - Применение: микронасосы без движущихся частей в чипах Lab-on-a-Chip.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3502152"/>
            <a:ext cx="4892040" cy="2340864"/>
          </a:xfrm>
          <a:prstGeom prst="roundRect">
            <a:avLst/>
          </a:prstGeom>
          <a:solidFill>
            <a:srgbClr val="F4F7FA"/>
          </a:solidFill>
          <a:ln w="13970">
            <a:solidFill>
              <a:srgbClr val="C8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28016" tIns="91440" bIns="73152"/>
          <a:lstStyle/>
          <a:p>
            <a:pPr algn="l">
              <a:spcAft>
                <a:spcPts val="400"/>
              </a:spcAft>
              <a:defRPr sz="1320" b="1">
                <a:solidFill>
                  <a:srgbClr val="003366"/>
                </a:solidFill>
                <a:latin typeface="Arial"/>
              </a:defRPr>
            </a:pPr>
            <a:r>
              <a:t>2. Обратные явления: Движение → Генерация ЭДС (Δφ)</a:t>
            </a:r>
          </a:p>
          <a:p>
            <a:pPr algn="l">
              <a:spcAft>
                <a:spcPts val="250"/>
              </a:spcAft>
              <a:defRPr sz="1140">
                <a:solidFill>
                  <a:srgbClr val="222222"/>
                </a:solidFill>
                <a:latin typeface="Arial"/>
              </a:defRPr>
            </a:pPr>
            <a:r>
              <a:t>• 3) Потенциал седиментации: оседающие под действием гравитации заряженные частицы создают разность потенциалов между верхом и дном.</a:t>
            </a:r>
          </a:p>
          <a:p>
            <a:pPr algn="l">
              <a:spcAft>
                <a:spcPts val="250"/>
              </a:spcAft>
              <a:defRPr sz="1140">
                <a:solidFill>
                  <a:srgbClr val="222222"/>
                </a:solidFill>
                <a:latin typeface="Arial"/>
              </a:defRPr>
            </a:pPr>
            <a:r>
              <a:t>• 4) Потенциал течения: продавливание жидкости давлением ΔP сквозь пористую мембрану сносит ионы ДЭС и генерирует напряжение:</a:t>
            </a:r>
          </a:p>
          <a:p>
            <a:pPr algn="l">
              <a:spcBef>
                <a:spcPts val="150"/>
              </a:spcBef>
              <a:spcAft>
                <a:spcPts val="250"/>
              </a:spcAft>
              <a:defRPr sz="1180" b="1">
                <a:solidFill>
                  <a:srgbClr val="0066CC"/>
                </a:solidFill>
                <a:latin typeface="Arial"/>
              </a:defRPr>
            </a:pPr>
            <a:r>
              <a:t>   Δφ_теч  ∝  (ζ / η) · ΔP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0" y="1143000"/>
            <a:ext cx="6245352" cy="4709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ig_12_electrokinetic_phenomen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59552" y="1255463"/>
            <a:ext cx="6099048" cy="4484233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457200" y="6080760"/>
            <a:ext cx="11277295" cy="502920"/>
          </a:xfrm>
          <a:prstGeom prst="roundRect">
            <a:avLst/>
          </a:prstGeom>
          <a:solidFill>
            <a:srgbClr val="E8F2FC"/>
          </a:solidFill>
          <a:ln w="1524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50" b="1">
                <a:solidFill>
                  <a:srgbClr val="003366"/>
                </a:solidFill>
                <a:latin typeface="Arial"/>
              </a:defRPr>
            </a:pPr>
            <a:r>
              <a:t>Ключевой вывод: Все 4 электрокинетических явления обусловлены механическим сдвигом диффузного слоя по плоскости скольжения и прямо пропорциональны ζ-потенциалу.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19456"/>
            <a:ext cx="11277295" cy="777240"/>
          </a:xfrm>
          <a:prstGeom prst="rect">
            <a:avLst/>
          </a:prstGeom>
          <a:noFill/>
        </p:spPr>
        <p:txBody>
          <a:bodyPr wrap="square" anchor="t" tIns="18288" bIns="18288">
            <a:spAutoFit/>
          </a:bodyPr>
          <a:lstStyle/>
          <a:p>
            <a:pPr algn="l">
              <a:spcAft>
                <a:spcPts val="200"/>
              </a:spcAft>
              <a:defRPr sz="1950" b="1">
                <a:solidFill>
                  <a:srgbClr val="003366"/>
                </a:solidFill>
                <a:latin typeface="Arial"/>
              </a:defRPr>
            </a:pPr>
            <a:r>
              <a:t>Как из скорости электрофореза найти ζ-потенциал: роль размера κr</a:t>
            </a:r>
          </a:p>
          <a:p>
            <a:pPr algn="l">
              <a:defRPr sz="1200" i="1">
                <a:solidFill>
                  <a:srgbClr val="5A6978"/>
                </a:solidFill>
                <a:latin typeface="Arial"/>
              </a:defRPr>
            </a:pPr>
            <a:r>
              <a:t>Блок 3. Влияние отношения радиуса наночастицы к толщине ионной шубы (κr = r / λ_D)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24128"/>
            <a:ext cx="11277295" cy="27432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143000"/>
            <a:ext cx="4892040" cy="2203704"/>
          </a:xfrm>
          <a:prstGeom prst="roundRect">
            <a:avLst/>
          </a:prstGeom>
          <a:solidFill>
            <a:srgbClr val="F4F7FA"/>
          </a:solidFill>
          <a:ln w="13970">
            <a:solidFill>
              <a:srgbClr val="C8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28016" tIns="91440" bIns="73152"/>
          <a:lstStyle/>
          <a:p>
            <a:pPr algn="l">
              <a:spcAft>
                <a:spcPts val="400"/>
              </a:spcAft>
              <a:defRPr sz="1320" b="1">
                <a:solidFill>
                  <a:srgbClr val="003366"/>
                </a:solidFill>
                <a:latin typeface="Arial"/>
              </a:defRPr>
            </a:pPr>
            <a:r>
              <a:t>1. Электрофоретическая подвижность и формула Генри</a:t>
            </a:r>
          </a:p>
          <a:p>
            <a:pPr algn="l">
              <a:spcAft>
                <a:spcPts val="250"/>
              </a:spcAft>
              <a:defRPr sz="1140">
                <a:solidFill>
                  <a:srgbClr val="222222"/>
                </a:solidFill>
                <a:latin typeface="Arial"/>
              </a:defRPr>
            </a:pPr>
            <a:r>
              <a:t>• В электрическом поле E сила Кулона уравновешивается трением Стокса, и частица плывет с постоянной подвижностью u_e = v / E:</a:t>
            </a:r>
          </a:p>
          <a:p>
            <a:pPr algn="l">
              <a:spcBef>
                <a:spcPts val="150"/>
              </a:spcBef>
              <a:spcAft>
                <a:spcPts val="250"/>
              </a:spcAft>
              <a:defRPr sz="1180" b="1">
                <a:solidFill>
                  <a:srgbClr val="0066CC"/>
                </a:solidFill>
                <a:latin typeface="Arial"/>
              </a:defRPr>
            </a:pPr>
            <a:r>
              <a:t>   u_e = v / E = [ (2 · ε · ε₀ · ζ) / (3 · η) ] · f(κr)</a:t>
            </a:r>
          </a:p>
          <a:p>
            <a:pPr algn="l">
              <a:spcAft>
                <a:spcPts val="250"/>
              </a:spcAft>
              <a:defRPr sz="1140">
                <a:solidFill>
                  <a:srgbClr val="222222"/>
                </a:solidFill>
                <a:latin typeface="Arial"/>
              </a:defRPr>
            </a:pPr>
            <a:r>
              <a:t>• Коэффициент Генри f(κr) зависит от отношения радиуса частицы r к толщине ее ионной шубы λ_D (где κr = r / λ_D).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3456432"/>
            <a:ext cx="4892040" cy="2386584"/>
          </a:xfrm>
          <a:prstGeom prst="roundRect">
            <a:avLst/>
          </a:prstGeom>
          <a:solidFill>
            <a:srgbClr val="F4F7FA"/>
          </a:solidFill>
          <a:ln w="13970">
            <a:solidFill>
              <a:srgbClr val="C8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28016" tIns="91440" bIns="73152"/>
          <a:lstStyle/>
          <a:p>
            <a:pPr algn="l">
              <a:spcAft>
                <a:spcPts val="400"/>
              </a:spcAft>
              <a:defRPr sz="1320" b="1">
                <a:solidFill>
                  <a:srgbClr val="003366"/>
                </a:solidFill>
                <a:latin typeface="Arial"/>
              </a:defRPr>
            </a:pPr>
            <a:r>
              <a:t>2. Почему для наночастиц важна поправка Генри?</a:t>
            </a:r>
          </a:p>
          <a:p>
            <a:pPr algn="l">
              <a:spcAft>
                <a:spcPts val="250"/>
              </a:spcAft>
              <a:defRPr sz="1140">
                <a:solidFill>
                  <a:srgbClr val="222222"/>
                </a:solidFill>
                <a:latin typeface="Arial"/>
              </a:defRPr>
            </a:pPr>
            <a:r>
              <a:t>• Малая частица в толстой шубе (r ≪ λ_D, предел Хюккеля): f = 1.0.</a:t>
            </a:r>
          </a:p>
          <a:p>
            <a:pPr algn="l">
              <a:spcAft>
                <a:spcPts val="250"/>
              </a:spcAft>
              <a:defRPr sz="1140">
                <a:solidFill>
                  <a:srgbClr val="222222"/>
                </a:solidFill>
                <a:latin typeface="Arial"/>
              </a:defRPr>
            </a:pPr>
            <a:r>
              <a:t>• Крупная частица в тонкой шубе (r ≫ λ_D, предел Смолуховского): f = 1.5 (скорость в 1.5 раза выше при том же ζ!).</a:t>
            </a:r>
          </a:p>
          <a:p>
            <a:pPr algn="l">
              <a:spcAft>
                <a:spcPts val="250"/>
              </a:spcAft>
              <a:defRPr sz="1140">
                <a:solidFill>
                  <a:srgbClr val="222222"/>
                </a:solidFill>
                <a:latin typeface="Arial"/>
              </a:defRPr>
            </a:pPr>
            <a:r>
              <a:t>• Водные нанозоли (r ~ 10 нм, λ_D ~ 4 нм ⇒ κr ≈ 2.5) лежат ровно посередине склона — нужна полная формула Генри!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0" y="1143000"/>
            <a:ext cx="6245352" cy="4709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ig_13_henry_fun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59552" y="1429638"/>
            <a:ext cx="6099048" cy="4135882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457200" y="6080760"/>
            <a:ext cx="11277295" cy="502920"/>
          </a:xfrm>
          <a:prstGeom prst="roundRect">
            <a:avLst/>
          </a:prstGeom>
          <a:solidFill>
            <a:srgbClr val="E8F2FC"/>
          </a:solidFill>
          <a:ln w="1524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50" b="1">
                <a:solidFill>
                  <a:srgbClr val="003366"/>
                </a:solidFill>
                <a:latin typeface="Arial"/>
              </a:defRPr>
            </a:pPr>
            <a:r>
              <a:t>Ключевой вывод: Для наночастиц в водных золях (r ~ 5–20 нм, λ_D ~ 3–10 нм) параметр κr ~ 1–5 лежит в переходной зоне, поэтому для точного расчета ζ необходима формула Генри!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19456"/>
            <a:ext cx="11277295" cy="777240"/>
          </a:xfrm>
          <a:prstGeom prst="rect">
            <a:avLst/>
          </a:prstGeom>
          <a:noFill/>
        </p:spPr>
        <p:txBody>
          <a:bodyPr wrap="square" anchor="t" tIns="18288" bIns="18288">
            <a:spAutoFit/>
          </a:bodyPr>
          <a:lstStyle/>
          <a:p>
            <a:pPr algn="l">
              <a:spcAft>
                <a:spcPts val="200"/>
              </a:spcAft>
              <a:defRPr sz="1950" b="1">
                <a:solidFill>
                  <a:srgbClr val="003366"/>
                </a:solidFill>
                <a:latin typeface="Arial"/>
              </a:defRPr>
            </a:pPr>
            <a:r>
              <a:t>Седиментационная устойчивость и закон Лапласа–Перрена</a:t>
            </a:r>
          </a:p>
          <a:p>
            <a:pPr algn="l">
              <a:defRPr sz="1200" i="1">
                <a:solidFill>
                  <a:srgbClr val="5A6978"/>
                </a:solidFill>
                <a:latin typeface="Arial"/>
              </a:defRPr>
            </a:pPr>
            <a:r>
              <a:t>Блок 4. Почему тяжелые наночастицы золота (ρ = 19.3 г/см³) не падают на дно?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24128"/>
            <a:ext cx="11277295" cy="27432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143000"/>
            <a:ext cx="4892040" cy="2157984"/>
          </a:xfrm>
          <a:prstGeom prst="roundRect">
            <a:avLst/>
          </a:prstGeom>
          <a:solidFill>
            <a:srgbClr val="F4F7FA"/>
          </a:solidFill>
          <a:ln w="13970">
            <a:solidFill>
              <a:srgbClr val="C8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28016" tIns="91440" bIns="73152"/>
          <a:lstStyle/>
          <a:p>
            <a:pPr algn="l">
              <a:spcAft>
                <a:spcPts val="400"/>
              </a:spcAft>
              <a:defRPr sz="1320" b="1">
                <a:solidFill>
                  <a:srgbClr val="003366"/>
                </a:solidFill>
                <a:latin typeface="Arial"/>
              </a:defRPr>
            </a:pPr>
            <a:r>
              <a:t>1. Два вида устойчивости коллоидов (Н.П. Песков)</a:t>
            </a:r>
          </a:p>
          <a:p>
            <a:pPr algn="l">
              <a:spcAft>
                <a:spcPts val="250"/>
              </a:spcAft>
              <a:defRPr sz="1140">
                <a:solidFill>
                  <a:srgbClr val="222222"/>
                </a:solidFill>
                <a:latin typeface="Arial"/>
              </a:defRPr>
            </a:pPr>
            <a:r>
              <a:t>• Седиментационная: частицы не оседают на дно под силой тяжести.</a:t>
            </a:r>
          </a:p>
          <a:p>
            <a:pPr algn="l">
              <a:spcAft>
                <a:spcPts val="250"/>
              </a:spcAft>
              <a:defRPr sz="1140">
                <a:solidFill>
                  <a:srgbClr val="222222"/>
                </a:solidFill>
                <a:latin typeface="Arial"/>
              </a:defRPr>
            </a:pPr>
            <a:r>
              <a:t>• Агрегативная: частицы не слипаются при столкновениях (сохраняют r).</a:t>
            </a:r>
          </a:p>
          <a:p>
            <a:pPr algn="l">
              <a:spcAft>
                <a:spcPts val="250"/>
              </a:spcAft>
              <a:defRPr sz="1140">
                <a:solidFill>
                  <a:srgbClr val="222222"/>
                </a:solidFill>
                <a:latin typeface="Arial"/>
              </a:defRPr>
            </a:pPr>
            <a:r>
              <a:t>• Скорость оседания одиночного шарика в жидкости (закон Стокса):</a:t>
            </a:r>
          </a:p>
          <a:p>
            <a:pPr algn="l">
              <a:spcBef>
                <a:spcPts val="150"/>
              </a:spcBef>
              <a:spcAft>
                <a:spcPts val="250"/>
              </a:spcAft>
              <a:defRPr sz="1180" b="1">
                <a:solidFill>
                  <a:srgbClr val="0066CC"/>
                </a:solidFill>
                <a:latin typeface="Arial"/>
              </a:defRPr>
            </a:pPr>
            <a:r>
              <a:t>   v_сед = [ 2 · r² · (ρ − ρ₀) · g ] / (9 · η)  ∝  r²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3410712"/>
            <a:ext cx="4892040" cy="2432304"/>
          </a:xfrm>
          <a:prstGeom prst="roundRect">
            <a:avLst/>
          </a:prstGeom>
          <a:solidFill>
            <a:srgbClr val="F4F7FA"/>
          </a:solidFill>
          <a:ln w="13970">
            <a:solidFill>
              <a:srgbClr val="C8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28016" tIns="91440" bIns="73152"/>
          <a:lstStyle/>
          <a:p>
            <a:pPr algn="l">
              <a:spcAft>
                <a:spcPts val="400"/>
              </a:spcAft>
              <a:defRPr sz="1320" b="1">
                <a:solidFill>
                  <a:srgbClr val="003366"/>
                </a:solidFill>
                <a:latin typeface="Arial"/>
              </a:defRPr>
            </a:pPr>
            <a:r>
              <a:t>2. Дуэль гравитации и теплового движения (закон Перрена)</a:t>
            </a:r>
          </a:p>
          <a:p>
            <a:pPr algn="l">
              <a:spcAft>
                <a:spcPts val="250"/>
              </a:spcAft>
              <a:defRPr sz="1140">
                <a:solidFill>
                  <a:srgbClr val="222222"/>
                </a:solidFill>
                <a:latin typeface="Arial"/>
              </a:defRPr>
            </a:pPr>
            <a:r>
              <a:t>• Оседанию вниз мешает тепловое броуновское движение (k_B T), подбрасывающее наночастицы вверх.</a:t>
            </a:r>
          </a:p>
          <a:p>
            <a:pPr algn="l">
              <a:spcAft>
                <a:spcPts val="250"/>
              </a:spcAft>
              <a:defRPr sz="1140">
                <a:solidFill>
                  <a:srgbClr val="222222"/>
                </a:solidFill>
                <a:latin typeface="Arial"/>
              </a:defRPr>
            </a:pPr>
            <a:r>
              <a:t>• Характерная высота столба золя h_e обратно пропорциональна КУБУ радиуса частицы:</a:t>
            </a:r>
          </a:p>
          <a:p>
            <a:pPr algn="l">
              <a:spcBef>
                <a:spcPts val="150"/>
              </a:spcBef>
              <a:spcAft>
                <a:spcPts val="250"/>
              </a:spcAft>
              <a:defRPr sz="1180" b="1">
                <a:solidFill>
                  <a:srgbClr val="0066CC"/>
                </a:solidFill>
                <a:latin typeface="Arial"/>
              </a:defRPr>
            </a:pPr>
            <a:r>
              <a:t>   h_e = (3 · k_B · T) / (4 · π · r³ · Δρ · g)  ∝  1 / r³</a:t>
            </a:r>
          </a:p>
          <a:p>
            <a:pPr algn="l">
              <a:spcAft>
                <a:spcPts val="250"/>
              </a:spcAft>
              <a:defRPr sz="1140">
                <a:solidFill>
                  <a:srgbClr val="222222"/>
                </a:solidFill>
                <a:latin typeface="Arial"/>
              </a:defRPr>
            </a:pPr>
            <a:r>
              <a:t>• Вывод: пока частицы малы (r &lt; 10 нм), они не осядут никогда!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0" y="1143000"/>
            <a:ext cx="6245352" cy="4709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ig_14_sedimentation_perr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59552" y="1537731"/>
            <a:ext cx="6099048" cy="3919696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457200" y="6080760"/>
            <a:ext cx="11277295" cy="502920"/>
          </a:xfrm>
          <a:prstGeom prst="roundRect">
            <a:avLst/>
          </a:prstGeom>
          <a:solidFill>
            <a:srgbClr val="E8F2FC"/>
          </a:solidFill>
          <a:ln w="1524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50" b="1">
                <a:solidFill>
                  <a:srgbClr val="003366"/>
                </a:solidFill>
                <a:latin typeface="Arial"/>
              </a:defRPr>
            </a:pPr>
            <a:r>
              <a:t>Ключевой вывод: За счет зависимости h_e ∝ r⁻³ наночастицы золота (r ≤ 10 нм) седиментационно абсолютно устойчивы, пока не произойдет их агрегация!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19456"/>
            <a:ext cx="11277295" cy="777240"/>
          </a:xfrm>
          <a:prstGeom prst="rect">
            <a:avLst/>
          </a:prstGeom>
          <a:noFill/>
        </p:spPr>
        <p:txBody>
          <a:bodyPr wrap="square" anchor="t" tIns="18288" bIns="18288">
            <a:spAutoFit/>
          </a:bodyPr>
          <a:lstStyle/>
          <a:p>
            <a:pPr algn="l">
              <a:spcAft>
                <a:spcPts val="200"/>
              </a:spcAft>
              <a:defRPr sz="1950" b="1">
                <a:solidFill>
                  <a:srgbClr val="003366"/>
                </a:solidFill>
                <a:latin typeface="Arial"/>
              </a:defRPr>
            </a:pPr>
            <a:r>
              <a:t>Агрегативная устойчивость и теория ДЛФО (Дерягин–Ландау–Фервей–Овербек)</a:t>
            </a:r>
          </a:p>
          <a:p>
            <a:pPr algn="l">
              <a:defRPr sz="1200" i="1">
                <a:solidFill>
                  <a:srgbClr val="5A6978"/>
                </a:solidFill>
                <a:latin typeface="Arial"/>
              </a:defRPr>
            </a:pPr>
            <a:r>
              <a:t>Блок 4. Борьба ван-дер-ваальсова притяжения и электростатического отталкивания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24128"/>
            <a:ext cx="11277295" cy="27432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143000"/>
            <a:ext cx="4892040" cy="2295144"/>
          </a:xfrm>
          <a:prstGeom prst="roundRect">
            <a:avLst/>
          </a:prstGeom>
          <a:solidFill>
            <a:srgbClr val="F4F7FA"/>
          </a:solidFill>
          <a:ln w="13970">
            <a:solidFill>
              <a:srgbClr val="C8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28016" tIns="91440" bIns="73152"/>
          <a:lstStyle/>
          <a:p>
            <a:pPr algn="l">
              <a:spcAft>
                <a:spcPts val="400"/>
              </a:spcAft>
              <a:defRPr sz="1320" b="1">
                <a:solidFill>
                  <a:srgbClr val="003366"/>
                </a:solidFill>
                <a:latin typeface="Arial"/>
              </a:defRPr>
            </a:pPr>
            <a:r>
              <a:t>1. Сумма двух сил при сближении наночастиц: U(h) = U_A + U_R</a:t>
            </a:r>
          </a:p>
          <a:p>
            <a:pPr algn="l">
              <a:spcAft>
                <a:spcPts val="250"/>
              </a:spcAft>
              <a:defRPr sz="1140">
                <a:solidFill>
                  <a:srgbClr val="222222"/>
                </a:solidFill>
                <a:latin typeface="Arial"/>
              </a:defRPr>
            </a:pPr>
            <a:r>
              <a:t>• 1) Притяжение Ван-дер-Ваальса (действует всегда, степенной закон):</a:t>
            </a:r>
          </a:p>
          <a:p>
            <a:pPr algn="l">
              <a:spcBef>
                <a:spcPts val="150"/>
              </a:spcBef>
              <a:spcAft>
                <a:spcPts val="250"/>
              </a:spcAft>
              <a:defRPr sz="1180" b="1">
                <a:solidFill>
                  <a:srgbClr val="0066CC"/>
                </a:solidFill>
                <a:latin typeface="Arial"/>
              </a:defRPr>
            </a:pPr>
            <a:r>
              <a:t>   U_A(h) = − (A_H · r) / (12 · h)  ∝  − 1 / h</a:t>
            </a:r>
          </a:p>
          <a:p>
            <a:pPr algn="l">
              <a:spcAft>
                <a:spcPts val="250"/>
              </a:spcAft>
              <a:defRPr sz="1140">
                <a:solidFill>
                  <a:srgbClr val="222222"/>
                </a:solidFill>
                <a:latin typeface="Arial"/>
              </a:defRPr>
            </a:pPr>
            <a:r>
              <a:t>• 2) Отталкивание при перекрытии ионных шуб ДЭС (экспонента):</a:t>
            </a:r>
          </a:p>
          <a:p>
            <a:pPr algn="l">
              <a:spcBef>
                <a:spcPts val="150"/>
              </a:spcBef>
              <a:spcAft>
                <a:spcPts val="250"/>
              </a:spcAft>
              <a:defRPr sz="1180" b="1">
                <a:solidFill>
                  <a:srgbClr val="0066CC"/>
                </a:solidFill>
                <a:latin typeface="Arial"/>
              </a:defRPr>
            </a:pPr>
            <a:r>
              <a:t>   U_R(h)  ∝  r · φ_δ² · exp( −h / λ_D 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3547872"/>
            <a:ext cx="4892040" cy="2295144"/>
          </a:xfrm>
          <a:prstGeom prst="roundRect">
            <a:avLst/>
          </a:prstGeom>
          <a:solidFill>
            <a:srgbClr val="F4F7FA"/>
          </a:solidFill>
          <a:ln w="13970">
            <a:solidFill>
              <a:srgbClr val="C8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28016" tIns="91440" bIns="73152"/>
          <a:lstStyle/>
          <a:p>
            <a:pPr algn="l">
              <a:spcAft>
                <a:spcPts val="400"/>
              </a:spcAft>
              <a:defRPr sz="1320" b="1">
                <a:solidFill>
                  <a:srgbClr val="003366"/>
                </a:solidFill>
                <a:latin typeface="Arial"/>
              </a:defRPr>
            </a:pPr>
            <a:r>
              <a:t>2. Три главные точки на кривой ДЛФО</a:t>
            </a:r>
          </a:p>
          <a:p>
            <a:pPr algn="l">
              <a:spcAft>
                <a:spcPts val="250"/>
              </a:spcAft>
              <a:defRPr sz="1140">
                <a:solidFill>
                  <a:srgbClr val="222222"/>
                </a:solidFill>
                <a:latin typeface="Arial"/>
              </a:defRPr>
            </a:pPr>
            <a:r>
              <a:t>• Ближний (первичный) минимум (h → 0): глубокая яма — необратимое слипание (коагуляция).</a:t>
            </a:r>
          </a:p>
          <a:p>
            <a:pPr algn="l">
              <a:spcAft>
                <a:spcPts val="250"/>
              </a:spcAft>
              <a:defRPr sz="1140">
                <a:solidFill>
                  <a:srgbClr val="222222"/>
                </a:solidFill>
                <a:latin typeface="Arial"/>
              </a:defRPr>
            </a:pPr>
            <a:r>
              <a:t>• Потенциальный барьер U_max: «забор» устойчивости. Чтобы золь жил долго, барьер должен быть выше тепловых ударов:</a:t>
            </a:r>
          </a:p>
          <a:p>
            <a:pPr algn="l">
              <a:spcBef>
                <a:spcPts val="150"/>
              </a:spcBef>
              <a:spcAft>
                <a:spcPts val="250"/>
              </a:spcAft>
              <a:defRPr sz="1180" b="1">
                <a:solidFill>
                  <a:srgbClr val="0066CC"/>
                </a:solidFill>
                <a:latin typeface="Arial"/>
              </a:defRPr>
            </a:pPr>
            <a:r>
              <a:t>   U_max ≥ 15 – 25 k_B T     (соответствует |ζ| &gt; 30 мВ)</a:t>
            </a:r>
          </a:p>
          <a:p>
            <a:pPr algn="l">
              <a:spcAft>
                <a:spcPts val="250"/>
              </a:spcAft>
              <a:defRPr sz="1140">
                <a:solidFill>
                  <a:srgbClr val="222222"/>
                </a:solidFill>
                <a:latin typeface="Arial"/>
              </a:defRPr>
            </a:pPr>
            <a:r>
              <a:t>• Дальний (вторичный) минимум: слабая обратимая сцепка через воду.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0" y="1143000"/>
            <a:ext cx="6245352" cy="4709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ig_15_dlvo_potent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59552" y="1300516"/>
            <a:ext cx="6099048" cy="4394126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457200" y="6080760"/>
            <a:ext cx="11277295" cy="502920"/>
          </a:xfrm>
          <a:prstGeom prst="roundRect">
            <a:avLst/>
          </a:prstGeom>
          <a:solidFill>
            <a:srgbClr val="E8F2FC"/>
          </a:solidFill>
          <a:ln w="1524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50" b="1">
                <a:solidFill>
                  <a:srgbClr val="003366"/>
                </a:solidFill>
                <a:latin typeface="Arial"/>
              </a:defRPr>
            </a:pPr>
            <a:r>
              <a:t>Ключевой вывод: Различие законов спадания с расстоянием (степенной −1/h для притяжения и экспоненциальный e^(−κh) для отталкивания) рождает барьер U_max и два минимума!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19456"/>
            <a:ext cx="11277295" cy="777240"/>
          </a:xfrm>
          <a:prstGeom prst="rect">
            <a:avLst/>
          </a:prstGeom>
          <a:noFill/>
        </p:spPr>
        <p:txBody>
          <a:bodyPr wrap="square" anchor="t" tIns="18288" bIns="18288">
            <a:spAutoFit/>
          </a:bodyPr>
          <a:lstStyle/>
          <a:p>
            <a:pPr algn="l">
              <a:spcAft>
                <a:spcPts val="200"/>
              </a:spcAft>
              <a:defRPr sz="1950" b="1">
                <a:solidFill>
                  <a:srgbClr val="003366"/>
                </a:solidFill>
                <a:latin typeface="Arial"/>
              </a:defRPr>
            </a:pPr>
            <a:r>
              <a:t>Коагуляция электролитами: правило Шульце–Гарди и закон шестой степени (z⁻⁶)</a:t>
            </a:r>
          </a:p>
          <a:p>
            <a:pPr algn="l">
              <a:defRPr sz="1200" i="1">
                <a:solidFill>
                  <a:srgbClr val="5A6978"/>
                </a:solidFill>
                <a:latin typeface="Arial"/>
              </a:defRPr>
            </a:pPr>
            <a:r>
              <a:t>Блок 4. Порог коагуляции γ_кр и методика решения задач на коагуляцию (Навык №3)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24128"/>
            <a:ext cx="11277295" cy="27432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143000"/>
            <a:ext cx="4892040" cy="2203704"/>
          </a:xfrm>
          <a:prstGeom prst="roundRect">
            <a:avLst/>
          </a:prstGeom>
          <a:solidFill>
            <a:srgbClr val="F4F7FA"/>
          </a:solidFill>
          <a:ln w="13970">
            <a:solidFill>
              <a:srgbClr val="C8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28016" tIns="91440" bIns="73152"/>
          <a:lstStyle/>
          <a:p>
            <a:pPr algn="l">
              <a:spcAft>
                <a:spcPts val="400"/>
              </a:spcAft>
              <a:defRPr sz="1320" b="1">
                <a:solidFill>
                  <a:srgbClr val="003366"/>
                </a:solidFill>
                <a:latin typeface="Arial"/>
              </a:defRPr>
            </a:pPr>
            <a:r>
              <a:t>1. Порог коагуляции γ_кр и закон Дерягина–Ландау</a:t>
            </a:r>
          </a:p>
          <a:p>
            <a:pPr algn="l">
              <a:spcAft>
                <a:spcPts val="250"/>
              </a:spcAft>
              <a:defRPr sz="1140">
                <a:solidFill>
                  <a:srgbClr val="222222"/>
                </a:solidFill>
                <a:latin typeface="Arial"/>
              </a:defRPr>
            </a:pPr>
            <a:r>
              <a:t>• Порог коагуляции γ_кр (ммоль/л) — минимальная концентрация соли, обнуляющая барьер ДЛФО (U_max = 0, кривая 3 касается оси).</a:t>
            </a:r>
          </a:p>
          <a:p>
            <a:pPr algn="l">
              <a:spcAft>
                <a:spcPts val="250"/>
              </a:spcAft>
              <a:defRPr sz="1140">
                <a:solidFill>
                  <a:srgbClr val="222222"/>
                </a:solidFill>
                <a:latin typeface="Arial"/>
              </a:defRPr>
            </a:pPr>
            <a:r>
              <a:t>• Коагулирует ПРОТИВОИОН (знак, противоположный грануле!), а порог обратно пропорционален ШЕСТОЙ степени его заряда z:</a:t>
            </a:r>
          </a:p>
          <a:p>
            <a:pPr algn="l">
              <a:spcBef>
                <a:spcPts val="150"/>
              </a:spcBef>
              <a:spcAft>
                <a:spcPts val="250"/>
              </a:spcAft>
              <a:defRPr sz="1180" b="1">
                <a:solidFill>
                  <a:srgbClr val="0066CC"/>
                </a:solidFill>
                <a:latin typeface="Arial"/>
              </a:defRPr>
            </a:pPr>
            <a:r>
              <a:t>   γ_кр  ∝  1 / z⁶   ⇒   γ₁ : γ₂ : γ₃ = 1 : 1/64 : 1/729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3456432"/>
            <a:ext cx="4892040" cy="2386584"/>
          </a:xfrm>
          <a:prstGeom prst="roundRect">
            <a:avLst/>
          </a:prstGeom>
          <a:solidFill>
            <a:srgbClr val="F4F7FA"/>
          </a:solidFill>
          <a:ln w="13970">
            <a:solidFill>
              <a:srgbClr val="C8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28016" tIns="91440" bIns="73152"/>
          <a:lstStyle/>
          <a:p>
            <a:pPr algn="l">
              <a:spcAft>
                <a:spcPts val="400"/>
              </a:spcAft>
              <a:defRPr sz="1320" b="1">
                <a:solidFill>
                  <a:srgbClr val="003366"/>
                </a:solidFill>
                <a:latin typeface="Arial"/>
              </a:defRPr>
            </a:pPr>
            <a:r>
              <a:t>2. Алгоритм и ловушки в задачах на коагуляцию (золь Fe(OH)₃)</a:t>
            </a:r>
          </a:p>
          <a:p>
            <a:pPr algn="l">
              <a:spcAft>
                <a:spcPts val="250"/>
              </a:spcAft>
              <a:defRPr sz="1140">
                <a:solidFill>
                  <a:srgbClr val="222222"/>
                </a:solidFill>
                <a:latin typeface="Arial"/>
              </a:defRPr>
            </a:pPr>
            <a:r>
              <a:t>• Ловушка 1: В солях KCl, K₂SO₄, K₃[Fe(CN)₆] катион K⁺ НЕ работает (у гранулы Fe(OH)₃ заряд «+»)! Коагулируют анионы: Cl⁻ (z=1), SO₄²⁻ (z=2), [Fe(CN)₆]³⁻ (z=3).</a:t>
            </a:r>
          </a:p>
          <a:p>
            <a:pPr algn="l">
              <a:spcAft>
                <a:spcPts val="250"/>
              </a:spcAft>
              <a:defRPr sz="1140">
                <a:solidFill>
                  <a:srgbClr val="222222"/>
                </a:solidFill>
                <a:latin typeface="Arial"/>
              </a:defRPr>
            </a:pPr>
            <a:r>
              <a:t>• Ловушка 2: В знаменателе формулы порога — ПОЛНЫЙ объем смеси:</a:t>
            </a:r>
          </a:p>
          <a:p>
            <a:pPr algn="l">
              <a:spcBef>
                <a:spcPts val="150"/>
              </a:spcBef>
              <a:spcAft>
                <a:spcPts val="250"/>
              </a:spcAft>
              <a:defRPr sz="1180" b="1">
                <a:solidFill>
                  <a:srgbClr val="0066CC"/>
                </a:solidFill>
                <a:latin typeface="Arial"/>
              </a:defRPr>
            </a:pPr>
            <a:r>
              <a:t>   γ_кр = [ C_эл · V_эл / (V_золя + V_эл) ] · 1000   [ммоль/л]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0" y="1143000"/>
            <a:ext cx="6245352" cy="4709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ig_16_schultze_hardy_coagul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59552" y="1324522"/>
            <a:ext cx="6099048" cy="4346114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457200" y="6080760"/>
            <a:ext cx="11277295" cy="502920"/>
          </a:xfrm>
          <a:prstGeom prst="roundRect">
            <a:avLst/>
          </a:prstGeom>
          <a:solidFill>
            <a:srgbClr val="E8F2FC"/>
          </a:solidFill>
          <a:ln w="1524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50" b="1">
                <a:solidFill>
                  <a:srgbClr val="003366"/>
                </a:solidFill>
                <a:latin typeface="Arial"/>
              </a:defRPr>
            </a:pPr>
            <a:r>
              <a:t>Ключевой вывод: Закон шестой степени Дерягина–Ландау (γ_кр ∝ z⁻⁶) объясняет, почему трехзарядный анион [Fe(CN)₆]³⁻ коагулирует золь Fe(OH)₃ в ~730 раз эффективнее однозарядного Cl⁻!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19456"/>
            <a:ext cx="11277295" cy="777240"/>
          </a:xfrm>
          <a:prstGeom prst="rect">
            <a:avLst/>
          </a:prstGeom>
          <a:noFill/>
        </p:spPr>
        <p:txBody>
          <a:bodyPr wrap="square" anchor="t" tIns="18288" bIns="18288">
            <a:spAutoFit/>
          </a:bodyPr>
          <a:lstStyle/>
          <a:p>
            <a:pPr algn="l">
              <a:spcAft>
                <a:spcPts val="200"/>
              </a:spcAft>
              <a:defRPr sz="1950" b="1">
                <a:solidFill>
                  <a:srgbClr val="003366"/>
                </a:solidFill>
                <a:latin typeface="Arial"/>
              </a:defRPr>
            </a:pPr>
            <a:r>
              <a:t>Сквозной синтез: две модельные наносистемы лекции</a:t>
            </a:r>
          </a:p>
          <a:p>
            <a:pPr algn="l">
              <a:defRPr sz="1200" i="1">
                <a:solidFill>
                  <a:srgbClr val="5A6978"/>
                </a:solidFill>
                <a:latin typeface="Arial"/>
              </a:defRPr>
            </a:pPr>
            <a:r>
              <a:t>Резюме темы «Термодинамика дисперсных систем и коллоидных растворов»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24128"/>
            <a:ext cx="11277295" cy="27432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143000"/>
            <a:ext cx="4892040" cy="2249424"/>
          </a:xfrm>
          <a:prstGeom prst="roundRect">
            <a:avLst/>
          </a:prstGeom>
          <a:solidFill>
            <a:srgbClr val="F4F7FA"/>
          </a:solidFill>
          <a:ln w="13970">
            <a:solidFill>
              <a:srgbClr val="C8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28016" tIns="91440" bIns="73152"/>
          <a:lstStyle/>
          <a:p>
            <a:pPr algn="l">
              <a:spcAft>
                <a:spcPts val="400"/>
              </a:spcAft>
              <a:defRPr sz="1320" b="1">
                <a:solidFill>
                  <a:srgbClr val="003366"/>
                </a:solidFill>
                <a:latin typeface="Arial"/>
              </a:defRPr>
            </a:pPr>
            <a:r>
              <a:t>Модельная система №1: Рубиновый золь золота</a:t>
            </a:r>
          </a:p>
          <a:p>
            <a:pPr algn="l">
              <a:spcAft>
                <a:spcPts val="250"/>
              </a:spcAft>
              <a:defRPr sz="1140">
                <a:solidFill>
                  <a:srgbClr val="222222"/>
                </a:solidFill>
                <a:latin typeface="Arial"/>
              </a:defRPr>
            </a:pPr>
            <a:r>
              <a:t>• Цитратный синтез (метод Туркевича): восстановление HAuCl₄ цитратом натрия (100 °C) с получением наночастиц Au (d ≈ 15–20 нм).</a:t>
            </a:r>
          </a:p>
          <a:p>
            <a:pPr algn="l">
              <a:spcAft>
                <a:spcPts val="250"/>
              </a:spcAft>
              <a:defRPr sz="1140">
                <a:solidFill>
                  <a:srgbClr val="222222"/>
                </a:solidFill>
                <a:latin typeface="Arial"/>
              </a:defRPr>
            </a:pPr>
            <a:r>
              <a:t>• Строение мицеллы: {[Au]_m · n Cit³⁻ · (3n−x) Na⁺}ˣ⁻ · x Na⁺; гранула заряжена отрицательно, ζ ≈ −40 мВ.</a:t>
            </a:r>
          </a:p>
          <a:p>
            <a:pPr algn="l">
              <a:spcAft>
                <a:spcPts val="250"/>
              </a:spcAft>
              <a:defRPr sz="1140">
                <a:solidFill>
                  <a:srgbClr val="222222"/>
                </a:solidFill>
                <a:latin typeface="Arial"/>
              </a:defRPr>
            </a:pPr>
            <a:r>
              <a:t>• Устойчивость и плазмон: седиментационная стабильность по Перрену; рубиновый цвет (520 нм) при коагуляции солями сменяется синим (650 нм).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3502152"/>
            <a:ext cx="4892040" cy="2340864"/>
          </a:xfrm>
          <a:prstGeom prst="roundRect">
            <a:avLst/>
          </a:prstGeom>
          <a:solidFill>
            <a:srgbClr val="F4F7FA"/>
          </a:solidFill>
          <a:ln w="13970">
            <a:solidFill>
              <a:srgbClr val="C8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28016" tIns="91440" bIns="73152"/>
          <a:lstStyle/>
          <a:p>
            <a:pPr algn="l">
              <a:spcAft>
                <a:spcPts val="400"/>
              </a:spcAft>
              <a:defRPr sz="1320" b="1">
                <a:solidFill>
                  <a:srgbClr val="003366"/>
                </a:solidFill>
                <a:latin typeface="Arial"/>
              </a:defRPr>
            </a:pPr>
            <a:r>
              <a:t>Модельная система №2: Гидрозоль Fe(OH)₃</a:t>
            </a:r>
          </a:p>
          <a:p>
            <a:pPr algn="l">
              <a:spcAft>
                <a:spcPts val="250"/>
              </a:spcAft>
              <a:defRPr sz="1140">
                <a:solidFill>
                  <a:srgbClr val="222222"/>
                </a:solidFill>
                <a:latin typeface="Arial"/>
              </a:defRPr>
            </a:pPr>
            <a:r>
              <a:t>• Конденсационный гидролиз FeCl₃: кипячение соли в воде формирует гидрозоль со стабилизатором FeOCl (ПОИ — катион FeO⁺).</a:t>
            </a:r>
          </a:p>
          <a:p>
            <a:pPr algn="l">
              <a:spcAft>
                <a:spcPts val="250"/>
              </a:spcAft>
              <a:defRPr sz="1140">
                <a:solidFill>
                  <a:srgbClr val="222222"/>
                </a:solidFill>
                <a:latin typeface="Arial"/>
              </a:defRPr>
            </a:pPr>
            <a:r>
              <a:t>• Строение мицеллы: {[Fe(OH)₃]_m · n FeO⁺ · (n−x) Cl⁻}ˣ⁺ · x Cl⁻; гранула заряжена положительно.</a:t>
            </a:r>
          </a:p>
          <a:p>
            <a:pPr algn="l">
              <a:spcAft>
                <a:spcPts val="250"/>
              </a:spcAft>
              <a:defRPr sz="1140">
                <a:solidFill>
                  <a:srgbClr val="222222"/>
                </a:solidFill>
                <a:latin typeface="Arial"/>
              </a:defRPr>
            </a:pPr>
            <a:r>
              <a:t>• Коагуляция по Шульце–Гарди: коагулируют анионы-противоионы; пороги коагуляции Cl⁻, SO₄²⁻, [Fe(CN)₆]³⁻ подчиняются закону z⁻⁶ (1 : 1/64 : 1/729).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0" y="1143000"/>
            <a:ext cx="6245352" cy="4709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ig_17_labs_conne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97836" y="1216152"/>
            <a:ext cx="6022479" cy="4562856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457200" y="6080760"/>
            <a:ext cx="11277295" cy="502920"/>
          </a:xfrm>
          <a:prstGeom prst="roundRect">
            <a:avLst/>
          </a:prstGeom>
          <a:solidFill>
            <a:srgbClr val="E8F2FC"/>
          </a:solidFill>
          <a:ln w="1524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50" b="1">
                <a:solidFill>
                  <a:srgbClr val="003366"/>
                </a:solidFill>
                <a:latin typeface="Arial"/>
              </a:defRPr>
            </a:pPr>
            <a:r>
              <a:t>Ключевой вывод: Модельные наносистемы наглядно объединяют фундаментальную теорию ДЭС и ДЛФО: от оптической плазмонной стабильности нанозоля золота до закона шестой степени при коагуляции гидрозоля Fe(OH)₃.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