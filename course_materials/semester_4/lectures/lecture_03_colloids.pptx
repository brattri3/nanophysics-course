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Место лекции в курсе: Раздел 2 «Особенности термодинамики наноструктур» дисциплины «Физические основы нанотехнологий» (бакалавриат, 3 курс ГУАП). Лекция закладывает фундамент жидкофазного синтеза, устойчивости золей и наноколлоидов.</a:t>
            </a:r>
          </a:p>
          <a:p>
            <a:r>
              <a:t>2. Соответствие РПД: Темы №7 и №8 календарного плана (термодинамика границ раздела, ДЭС, теория ДЛФО).</a:t>
            </a:r>
          </a:p>
          <a:p>
            <a:r>
              <a:t>3. Обратите внимание студентов: все университетские реквизиты кафедры и преподавателя зафиксированы на титульном листе и далее на рабочих слайдах не повторяются.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Постановка проблемы: Переход к наномасштабу 1–100 нм сопровождается колоссальным ростом удельной поверхности. Это порождает 6 критических барьеров: слипание (агрегацию), гравитационный осадок, старение при хранении, сдвиговое разрушение при транспорте, сложность сепарации и несовместимость с матрицами.</a:t>
            </a:r>
          </a:p>
          <a:p>
            <a:r>
              <a:t>2. Подлинный научный эталон: Справа представлен рубиновый золь золота Майкла Фарадея (1857 г.), стабильный уже более 170 лет благодаря защитному ДЭС, в контрасте с незащищенным оксидом железа Fe3O4, скоагулировавшим в осадок.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Фокус раздела: Открываем разбор первого и фундаментального барьера — агрегации наночастиц.</a:t>
            </a:r>
          </a:p>
          <a:p>
            <a:r>
              <a:t>2. Бритва Оккама: Слайд-разделитель содержит только ключевой физический тезис в 1–2 предложениях, акцентируя внимание на избытке свободной энергии Гиббса ΔGs = σ · S &gt; 0.</a:t>
            </a:r>
          </a:p>
          <a:p>
            <a:r>
              <a:t>3. Дорожная карта: В данном блоке мы последовательно разберем геометрический взрыв поверхности, анатомию ДЭС и расчет потенциального барьера теории ДЛФО.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Геометрический взрыв поверхности: При дроблении макроскопического кубика золота 1 см³ до наночастиц 10 нм суммарная площадь поверхности возрастает с 6 см² до 600 м².</a:t>
            </a:r>
          </a:p>
          <a:p>
            <a:r>
              <a:t>2. Фактор формы k: Из размерных соображений отношение S/V равно 6/a для 3D-кубика и сферы, 4/d для длинного 1D-цилиндра и 2/h для тонкой 2D-пленки.</a:t>
            </a:r>
          </a:p>
          <a:p>
            <a:r>
              <a:t>3. Поверхностные атомы: При диаметре менее 2–3 нм свыше 50–70% всех атомов находятся на межфазной границе, определяя уникальную реакционную способность наноматериалов.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Диапазон коллоидов: Фундаментальный размерный интервал 1–100 нм объединяет классическую коллоидную химию и современную нанофизику.</a:t>
            </a:r>
          </a:p>
          <a:p>
            <a:r>
              <a:t>2. Критерий Ребиндера: Лиофильные системы самопроизвольно диспергируют за счет теплового движения, если поверхностное натяжение ничтожно мало (σ &lt; σ_кр). Лиофобные системы требуют затраты работы и термодинамически метастабильны.</a:t>
            </a:r>
          </a:p>
          <a:p>
            <a:r>
              <a:t>3. Матрица дисперсности: Рассмотрены системы с твердой, жидкой и газовой дисперсной фазой и средой, включая твердые пористые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Переход золь–гель: Свободнодисперсный золь при достижении порога перколяции формирует непрерывную пространственную сетку — гель.</a:t>
            </a:r>
          </a:p>
          <a:p>
            <a:r>
              <a:t>2. Капиллярный коллапс Лапласа: При обычной сушке в нанопорах радиусом r ≈ 2–5 нм мениски жидкости создают огромное капиллярное разрежение P_L = 2σ/r (до 200–500 МПа), разрушающее поры и приводящее к образованию плотного ксерогеля.</a:t>
            </a:r>
          </a:p>
          <a:p>
            <a:r>
              <a:t>3. Сверхкритическая сушка: Перевод растворителя в сверхкритическое состояние устраняет фазовую границу жидкость–пар (σ = 0). Отсутствие менисков позволяет сохранить исходный объем пор до 95–99% в аэрогеле.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Строение цеолитов: В отличие от аморфного силикагеля с широким распределением пор по размерам (2–50 нм), цеолит — это кристалл. Диаметр входных окон жестко зафиксирован параметрами кристаллической решетки алюмосиликата.</a:t>
            </a:r>
          </a:p>
          <a:p>
            <a:r>
              <a:t>2. Молекулярные сита: Если диаметр окна составляет 0.45 нм, линейный н-алкан (диаметр 0.43 нм) диффундирует внутрь каналов, а разветвленный изоалкан (0.56 нм) не может войти в пору.</a:t>
            </a:r>
          </a:p>
          <a:p>
            <a:r>
              <a:t>3. Цеолиты как нанореакторы: Полости цеолитов служат шаблонами для синтеза изолированных квантовых точек и субнанометровых металлических кластеров с жестким пространственным ограничением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«Знаменитость в толпе фанатов»: Агрегат [M]_m — сцена; ПОИ — рок-звезда на сцене, задающая тон (заряд); плотный слой (n−x) — охрана вплотную к сцене (вместе со звездой это Гранула в фигурных скобках); диффузный слой x — фанаты на площади вокруг.</a:t>
            </a:r>
          </a:p>
          <a:p>
            <a:r>
              <a:t>2. Главная ловушка на зачете: «Какой заряд у мицеллы?» Правильный ответ: НУЛЕВОЙ! Заряжена только ГРАНУЛА (то, что внутри фигурных скобок), а вся мицелла электронейтральна.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Отработка Навыка №1: На примере AgI видно, что одно и то же вещество может быть и отрицательным золем (в избытке KI), и положительным (в избытке AgNO₃).</a:t>
            </a:r>
          </a:p>
          <a:p>
            <a:r>
              <a:t>2. Разбор золя Fe(OH)₃ (карточка 2): Классическая учебная задача! Осадок Fe(OH)₃, стабилизатор FeOCl, потенциалопределяющий ион — катион оксожелеза FeO⁺ (или Fe³⁺), противоионы — хлориды Cl⁻.</a:t>
            </a:r>
          </a:p>
          <a:p>
            <a:r>
              <a:t>3. Ключ к задачам на коагуляцию: Раз гранула заряжена плюсом (x+), то осаждать (коагулировать) ее будут отрицательные ионы (анионы) добавляемых солей!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атмосферой Земли: Гравитация тянет воздух к земле, а тепловое движение k_B T разбрасывает молекулы вверх — получается воздушная атмосфера. Точно так же вокруг наночастицы кулоновское притяжение и тепловой хаос создают диффузную ионную атмосферу Гуи–Чепмена!</a:t>
            </a:r>
          </a:p>
          <a:p>
            <a:r>
              <a:t>2. На графике внизу: Синий пунктир — резкий линейный обрыв потенциала в плоском конденсаторе Гельмгольца; красная кривая — плавная экспонента Гуи–Чепмена.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Никакой лишней громоздкости: Нам важен физический закон λ_D ∝ 1 / (z·√c).</a:t>
            </a:r>
          </a:p>
          <a:p>
            <a:r>
              <a:t>2. Аналогия с зимним пуховиком в вакуумном пакете: В чистой воде (c = 10⁻⁴ М, синяя кривая) ионная шуба вокруг наночастицы пушистая (λ_D = 30.4 нм). Капнули соли до 10⁻² М (красная кривая) — шуба сдулась в 10 раз до 3 нм, и частицы оголились для слипания!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Суть модели Штерна: Ионы не могут подойти к стенке ближе своего радиуса δ (серая полоса на графике). Внутри δ — плоский конденсатор Гельмгольца, снаружи — диффузное облако Гуи.</a:t>
            </a:r>
          </a:p>
          <a:p>
            <a:r>
              <a:t>2. Феномен перезарядки (красная кривая 3): Если в раствор с положительными частицами (φ₀ = +80 мВ) добавить многозарядные анионы, они набьются в слой Штерна сверх меры и поменяют знак потенциала снаружи на минус (φ_δ = −32 мВ)!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Как померить потенциал наночастицы: Вольтметром ткнуть нельзя, но можно включить поле и померить скорость движения гранулы — она зависит от потенциала на линии отрыва жидкости (ζ-потенциала).</a:t>
            </a:r>
          </a:p>
          <a:p>
            <a:r>
              <a:t>2. Навык №2 («Магические 30 мВ»): Смотрим на модуль |ζ|. Если |ζ| &gt; 30 мВ (+35 или −40 мВ) — золь живет месяцами. Если добавили соль (переход от зеленой кривой 1 к красной 3 на графике), экспонента прижалась к стенке, ζ упал ниже 15 мВ — золь гибнет!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Простая симметрия 2×2 без зубрежки: В верхнем ряду мы подключаем батарейку E — двигаются либо частицы (электрофорез), либо вода в порах (электроосмос). В нижнем ряду мы двигаем систему механически (гравитацией или насосом ΔP) — и на вольтметре возникает ЭДС!</a:t>
            </a:r>
          </a:p>
          <a:p>
            <a:r>
              <a:t>2. Исторический приоритет: Оба прямых явления открыл в Москве профессор Ф.Ф. Рейсс в 1809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смысл без перегрузки: Когда прибор померил скорость наночастицы v, как пересчитать ее в милливольты ζ? Все зависит от того, кто больше — сама частица r или ее шуба λ_D.</a:t>
            </a:r>
          </a:p>
          <a:p>
            <a:r>
              <a:t>2. На графике справа: Между левой полкой Хюккеля (1.0) и правой полкой Смолуховского (1.5) разница в полтора раза! Наночастицы золота и железа (r ~ 10 нм) живут прямо на переходном склоне (оранжевая точка).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Загадка коллоидного золота: Золото почти в 20 раз тяжелее воды, но рубиновый гидрозоль (r = 5 нм, синяя кривая) абсолютно однороден по высоте пробирки!</a:t>
            </a:r>
          </a:p>
          <a:p>
            <a:r>
              <a:t>2. Сила куба радиуса (1/r³): Стоит частицам потерять заряд и слипнуться всего в 3 раза по радиусу (с 5 до 16 нм, красная кривая), как куб радиуса r³ вырастает в 3.2³ ≈ 33 раза! Тепловое движение проигрывает, и золото камнем падает на дно. Значит, главное — не дать частицам слипнуться!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Прикладной модуль №1 (коллоидная диагностика): Синтез золя золота по методу Туркевича дает отрицательно заряженную гранулу (ζ ≈ −40 мВ). Высокий электростатический барьер обеспечивает устойчивость. При добавлении солей сжатие ДЭС вызывает агрегацию и спектральный сдвиг плазмонного пика 520 → 650 нм (золь синеет).</a:t>
            </a:r>
          </a:p>
          <a:p>
            <a:r>
              <a:t>2. Прикладной модуль №2 (промышленный контроль коагуляции): Синтез гидрозоля Fe(OH)₃ формирует положительно заряженную гранулу с ПОИ FeO⁺. Коагуляция инициируется анионами-противоионами, а пороги коагуляции подчиняются закону шестой степени Дерягина–Ландау (1 : 1/64 : 1/729 для z = 1, 2, 3).</a:t>
            </a:r>
          </a:p>
          <a:p>
            <a:r>
              <a:t>3. Анонс Лекции №4: В следующей лекции мы перейдем к термодинамике адсорбции на твердых поверхностях (изотермы Ленгмюра и БЭТ), краевому углу смачивания и атомным механизмам роста тонких пленок.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uap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3017520" cy="511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31520" y="1645920"/>
            <a:ext cx="10728655" cy="27432"/>
          </a:xfrm>
          <a:prstGeom prst="rect">
            <a:avLst/>
          </a:prstGeom>
          <a:solidFill>
            <a:srgbClr val="00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A6978"/>
                </a:solidFill>
                <a:latin typeface="Arial"/>
              </a:defRPr>
            </a:pPr>
            <a:r>
              <a:t>КУРС «ФИЗИЧЕСКИЕ ОСНОВЫ НАНОТЕХНОЛОГИЙ» • 3 КУРС • ЛЕКЦИЯ №3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86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2C5F"/>
                </a:solidFill>
                <a:latin typeface="Arial"/>
              </a:defRPr>
            </a:pPr>
            <a:r>
              <a:t>Термодинамика дисперсных систем и коллоидных растворов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5AAA"/>
                </a:solidFill>
                <a:latin typeface="Arial"/>
              </a:defRPr>
            </a:pPr>
            <a:r>
              <a:rPr sz="1600" b="1">
                <a:solidFill>
                  <a:srgbClr val="005AAA"/>
                </a:solidFill>
                <a:latin typeface="Arial"/>
              </a:rPr>
              <a:t>Часть 2: Поверхностная энергия, двойной электрический слой (</a:t>
            </a:r>
            <a:r>
              <a:rPr sz="1600" b="1">
                <a:solidFill>
                  <a:srgbClr val="005AAA"/>
                </a:solidFill>
                <a:latin typeface="Arial"/>
              </a:rPr>
              <a:t>ДЭС</a:t>
            </a:r>
            <a:r>
              <a:rPr sz="1600" b="1">
                <a:solidFill>
                  <a:srgbClr val="005AAA"/>
                </a:solidFill>
                <a:latin typeface="Arial"/>
              </a:rPr>
              <a:t>) и устойчивость коллоидов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2C5F"/>
                </a:solidFill>
                <a:latin typeface="Arial"/>
              </a:defRPr>
            </a:pPr>
            <a:r>
              <a:t>Преподаватель: доцент Попов Д.А.</a:t>
            </a:r>
          </a:p>
          <a:p>
            <a:pPr>
              <a:defRPr sz="1200">
                <a:solidFill>
                  <a:srgbClr val="5A6978"/>
                </a:solidFill>
                <a:latin typeface="Arial"/>
              </a:defRPr>
            </a:pPr>
            <a:r>
              <a:t>Кафедра №3 «Физики и нанотехнологий» ГУАП | 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Шесть технологических барьеров нанодисперсных 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Фронтальные вызовы нанотехнологий при переходе к масштабу 1–100 нм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aggr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62456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3856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E70F47"/>
                </a:solidFill>
                <a:latin typeface="Arial"/>
              </a:defRPr>
            </a:pPr>
            <a:r>
              <a:t>Агрегация / Слипание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ΔGs = σ · S &gt; 0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Ван-дер-ваальсово схлопывание незащищенных частиц в монолит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sedimen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36245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31335" y="132588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2C5F"/>
                </a:solidFill>
                <a:latin typeface="Arial"/>
              </a:defRPr>
            </a:pPr>
            <a:r>
              <a:t>Седиментация / Осадок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v = 2 r² Δρ g / (9 η)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Гравитационное оседание агломератов по закону Стокса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1693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3856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FF6418"/>
                </a:solidFill>
                <a:latin typeface="Arial"/>
              </a:defRPr>
            </a:pPr>
            <a:r>
              <a:t>Хранение / Старение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Sr = S∞ exp(2σVm / rRT)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Созревание Оствальда и диффузионная коалесценция золей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78892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trans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848" y="2916936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31335" y="288036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9269C9"/>
                </a:solidFill>
                <a:latin typeface="Arial"/>
              </a:defRPr>
            </a:pPr>
            <a:r>
              <a:t>Транспорт / Доставка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ΔP = 8 η L Q / (π R⁴)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rPr sz="900">
                <a:solidFill>
                  <a:srgbClr val="242834"/>
                </a:solidFill>
                <a:latin typeface="Arial"/>
              </a:rPr>
              <a:t>Сдвиговая коагуляция в потоке и сжатие </a:t>
            </a:r>
            <a:r>
              <a:rPr sz="900" b="1">
                <a:solidFill>
                  <a:srgbClr val="005AAA"/>
                </a:solidFill>
                <a:latin typeface="Arial"/>
              </a:rPr>
              <a:t>ДЭС</a:t>
            </a:r>
            <a:r>
              <a:rPr sz="900">
                <a:solidFill>
                  <a:srgbClr val="242834"/>
                </a:solidFill>
                <a:latin typeface="Arial"/>
              </a:rPr>
              <a:t> при высоком сдвиге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_sepa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471416"/>
            <a:ext cx="420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BEF3"/>
                </a:solidFill>
                <a:latin typeface="Arial"/>
              </a:defRPr>
            </a:pPr>
            <a:r>
              <a:t>Сепарация / Калибровка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J = ΔP / [μ (Rm + Rp)]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Полидисперсность синтеза и забивание мембранных фильтров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4343400"/>
            <a:ext cx="25603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processabi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848" y="4471416"/>
            <a:ext cx="420624" cy="4206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31335" y="4434840"/>
            <a:ext cx="1901952" cy="1234440"/>
          </a:xfrm>
          <a:prstGeom prst="rect">
            <a:avLst/>
          </a:prstGeom>
          <a:noFill/>
        </p:spPr>
        <p:txBody>
          <a:bodyPr wrap="square" anchor="t" tIns="0" lIns="0">
            <a:spAutoFit/>
          </a:bodyPr>
          <a:lstStyle/>
          <a:p>
            <a:pPr>
              <a:defRPr sz="1100" b="1">
                <a:solidFill>
                  <a:srgbClr val="009A49"/>
                </a:solidFill>
                <a:latin typeface="Arial"/>
              </a:defRPr>
            </a:pPr>
            <a:r>
              <a:t>Технологичность</a:t>
            </a:r>
          </a:p>
          <a:p>
            <a:pPr>
              <a:spcBef>
                <a:spcPts val="200"/>
              </a:spcBef>
              <a:defRPr sz="1000" b="1">
                <a:solidFill>
                  <a:srgbClr val="002C5F"/>
                </a:solidFill>
                <a:latin typeface="Arial"/>
              </a:defRPr>
            </a:pPr>
            <a:r>
              <a:t>σтг = σтж + σжг cos θ</a:t>
            </a:r>
          </a:p>
          <a:p>
            <a:pPr>
              <a:spcBef>
                <a:spcPts val="200"/>
              </a:spcBef>
              <a:defRPr sz="900">
                <a:solidFill>
                  <a:srgbClr val="242834"/>
                </a:solidFill>
                <a:latin typeface="Arial"/>
              </a:defRPr>
            </a:pPr>
            <a:r>
              <a:t>Смачиваемость, реология и интеграция в композитную матрицу</a:t>
            </a:r>
          </a:p>
        </p:txBody>
      </p:sp>
      <p:pic>
        <p:nvPicPr>
          <p:cNvPr id="23" name="Picture 22" descr="fig_01_split_faraday_vs_fe3o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1234440"/>
            <a:ext cx="5559552" cy="3127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80760" y="5349240"/>
            <a:ext cx="5559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5A6978"/>
                </a:solidFill>
                <a:latin typeface="Arial"/>
              </a:defRPr>
            </a:pPr>
            <a:r>
              <a:rPr sz="1000" i="1">
                <a:solidFill>
                  <a:srgbClr val="5A6978"/>
                </a:solidFill>
                <a:latin typeface="Arial"/>
              </a:rPr>
              <a:t>Научная верификация: Золь золота Фарадея (1857 г.) vs Агрегат наночастиц Fe3O4 (сканирующая и просвечивающая ЭМ — </a:t>
            </a:r>
            <a:r>
              <a:rPr sz="1000" i="1" b="1">
                <a:solidFill>
                  <a:srgbClr val="005AAA"/>
                </a:solidFill>
                <a:latin typeface="Arial"/>
              </a:rPr>
              <a:t>СЭМ</a:t>
            </a:r>
            <a:r>
              <a:rPr sz="1000" i="1">
                <a:solidFill>
                  <a:srgbClr val="5A6978"/>
                </a:solidFill>
                <a:latin typeface="Arial"/>
              </a:rPr>
              <a:t>/</a:t>
            </a:r>
            <a:r>
              <a:rPr sz="1000" i="1" b="1">
                <a:solidFill>
                  <a:srgbClr val="005AAA"/>
                </a:solidFill>
                <a:latin typeface="Arial"/>
              </a:rPr>
              <a:t>ПЭМ</a:t>
            </a:r>
            <a:r>
              <a:rPr sz="1000" i="1">
                <a:solidFill>
                  <a:srgbClr val="5A6978"/>
                </a:solidFill>
                <a:latin typeface="Arial"/>
              </a:rPr>
              <a:t>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Без электростатической или стерической защиты любая наносистема неизбежно разрушается.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con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83464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0F47"/>
                </a:solidFill>
                <a:latin typeface="Arial"/>
              </a:defRPr>
            </a:pPr>
            <a:r>
              <a:t>ТЕХНОЛОГИЧЕСКИЙ БАРЬЕР №1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2C5F"/>
                </a:solidFill>
                <a:latin typeface="Arial"/>
              </a:defRPr>
            </a:pPr>
            <a:r>
              <a:t>Слипание и термодинамическая агрегация наночастиц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977639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42834"/>
                </a:solidFill>
                <a:latin typeface="Arial"/>
              </a:defRPr>
            </a:pPr>
            <a:r>
              <a:t>Колоссальная удельная поверхность создает избыточную свободную энергию ΔGs = σ · S &gt; 0, стремящуюся скоагулировать незащищенный золь в плотный осадок.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324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t>1. Геометрия поверхности и термодинамика Гиббса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28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rPr sz="1150" b="1">
                <a:solidFill>
                  <a:srgbClr val="002C5F"/>
                </a:solidFill>
                <a:latin typeface="Arial"/>
              </a:rPr>
              <a:t>2. Строение мицеллы и двойной электрический слой (</a:t>
            </a:r>
            <a:r>
              <a:rPr sz="1150" b="1">
                <a:solidFill>
                  <a:srgbClr val="002C5F"/>
                </a:solidFill>
                <a:latin typeface="Arial"/>
              </a:rPr>
              <a:t>ДЭС</a:t>
            </a:r>
            <a:r>
              <a:rPr sz="115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33207" y="4983480"/>
            <a:ext cx="2926080" cy="43891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2C5F"/>
                </a:solidFill>
                <a:latin typeface="Arial"/>
              </a:defRPr>
            </a:pPr>
            <a:r>
              <a:rPr sz="1150" b="1">
                <a:solidFill>
                  <a:srgbClr val="002C5F"/>
                </a:solidFill>
                <a:latin typeface="Arial"/>
              </a:rPr>
              <a:t>3. Барьер Дерягина–Ландау–Фервея–Овербека (</a:t>
            </a:r>
            <a:r>
              <a:rPr sz="1150" b="1">
                <a:solidFill>
                  <a:srgbClr val="002C5F"/>
                </a:solidFill>
                <a:latin typeface="Arial"/>
              </a:rPr>
              <a:t>ДЛФО</a:t>
            </a:r>
            <a:r>
              <a:rPr sz="1150" b="1">
                <a:solidFill>
                  <a:srgbClr val="002C5F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Удельная поверхность S_уд ∝ 1/a — главный геометрический драйвер наносистем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1. Классификация и количественные параметры дисперсных систем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Дисперсность D и удельная поверхность S_уд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Дисперсная система состоит из дисперсной фазы (размер a) и сплошной дисперсионной среды.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Дисперсность D = 1/a [м⁻¹] определяет удельную площадь фазовой границы: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S_уд = S / V = k / a,     S_уд^(m) = S / m = k / (ρ · 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Правило «6 – 4 – 2» для фактора формы k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Фактор формы k строго зависит от размерности наноструктуры: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k = 6 — 3D-наночастицы (сфера, куб); k = 4 — 1D-нити; k = 2 — 2D-пленки.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Избыточная свободная энергия границы:  ΔG_s = σ · S ∝ 1 /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2_specific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23150"/>
            <a:ext cx="5827471" cy="43488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При дроблении вещества от 1 см до наночастиц 10 нм площадь поверхности и поверхностная энергия Гиббса возрастают в 1 000 000 раз.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Классификация дисперсных систем: размер, агрегатное состояние и лиофильность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1. Систематика коллоидных и нанодисперсных материалов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Классификация по размеру дисперсной фазы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Нанодисперсные (коллоидные) системы занимают фундаментальный диапазон 1–100 нм.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Грубодисперсные (a &gt; 10 мкм) быстро седиментируют; истинные растворы (a &lt; 1 нм) однофазны.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a = 1–100 нм (10⁻⁹–10⁻⁷ м): нанозоли, квантовые точки, мицеллы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Лиофильные vs Лиофобные системы (критерий Ребиндера)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Лиофильные (поверхностно-активные вещества (</a:t>
            </a:r>
            <a:r>
              <a:rPr sz="1140" b="1">
                <a:solidFill>
                  <a:srgbClr val="005AAA"/>
                </a:solidFill>
                <a:latin typeface="Arial"/>
              </a:rPr>
              <a:t>ПАВ</a:t>
            </a:r>
            <a:r>
              <a:rPr sz="1140">
                <a:solidFill>
                  <a:srgbClr val="242834"/>
                </a:solidFill>
                <a:latin typeface="Arial"/>
              </a:rPr>
              <a:t>), биополимеры): σ ≈ 0, термодинамически устойчивы (ΔG_обр &lt;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Лиофобные нанозоли (Au, Ag, Fe(OH)₃): высокое натяжение σ ≫ 0, термодинамически нестабильны: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rPr sz="1180" b="1">
                <a:solidFill>
                  <a:srgbClr val="005AAA"/>
                </a:solidFill>
                <a:latin typeface="Arial"/>
              </a:rPr>
              <a:t>   ΔG_обр = σ · S &gt; 0   (существуют исключительно благодаря </a:t>
            </a:r>
            <a:r>
              <a:rPr sz="1180" b="1">
                <a:solidFill>
                  <a:srgbClr val="005AAA"/>
                </a:solidFill>
                <a:latin typeface="Arial"/>
              </a:rPr>
              <a:t>ДЭС</a:t>
            </a:r>
            <a:r>
              <a:rPr sz="1180" b="1">
                <a:solidFill>
                  <a:srgbClr val="005AAA"/>
                </a:solidFill>
                <a:latin typeface="Arial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3_classific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296037"/>
            <a:ext cx="5827471" cy="44030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Неорганические нанозоли (Au, Ag, Fe(OH)₃) являются лиофобными системами (ΔG &gt; 0) и требуют электростатического барьера </a:t>
            </a:r>
            <a:r>
              <a:rPr sz="1250" b="1">
                <a:solidFill>
                  <a:srgbClr val="002C5F"/>
                </a:solidFill>
                <a:latin typeface="Arial"/>
              </a:rPr>
              <a:t>ДЭС</a:t>
            </a:r>
            <a:r>
              <a:rPr sz="1250" b="1">
                <a:solidFill>
                  <a:srgbClr val="002C5F"/>
                </a:solidFill>
                <a:latin typeface="Arial"/>
              </a:rPr>
              <a:t> для предотвращения коагуляции.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От золя к гелю, ксерогелю и аэрогелю: эволюция связности наносистемы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1. Золь-гель переход и капиллярная инженерия нанопористых материалов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486400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Золь (свободнодисперсный) → Гель (связнодисперсный)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Золь: изолированные наночастицы совершают броуновское движение в растворе.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Гель: агрегация и сшивка формируют единый перколяционный 3D-каркас с запертой средой.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43000"/>
            <a:ext cx="5516575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Капиллярный коллапс Лапласа vs Сверхкритическая сушка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Сушка испарением: капиллярное давление P_L = 2σ/r (до сотен МПа) сминает каркас в ксерогель.</a:t>
            </a:r>
          </a:p>
          <a:p>
            <a:pPr algn="l">
              <a:spcAft>
                <a:spcPts val="25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• Сверхкритическая сушка (T &gt; T_c, P &gt; P_c): σ = 0 исключает мениски → пористый аэрогель (&gt;95% пор).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11094415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4_sol_gel_xerog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18111"/>
            <a:ext cx="10948111" cy="321283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Управление капиллярным давлением Лапласа при сушке геля определяет переход либо в уплотненный ксерогель, либо в ультрапористый аэрогель.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Цеолиты — регулярные микропористые кристаллы и молекулярные сита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1. Кристаллические связнодисперсные системы с калиброванными наноканалами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Кристаллическая природа микропористых цеолитов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Каркас из тетраэдров [SiO₄]⁴⁻ и [AlO₄]⁵⁻ образует регулярную 3D-систему субнанометровых каналов.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Изоморфное замещение Si⁴⁺ → Al³⁺ сообщает каркасу отрицательный заряд, удерживающий катионы (Na⁺, Ca²⁺).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d_окна = 0.3 – 1.0 нм   (строго монодисперсные субнанометровые поры)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Молекулярные сита и матричные нанореакторы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Молекулярные сита: точная кинетическая сепарация молекул по их критическому диаметру.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Гетерогенный нанокатализ: высокая плотность активных кислотных центров в объеме пор.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Матричный синтез (нанореакторы): пространственно ограниченный рост квантовых точек строго заданного размера.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5_zeol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73215"/>
            <a:ext cx="5827471" cy="40487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Цеолиты сочетают удельную площадь до 1000 м²/г с кристаллографической монодисперсностью входных окон (0.3–1.0 нм), функционируя как сита и нанореакторы.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Строение коллоидной мицеллы и правило Панета–Фаянса–Пескова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2. Строение мицеллы неорганических веществ и двойной электрический слой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1122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Правило Панета–Фаянса: селективный заряд ядра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Кристаллическое ядро избирательно адсорбирует из раствора только «РОДНЫЕ» ионы (потенциалопределяющие ионы — 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):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те ионы, которые входят в состав самой решетки ядра;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и при этом находятся в растворе в ИЗБЫТКЕ!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Именно знак заряда 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 определяет знак заряда всей гранулы.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64992"/>
            <a:ext cx="4892040" cy="24780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Алгоритм сборки мицеллы за 4 шага (Навык №1)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Шаг 1 (Агрегат): нерастворимое кристаллическое ядро [M]_m (заряд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Шаг 2 (Ядро): сажаем n родных ионов из избытка → [M]_m · n 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⁺.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Шаг 3 (Гранула): добавляем (n−x) противоионов (</a:t>
            </a:r>
            <a:r>
              <a:rPr sz="1140" b="1">
                <a:solidFill>
                  <a:srgbClr val="005AAA"/>
                </a:solidFill>
                <a:latin typeface="Arial"/>
              </a:rPr>
              <a:t>ПИ</a:t>
            </a:r>
            <a:r>
              <a:rPr sz="1140">
                <a:solidFill>
                  <a:srgbClr val="242834"/>
                </a:solidFill>
                <a:latin typeface="Arial"/>
              </a:rPr>
              <a:t>) плотного слоя в скобки { ... }^(x+) — гранула ЗАРЯЖЕНА!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Шаг 4 (Мицелла): пишем x противоионов диффузного слоя за скобкой: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rPr sz="1180" b="1">
                <a:solidFill>
                  <a:srgbClr val="005AAA"/>
                </a:solidFill>
                <a:latin typeface="Arial"/>
              </a:rPr>
              <a:t>   { [M]_m · n </a:t>
            </a:r>
            <a:r>
              <a:rPr sz="1180" b="1">
                <a:solidFill>
                  <a:srgbClr val="005AAA"/>
                </a:solidFill>
                <a:latin typeface="Arial"/>
              </a:rPr>
              <a:t>ПОИ</a:t>
            </a:r>
            <a:r>
              <a:rPr sz="1180" b="1">
                <a:solidFill>
                  <a:srgbClr val="005AAA"/>
                </a:solidFill>
                <a:latin typeface="Arial"/>
              </a:rPr>
              <a:t>⁺ · (n − x) </a:t>
            </a:r>
            <a:r>
              <a:rPr sz="1180" b="1">
                <a:solidFill>
                  <a:srgbClr val="005AAA"/>
                </a:solidFill>
                <a:latin typeface="Arial"/>
              </a:rPr>
              <a:t>ПИ</a:t>
            </a:r>
            <a:r>
              <a:rPr sz="1180" b="1">
                <a:solidFill>
                  <a:srgbClr val="005AAA"/>
                </a:solidFill>
                <a:latin typeface="Arial"/>
              </a:rPr>
              <a:t>⁻ }^(x+) · x </a:t>
            </a:r>
            <a:r>
              <a:rPr sz="1180" b="1">
                <a:solidFill>
                  <a:srgbClr val="005AAA"/>
                </a:solidFill>
                <a:latin typeface="Arial"/>
              </a:rPr>
              <a:t>ПИ</a:t>
            </a:r>
            <a:r>
              <a:rPr sz="1180" b="1">
                <a:solidFill>
                  <a:srgbClr val="005AAA"/>
                </a:solidFill>
                <a:latin typeface="Arial"/>
              </a:rPr>
              <a:t>⁻   (заряд = 0!)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6_micelle_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90" y="1216152"/>
            <a:ext cx="5768753" cy="4562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Гранула (коллоидная частица внутри плоскости скольжения) обладает нескомпенсированным зарядом ±x, но вся мицелла в целом строго электронейтральна!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Формулы мицелл: перезарядка золя AgI и гидрозоль Fe(OH)₃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2. Практика составления мицеллярных формул неорганических гидрозолей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Золь AgI: как избыток реагента меняет знак 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Реакция: AgNO₃ + KI → AgI↓ + KNO₃. В решетку AgI входят Ag⁺ и I⁻.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А) В избытке KI (лишние ионы I⁻ → 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 = I⁻, гранула «−»):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{ [AgI]_m · n I⁻ · (n − x) K⁺ }^(x−) · x K⁺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Б) В избытке AgNO₃ (лишние ионы Ag⁺ → 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 = Ag⁺, гранула «+»):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{ [AgI]_m · n Ag⁺ · (n − x) NO₃⁻ }^(x+) · x NO₃⁻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Классический золь Fe(OH)₃ при гидролизе в кипящей воде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Гидролиз при 100 °C:  FeCl₃ + 3 H₂O → Fe(OH)₃↓ + 3 HCl.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Стабилизатор FeOCl диссоциирует:  FeOCl ⇄ FeO⁺ (</a:t>
            </a:r>
            <a:r>
              <a:rPr sz="1140" b="1">
                <a:solidFill>
                  <a:srgbClr val="005AAA"/>
                </a:solidFill>
                <a:latin typeface="Arial"/>
              </a:rPr>
              <a:t>ПОИ</a:t>
            </a:r>
            <a:r>
              <a:rPr sz="1140">
                <a:solidFill>
                  <a:srgbClr val="242834"/>
                </a:solidFill>
                <a:latin typeface="Arial"/>
              </a:rPr>
              <a:t>) + Cl⁻ (</a:t>
            </a:r>
            <a:r>
              <a:rPr sz="1140" b="1">
                <a:solidFill>
                  <a:srgbClr val="005AAA"/>
                </a:solidFill>
                <a:latin typeface="Arial"/>
              </a:rPr>
              <a:t>ПИ</a:t>
            </a:r>
            <a:r>
              <a:rPr sz="1140">
                <a:solidFill>
                  <a:srgbClr val="242834"/>
                </a:solidFill>
                <a:latin typeface="Arial"/>
              </a:rPr>
              <a:t>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Катион FeO⁺ родной ядру → гранула Fe(OH)₃ заряжена ПОЛОЖИТЕЛЬНО: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{ [Fe(OH)₃]_m · n FeO⁺ · (n − x) Cl⁻ }^(x+) · x Cl⁻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7_agi_feoh3_micel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650219"/>
            <a:ext cx="5827471" cy="369472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Гранула гидрозоля Fe(OH)₃ заряжена ПОЛОЖИТЕЛЬНО за счет адсорбции катионов FeO⁺, поэтому коагуляцию этого золя вызывают АНИОНЫ электролита!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Физические модели </a:t>
            </a:r>
            <a:r>
              <a:rPr sz="1850" b="1">
                <a:solidFill>
                  <a:srgbClr val="002C5F"/>
                </a:solidFill>
                <a:latin typeface="Arial"/>
              </a:rPr>
              <a:t>ДЭС</a:t>
            </a:r>
            <a:r>
              <a:rPr sz="1850" b="1">
                <a:solidFill>
                  <a:srgbClr val="002C5F"/>
                </a:solidFill>
                <a:latin typeface="Arial"/>
              </a:rPr>
              <a:t>: от конденсатора Гельмгольца к теории Гуи–Чепмена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2. Эволюция представлений о строении двойного электрического слоя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Модель Гельмгольца (1879) — «плоский конденсатор»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Противоионы притянуты к стенке в одну шеренгу на расстоянии радиуса иона d.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Потенциал φ(x) падает внутри зазора d строго по прямой линии: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φ(x) = φ₀ · (1 − x / d),     C_H = ε · ε₀ / d = const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Минус модели: забыта температура T! Не может объяснить электрофорез.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Модель Гуи–Чепмена (1910) — «диффузное облако»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Конкуренция двух сил: кулоновское притяжение к стенке (z·e·φ) против теплового броуновского разбрасывания ионов (k_B T).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Концентрация ионов вокруг частицы подчиняется закону Больцмана: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n(x) = n₀ · exp( − z · e · φ(x) / [k_B · T] 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Вместо плоской шеренги образуется протяженная ионная атмосфера.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8_helmholtz_vs_gou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73866"/>
            <a:ext cx="5827471" cy="42474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Модель Гуи–Чепмена ввела в электростатику поверхности температуру T: тепловое движение размывает слой противоионов в диффузную ионную атмосферу.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Закон спада потенциала и дебаевская толщина </a:t>
            </a:r>
            <a:r>
              <a:rPr sz="1850" b="1">
                <a:solidFill>
                  <a:srgbClr val="002C5F"/>
                </a:solidFill>
                <a:latin typeface="Arial"/>
              </a:rPr>
              <a:t>ДЭС</a:t>
            </a:r>
            <a:r>
              <a:rPr sz="1850" b="1">
                <a:solidFill>
                  <a:srgbClr val="002C5F"/>
                </a:solidFill>
                <a:latin typeface="Arial"/>
              </a:rPr>
              <a:t> λ_D = κ⁻¹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2. Как концентрация и заряд соли сжимают защитную ионную «шубу»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Экспоненциальный спад потенциала в диффузном слое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Из уравнения Пуассона–Больцмана следует: потенциал вглубь раствора затухает по экспоненте: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φ(x) = φ₀ · exp( −x / λ_D ) = φ₀ · exp( −κ · x 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Толщина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(длина Дебая λ_D = κ⁻¹) — это расстояние, на котором потенциал частицы падает в e ≈ 2.72 раза.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rPr sz="1320" b="1">
                <a:solidFill>
                  <a:srgbClr val="002C5F"/>
                </a:solidFill>
                <a:latin typeface="Arial"/>
              </a:rPr>
              <a:t>2. Главный рычаг управления: закон сжатия </a:t>
            </a:r>
            <a:r>
              <a:rPr sz="1320" b="1">
                <a:solidFill>
                  <a:srgbClr val="002C5F"/>
                </a:solidFill>
                <a:latin typeface="Arial"/>
              </a:rPr>
              <a:t>ДЭС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Толщина ионной «шубы» λ_D обратно пропорциональна заряду иона z и корню из концентрации электролита c: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λ_D ∝ 1 / (z · √c)   [в воде: λ_D ≈ 0.304 / (z·√c) нм]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Рост концентрации соли c в 100 раз сжимает толщину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ровно в 10 раз (с 30.4 нм до 3.04 нм)!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09_debye_scree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91265"/>
            <a:ext cx="5827471" cy="42126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Толщина диффузного слоя λ_D обратно пропорциональна валентности противоиона z и корню из концентрации √c: добавление соли резко сжимает </a:t>
            </a:r>
            <a:r>
              <a:rPr sz="1250" b="1">
                <a:solidFill>
                  <a:srgbClr val="002C5F"/>
                </a:solidFill>
                <a:latin typeface="Arial"/>
              </a:rPr>
              <a:t>ДЭС</a:t>
            </a:r>
            <a:r>
              <a:rPr sz="1250" b="1">
                <a:solidFill>
                  <a:srgbClr val="002C5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rPr sz="1850" b="1">
                <a:solidFill>
                  <a:srgbClr val="002C5F"/>
                </a:solidFill>
                <a:latin typeface="Arial"/>
              </a:rPr>
              <a:t>Объединенная модель </a:t>
            </a:r>
            <a:r>
              <a:rPr sz="1850" b="1">
                <a:solidFill>
                  <a:srgbClr val="002C5F"/>
                </a:solidFill>
                <a:latin typeface="Arial"/>
              </a:rPr>
              <a:t>ДЭС</a:t>
            </a:r>
            <a:r>
              <a:rPr sz="1850" b="1">
                <a:solidFill>
                  <a:srgbClr val="002C5F"/>
                </a:solidFill>
                <a:latin typeface="Arial"/>
              </a:rPr>
              <a:t> О. Штерна (1924): плотный и диффузный слои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2. Современная физическая теория двойного электрического слоя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Синтез двух моделей: плоскость Штерна x = δ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Ионы — не математические точки! Они имеют реальный радиус δ ≈ 0.3–0.5 нм.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Штерн разделил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на две последовательные зоны: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Плотный слой Штерна (0 ≤ x ≤ δ): прямая линия φ₀ → φ_δ;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Диффузный слой Гуи (x &gt; δ): экспонента φ(x) = φ_δ · exp(−κ(x − δ)).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Специфическая адсорбция и перезарядка наночастицы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Два слоя работают как два последовательных конденсатора: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1 / C_ДЭС = 1 / C_плотного + 1 / C_диффузного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Химическое прилипание многозарядных противоионов (Al³⁺, Th⁴⁺) в плотном слое может поменять знак потенциала φ_δ (кривая 3):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φ₀ &gt; 0,   но   φ_δ &lt; 0   (перезарядка поверхности!)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0_stern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459052"/>
            <a:ext cx="5827471" cy="40770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Модель Штерна разделяет падение потенциала на адсорбционный скачок (φ₀ → φ_δ) и диффузный хвост, объясняя феномен перезарядки наночастиц.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Плоскость скольжения и электрокинетический дзета-потенциал (ζ)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3. Дзета-потенциал и диагностика стабильности наноколлоидов (Навык №2)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Плоскость скольжения и смысл ζ-потенциала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При движении наночастицы плотный слой и тонкая гидратная оболочка воды движутся вместе с ядром (это наша гранула).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Плоскость скольжения (x = x_s) — граница отрыва подвижной жидкости.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Дзета-потенциал (ζ) — потенциал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ровно на плоскости скольжения: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ζ = φ(x_s),     причем всегда   |ζ| ≤ |φ_δ| &lt; |φ₀|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Правило «Магические 30 мВ» (Навык диагностики №2)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|ζ| &gt; 30 мВ — СТАБИЛЬНЫЙ ЗОЛЬ! Частицы сильно отталкиваются (у цитратного золя золота ζ ≈ −40 мВ).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15 &lt; |ζ| &lt; 30 мВ — пограничная зона, начало медленного слипания.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|ζ| &lt; 15 мВ — БЫСТРАЯ КОАГУЛЯЦИЯ и выпадение осадка.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rPr sz="1180" b="1">
                <a:solidFill>
                  <a:srgbClr val="005AAA"/>
                </a:solidFill>
                <a:latin typeface="Arial"/>
              </a:rPr>
              <a:t>   ζ = 0 мВ — изоэлектрическая точка (</a:t>
            </a:r>
            <a:r>
              <a:rPr sz="1180" b="1">
                <a:solidFill>
                  <a:srgbClr val="005AAA"/>
                </a:solidFill>
                <a:latin typeface="Arial"/>
              </a:rPr>
              <a:t>ИЭТ</a:t>
            </a:r>
            <a:r>
              <a:rPr sz="1180" b="1">
                <a:solidFill>
                  <a:srgbClr val="005AAA"/>
                </a:solidFill>
                <a:latin typeface="Arial"/>
              </a:rPr>
              <a:t>, мгновенная агрегация)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1_zeta_potent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695269"/>
            <a:ext cx="5827471" cy="360462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Индифферентный электролит не меняет потенциал ядра φ₀, но из-за сжатия экспоненты φ(x) резко снижает ζ-потенциал на плоскости скольжения до критического (&lt; 15 мВ).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Четыре электрокинетических явления: связь движения и электрического поля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3. Открытие Ф.Ф. Рейсса (1809) и нанотехнологические применения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Прямые явления: Поле E → Движение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1) Электрофорез: заряженные наночастицы (гранулы) плывут в неподвижной жидкости к электроду.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Применение: измерение ζ-потенциала, осаждение нанопокрытий (EPD).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2) Электроосмос: жидкость течет сквозь неподвижный пористый каркас или капилляр под действием поля E.</a:t>
            </a:r>
          </a:p>
          <a:p>
            <a:pPr algn="l">
              <a:spcAft>
                <a:spcPts val="200"/>
              </a:spcAft>
              <a:defRPr sz="1120">
                <a:solidFill>
                  <a:srgbClr val="242834"/>
                </a:solidFill>
                <a:latin typeface="Arial"/>
              </a:defRPr>
            </a:pPr>
            <a:r>
              <a:t>  - Применение: микронасосы без движущихся частей в чипах Lab-on-a-Chip.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Обратные явления: Движение → Генерация ЭДС (Δφ)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3) Потенциал седиментации: оседающие под действием гравитации заряженные частицы создают разность потенциалов между верхом и дном.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4) Потенциал течения: продавливание жидкости давлением ΔP сквозь пористую мембрану сносит ионы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и генерирует напряжение: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Δφ_теч  ∝  (ζ / η) · ΔP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2_electrokinetic_phenome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355299"/>
            <a:ext cx="5827471" cy="4284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Все 4 электрокинетических явления обусловлены механическим сдвигом диффузного слоя по плоскости скольжения и прямо пропорциональны ζ-потенциалу.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Как из скорости электрофореза найти ζ-потенциал: роль размера κr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3. Влияние отношения радиуса наночастицы к толщине ионной шубы (κr = r / λ_D)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Электрофоретическая подвижность и формула Генри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В электрическом поле E сила Кулона уравновешивается трением Стокса, и частица плывет с постоянной подвижностью u_e = v / E: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u_e = v / E = [ (2 · ε · ε₀ · ζ) / (3 · η) ] · f(κr)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Коэффициент Генри f(κr) зависит от отношения радиуса частицы r к толщине ее ионной шубы λ_D (где κr = r / λ_D).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Переходная размерная область теории Генри (κr ~ 1–5)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Малая частица в толстой шубе (r ≪ λ_D, предел Хюккеля): f = 1.0.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Крупная частица в тонкой шубе (r ≫ λ_D, предел Смолуховского): f = 1.5 (скорость в 1.5 раза выше при том же ζ!).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Водные нанозоли (r ~ 10 нм, λ_D ~ 4 нм ⇒ κr ≈ 2.5) лежат ровно посередине склона — нужна полная формула Генри!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3_henry_fun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521719"/>
            <a:ext cx="5827471" cy="3951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Для наночастиц в водных золях (r ~ 5–20 нм, λ_D ~ 3–10 нм) параметр κr ~ 1–5 лежит в переходной зоне, поэтому для точного расчета ζ необходима формула Генри!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2100" b="1">
                <a:solidFill>
                  <a:srgbClr val="002C5F"/>
                </a:solidFill>
                <a:latin typeface="Arial"/>
              </a:defRPr>
            </a:pPr>
            <a:r>
              <a:t>Седиментационная устойчивость и закон Лапласа–Перрена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Блок 4. Баланс броуновской диффузии и гравитационного оседания Стокса (r ≤ 10 нм)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1579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1. Два вида устойчивости коллоидов (Н.П. Песков)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Седиментационная: частицы не оседают на дно под силой тяжести.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Агрегативная: частицы не слипаются при столкновениях (сохраняют r).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Скорость оседания одиночного шарика в жидкости (закон Стокса):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v_сед = [ 2 · r² · (ρ − ρ₀) · g ] / (9 · η)  ∝  r²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10712"/>
            <a:ext cx="4892040" cy="24323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2. Дуэль гравитации и теплового движения (закон Перрена)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Оседанию вниз мешает тепловое броуновское движение (k_B T), подбрасывающее наночастицы вверх.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Характерная высота столба золя h_e обратно пропорциональна КУБУ радиуса частицы: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5AAA"/>
                </a:solidFill>
                <a:latin typeface="Arial"/>
              </a:defRPr>
            </a:pPr>
            <a:r>
              <a:t>   h_e = (3 · k_B · T) / (4 · π · r³ · Δρ · g)  ∝  1 / r³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Вывод: пока частицы малы (r &lt; 10 нм), они не осядут никогда!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4_sedimentation_perr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624999"/>
            <a:ext cx="5827471" cy="3745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t>[ВЫВОД] За счет зависимости h_e ∝ r⁻³ наночастицы золота (r ≤ 10 нм) седиментационно абсолютно устойчивы, пока не произойдет их агрегация!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9921240" cy="621792"/>
          </a:xfrm>
          <a:prstGeom prst="rect">
            <a:avLst/>
          </a:prstGeom>
          <a:noFill/>
        </p:spPr>
        <p:txBody>
          <a:bodyPr wrap="square" anchor="t" tIns="0" bIns="0" lIns="0" rIns="0">
            <a:spAutoFit/>
          </a:bodyPr>
          <a:lstStyle/>
          <a:p>
            <a:pPr algn="l">
              <a:spcAft>
                <a:spcPts val="100"/>
              </a:spcAft>
              <a:defRPr sz="1850" b="1">
                <a:solidFill>
                  <a:srgbClr val="002C5F"/>
                </a:solidFill>
                <a:latin typeface="Arial"/>
              </a:defRPr>
            </a:pPr>
            <a:r>
              <a:t>Технологическое применение: коллоидная диагностика и промышленный синтез</a:t>
            </a:r>
          </a:p>
          <a:p>
            <a:pPr algn="l">
              <a:defRPr sz="1150" i="1">
                <a:solidFill>
                  <a:srgbClr val="5A6978"/>
                </a:solidFill>
                <a:latin typeface="Arial"/>
              </a:defRPr>
            </a:pPr>
            <a:r>
              <a:t>Сквозное резюме темы «Термодинамика дисперсных систем и коллоидных растворов»</a:t>
            </a:r>
          </a:p>
        </p:txBody>
      </p:sp>
      <p:pic>
        <p:nvPicPr>
          <p:cNvPr id="3" name="Picture 2" descr="guap_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384048"/>
            <a:ext cx="1014984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69264"/>
            <a:ext cx="11094415" cy="18288"/>
          </a:xfrm>
          <a:prstGeom prst="rect">
            <a:avLst/>
          </a:prstGeom>
          <a:ln>
            <a:noFill/>
          </a:ln>
          <a:gradFill flip="none" rotWithShape="1">
            <a:gsLst>
              <a:gs pos="0">
                <a:srgbClr val="005AAA"/>
              </a:gs>
              <a:gs pos="54000">
                <a:srgbClr val="00BEF3"/>
              </a:gs>
              <a:gs pos="100000">
                <a:srgbClr val="E70F47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Прикладной модуль №1: Диагностика нанозолей (Au)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Цитратный синтез и плазмонный резонанс: монодисперсные наночастицы Au (d ≈ 15–20 нм) стабилизированы адсорбцией цитрат-ионов.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Электрокинетический мониторинг: дзета-потенциал (ζ ≈ −40 мВ) формирует защитный барьер; сжатие </a:t>
            </a:r>
            <a:r>
              <a:rPr sz="1140" b="1">
                <a:solidFill>
                  <a:srgbClr val="005AAA"/>
                </a:solidFill>
                <a:latin typeface="Arial"/>
              </a:rPr>
              <a:t>ДЭС</a:t>
            </a:r>
            <a:r>
              <a:rPr sz="1140">
                <a:solidFill>
                  <a:srgbClr val="242834"/>
                </a:solidFill>
                <a:latin typeface="Arial"/>
              </a:rPr>
              <a:t> электролитом вызывает оптический сдвиг 520 → 650 нм.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rPr sz="1140">
                <a:solidFill>
                  <a:srgbClr val="242834"/>
                </a:solidFill>
                <a:latin typeface="Arial"/>
              </a:rPr>
              <a:t>• Диагностические методы: измерение подвижности в электрофорезе и динамическое рассеяние света (</a:t>
            </a:r>
            <a:r>
              <a:rPr sz="1140" b="1">
                <a:solidFill>
                  <a:srgbClr val="005AAA"/>
                </a:solidFill>
                <a:latin typeface="Arial"/>
              </a:rPr>
              <a:t>ДРС</a:t>
            </a:r>
            <a:r>
              <a:rPr sz="1140">
                <a:solidFill>
                  <a:srgbClr val="242834"/>
                </a:solidFill>
                <a:latin typeface="Arial"/>
              </a:rPr>
              <a:t>) для контроля агрегации.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4787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2C5F"/>
                </a:solidFill>
                <a:latin typeface="Arial"/>
              </a:defRPr>
            </a:pPr>
            <a:r>
              <a:t>Прикладной модуль №2: Промышленный синтез (Fe(OH)₃)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Конденсационный гидролиз прекурсоров: синтез золя Fe(OH)₃ со стабилизатором FeOCl (катионы FeO⁺ сообщают грануле положительный заряд).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Технологический барьер коагуляции: нейтрализация заряда гранулы анионами по закону шестой степени Дерягина–Ландау (правило Шульце–Гарди: 1 : 1/64 : 1/729).</a:t>
            </a:r>
          </a:p>
          <a:p>
            <a:pPr algn="l">
              <a:spcAft>
                <a:spcPts val="250"/>
              </a:spcAft>
              <a:defRPr sz="1140">
                <a:solidFill>
                  <a:srgbClr val="242834"/>
                </a:solidFill>
                <a:latin typeface="Arial"/>
              </a:defRPr>
            </a:pPr>
            <a:r>
              <a:t>• Промышленное применение: прецизионный коагуляционный контроль в водоочистке, мембранной сепарации и производстве нанокомпозитов.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143000"/>
            <a:ext cx="5973775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7_colloid_appl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512397"/>
            <a:ext cx="5827471" cy="39703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6080760"/>
            <a:ext cx="11094415" cy="502920"/>
          </a:xfrm>
          <a:prstGeom prst="roundRect">
            <a:avLst/>
          </a:prstGeom>
          <a:solidFill>
            <a:srgbClr val="EEF4FA"/>
          </a:solidFill>
          <a:ln w="15240">
            <a:solidFill>
              <a:srgbClr val="0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250" b="1">
                <a:solidFill>
                  <a:srgbClr val="002C5F"/>
                </a:solidFill>
                <a:latin typeface="Arial"/>
              </a:defRPr>
            </a:pPr>
            <a:r>
              <a:rPr sz="1250" b="1">
                <a:solidFill>
                  <a:srgbClr val="002C5F"/>
                </a:solidFill>
                <a:latin typeface="Arial"/>
              </a:rPr>
              <a:t>[ВЫВОД] Коллоидная диагностика и промышленный синтез опираются на фундаментальные законы </a:t>
            </a:r>
            <a:r>
              <a:rPr sz="1250" b="1">
                <a:solidFill>
                  <a:srgbClr val="002C5F"/>
                </a:solidFill>
                <a:latin typeface="Arial"/>
              </a:rPr>
              <a:t>ДЭС</a:t>
            </a:r>
            <a:r>
              <a:rPr sz="1250" b="1">
                <a:solidFill>
                  <a:srgbClr val="002C5F"/>
                </a:solidFill>
                <a:latin typeface="Arial"/>
              </a:rPr>
              <a:t> и теории </a:t>
            </a:r>
            <a:r>
              <a:rPr sz="1250" b="1">
                <a:solidFill>
                  <a:srgbClr val="002C5F"/>
                </a:solidFill>
                <a:latin typeface="Arial"/>
              </a:rPr>
              <a:t>ДЛФО</a:t>
            </a:r>
            <a:r>
              <a:rPr sz="1250" b="1">
                <a:solidFill>
                  <a:srgbClr val="002C5F"/>
                </a:solidFill>
                <a:latin typeface="Arial"/>
              </a:rPr>
              <a:t>: от плазмонной стабильности золота до коагуляционного барьера z⁻⁶.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