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3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771" r:id="rId1"/>
    <p:sldMasterId id="2147483657" r:id="rId2"/>
    <p:sldMasterId id="2147483828" r:id="rId3"/>
    <p:sldMasterId id="2147483833" r:id="rId4"/>
  </p:sldMasterIdLst>
  <p:notesMasterIdLst>
    <p:notesMasterId r:id="rId16"/>
  </p:notesMasterIdLst>
  <p:handoutMasterIdLst>
    <p:handoutMasterId r:id="rId17"/>
  </p:handoutMasterIdLst>
  <p:sldIdLst>
    <p:sldId id="1171" r:id="rId5"/>
    <p:sldId id="1173" r:id="rId6"/>
    <p:sldId id="1207" r:id="rId7"/>
    <p:sldId id="1206" r:id="rId8"/>
    <p:sldId id="1205" r:id="rId9"/>
    <p:sldId id="1204" r:id="rId10"/>
    <p:sldId id="1203" r:id="rId11"/>
    <p:sldId id="1202" r:id="rId12"/>
    <p:sldId id="1201" r:id="rId13"/>
    <p:sldId id="1200" r:id="rId14"/>
    <p:sldId id="1199" r:id="rId1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уководство" id="{E6ECDA77-1B8E-0E4F-8DDA-529EB99512FD}">
          <p14:sldIdLst>
            <p14:sldId id="1171"/>
            <p14:sldId id="1173"/>
            <p14:sldId id="1207"/>
            <p14:sldId id="1206"/>
            <p14:sldId id="1205"/>
            <p14:sldId id="1204"/>
            <p14:sldId id="1203"/>
            <p14:sldId id="1202"/>
            <p14:sldId id="1201"/>
            <p14:sldId id="1200"/>
            <p14:sldId id="1199"/>
          </p14:sldIdLst>
        </p14:section>
        <p14:section name="Пример презентации" id="{09F8C32E-5747-4822-BAD0-340E7A748DE7}">
          <p14:sldIdLst/>
        </p14:section>
        <p14:section name="Дополнительные материалы" id="{62AE7809-B62A-4B2F-9EA4-7E7E0961CF08}">
          <p14:sldIdLst/>
        </p14:section>
        <p14:section name="Макеты для завершения презентации" id="{7BDEF82D-D64F-4A14-9B34-FEADAC1724BD}">
          <p14:sldIdLst/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Алексей Малышев" initials="АМ" lastIdx="8" clrIdx="0">
    <p:extLst>
      <p:ext uri="{19B8F6BF-5375-455C-9EA6-DF929625EA0E}">
        <p15:presenceInfo xmlns:p15="http://schemas.microsoft.com/office/powerpoint/2012/main" userId="8ae9c15f625b32bb" providerId="Windows Live"/>
      </p:ext>
    </p:extLst>
  </p:cmAuthor>
  <p:cmAuthor id="2" name="OCTS" initials="O" lastIdx="1" clrIdx="1">
    <p:extLst>
      <p:ext uri="{19B8F6BF-5375-455C-9EA6-DF929625EA0E}">
        <p15:presenceInfo xmlns:p15="http://schemas.microsoft.com/office/powerpoint/2012/main" userId="OCTS" providerId="None"/>
      </p:ext>
    </p:extLst>
  </p:cmAuthor>
  <p:cmAuthor id="3" name="Kostylev Andrey" initials="KA" lastIdx="1" clrIdx="2">
    <p:extLst>
      <p:ext uri="{19B8F6BF-5375-455C-9EA6-DF929625EA0E}">
        <p15:presenceInfo xmlns:p15="http://schemas.microsoft.com/office/powerpoint/2012/main" userId="146efb04217a1102" providerId="Windows Live"/>
      </p:ext>
    </p:extLst>
  </p:cmAuthor>
  <p:cmAuthor id="4" name="Elizaveta Kostyleva" initials="EK" lastIdx="1" clrIdx="3">
    <p:extLst>
      <p:ext uri="{19B8F6BF-5375-455C-9EA6-DF929625EA0E}">
        <p15:presenceInfo xmlns:p15="http://schemas.microsoft.com/office/powerpoint/2012/main" userId="S::ekostyleva@lifevantage.com::e5a115f0-bdb1-48b8-969c-0a472e870de3" providerId="AD"/>
      </p:ext>
    </p:extLst>
  </p:cmAuthor>
  <p:cmAuthor id="5" name="ОЦТС" initials="О" lastIdx="2" clrIdx="4">
    <p:extLst>
      <p:ext uri="{19B8F6BF-5375-455C-9EA6-DF929625EA0E}">
        <p15:presenceInfo xmlns:p15="http://schemas.microsoft.com/office/powerpoint/2012/main" userId="ОЦТС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AAA"/>
    <a:srgbClr val="9D9D9D"/>
    <a:srgbClr val="FEFEFE"/>
    <a:srgbClr val="BFBFBF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Светлый стиль 2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Средний стиль 1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CF1AB2-1976-4502-BF36-3FF5EA218861}" styleName="Средний стиль 4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C89EF96-8CEA-46FF-86C4-4CE0E7609802}" styleName="Светлый стиль 3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3C2FFA5D-87B4-456A-9821-1D502468CF0F}" styleName="Стиль из темы 1 - акцент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B4B98B0-60AC-42C2-AFA5-B58CD77FA1E5}" styleName="Светлый стиль 1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35" autoAdjust="0"/>
    <p:restoredTop sz="90520" autoAdjust="0"/>
  </p:normalViewPr>
  <p:slideViewPr>
    <p:cSldViewPr snapToGrid="0" snapToObjects="1">
      <p:cViewPr varScale="1">
        <p:scale>
          <a:sx n="248" d="100"/>
          <a:sy n="248" d="100"/>
        </p:scale>
        <p:origin x="192" y="34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400" d="100"/>
        <a:sy n="400" d="100"/>
      </p:scale>
      <p:origin x="0" y="0"/>
    </p:cViewPr>
  </p:notesTextViewPr>
  <p:sorterViewPr>
    <p:cViewPr>
      <p:scale>
        <a:sx n="66" d="100"/>
        <a:sy n="66" d="100"/>
      </p:scale>
      <p:origin x="0" y="-7146"/>
    </p:cViewPr>
  </p:sorterViewPr>
  <p:notesViewPr>
    <p:cSldViewPr snapToGrid="0" snapToObjects="1">
      <p:cViewPr varScale="1">
        <p:scale>
          <a:sx n="85" d="100"/>
          <a:sy n="85" d="100"/>
        </p:scale>
        <p:origin x="3804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commentAuthors" Target="commentAuthors.xml"/><Relationship Id="rId3" Type="http://schemas.openxmlformats.org/officeDocument/2006/relationships/slideMaster" Target="slideMasters/slideMaster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A78F288-5E3C-4F81-AD43-7789565D295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82D620-2592-455C-9AF4-8E2D0C2F79A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FFCE6C-E7E6-4C35-A8B5-8F9784AA6873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5628E3-CFC5-471A-B6A2-9F949B2E814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586937-338C-4D39-8822-B1F000CF62F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E77762-F59A-4FB1-90F9-50BE76F03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85588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D46D5B-6567-794D-8CBA-5CCA973D6774}" type="datetimeFigureOut">
              <a:t>16.09.2026</a:t>
            </a:fld>
            <a:endParaRPr lang="ru-R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EDE2F8-02D4-C448-B364-7246A6689E7F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879344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EDE2F8-02D4-C448-B364-7246A6689E7F}" type="slidenum">
              <a:rPr lang="ru-RU" smtClean="0"/>
              <a:t>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143589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EDE2F8-02D4-C448-B364-7246A6689E7F}" type="slidenum">
              <a:rPr lang="ru-RU" smtClean="0"/>
              <a:t>3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143589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EDE2F8-02D4-C448-B364-7246A6689E7F}" type="slidenum">
              <a:rPr lang="ru-RU" smtClean="0"/>
              <a:t>4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143589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EDE2F8-02D4-C448-B364-7246A6689E7F}" type="slidenum">
              <a:rPr lang="ru-RU" smtClean="0"/>
              <a:t>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143589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EDE2F8-02D4-C448-B364-7246A6689E7F}" type="slidenum">
              <a:rPr lang="ru-RU" smtClean="0"/>
              <a:t>6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143589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EDE2F8-02D4-C448-B364-7246A6689E7F}" type="slidenum">
              <a:rPr lang="ru-RU" smtClean="0"/>
              <a:t>7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1435892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EDE2F8-02D4-C448-B364-7246A6689E7F}" type="slidenum">
              <a:rPr lang="ru-RU" smtClean="0"/>
              <a:t>8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1435892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EDE2F8-02D4-C448-B364-7246A6689E7F}" type="slidenum">
              <a:rPr lang="ru-RU" smtClean="0"/>
              <a:t>9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1435892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EDE2F8-02D4-C448-B364-7246A6689E7F}" type="slidenum">
              <a:rPr lang="ru-RU" smtClean="0"/>
              <a:t>10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1435892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EDE2F8-02D4-C448-B364-7246A6689E7F}" type="slidenum">
              <a:rPr lang="ru-RU" smtClean="0"/>
              <a:t>11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143589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4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4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4.png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ая страниц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176EB76-0898-4F71-9685-0F9BE4E1FB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7CD38B1-ACC6-416C-AF72-6F91347F95C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0863" y="4568243"/>
            <a:ext cx="6330950" cy="841155"/>
          </a:xfrm>
        </p:spPr>
        <p:txBody>
          <a:bodyPr/>
          <a:lstStyle>
            <a:lvl1pPr>
              <a:spcBef>
                <a:spcPts val="0"/>
              </a:spcBef>
              <a:defRPr/>
            </a:lvl1pPr>
            <a:lvl3pPr marL="914400" indent="0">
              <a:buNone/>
              <a:defRPr/>
            </a:lvl3pPr>
          </a:lstStyle>
          <a:p>
            <a:pPr lvl="0"/>
            <a:r>
              <a:rPr lang="ru-RU" dirty="0"/>
              <a:t>Имя Фамилия </a:t>
            </a: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F0C140D7-ACA5-419A-846F-D1888293EFF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152598" y="5993952"/>
            <a:ext cx="3488540" cy="387798"/>
          </a:xfrm>
        </p:spPr>
        <p:txBody>
          <a:bodyPr/>
          <a:lstStyle>
            <a:lvl2pPr>
              <a:defRPr/>
            </a:lvl2pPr>
            <a:lvl3pPr marL="914400" indent="0">
              <a:buNone/>
              <a:defRPr/>
            </a:lvl3pPr>
          </a:lstStyle>
          <a:p>
            <a:pPr lvl="1"/>
            <a:r>
              <a:rPr lang="ru-RU" dirty="0"/>
              <a:t>Дата</a:t>
            </a:r>
          </a:p>
        </p:txBody>
      </p:sp>
    </p:spTree>
    <p:extLst>
      <p:ext uri="{BB962C8B-B14F-4D97-AF65-F5344CB8AC3E}">
        <p14:creationId xmlns:p14="http://schemas.microsoft.com/office/powerpoint/2010/main" val="28914157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 - один бл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D7347E-D0C8-4C5C-B7FE-A4CCFC0D2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84CF1BEE-FB60-4C41-A4CB-1FA10956AD3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50863" y="1341438"/>
            <a:ext cx="7489825" cy="5040312"/>
          </a:xfrm>
        </p:spPr>
        <p:txBody>
          <a:bodyPr numCol="1" spcCol="720000"/>
          <a:lstStyle>
            <a:lvl1pPr>
              <a:spcAft>
                <a:spcPts val="1200"/>
              </a:spcAft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31558704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065" userDrawn="1">
          <p15:clr>
            <a:srgbClr val="9FCC3B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 - два бло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D7347E-D0C8-4C5C-B7FE-A4CCFC0D2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84CF1BEE-FB60-4C41-A4CB-1FA10956AD3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50863" y="1341438"/>
            <a:ext cx="5184775" cy="5040312"/>
          </a:xfrm>
        </p:spPr>
        <p:txBody>
          <a:bodyPr numCol="1" spcCol="720000"/>
          <a:lstStyle>
            <a:lvl1pPr>
              <a:spcAft>
                <a:spcPts val="1200"/>
              </a:spcAft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" name="Текст 5">
            <a:extLst>
              <a:ext uri="{FF2B5EF4-FFF2-40B4-BE49-F238E27FC236}">
                <a16:creationId xmlns:a16="http://schemas.microsoft.com/office/drawing/2014/main" id="{C75DE5C1-456E-4D90-87F0-D35E9FD23C3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456364" y="1341437"/>
            <a:ext cx="5184775" cy="5040312"/>
          </a:xfrm>
        </p:spPr>
        <p:txBody>
          <a:bodyPr numCol="1" spcCol="720000"/>
          <a:lstStyle>
            <a:lvl1pPr>
              <a:spcAft>
                <a:spcPts val="1200"/>
              </a:spcAft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9624846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 - две колонки в одном блок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D7347E-D0C8-4C5C-B7FE-A4CCFC0D2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84CF1BEE-FB60-4C41-A4CB-1FA10956AD3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50863" y="1341438"/>
            <a:ext cx="11090275" cy="5040312"/>
          </a:xfrm>
        </p:spPr>
        <p:txBody>
          <a:bodyPr numCol="2" spcCol="720000"/>
          <a:lstStyle>
            <a:lvl1pPr>
              <a:spcAft>
                <a:spcPts val="1200"/>
              </a:spcAft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30974720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Один бл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D7347E-D0C8-4C5C-B7FE-A4CCFC0D2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7" name="Объект 6">
            <a:extLst>
              <a:ext uri="{FF2B5EF4-FFF2-40B4-BE49-F238E27FC236}">
                <a16:creationId xmlns:a16="http://schemas.microsoft.com/office/drawing/2014/main" id="{8E0F7007-BD13-44DA-B2D4-D16824AB459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0862" y="1341438"/>
            <a:ext cx="7475537" cy="5040312"/>
          </a:xfr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42721283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065" userDrawn="1">
          <p15:clr>
            <a:srgbClr val="9FCC3B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Один блок с заголовком/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D7347E-D0C8-4C5C-B7FE-A4CCFC0D2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7" name="Объект 6">
            <a:extLst>
              <a:ext uri="{FF2B5EF4-FFF2-40B4-BE49-F238E27FC236}">
                <a16:creationId xmlns:a16="http://schemas.microsoft.com/office/drawing/2014/main" id="{8E0F7007-BD13-44DA-B2D4-D16824AB459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0862" y="1819276"/>
            <a:ext cx="7475537" cy="4562474"/>
          </a:xfr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64C3877D-2148-449E-8D18-378259BFDF3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50863" y="1341438"/>
            <a:ext cx="7475536" cy="635000"/>
          </a:xfrm>
        </p:spPr>
        <p:txBody>
          <a:bodyPr/>
          <a:lstStyle/>
          <a:p>
            <a:pPr lvl="1"/>
            <a:r>
              <a:rPr lang="ru-RU" dirty="0"/>
              <a:t>Второй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22561568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065" userDrawn="1">
          <p15:clr>
            <a:srgbClr val="9FCC3B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ва бло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D7347E-D0C8-4C5C-B7FE-A4CCFC0D2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8" name="Объект 7">
            <a:extLst>
              <a:ext uri="{FF2B5EF4-FFF2-40B4-BE49-F238E27FC236}">
                <a16:creationId xmlns:a16="http://schemas.microsoft.com/office/drawing/2014/main" id="{04B2F2CF-1F6E-4737-8380-2ACFF853EA40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50863" y="1341438"/>
            <a:ext cx="5184775" cy="504031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0" name="Объект 9">
            <a:extLst>
              <a:ext uri="{FF2B5EF4-FFF2-40B4-BE49-F238E27FC236}">
                <a16:creationId xmlns:a16="http://schemas.microsoft.com/office/drawing/2014/main" id="{484797F9-7539-4EA9-A418-767254923B7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456363" y="1341438"/>
            <a:ext cx="5184775" cy="504031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32542762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ва блока с заголовком/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D7347E-D0C8-4C5C-B7FE-A4CCFC0D2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7" name="Объект 6">
            <a:extLst>
              <a:ext uri="{FF2B5EF4-FFF2-40B4-BE49-F238E27FC236}">
                <a16:creationId xmlns:a16="http://schemas.microsoft.com/office/drawing/2014/main" id="{8E0F7007-BD13-44DA-B2D4-D16824AB459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0863" y="1828800"/>
            <a:ext cx="5184776" cy="4552949"/>
          </a:xfr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64C3877D-2148-449E-8D18-378259BFDF3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50863" y="1341438"/>
            <a:ext cx="5184775" cy="635000"/>
          </a:xfrm>
        </p:spPr>
        <p:txBody>
          <a:bodyPr/>
          <a:lstStyle/>
          <a:p>
            <a:pPr lvl="1"/>
            <a:r>
              <a:rPr lang="ru-RU" dirty="0"/>
              <a:t>Второй уровень</a:t>
            </a:r>
          </a:p>
        </p:txBody>
      </p:sp>
      <p:sp>
        <p:nvSpPr>
          <p:cNvPr id="8" name="Объект 6">
            <a:extLst>
              <a:ext uri="{FF2B5EF4-FFF2-40B4-BE49-F238E27FC236}">
                <a16:creationId xmlns:a16="http://schemas.microsoft.com/office/drawing/2014/main" id="{9A78599F-D79E-4281-BEF4-7422CEEA54BF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466194" y="1828800"/>
            <a:ext cx="5184776" cy="4552949"/>
          </a:xfr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9" name="Текст 5">
            <a:extLst>
              <a:ext uri="{FF2B5EF4-FFF2-40B4-BE49-F238E27FC236}">
                <a16:creationId xmlns:a16="http://schemas.microsoft.com/office/drawing/2014/main" id="{42A86BF5-AF69-48DE-AFDD-C1FAD65027C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466194" y="1341438"/>
            <a:ext cx="5184775" cy="635000"/>
          </a:xfrm>
        </p:spPr>
        <p:txBody>
          <a:bodyPr/>
          <a:lstStyle/>
          <a:p>
            <a:pPr lvl="1"/>
            <a:r>
              <a:rPr lang="ru-RU" dirty="0"/>
              <a:t>Второй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9112447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стой слайд с заголовк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D7347E-D0C8-4C5C-B7FE-A4CCFC0D2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717356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Завершение презентации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3C8354B0-5DDB-49B4-A187-3CEDA1E200D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626875" y="5605171"/>
            <a:ext cx="1014262" cy="314912"/>
          </a:xfrm>
          <a:prstGeom prst="rect">
            <a:avLst/>
          </a:prstGeom>
        </p:spPr>
      </p:pic>
      <p:cxnSp>
        <p:nvCxnSpPr>
          <p:cNvPr id="3" name="Прямая соединительная линия 2">
            <a:extLst>
              <a:ext uri="{FF2B5EF4-FFF2-40B4-BE49-F238E27FC236}">
                <a16:creationId xmlns:a16="http://schemas.microsoft.com/office/drawing/2014/main" id="{188270A5-5B56-4CCE-84C6-4D75D2450723}"/>
              </a:ext>
            </a:extLst>
          </p:cNvPr>
          <p:cNvCxnSpPr>
            <a:cxnSpLocks/>
          </p:cNvCxnSpPr>
          <p:nvPr userDrawn="1"/>
        </p:nvCxnSpPr>
        <p:spPr>
          <a:xfrm>
            <a:off x="550863" y="6010277"/>
            <a:ext cx="11090275" cy="0"/>
          </a:xfrm>
          <a:prstGeom prst="line">
            <a:avLst/>
          </a:prstGeom>
          <a:ln w="15875">
            <a:gradFill>
              <a:gsLst>
                <a:gs pos="0">
                  <a:schemeClr val="accent1"/>
                </a:gs>
                <a:gs pos="54000">
                  <a:schemeClr val="accent3"/>
                </a:gs>
                <a:gs pos="100000">
                  <a:schemeClr val="accent2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42AFB8C0-5C8E-4D3D-ADF9-00059CE618CF}"/>
              </a:ext>
            </a:extLst>
          </p:cNvPr>
          <p:cNvSpPr txBox="1"/>
          <p:nvPr userDrawn="1"/>
        </p:nvSpPr>
        <p:spPr>
          <a:xfrm>
            <a:off x="9541404" y="6179006"/>
            <a:ext cx="2099734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b="1" dirty="0">
                <a:solidFill>
                  <a:schemeClr val="tx2"/>
                </a:solidFill>
              </a:rPr>
              <a:t>https://guap.ru</a:t>
            </a:r>
            <a:endParaRPr lang="ru-RU" sz="1400" b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87716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Завершение презентации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3C8354B0-5DDB-49B4-A187-3CEDA1E200D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741843" y="5605171"/>
            <a:ext cx="1014262" cy="314912"/>
          </a:xfrm>
          <a:prstGeom prst="rect">
            <a:avLst/>
          </a:prstGeom>
        </p:spPr>
      </p:pic>
      <p:cxnSp>
        <p:nvCxnSpPr>
          <p:cNvPr id="3" name="Прямая соединительная линия 2">
            <a:extLst>
              <a:ext uri="{FF2B5EF4-FFF2-40B4-BE49-F238E27FC236}">
                <a16:creationId xmlns:a16="http://schemas.microsoft.com/office/drawing/2014/main" id="{188270A5-5B56-4CCE-84C6-4D75D2450723}"/>
              </a:ext>
            </a:extLst>
          </p:cNvPr>
          <p:cNvCxnSpPr>
            <a:cxnSpLocks/>
          </p:cNvCxnSpPr>
          <p:nvPr userDrawn="1"/>
        </p:nvCxnSpPr>
        <p:spPr>
          <a:xfrm>
            <a:off x="550863" y="6010277"/>
            <a:ext cx="10205243" cy="0"/>
          </a:xfrm>
          <a:prstGeom prst="line">
            <a:avLst/>
          </a:prstGeom>
          <a:ln w="15875">
            <a:gradFill>
              <a:gsLst>
                <a:gs pos="0">
                  <a:schemeClr val="accent1"/>
                </a:gs>
                <a:gs pos="54000">
                  <a:schemeClr val="accent3"/>
                </a:gs>
                <a:gs pos="100000">
                  <a:schemeClr val="accent2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42E00DBC-5DC3-4A2C-A94D-350C2F82CC6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r="5385"/>
          <a:stretch/>
        </p:blipFill>
        <p:spPr>
          <a:xfrm>
            <a:off x="10776480" y="5500691"/>
            <a:ext cx="864658" cy="91387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FC432CA-A470-414A-9A8F-5EF0FAB4F9C9}"/>
              </a:ext>
            </a:extLst>
          </p:cNvPr>
          <p:cNvSpPr txBox="1"/>
          <p:nvPr userDrawn="1"/>
        </p:nvSpPr>
        <p:spPr>
          <a:xfrm>
            <a:off x="8676746" y="6179006"/>
            <a:ext cx="2099734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b="1" dirty="0">
                <a:solidFill>
                  <a:schemeClr val="tx2"/>
                </a:solidFill>
              </a:rPr>
              <a:t>https://guap.ru</a:t>
            </a:r>
            <a:endParaRPr lang="ru-RU" sz="1400" b="1" dirty="0">
              <a:solidFill>
                <a:schemeClr val="tx2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3A6AFA2-D81A-4798-AEC0-3F4A7A8C22AC}"/>
              </a:ext>
            </a:extLst>
          </p:cNvPr>
          <p:cNvSpPr txBox="1"/>
          <p:nvPr userDrawn="1"/>
        </p:nvSpPr>
        <p:spPr>
          <a:xfrm>
            <a:off x="571238" y="6179006"/>
            <a:ext cx="3205060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b="0" dirty="0">
                <a:solidFill>
                  <a:schemeClr val="bg1">
                    <a:lumMod val="50000"/>
                  </a:schemeClr>
                </a:solidFill>
              </a:rPr>
              <a:t>© </a:t>
            </a:r>
            <a:r>
              <a:rPr lang="ru-RU" sz="1100" b="0" dirty="0">
                <a:solidFill>
                  <a:schemeClr val="bg1">
                    <a:lumMod val="50000"/>
                  </a:schemeClr>
                </a:solidFill>
              </a:rPr>
              <a:t>ГУАП, 2023</a:t>
            </a:r>
            <a:endParaRPr lang="ru-RU" sz="1400" b="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00396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Завершение презентации 3 - для выступлени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6FFF08F3-1FC8-4409-A953-82A3AF7771C7}"/>
              </a:ext>
            </a:extLst>
          </p:cNvPr>
          <p:cNvSpPr/>
          <p:nvPr userDrawn="1"/>
        </p:nvSpPr>
        <p:spPr>
          <a:xfrm flipH="1">
            <a:off x="0" y="0"/>
            <a:ext cx="12192000" cy="6858000"/>
          </a:xfrm>
          <a:prstGeom prst="rect">
            <a:avLst/>
          </a:prstGeom>
          <a:blipFill>
            <a:blip r:embed="rId2"/>
            <a:stretch>
              <a:fillRect l="-7937" t="-5796" r="-5797" b="-7938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sz="1200" dirty="0"/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3C8354B0-5DDB-49B4-A187-3CEDA1E200D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89994" y="1141883"/>
            <a:ext cx="2254761" cy="700067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42E00DBC-5DC3-4A2C-A94D-350C2F82CC6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r="5385"/>
          <a:stretch/>
        </p:blipFill>
        <p:spPr>
          <a:xfrm>
            <a:off x="10363289" y="949059"/>
            <a:ext cx="1303250" cy="137742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FC432CA-A470-414A-9A8F-5EF0FAB4F9C9}"/>
              </a:ext>
            </a:extLst>
          </p:cNvPr>
          <p:cNvSpPr txBox="1"/>
          <p:nvPr userDrawn="1"/>
        </p:nvSpPr>
        <p:spPr>
          <a:xfrm>
            <a:off x="8147402" y="1734228"/>
            <a:ext cx="2099734" cy="2308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457200" marR="0" lvl="1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5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https://guap.ru</a:t>
            </a:r>
            <a:endParaRPr lang="ru-RU" sz="15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150955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Завершение презентации 4 - с контакт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6FFF08F3-1FC8-4409-A953-82A3AF7771C7}"/>
              </a:ext>
            </a:extLst>
          </p:cNvPr>
          <p:cNvSpPr/>
          <p:nvPr userDrawn="1"/>
        </p:nvSpPr>
        <p:spPr>
          <a:xfrm flipH="1">
            <a:off x="0" y="0"/>
            <a:ext cx="12192000" cy="6858000"/>
          </a:xfrm>
          <a:prstGeom prst="rect">
            <a:avLst/>
          </a:prstGeom>
          <a:blipFill>
            <a:blip r:embed="rId2"/>
            <a:stretch>
              <a:fillRect l="-7937" t="-5796" r="-5797" b="-7938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sz="1200" dirty="0"/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3C8354B0-5DDB-49B4-A187-3CEDA1E200D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89994" y="1141883"/>
            <a:ext cx="2254761" cy="700067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42E00DBC-5DC3-4A2C-A94D-350C2F82CC6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r="5385"/>
          <a:stretch/>
        </p:blipFill>
        <p:spPr>
          <a:xfrm>
            <a:off x="10363289" y="949059"/>
            <a:ext cx="1303250" cy="137742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FC432CA-A470-414A-9A8F-5EF0FAB4F9C9}"/>
              </a:ext>
            </a:extLst>
          </p:cNvPr>
          <p:cNvSpPr txBox="1"/>
          <p:nvPr userDrawn="1"/>
        </p:nvSpPr>
        <p:spPr>
          <a:xfrm>
            <a:off x="8147402" y="1734228"/>
            <a:ext cx="2099734" cy="2308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457200" marR="0" lvl="1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5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https://guap.ru</a:t>
            </a:r>
            <a:endParaRPr lang="ru-RU" sz="15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3FAF823-6E65-4BE2-B22A-CEAA3977E75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56363" y="3275544"/>
            <a:ext cx="5184775" cy="1997341"/>
          </a:xfrm>
        </p:spPr>
        <p:txBody>
          <a:bodyPr anchor="ctr" anchorCtr="0"/>
          <a:lstStyle>
            <a:lvl1pPr algn="r"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Контакты</a:t>
            </a:r>
          </a:p>
        </p:txBody>
      </p:sp>
    </p:spTree>
    <p:extLst>
      <p:ext uri="{BB962C8B-B14F-4D97-AF65-F5344CB8AC3E}">
        <p14:creationId xmlns:p14="http://schemas.microsoft.com/office/powerpoint/2010/main" val="400157638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133097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svg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.svg"/><Relationship Id="rId5" Type="http://schemas.openxmlformats.org/officeDocument/2006/relationships/theme" Target="../theme/theme3.xml"/><Relationship Id="rId4" Type="http://schemas.openxmlformats.org/officeDocument/2006/relationships/slideLayout" Target="../slideLayouts/slideLayout8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svg"/><Relationship Id="rId3" Type="http://schemas.openxmlformats.org/officeDocument/2006/relationships/slideLayout" Target="../slideLayouts/slideLayout11.xml"/><Relationship Id="rId7" Type="http://schemas.openxmlformats.org/officeDocument/2006/relationships/theme" Target="../theme/theme4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DA26B8BC-9AE2-41D8-8A90-8D1C0A2A554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3"/>
            <a:stretch>
              <a:fillRect l="-7937" t="-5796" r="-5797" b="-7938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sz="1200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5009951-9659-4924-B8D1-D9994BE1E4E5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r="56155"/>
          <a:stretch/>
        </p:blipFill>
        <p:spPr>
          <a:xfrm>
            <a:off x="550865" y="304376"/>
            <a:ext cx="2827336" cy="1095375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739E3CC-EBAD-4C68-8215-E3D1E33887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4" y="2509678"/>
            <a:ext cx="8051638" cy="1325563"/>
          </a:xfrm>
          <a:prstGeom prst="rect">
            <a:avLst/>
          </a:prstGeom>
        </p:spPr>
        <p:txBody>
          <a:bodyPr vert="horz" lIns="0" tIns="0" rIns="0" bIns="0" rtlCol="0" anchor="b" anchorCtr="0">
            <a:norm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220187D-590C-4FB1-A787-08B69F583E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0863" y="4568243"/>
            <a:ext cx="6234948" cy="1004784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Дата</a:t>
            </a:r>
          </a:p>
        </p:txBody>
      </p:sp>
    </p:spTree>
    <p:extLst>
      <p:ext uri="{BB962C8B-B14F-4D97-AF65-F5344CB8AC3E}">
        <p14:creationId xmlns:p14="http://schemas.microsoft.com/office/powerpoint/2010/main" val="16248533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3" r:id="rId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r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32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47" userDrawn="1">
          <p15:clr>
            <a:srgbClr val="F26B43"/>
          </p15:clr>
        </p15:guide>
        <p15:guide id="2" pos="7333" userDrawn="1">
          <p15:clr>
            <a:srgbClr val="F26B43"/>
          </p15:clr>
        </p15:guide>
        <p15:guide id="3" orient="horz" pos="402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6">
            <a:extLst>
              <a:ext uri="{FF2B5EF4-FFF2-40B4-BE49-F238E27FC236}">
                <a16:creationId xmlns:a16="http://schemas.microsoft.com/office/drawing/2014/main" id="{EFB9A11F-72FA-0A44-9653-48C9EECB75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407976"/>
            <a:ext cx="9608330" cy="332399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ru-RU" dirty="0"/>
              <a:t>Заголовок слайда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323DE3AE-88ED-4D7E-9545-2150C37B908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26875" y="407976"/>
            <a:ext cx="1014262" cy="314912"/>
          </a:xfrm>
          <a:prstGeom prst="rect">
            <a:avLst/>
          </a:prstGeom>
        </p:spPr>
      </p:pic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95CF6A84-AC35-45BE-AA65-F59DCCC45A75}"/>
              </a:ext>
            </a:extLst>
          </p:cNvPr>
          <p:cNvCxnSpPr>
            <a:cxnSpLocks/>
          </p:cNvCxnSpPr>
          <p:nvPr userDrawn="1"/>
        </p:nvCxnSpPr>
        <p:spPr>
          <a:xfrm>
            <a:off x="550863" y="968502"/>
            <a:ext cx="11090275" cy="0"/>
          </a:xfrm>
          <a:prstGeom prst="line">
            <a:avLst/>
          </a:prstGeom>
          <a:ln w="15875">
            <a:gradFill>
              <a:gsLst>
                <a:gs pos="0">
                  <a:schemeClr val="accent1"/>
                </a:gs>
                <a:gs pos="54000">
                  <a:schemeClr val="accent3"/>
                </a:gs>
                <a:gs pos="100000">
                  <a:schemeClr val="accent2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Текст 2">
            <a:extLst>
              <a:ext uri="{FF2B5EF4-FFF2-40B4-BE49-F238E27FC236}">
                <a16:creationId xmlns:a16="http://schemas.microsoft.com/office/drawing/2014/main" id="{3B768B2F-9C22-468C-B230-607F8CFF75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0862" y="1341437"/>
            <a:ext cx="10515600" cy="420166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ru-RU" dirty="0"/>
              <a:t>Подзаголовок</a:t>
            </a:r>
          </a:p>
          <a:p>
            <a:pPr lvl="1"/>
            <a:r>
              <a:rPr lang="ru-RU" dirty="0"/>
              <a:t>Заголовок таблицы</a:t>
            </a:r>
          </a:p>
          <a:p>
            <a:pPr lvl="2"/>
            <a:r>
              <a:rPr lang="ru-RU" dirty="0"/>
              <a:t>Подпись рисунка</a:t>
            </a:r>
          </a:p>
          <a:p>
            <a:pPr lvl="3"/>
            <a:r>
              <a:rPr lang="ru-RU" dirty="0"/>
              <a:t>Текст</a:t>
            </a:r>
          </a:p>
          <a:p>
            <a:pPr lvl="4"/>
            <a:r>
              <a:rPr lang="ru-RU" dirty="0"/>
              <a:t>Выделенный текст</a:t>
            </a:r>
          </a:p>
          <a:p>
            <a:pPr lvl="5"/>
            <a:r>
              <a:rPr lang="ru-RU" dirty="0"/>
              <a:t>Маркеры</a:t>
            </a:r>
          </a:p>
          <a:p>
            <a:pPr lvl="6"/>
            <a:r>
              <a:rPr lang="ru-RU" dirty="0"/>
              <a:t>Нумерация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444A2A7-9511-4B2D-A046-C71363808B05}"/>
              </a:ext>
            </a:extLst>
          </p:cNvPr>
          <p:cNvSpPr txBox="1"/>
          <p:nvPr userDrawn="1"/>
        </p:nvSpPr>
        <p:spPr>
          <a:xfrm>
            <a:off x="9212262" y="6513813"/>
            <a:ext cx="2428875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261FCC40-BD7D-499B-BF07-C5DEC022620E}" type="slidenum">
              <a:rPr lang="ru-RU" sz="1200" kern="1200" smtClean="0">
                <a:solidFill>
                  <a:schemeClr val="tx2">
                    <a:lumMod val="90000"/>
                  </a:schemeClr>
                </a:solidFill>
                <a:latin typeface="+mn-lt"/>
                <a:ea typeface="+mn-ea"/>
                <a:cs typeface="+mn-cs"/>
              </a:rPr>
              <a:pPr algn="r"/>
              <a:t>‹#›</a:t>
            </a:fld>
            <a:endParaRPr lang="ru-RU" sz="1200" kern="1200" dirty="0">
              <a:solidFill>
                <a:schemeClr val="tx2">
                  <a:lumMod val="90000"/>
                </a:schemeClr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41280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2" r:id="rId1"/>
    <p:sldLayoutId id="2147483801" r:id="rId2"/>
    <p:sldLayoutId id="2147483759" r:id="rId3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2000" kern="1200">
          <a:solidFill>
            <a:schemeClr val="tx2">
              <a:lumMod val="90000"/>
              <a:lumOff val="10000"/>
            </a:schemeClr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1800" b="1" kern="1200">
          <a:solidFill>
            <a:schemeClr val="accent1"/>
          </a:solidFill>
          <a:latin typeface="+mn-lt"/>
          <a:ea typeface="+mn-ea"/>
          <a:cs typeface="+mn-cs"/>
        </a:defRPr>
      </a:lvl2pPr>
      <a:lvl3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1">
            <a:lumMod val="50000"/>
          </a:schemeClr>
        </a:buClr>
        <a:buSzPct val="120000"/>
        <a:buFont typeface="Wingdings" panose="05000000000000000000" pitchFamily="2" charset="2"/>
        <a:buNone/>
        <a:defRPr sz="1400" b="1" kern="1200">
          <a:solidFill>
            <a:schemeClr val="tx2"/>
          </a:solidFill>
          <a:latin typeface="+mn-lt"/>
          <a:ea typeface="+mn-ea"/>
          <a:cs typeface="+mn-cs"/>
        </a:defRPr>
      </a:lvl3pPr>
      <a:lvl4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1">
            <a:lumMod val="50000"/>
          </a:schemeClr>
        </a:buClr>
        <a:buFont typeface="+mj-lt"/>
        <a:buNone/>
        <a:tabLst>
          <a:tab pos="269875" algn="l"/>
        </a:tabLst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Font typeface="Wingdings" panose="05000000000000000000" pitchFamily="2" charset="2"/>
        <a:buNone/>
        <a:defRPr sz="1600" b="0" kern="1200">
          <a:solidFill>
            <a:schemeClr val="accent1"/>
          </a:solidFill>
          <a:latin typeface="+mn-lt"/>
          <a:ea typeface="+mn-ea"/>
          <a:cs typeface="+mn-cs"/>
        </a:defRPr>
      </a:lvl5pPr>
      <a:lvl6pPr marL="285750" indent="-28575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2"/>
        </a:buClr>
        <a:buFont typeface="Wingdings" panose="05000000000000000000" pitchFamily="2" charset="2"/>
        <a:buChar char="§"/>
        <a:defRPr sz="1600" b="0" kern="1200">
          <a:solidFill>
            <a:schemeClr val="tx1"/>
          </a:solidFill>
          <a:latin typeface="+mn-lt"/>
          <a:ea typeface="+mn-ea"/>
          <a:cs typeface="+mn-cs"/>
        </a:defRPr>
      </a:lvl6pPr>
      <a:lvl7pPr marL="271463" indent="-271463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Font typeface="+mj-lt"/>
        <a:buAutoNum type="arabicPeriod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845" userDrawn="1">
          <p15:clr>
            <a:srgbClr val="F26B43"/>
          </p15:clr>
        </p15:guide>
        <p15:guide id="2" pos="347">
          <p15:clr>
            <a:srgbClr val="F26B43"/>
          </p15:clr>
        </p15:guide>
        <p15:guide id="3" orient="horz" pos="4020">
          <p15:clr>
            <a:srgbClr val="F26B43"/>
          </p15:clr>
        </p15:guide>
        <p15:guide id="4" pos="7333">
          <p15:clr>
            <a:srgbClr val="F26B43"/>
          </p15:clr>
        </p15:guide>
        <p15:guide id="5" pos="3613" userDrawn="1">
          <p15:clr>
            <a:srgbClr val="F26B43"/>
          </p15:clr>
        </p15:guide>
        <p15:guide id="6" pos="4067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6">
            <a:extLst>
              <a:ext uri="{FF2B5EF4-FFF2-40B4-BE49-F238E27FC236}">
                <a16:creationId xmlns:a16="http://schemas.microsoft.com/office/drawing/2014/main" id="{EFB9A11F-72FA-0A44-9653-48C9EECB75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407976"/>
            <a:ext cx="9608330" cy="332399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ru-RU" dirty="0"/>
              <a:t>Заголовок слайда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323DE3AE-88ED-4D7E-9545-2150C37B908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626875" y="407976"/>
            <a:ext cx="1014262" cy="314912"/>
          </a:xfrm>
          <a:prstGeom prst="rect">
            <a:avLst/>
          </a:prstGeom>
        </p:spPr>
      </p:pic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95CF6A84-AC35-45BE-AA65-F59DCCC45A75}"/>
              </a:ext>
            </a:extLst>
          </p:cNvPr>
          <p:cNvCxnSpPr>
            <a:cxnSpLocks/>
          </p:cNvCxnSpPr>
          <p:nvPr userDrawn="1"/>
        </p:nvCxnSpPr>
        <p:spPr>
          <a:xfrm>
            <a:off x="550863" y="968502"/>
            <a:ext cx="11090275" cy="0"/>
          </a:xfrm>
          <a:prstGeom prst="line">
            <a:avLst/>
          </a:prstGeom>
          <a:ln w="15875">
            <a:gradFill>
              <a:gsLst>
                <a:gs pos="0">
                  <a:schemeClr val="accent1"/>
                </a:gs>
                <a:gs pos="54000">
                  <a:schemeClr val="accent3"/>
                </a:gs>
                <a:gs pos="100000">
                  <a:schemeClr val="accent2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Текст 2">
            <a:extLst>
              <a:ext uri="{FF2B5EF4-FFF2-40B4-BE49-F238E27FC236}">
                <a16:creationId xmlns:a16="http://schemas.microsoft.com/office/drawing/2014/main" id="{3B768B2F-9C22-468C-B230-607F8CFF75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0862" y="1341437"/>
            <a:ext cx="10515600" cy="420166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ru-RU" dirty="0"/>
              <a:t>Подзаголовок</a:t>
            </a:r>
          </a:p>
          <a:p>
            <a:pPr lvl="1"/>
            <a:r>
              <a:rPr lang="ru-RU" dirty="0"/>
              <a:t>Заголовок таблицы</a:t>
            </a:r>
          </a:p>
          <a:p>
            <a:pPr lvl="2"/>
            <a:r>
              <a:rPr lang="ru-RU" dirty="0"/>
              <a:t>Подпись рисунка</a:t>
            </a:r>
          </a:p>
          <a:p>
            <a:pPr lvl="3"/>
            <a:r>
              <a:rPr lang="ru-RU" dirty="0"/>
              <a:t>Текст</a:t>
            </a:r>
          </a:p>
          <a:p>
            <a:pPr lvl="4"/>
            <a:r>
              <a:rPr lang="ru-RU" dirty="0"/>
              <a:t>Выделенный текст</a:t>
            </a:r>
          </a:p>
          <a:p>
            <a:pPr lvl="5"/>
            <a:r>
              <a:rPr lang="ru-RU" dirty="0"/>
              <a:t>Маркеры</a:t>
            </a:r>
          </a:p>
          <a:p>
            <a:pPr lvl="6"/>
            <a:r>
              <a:rPr lang="ru-RU" dirty="0"/>
              <a:t>Нумерация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69BA297-C05B-4A1B-BC54-4DA26B4C6721}"/>
              </a:ext>
            </a:extLst>
          </p:cNvPr>
          <p:cNvSpPr txBox="1"/>
          <p:nvPr userDrawn="1"/>
        </p:nvSpPr>
        <p:spPr>
          <a:xfrm>
            <a:off x="9212262" y="6513813"/>
            <a:ext cx="2428875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261FCC40-BD7D-499B-BF07-C5DEC022620E}" type="slidenum">
              <a:rPr lang="ru-RU" sz="1200" kern="1200" smtClean="0">
                <a:solidFill>
                  <a:schemeClr val="tx2">
                    <a:lumMod val="90000"/>
                  </a:schemeClr>
                </a:solidFill>
                <a:latin typeface="+mn-lt"/>
                <a:ea typeface="+mn-ea"/>
                <a:cs typeface="+mn-cs"/>
              </a:rPr>
              <a:pPr algn="r"/>
              <a:t>‹#›</a:t>
            </a:fld>
            <a:endParaRPr lang="ru-RU" sz="1200" kern="1200" dirty="0">
              <a:solidFill>
                <a:schemeClr val="tx2">
                  <a:lumMod val="90000"/>
                </a:schemeClr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098599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0" r:id="rId1"/>
    <p:sldLayoutId id="2147483844" r:id="rId2"/>
    <p:sldLayoutId id="2147483832" r:id="rId3"/>
    <p:sldLayoutId id="2147483845" r:id="rId4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2000" kern="1200">
          <a:solidFill>
            <a:schemeClr val="tx2">
              <a:lumMod val="90000"/>
              <a:lumOff val="10000"/>
            </a:schemeClr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1800" b="1" kern="1200">
          <a:solidFill>
            <a:schemeClr val="accent1"/>
          </a:solidFill>
          <a:latin typeface="+mn-lt"/>
          <a:ea typeface="+mn-ea"/>
          <a:cs typeface="+mn-cs"/>
        </a:defRPr>
      </a:lvl2pPr>
      <a:lvl3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1">
            <a:lumMod val="50000"/>
          </a:schemeClr>
        </a:buClr>
        <a:buSzPct val="120000"/>
        <a:buFont typeface="Wingdings" panose="05000000000000000000" pitchFamily="2" charset="2"/>
        <a:buNone/>
        <a:defRPr sz="1400" b="1" kern="1200">
          <a:solidFill>
            <a:schemeClr val="tx2"/>
          </a:solidFill>
          <a:latin typeface="+mn-lt"/>
          <a:ea typeface="+mn-ea"/>
          <a:cs typeface="+mn-cs"/>
        </a:defRPr>
      </a:lvl3pPr>
      <a:lvl4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1">
            <a:lumMod val="50000"/>
          </a:schemeClr>
        </a:buClr>
        <a:buFont typeface="+mj-lt"/>
        <a:buNone/>
        <a:tabLst>
          <a:tab pos="269875" algn="l"/>
        </a:tabLst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Font typeface="Wingdings" panose="05000000000000000000" pitchFamily="2" charset="2"/>
        <a:buNone/>
        <a:defRPr sz="1600" b="0" kern="1200">
          <a:solidFill>
            <a:schemeClr val="accent1"/>
          </a:solidFill>
          <a:latin typeface="+mn-lt"/>
          <a:ea typeface="+mn-ea"/>
          <a:cs typeface="+mn-cs"/>
        </a:defRPr>
      </a:lvl5pPr>
      <a:lvl6pPr marL="285750" indent="-28575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2"/>
        </a:buClr>
        <a:buFont typeface="Wingdings" panose="05000000000000000000" pitchFamily="2" charset="2"/>
        <a:buChar char="§"/>
        <a:defRPr sz="1600" b="0" kern="1200">
          <a:solidFill>
            <a:schemeClr val="tx1"/>
          </a:solidFill>
          <a:latin typeface="+mn-lt"/>
          <a:ea typeface="+mn-ea"/>
          <a:cs typeface="+mn-cs"/>
        </a:defRPr>
      </a:lvl6pPr>
      <a:lvl7pPr marL="271463" indent="-271463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Font typeface="+mj-lt"/>
        <a:buAutoNum type="arabicPeriod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845" userDrawn="1">
          <p15:clr>
            <a:srgbClr val="F26B43"/>
          </p15:clr>
        </p15:guide>
        <p15:guide id="2" pos="347">
          <p15:clr>
            <a:srgbClr val="F26B43"/>
          </p15:clr>
        </p15:guide>
        <p15:guide id="3" orient="horz" pos="4020">
          <p15:clr>
            <a:srgbClr val="F26B43"/>
          </p15:clr>
        </p15:guide>
        <p15:guide id="4" pos="7333">
          <p15:clr>
            <a:srgbClr val="F26B43"/>
          </p15:clr>
        </p15:guide>
        <p15:guide id="5" pos="3613" userDrawn="1">
          <p15:clr>
            <a:srgbClr val="F26B43"/>
          </p15:clr>
        </p15:guide>
        <p15:guide id="6" pos="4067" userDrawn="1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6">
            <a:extLst>
              <a:ext uri="{FF2B5EF4-FFF2-40B4-BE49-F238E27FC236}">
                <a16:creationId xmlns:a16="http://schemas.microsoft.com/office/drawing/2014/main" id="{EFB9A11F-72FA-0A44-9653-48C9EECB75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407976"/>
            <a:ext cx="9608330" cy="332399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ru-RU" dirty="0"/>
              <a:t>Заголовок слайда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323DE3AE-88ED-4D7E-9545-2150C37B908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626875" y="407976"/>
            <a:ext cx="1014262" cy="314912"/>
          </a:xfrm>
          <a:prstGeom prst="rect">
            <a:avLst/>
          </a:prstGeom>
        </p:spPr>
      </p:pic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95CF6A84-AC35-45BE-AA65-F59DCCC45A75}"/>
              </a:ext>
            </a:extLst>
          </p:cNvPr>
          <p:cNvCxnSpPr>
            <a:cxnSpLocks/>
          </p:cNvCxnSpPr>
          <p:nvPr userDrawn="1"/>
        </p:nvCxnSpPr>
        <p:spPr>
          <a:xfrm>
            <a:off x="550863" y="968502"/>
            <a:ext cx="11090275" cy="0"/>
          </a:xfrm>
          <a:prstGeom prst="line">
            <a:avLst/>
          </a:prstGeom>
          <a:ln w="15875">
            <a:gradFill>
              <a:gsLst>
                <a:gs pos="0">
                  <a:schemeClr val="accent1"/>
                </a:gs>
                <a:gs pos="54000">
                  <a:schemeClr val="accent3"/>
                </a:gs>
                <a:gs pos="100000">
                  <a:schemeClr val="accent2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Текст 2">
            <a:extLst>
              <a:ext uri="{FF2B5EF4-FFF2-40B4-BE49-F238E27FC236}">
                <a16:creationId xmlns:a16="http://schemas.microsoft.com/office/drawing/2014/main" id="{3B768B2F-9C22-468C-B230-607F8CFF75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0862" y="1341437"/>
            <a:ext cx="10515600" cy="420166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ru-RU" dirty="0"/>
              <a:t>Подзаголовок</a:t>
            </a:r>
          </a:p>
          <a:p>
            <a:pPr lvl="1"/>
            <a:r>
              <a:rPr lang="ru-RU" dirty="0"/>
              <a:t>Заголовок таблицы</a:t>
            </a:r>
          </a:p>
          <a:p>
            <a:pPr lvl="2"/>
            <a:r>
              <a:rPr lang="ru-RU" dirty="0"/>
              <a:t>Подпись рисунка</a:t>
            </a:r>
          </a:p>
          <a:p>
            <a:pPr lvl="3"/>
            <a:r>
              <a:rPr lang="ru-RU" dirty="0"/>
              <a:t>Текст</a:t>
            </a:r>
          </a:p>
          <a:p>
            <a:pPr lvl="4"/>
            <a:r>
              <a:rPr lang="ru-RU" dirty="0"/>
              <a:t>Выделенный текст</a:t>
            </a:r>
          </a:p>
          <a:p>
            <a:pPr lvl="5"/>
            <a:r>
              <a:rPr lang="ru-RU" dirty="0"/>
              <a:t>Маркеры</a:t>
            </a:r>
          </a:p>
          <a:p>
            <a:pPr lvl="6"/>
            <a:r>
              <a:rPr lang="ru-RU" dirty="0"/>
              <a:t>Нумерация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414C9C7-3F3B-4FAE-B19C-B28F0A67B7F7}"/>
              </a:ext>
            </a:extLst>
          </p:cNvPr>
          <p:cNvSpPr txBox="1"/>
          <p:nvPr userDrawn="1"/>
        </p:nvSpPr>
        <p:spPr>
          <a:xfrm>
            <a:off x="9212262" y="6513813"/>
            <a:ext cx="2428875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261FCC40-BD7D-499B-BF07-C5DEC022620E}" type="slidenum">
              <a:rPr lang="ru-RU" sz="1200" kern="1200" smtClean="0">
                <a:solidFill>
                  <a:schemeClr val="tx2">
                    <a:lumMod val="90000"/>
                  </a:schemeClr>
                </a:solidFill>
                <a:latin typeface="+mn-lt"/>
                <a:ea typeface="+mn-ea"/>
                <a:cs typeface="+mn-cs"/>
              </a:rPr>
              <a:pPr algn="r"/>
              <a:t>‹#›</a:t>
            </a:fld>
            <a:endParaRPr lang="ru-RU" sz="1200" kern="1200" dirty="0">
              <a:solidFill>
                <a:schemeClr val="tx2">
                  <a:lumMod val="90000"/>
                </a:schemeClr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962496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6" r:id="rId2"/>
    <p:sldLayoutId id="2147483847" r:id="rId3"/>
    <p:sldLayoutId id="2147483849" r:id="rId4"/>
    <p:sldLayoutId id="2147483850" r:id="rId5"/>
    <p:sldLayoutId id="2147483843" r:id="rId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2000" kern="1200">
          <a:solidFill>
            <a:schemeClr val="tx2">
              <a:lumMod val="90000"/>
              <a:lumOff val="10000"/>
            </a:schemeClr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1800" b="1" kern="1200">
          <a:solidFill>
            <a:schemeClr val="accent1"/>
          </a:solidFill>
          <a:latin typeface="+mn-lt"/>
          <a:ea typeface="+mn-ea"/>
          <a:cs typeface="+mn-cs"/>
        </a:defRPr>
      </a:lvl2pPr>
      <a:lvl3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1">
            <a:lumMod val="50000"/>
          </a:schemeClr>
        </a:buClr>
        <a:buSzPct val="120000"/>
        <a:buFont typeface="Wingdings" panose="05000000000000000000" pitchFamily="2" charset="2"/>
        <a:buNone/>
        <a:defRPr sz="1400" b="1" kern="1200">
          <a:solidFill>
            <a:schemeClr val="tx2"/>
          </a:solidFill>
          <a:latin typeface="+mn-lt"/>
          <a:ea typeface="+mn-ea"/>
          <a:cs typeface="+mn-cs"/>
        </a:defRPr>
      </a:lvl3pPr>
      <a:lvl4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1">
            <a:lumMod val="50000"/>
          </a:schemeClr>
        </a:buClr>
        <a:buFont typeface="+mj-lt"/>
        <a:buNone/>
        <a:tabLst>
          <a:tab pos="269875" algn="l"/>
        </a:tabLst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Font typeface="Wingdings" panose="05000000000000000000" pitchFamily="2" charset="2"/>
        <a:buNone/>
        <a:defRPr sz="1600" b="0" kern="1200">
          <a:solidFill>
            <a:schemeClr val="accent1"/>
          </a:solidFill>
          <a:latin typeface="+mn-lt"/>
          <a:ea typeface="+mn-ea"/>
          <a:cs typeface="+mn-cs"/>
        </a:defRPr>
      </a:lvl5pPr>
      <a:lvl6pPr marL="285750" indent="-28575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2"/>
        </a:buClr>
        <a:buFont typeface="Wingdings" panose="05000000000000000000" pitchFamily="2" charset="2"/>
        <a:buChar char="§"/>
        <a:defRPr sz="1600" b="0" kern="1200">
          <a:solidFill>
            <a:schemeClr val="tx1"/>
          </a:solidFill>
          <a:latin typeface="+mn-lt"/>
          <a:ea typeface="+mn-ea"/>
          <a:cs typeface="+mn-cs"/>
        </a:defRPr>
      </a:lvl6pPr>
      <a:lvl7pPr marL="271463" indent="-271463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Font typeface="+mj-lt"/>
        <a:buAutoNum type="arabicPeriod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845" userDrawn="1">
          <p15:clr>
            <a:srgbClr val="F26B43"/>
          </p15:clr>
        </p15:guide>
        <p15:guide id="2" pos="347">
          <p15:clr>
            <a:srgbClr val="F26B43"/>
          </p15:clr>
        </p15:guide>
        <p15:guide id="3" orient="horz" pos="4020">
          <p15:clr>
            <a:srgbClr val="F26B43"/>
          </p15:clr>
        </p15:guide>
        <p15:guide id="4" pos="7333">
          <p15:clr>
            <a:srgbClr val="F26B43"/>
          </p15:clr>
        </p15:guide>
        <p15:guide id="5" pos="4067" userDrawn="1">
          <p15:clr>
            <a:srgbClr val="F26B43"/>
          </p15:clr>
        </p15:guide>
        <p15:guide id="6" pos="3613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DA5BC97-99E1-4827-A5AA-5E9EBED1B7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Термодинамика наноструктур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1EA8D34-BBBA-48A9-9B83-130C3E8DC9D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t>Лекция №2 (Расширенная)</a:t>
            </a:r>
          </a:p>
          <a:p>
            <a:r>
              <a:t>От основ до наномира</a:t>
            </a:r>
          </a:p>
          <a:p>
            <a:r>
              <a:t>Преподаватель: Попов Д.А.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C26AC53-244B-4289-B3B5-D31C1BFD52F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fontScale="92500" lnSpcReduction="20000"/>
          </a:bodyPr>
          <a:lstStyle/>
          <a:p>
            <a:r>
              <a:t>2026</a:t>
            </a:r>
          </a:p>
        </p:txBody>
      </p:sp>
    </p:spTree>
    <p:extLst>
      <p:ext uri="{BB962C8B-B14F-4D97-AF65-F5344CB8AC3E}">
        <p14:creationId xmlns:p14="http://schemas.microsoft.com/office/powerpoint/2010/main" val="27058158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8">
            <a:extLst>
              <a:ext uri="{FF2B5EF4-FFF2-40B4-BE49-F238E27FC236}">
                <a16:creationId xmlns:a16="http://schemas.microsoft.com/office/drawing/2014/main" id="{F629FCE6-17AE-4664-8F63-4E9A710F8C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Уровень 1. Энергия, Теплота и Работа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F49452D1-89AA-4C5A-88F0-499C88E1448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50864" y="1341438"/>
            <a:ext cx="5178484" cy="5040312"/>
          </a:xfrm>
        </p:spPr>
        <p:txBody>
          <a:bodyPr>
            <a:normAutofit fontScale="92500" lnSpcReduction="10000"/>
          </a:bodyPr>
          <a:lstStyle/>
          <a:p>
            <a:r>
              <a:t>• Внутренняя энергия U — сумма кинетической энергии молекул и потенциальной энергии их взаимодействия.</a:t>
            </a:r>
          </a:p>
          <a:p>
            <a:r>
              <a:t>• Теплота Q и Работа A — способы передачи энергии.</a:t>
            </a:r>
          </a:p>
          <a:p>
            <a:r>
              <a:t>• В школе мы изучали Q = cmΔT и A = FΔx.</a:t>
            </a:r>
          </a:p>
          <a:p>
            <a:r>
              <a:t>• В термодинамике они неразрывно связаны.</a:t>
            </a:r>
          </a:p>
        </p:txBody>
      </p:sp>
      <p:sp>
        <p:nvSpPr>
          <p:cNvPr id="11" name="Текст 4">
            <a:extLst>
              <a:ext uri="{FF2B5EF4-FFF2-40B4-BE49-F238E27FC236}">
                <a16:creationId xmlns:a16="http://schemas.microsoft.com/office/drawing/2014/main" id="{1423116A-63CA-46CE-8EB6-1F415B1FB93B}"/>
              </a:ext>
            </a:extLst>
          </p:cNvPr>
          <p:cNvSpPr txBox="1">
            <a:spLocks/>
          </p:cNvSpPr>
          <p:nvPr/>
        </p:nvSpPr>
        <p:spPr>
          <a:xfrm>
            <a:off x="6456364" y="1286776"/>
            <a:ext cx="3249293" cy="427579"/>
          </a:xfrm>
          <a:prstGeom prst="rect">
            <a:avLst/>
          </a:prstGeom>
        </p:spPr>
        <p:txBody>
          <a:bodyPr vert="horz" lIns="0" tIns="0" rIns="0" bIns="0" numCol="1" spcCol="720000" rtlCol="0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2000" kern="1200">
                <a:solidFill>
                  <a:schemeClr val="tx2">
                    <a:lumMod val="90000"/>
                    <a:lumOff val="1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50000"/>
                </a:schemeClr>
              </a:buClr>
              <a:buSzPct val="120000"/>
              <a:buFont typeface="Wingdings" panose="05000000000000000000" pitchFamily="2" charset="2"/>
              <a:buNone/>
              <a:defRPr sz="14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50000"/>
                </a:schemeClr>
              </a:buClr>
              <a:buFont typeface="+mj-lt"/>
              <a:buNone/>
              <a:tabLst>
                <a:tab pos="269875" algn="l"/>
              </a:tabLst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None/>
              <a:defRPr sz="1600" b="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285750" indent="-28575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1463" indent="-271463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rabicPeriod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2">
              <a:lnSpc>
                <a:spcPct val="130000"/>
              </a:lnSpc>
            </a:pPr>
            <a:r>
              <a:rPr lang="ru-RU" sz="1200" dirty="0"/>
              <a:t>Рисунок 1. Макеты страниц презентации</a:t>
            </a:r>
          </a:p>
        </p:txBody>
      </p:sp>
      <p:sp>
        <p:nvSpPr>
          <p:cNvPr id="12" name="Текст 4">
            <a:extLst>
              <a:ext uri="{FF2B5EF4-FFF2-40B4-BE49-F238E27FC236}">
                <a16:creationId xmlns:a16="http://schemas.microsoft.com/office/drawing/2014/main" id="{04E6BB2B-7383-4D42-9F5F-A83C696F9B83}"/>
              </a:ext>
            </a:extLst>
          </p:cNvPr>
          <p:cNvSpPr txBox="1">
            <a:spLocks/>
          </p:cNvSpPr>
          <p:nvPr/>
        </p:nvSpPr>
        <p:spPr>
          <a:xfrm>
            <a:off x="6456362" y="4057155"/>
            <a:ext cx="4695900" cy="427577"/>
          </a:xfrm>
          <a:prstGeom prst="rect">
            <a:avLst/>
          </a:prstGeom>
        </p:spPr>
        <p:txBody>
          <a:bodyPr vert="horz" lIns="0" tIns="0" rIns="0" bIns="0" numCol="1" spcCol="720000" rtlCol="0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2000" kern="1200">
                <a:solidFill>
                  <a:schemeClr val="tx2">
                    <a:lumMod val="90000"/>
                    <a:lumOff val="1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50000"/>
                </a:schemeClr>
              </a:buClr>
              <a:buSzPct val="120000"/>
              <a:buFont typeface="Wingdings" panose="05000000000000000000" pitchFamily="2" charset="2"/>
              <a:buNone/>
              <a:defRPr sz="14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50000"/>
                </a:schemeClr>
              </a:buClr>
              <a:buFont typeface="+mj-lt"/>
              <a:buNone/>
              <a:tabLst>
                <a:tab pos="269875" algn="l"/>
              </a:tabLst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None/>
              <a:defRPr sz="1600" b="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285750" indent="-28575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1463" indent="-271463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rabicPeriod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2">
              <a:lnSpc>
                <a:spcPct val="130000"/>
              </a:lnSpc>
            </a:pPr>
            <a:r>
              <a:rPr lang="ru-RU" sz="1200" dirty="0"/>
              <a:t>Рисунок 2. Цветовая палитра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35487C46-CD15-46F8-AF80-5F1D2AB723D4}"/>
              </a:ext>
            </a:extLst>
          </p:cNvPr>
          <p:cNvSpPr/>
          <p:nvPr/>
        </p:nvSpPr>
        <p:spPr>
          <a:xfrm>
            <a:off x="7435850" y="1853118"/>
            <a:ext cx="1776975" cy="1965532"/>
          </a:xfrm>
          <a:prstGeom prst="rect">
            <a:avLst/>
          </a:prstGeom>
          <a:noFill/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sz="10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645850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8">
            <a:extLst>
              <a:ext uri="{FF2B5EF4-FFF2-40B4-BE49-F238E27FC236}">
                <a16:creationId xmlns:a16="http://schemas.microsoft.com/office/drawing/2014/main" id="{F629FCE6-17AE-4664-8F63-4E9A710F8C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Начала термодинамики и Энтропия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F49452D1-89AA-4C5A-88F0-499C88E1448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50864" y="1341438"/>
            <a:ext cx="5178484" cy="5040312"/>
          </a:xfrm>
        </p:spPr>
        <p:txBody>
          <a:bodyPr>
            <a:normAutofit fontScale="92500" lnSpcReduction="10000"/>
          </a:bodyPr>
          <a:lstStyle/>
          <a:p>
            <a:r>
              <a:t>• Закон сохранения энергии (I начало): dQ = dU + dA</a:t>
            </a:r>
          </a:p>
          <a:p>
            <a:r>
              <a:t>• Почему тепло не идет от холодного к горячему?</a:t>
            </a:r>
          </a:p>
          <a:p>
            <a:r>
              <a:t>• Энтропия S — мера хаоса в системе.</a:t>
            </a:r>
          </a:p>
          <a:p>
            <a:r>
              <a:t>• Все системы стремятся увеличить свой хаос (II начало).</a:t>
            </a:r>
          </a:p>
        </p:txBody>
      </p:sp>
      <p:sp>
        <p:nvSpPr>
          <p:cNvPr id="11" name="Текст 4">
            <a:extLst>
              <a:ext uri="{FF2B5EF4-FFF2-40B4-BE49-F238E27FC236}">
                <a16:creationId xmlns:a16="http://schemas.microsoft.com/office/drawing/2014/main" id="{1423116A-63CA-46CE-8EB6-1F415B1FB93B}"/>
              </a:ext>
            </a:extLst>
          </p:cNvPr>
          <p:cNvSpPr txBox="1">
            <a:spLocks/>
          </p:cNvSpPr>
          <p:nvPr/>
        </p:nvSpPr>
        <p:spPr>
          <a:xfrm>
            <a:off x="6456364" y="1286776"/>
            <a:ext cx="3249293" cy="427579"/>
          </a:xfrm>
          <a:prstGeom prst="rect">
            <a:avLst/>
          </a:prstGeom>
        </p:spPr>
        <p:txBody>
          <a:bodyPr vert="horz" lIns="0" tIns="0" rIns="0" bIns="0" numCol="1" spcCol="720000" rtlCol="0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2000" kern="1200">
                <a:solidFill>
                  <a:schemeClr val="tx2">
                    <a:lumMod val="90000"/>
                    <a:lumOff val="1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50000"/>
                </a:schemeClr>
              </a:buClr>
              <a:buSzPct val="120000"/>
              <a:buFont typeface="Wingdings" panose="05000000000000000000" pitchFamily="2" charset="2"/>
              <a:buNone/>
              <a:defRPr sz="14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50000"/>
                </a:schemeClr>
              </a:buClr>
              <a:buFont typeface="+mj-lt"/>
              <a:buNone/>
              <a:tabLst>
                <a:tab pos="269875" algn="l"/>
              </a:tabLst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None/>
              <a:defRPr sz="1600" b="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285750" indent="-28575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1463" indent="-271463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rabicPeriod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2">
              <a:lnSpc>
                <a:spcPct val="130000"/>
              </a:lnSpc>
            </a:pPr>
            <a:r>
              <a:rPr lang="ru-RU" sz="1200" dirty="0"/>
              <a:t>Рисунок 1. Макеты страниц презентации</a:t>
            </a:r>
          </a:p>
        </p:txBody>
      </p:sp>
      <p:sp>
        <p:nvSpPr>
          <p:cNvPr id="12" name="Текст 4">
            <a:extLst>
              <a:ext uri="{FF2B5EF4-FFF2-40B4-BE49-F238E27FC236}">
                <a16:creationId xmlns:a16="http://schemas.microsoft.com/office/drawing/2014/main" id="{04E6BB2B-7383-4D42-9F5F-A83C696F9B83}"/>
              </a:ext>
            </a:extLst>
          </p:cNvPr>
          <p:cNvSpPr txBox="1">
            <a:spLocks/>
          </p:cNvSpPr>
          <p:nvPr/>
        </p:nvSpPr>
        <p:spPr>
          <a:xfrm>
            <a:off x="6456362" y="4057155"/>
            <a:ext cx="4695900" cy="427577"/>
          </a:xfrm>
          <a:prstGeom prst="rect">
            <a:avLst/>
          </a:prstGeom>
        </p:spPr>
        <p:txBody>
          <a:bodyPr vert="horz" lIns="0" tIns="0" rIns="0" bIns="0" numCol="1" spcCol="720000" rtlCol="0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2000" kern="1200">
                <a:solidFill>
                  <a:schemeClr val="tx2">
                    <a:lumMod val="90000"/>
                    <a:lumOff val="1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50000"/>
                </a:schemeClr>
              </a:buClr>
              <a:buSzPct val="120000"/>
              <a:buFont typeface="Wingdings" panose="05000000000000000000" pitchFamily="2" charset="2"/>
              <a:buNone/>
              <a:defRPr sz="14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50000"/>
                </a:schemeClr>
              </a:buClr>
              <a:buFont typeface="+mj-lt"/>
              <a:buNone/>
              <a:tabLst>
                <a:tab pos="269875" algn="l"/>
              </a:tabLst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None/>
              <a:defRPr sz="1600" b="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285750" indent="-28575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1463" indent="-271463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rabicPeriod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2">
              <a:lnSpc>
                <a:spcPct val="130000"/>
              </a:lnSpc>
            </a:pPr>
            <a:r>
              <a:rPr lang="ru-RU" sz="1200" dirty="0"/>
              <a:t>Рисунок 2. Цветовая палитра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35487C46-CD15-46F8-AF80-5F1D2AB723D4}"/>
              </a:ext>
            </a:extLst>
          </p:cNvPr>
          <p:cNvSpPr/>
          <p:nvPr/>
        </p:nvSpPr>
        <p:spPr>
          <a:xfrm>
            <a:off x="7435850" y="1853118"/>
            <a:ext cx="1776975" cy="1965532"/>
          </a:xfrm>
          <a:prstGeom prst="rect">
            <a:avLst/>
          </a:prstGeom>
          <a:noFill/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sz="1000" dirty="0">
              <a:solidFill>
                <a:schemeClr val="tx2"/>
              </a:solidFill>
            </a:endParaRPr>
          </a:p>
        </p:txBody>
      </p:sp>
      <p:pic>
        <p:nvPicPr>
          <p:cNvPr id="15" name="Picture 14" descr="chart_entrop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5851" y="1531517"/>
            <a:ext cx="5486400" cy="2708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05570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8">
            <a:extLst>
              <a:ext uri="{FF2B5EF4-FFF2-40B4-BE49-F238E27FC236}">
                <a16:creationId xmlns:a16="http://schemas.microsoft.com/office/drawing/2014/main" id="{F629FCE6-17AE-4664-8F63-4E9A710F8C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Уровень 2. Энергия Гиббса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F49452D1-89AA-4C5A-88F0-499C88E1448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50864" y="1341438"/>
            <a:ext cx="5178484" cy="5040312"/>
          </a:xfrm>
        </p:spPr>
        <p:txBody>
          <a:bodyPr>
            <a:normAutofit fontScale="92500" lnSpcReduction="10000"/>
          </a:bodyPr>
          <a:lstStyle/>
          <a:p>
            <a:r>
              <a:t>• Как предсказать, пойдет ли реакция, не считая энтропию всей Вселенной?</a:t>
            </a:r>
          </a:p>
          <a:p>
            <a:r>
              <a:t>• G = H - TS (Энергия Гиббса)</a:t>
            </a:r>
          </a:p>
          <a:p>
            <a:r>
              <a:t>• Это баланс между стремлением к минимуму энергии (энтальпия H) и максимуму хаоса (энтропия S).</a:t>
            </a:r>
          </a:p>
          <a:p>
            <a:r>
              <a:t>• Процесс идет самопроизвольно, если ΔG &lt; 0.</a:t>
            </a:r>
          </a:p>
        </p:txBody>
      </p:sp>
      <p:sp>
        <p:nvSpPr>
          <p:cNvPr id="11" name="Текст 4">
            <a:extLst>
              <a:ext uri="{FF2B5EF4-FFF2-40B4-BE49-F238E27FC236}">
                <a16:creationId xmlns:a16="http://schemas.microsoft.com/office/drawing/2014/main" id="{1423116A-63CA-46CE-8EB6-1F415B1FB93B}"/>
              </a:ext>
            </a:extLst>
          </p:cNvPr>
          <p:cNvSpPr txBox="1">
            <a:spLocks/>
          </p:cNvSpPr>
          <p:nvPr/>
        </p:nvSpPr>
        <p:spPr>
          <a:xfrm>
            <a:off x="6456364" y="1286776"/>
            <a:ext cx="3249293" cy="427579"/>
          </a:xfrm>
          <a:prstGeom prst="rect">
            <a:avLst/>
          </a:prstGeom>
        </p:spPr>
        <p:txBody>
          <a:bodyPr vert="horz" lIns="0" tIns="0" rIns="0" bIns="0" numCol="1" spcCol="720000" rtlCol="0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2000" kern="1200">
                <a:solidFill>
                  <a:schemeClr val="tx2">
                    <a:lumMod val="90000"/>
                    <a:lumOff val="1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50000"/>
                </a:schemeClr>
              </a:buClr>
              <a:buSzPct val="120000"/>
              <a:buFont typeface="Wingdings" panose="05000000000000000000" pitchFamily="2" charset="2"/>
              <a:buNone/>
              <a:defRPr sz="14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50000"/>
                </a:schemeClr>
              </a:buClr>
              <a:buFont typeface="+mj-lt"/>
              <a:buNone/>
              <a:tabLst>
                <a:tab pos="269875" algn="l"/>
              </a:tabLst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None/>
              <a:defRPr sz="1600" b="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285750" indent="-28575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1463" indent="-271463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rabicPeriod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2">
              <a:lnSpc>
                <a:spcPct val="130000"/>
              </a:lnSpc>
            </a:pPr>
            <a:r>
              <a:rPr lang="ru-RU" sz="1200" dirty="0"/>
              <a:t>Рисунок 1. Макеты страниц презентации</a:t>
            </a:r>
          </a:p>
        </p:txBody>
      </p:sp>
      <p:sp>
        <p:nvSpPr>
          <p:cNvPr id="12" name="Текст 4">
            <a:extLst>
              <a:ext uri="{FF2B5EF4-FFF2-40B4-BE49-F238E27FC236}">
                <a16:creationId xmlns:a16="http://schemas.microsoft.com/office/drawing/2014/main" id="{04E6BB2B-7383-4D42-9F5F-A83C696F9B83}"/>
              </a:ext>
            </a:extLst>
          </p:cNvPr>
          <p:cNvSpPr txBox="1">
            <a:spLocks/>
          </p:cNvSpPr>
          <p:nvPr/>
        </p:nvSpPr>
        <p:spPr>
          <a:xfrm>
            <a:off x="6456362" y="4057155"/>
            <a:ext cx="4695900" cy="427577"/>
          </a:xfrm>
          <a:prstGeom prst="rect">
            <a:avLst/>
          </a:prstGeom>
        </p:spPr>
        <p:txBody>
          <a:bodyPr vert="horz" lIns="0" tIns="0" rIns="0" bIns="0" numCol="1" spcCol="720000" rtlCol="0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2000" kern="1200">
                <a:solidFill>
                  <a:schemeClr val="tx2">
                    <a:lumMod val="90000"/>
                    <a:lumOff val="1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50000"/>
                </a:schemeClr>
              </a:buClr>
              <a:buSzPct val="120000"/>
              <a:buFont typeface="Wingdings" panose="05000000000000000000" pitchFamily="2" charset="2"/>
              <a:buNone/>
              <a:defRPr sz="14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50000"/>
                </a:schemeClr>
              </a:buClr>
              <a:buFont typeface="+mj-lt"/>
              <a:buNone/>
              <a:tabLst>
                <a:tab pos="269875" algn="l"/>
              </a:tabLst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None/>
              <a:defRPr sz="1600" b="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285750" indent="-28575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1463" indent="-271463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rabicPeriod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2">
              <a:lnSpc>
                <a:spcPct val="130000"/>
              </a:lnSpc>
            </a:pPr>
            <a:r>
              <a:rPr lang="ru-RU" sz="1200" dirty="0"/>
              <a:t>Рисунок 2. Цветовая палитра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35487C46-CD15-46F8-AF80-5F1D2AB723D4}"/>
              </a:ext>
            </a:extLst>
          </p:cNvPr>
          <p:cNvSpPr/>
          <p:nvPr/>
        </p:nvSpPr>
        <p:spPr>
          <a:xfrm>
            <a:off x="7435850" y="1853118"/>
            <a:ext cx="1776975" cy="1965532"/>
          </a:xfrm>
          <a:prstGeom prst="rect">
            <a:avLst/>
          </a:prstGeom>
          <a:noFill/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sz="10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03833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8">
            <a:extLst>
              <a:ext uri="{FF2B5EF4-FFF2-40B4-BE49-F238E27FC236}">
                <a16:creationId xmlns:a16="http://schemas.microsoft.com/office/drawing/2014/main" id="{F629FCE6-17AE-4664-8F63-4E9A710F8C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Химический потенциал и Равновесие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F49452D1-89AA-4C5A-88F0-499C88E1448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50864" y="1341438"/>
            <a:ext cx="5178484" cy="5040312"/>
          </a:xfrm>
        </p:spPr>
        <p:txBody>
          <a:bodyPr>
            <a:normAutofit fontScale="92500" lnSpcReduction="10000"/>
          </a:bodyPr>
          <a:lstStyle/>
          <a:p>
            <a:r>
              <a:t>• Химический потенциал μ — это порция энергии Гиббса, приходящаяся на 1 моль вещества.</a:t>
            </a:r>
          </a:p>
          <a:p>
            <a:r>
              <a:t>• Почему лед плавится ровно при 0 °C?</a:t>
            </a:r>
          </a:p>
          <a:p>
            <a:r>
              <a:t>• При 0 °C химические потенциалы льда и жидкой воды равны: μ_solid = μ_liquid.</a:t>
            </a:r>
          </a:p>
          <a:p>
            <a:r>
              <a:t>• В равновесии система не хочет менять фазу.</a:t>
            </a:r>
          </a:p>
        </p:txBody>
      </p:sp>
      <p:sp>
        <p:nvSpPr>
          <p:cNvPr id="11" name="Текст 4">
            <a:extLst>
              <a:ext uri="{FF2B5EF4-FFF2-40B4-BE49-F238E27FC236}">
                <a16:creationId xmlns:a16="http://schemas.microsoft.com/office/drawing/2014/main" id="{1423116A-63CA-46CE-8EB6-1F415B1FB93B}"/>
              </a:ext>
            </a:extLst>
          </p:cNvPr>
          <p:cNvSpPr txBox="1">
            <a:spLocks/>
          </p:cNvSpPr>
          <p:nvPr/>
        </p:nvSpPr>
        <p:spPr>
          <a:xfrm>
            <a:off x="6456364" y="1286776"/>
            <a:ext cx="3249293" cy="427579"/>
          </a:xfrm>
          <a:prstGeom prst="rect">
            <a:avLst/>
          </a:prstGeom>
        </p:spPr>
        <p:txBody>
          <a:bodyPr vert="horz" lIns="0" tIns="0" rIns="0" bIns="0" numCol="1" spcCol="720000" rtlCol="0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2000" kern="1200">
                <a:solidFill>
                  <a:schemeClr val="tx2">
                    <a:lumMod val="90000"/>
                    <a:lumOff val="1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50000"/>
                </a:schemeClr>
              </a:buClr>
              <a:buSzPct val="120000"/>
              <a:buFont typeface="Wingdings" panose="05000000000000000000" pitchFamily="2" charset="2"/>
              <a:buNone/>
              <a:defRPr sz="14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50000"/>
                </a:schemeClr>
              </a:buClr>
              <a:buFont typeface="+mj-lt"/>
              <a:buNone/>
              <a:tabLst>
                <a:tab pos="269875" algn="l"/>
              </a:tabLst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None/>
              <a:defRPr sz="1600" b="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285750" indent="-28575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1463" indent="-271463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rabicPeriod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2">
              <a:lnSpc>
                <a:spcPct val="130000"/>
              </a:lnSpc>
            </a:pPr>
            <a:r>
              <a:rPr lang="ru-RU" sz="1200" dirty="0"/>
              <a:t>Рисунок 1. Макеты страниц презентации</a:t>
            </a:r>
          </a:p>
        </p:txBody>
      </p:sp>
      <p:sp>
        <p:nvSpPr>
          <p:cNvPr id="12" name="Текст 4">
            <a:extLst>
              <a:ext uri="{FF2B5EF4-FFF2-40B4-BE49-F238E27FC236}">
                <a16:creationId xmlns:a16="http://schemas.microsoft.com/office/drawing/2014/main" id="{04E6BB2B-7383-4D42-9F5F-A83C696F9B83}"/>
              </a:ext>
            </a:extLst>
          </p:cNvPr>
          <p:cNvSpPr txBox="1">
            <a:spLocks/>
          </p:cNvSpPr>
          <p:nvPr/>
        </p:nvSpPr>
        <p:spPr>
          <a:xfrm>
            <a:off x="6456362" y="4057155"/>
            <a:ext cx="4695900" cy="427577"/>
          </a:xfrm>
          <a:prstGeom prst="rect">
            <a:avLst/>
          </a:prstGeom>
        </p:spPr>
        <p:txBody>
          <a:bodyPr vert="horz" lIns="0" tIns="0" rIns="0" bIns="0" numCol="1" spcCol="720000" rtlCol="0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2000" kern="1200">
                <a:solidFill>
                  <a:schemeClr val="tx2">
                    <a:lumMod val="90000"/>
                    <a:lumOff val="1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50000"/>
                </a:schemeClr>
              </a:buClr>
              <a:buSzPct val="120000"/>
              <a:buFont typeface="Wingdings" panose="05000000000000000000" pitchFamily="2" charset="2"/>
              <a:buNone/>
              <a:defRPr sz="14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50000"/>
                </a:schemeClr>
              </a:buClr>
              <a:buFont typeface="+mj-lt"/>
              <a:buNone/>
              <a:tabLst>
                <a:tab pos="269875" algn="l"/>
              </a:tabLst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None/>
              <a:defRPr sz="1600" b="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285750" indent="-28575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1463" indent="-271463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rabicPeriod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2">
              <a:lnSpc>
                <a:spcPct val="130000"/>
              </a:lnSpc>
            </a:pPr>
            <a:r>
              <a:rPr lang="ru-RU" sz="1200" dirty="0"/>
              <a:t>Рисунок 2. Цветовая палитра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35487C46-CD15-46F8-AF80-5F1D2AB723D4}"/>
              </a:ext>
            </a:extLst>
          </p:cNvPr>
          <p:cNvSpPr/>
          <p:nvPr/>
        </p:nvSpPr>
        <p:spPr>
          <a:xfrm>
            <a:off x="7435850" y="1853118"/>
            <a:ext cx="1776975" cy="1965532"/>
          </a:xfrm>
          <a:prstGeom prst="rect">
            <a:avLst/>
          </a:prstGeom>
          <a:noFill/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sz="10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16173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8">
            <a:extLst>
              <a:ext uri="{FF2B5EF4-FFF2-40B4-BE49-F238E27FC236}">
                <a16:creationId xmlns:a16="http://schemas.microsoft.com/office/drawing/2014/main" id="{F629FCE6-17AE-4664-8F63-4E9A710F8C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Уровень 3. Фазовые равновесия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F49452D1-89AA-4C5A-88F0-499C88E1448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50864" y="1341438"/>
            <a:ext cx="5178484" cy="5040312"/>
          </a:xfrm>
        </p:spPr>
        <p:txBody>
          <a:bodyPr>
            <a:normAutofit fontScale="92500" lnSpcReduction="10000"/>
          </a:bodyPr>
          <a:lstStyle/>
          <a:p>
            <a:r>
              <a:t>• Правило фаз Гиббса: f = k - φ + 2</a:t>
            </a:r>
          </a:p>
          <a:p>
            <a:r>
              <a:t>• k — число компонентов, φ — число фаз.</a:t>
            </a:r>
          </a:p>
          <a:p>
            <a:r>
              <a:t>• P-T диаграмма воды: линии показывают условия, где две фазы существуют вместе.</a:t>
            </a:r>
          </a:p>
          <a:p>
            <a:r>
              <a:t>• Тройная точка (0.01 °C) — сосуществуют сразу 3 фазы (f = 0).</a:t>
            </a:r>
          </a:p>
        </p:txBody>
      </p:sp>
      <p:sp>
        <p:nvSpPr>
          <p:cNvPr id="11" name="Текст 4">
            <a:extLst>
              <a:ext uri="{FF2B5EF4-FFF2-40B4-BE49-F238E27FC236}">
                <a16:creationId xmlns:a16="http://schemas.microsoft.com/office/drawing/2014/main" id="{1423116A-63CA-46CE-8EB6-1F415B1FB93B}"/>
              </a:ext>
            </a:extLst>
          </p:cNvPr>
          <p:cNvSpPr txBox="1">
            <a:spLocks/>
          </p:cNvSpPr>
          <p:nvPr/>
        </p:nvSpPr>
        <p:spPr>
          <a:xfrm>
            <a:off x="6456364" y="1286776"/>
            <a:ext cx="3249293" cy="427579"/>
          </a:xfrm>
          <a:prstGeom prst="rect">
            <a:avLst/>
          </a:prstGeom>
        </p:spPr>
        <p:txBody>
          <a:bodyPr vert="horz" lIns="0" tIns="0" rIns="0" bIns="0" numCol="1" spcCol="720000" rtlCol="0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2000" kern="1200">
                <a:solidFill>
                  <a:schemeClr val="tx2">
                    <a:lumMod val="90000"/>
                    <a:lumOff val="1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50000"/>
                </a:schemeClr>
              </a:buClr>
              <a:buSzPct val="120000"/>
              <a:buFont typeface="Wingdings" panose="05000000000000000000" pitchFamily="2" charset="2"/>
              <a:buNone/>
              <a:defRPr sz="14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50000"/>
                </a:schemeClr>
              </a:buClr>
              <a:buFont typeface="+mj-lt"/>
              <a:buNone/>
              <a:tabLst>
                <a:tab pos="269875" algn="l"/>
              </a:tabLst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None/>
              <a:defRPr sz="1600" b="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285750" indent="-28575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1463" indent="-271463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rabicPeriod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2">
              <a:lnSpc>
                <a:spcPct val="130000"/>
              </a:lnSpc>
            </a:pPr>
            <a:r>
              <a:rPr lang="ru-RU" sz="1200" dirty="0"/>
              <a:t>Рисунок 1. Макеты страниц презентации</a:t>
            </a:r>
          </a:p>
        </p:txBody>
      </p:sp>
      <p:sp>
        <p:nvSpPr>
          <p:cNvPr id="12" name="Текст 4">
            <a:extLst>
              <a:ext uri="{FF2B5EF4-FFF2-40B4-BE49-F238E27FC236}">
                <a16:creationId xmlns:a16="http://schemas.microsoft.com/office/drawing/2014/main" id="{04E6BB2B-7383-4D42-9F5F-A83C696F9B83}"/>
              </a:ext>
            </a:extLst>
          </p:cNvPr>
          <p:cNvSpPr txBox="1">
            <a:spLocks/>
          </p:cNvSpPr>
          <p:nvPr/>
        </p:nvSpPr>
        <p:spPr>
          <a:xfrm>
            <a:off x="6456362" y="4057155"/>
            <a:ext cx="4695900" cy="427577"/>
          </a:xfrm>
          <a:prstGeom prst="rect">
            <a:avLst/>
          </a:prstGeom>
        </p:spPr>
        <p:txBody>
          <a:bodyPr vert="horz" lIns="0" tIns="0" rIns="0" bIns="0" numCol="1" spcCol="720000" rtlCol="0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2000" kern="1200">
                <a:solidFill>
                  <a:schemeClr val="tx2">
                    <a:lumMod val="90000"/>
                    <a:lumOff val="1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50000"/>
                </a:schemeClr>
              </a:buClr>
              <a:buSzPct val="120000"/>
              <a:buFont typeface="Wingdings" panose="05000000000000000000" pitchFamily="2" charset="2"/>
              <a:buNone/>
              <a:defRPr sz="14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50000"/>
                </a:schemeClr>
              </a:buClr>
              <a:buFont typeface="+mj-lt"/>
              <a:buNone/>
              <a:tabLst>
                <a:tab pos="269875" algn="l"/>
              </a:tabLst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None/>
              <a:defRPr sz="1600" b="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285750" indent="-28575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1463" indent="-271463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rabicPeriod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2">
              <a:lnSpc>
                <a:spcPct val="130000"/>
              </a:lnSpc>
            </a:pPr>
            <a:r>
              <a:rPr lang="ru-RU" sz="1200" dirty="0"/>
              <a:t>Рисунок 2. Цветовая палитра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35487C46-CD15-46F8-AF80-5F1D2AB723D4}"/>
              </a:ext>
            </a:extLst>
          </p:cNvPr>
          <p:cNvSpPr/>
          <p:nvPr/>
        </p:nvSpPr>
        <p:spPr>
          <a:xfrm>
            <a:off x="7435850" y="1853118"/>
            <a:ext cx="1776975" cy="1965532"/>
          </a:xfrm>
          <a:prstGeom prst="rect">
            <a:avLst/>
          </a:prstGeom>
          <a:noFill/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sz="1000" dirty="0">
              <a:solidFill>
                <a:schemeClr val="tx2"/>
              </a:solidFill>
            </a:endParaRPr>
          </a:p>
        </p:txBody>
      </p:sp>
      <p:pic>
        <p:nvPicPr>
          <p:cNvPr id="15" name="Picture 14" descr="phase_wa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1371600"/>
            <a:ext cx="5486400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0496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8">
            <a:extLst>
              <a:ext uri="{FF2B5EF4-FFF2-40B4-BE49-F238E27FC236}">
                <a16:creationId xmlns:a16="http://schemas.microsoft.com/office/drawing/2014/main" id="{F629FCE6-17AE-4664-8F63-4E9A710F8C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Бинарные системы и Эвтектика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F49452D1-89AA-4C5A-88F0-499C88E1448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50864" y="1341438"/>
            <a:ext cx="5178484" cy="5040312"/>
          </a:xfrm>
        </p:spPr>
        <p:txBody>
          <a:bodyPr>
            <a:normAutofit fontScale="92500" lnSpcReduction="10000"/>
          </a:bodyPr>
          <a:lstStyle/>
          <a:p>
            <a:r>
              <a:t>• Смесь двух компонентов (например, металлов). k = 2.</a:t>
            </a:r>
          </a:p>
          <a:p>
            <a:r>
              <a:t>• Эвтектика — точка, где жидкость кристаллизуется сразу в две твердые фазы при минимальной температуре.</a:t>
            </a:r>
          </a:p>
          <a:p>
            <a:r>
              <a:t>• Правило рычага позволяет по графику определить долю каждой фазы в смеси.</a:t>
            </a:r>
          </a:p>
        </p:txBody>
      </p:sp>
      <p:sp>
        <p:nvSpPr>
          <p:cNvPr id="11" name="Текст 4">
            <a:extLst>
              <a:ext uri="{FF2B5EF4-FFF2-40B4-BE49-F238E27FC236}">
                <a16:creationId xmlns:a16="http://schemas.microsoft.com/office/drawing/2014/main" id="{1423116A-63CA-46CE-8EB6-1F415B1FB93B}"/>
              </a:ext>
            </a:extLst>
          </p:cNvPr>
          <p:cNvSpPr txBox="1">
            <a:spLocks/>
          </p:cNvSpPr>
          <p:nvPr/>
        </p:nvSpPr>
        <p:spPr>
          <a:xfrm>
            <a:off x="6456364" y="1286776"/>
            <a:ext cx="3249293" cy="427579"/>
          </a:xfrm>
          <a:prstGeom prst="rect">
            <a:avLst/>
          </a:prstGeom>
        </p:spPr>
        <p:txBody>
          <a:bodyPr vert="horz" lIns="0" tIns="0" rIns="0" bIns="0" numCol="1" spcCol="720000" rtlCol="0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2000" kern="1200">
                <a:solidFill>
                  <a:schemeClr val="tx2">
                    <a:lumMod val="90000"/>
                    <a:lumOff val="1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50000"/>
                </a:schemeClr>
              </a:buClr>
              <a:buSzPct val="120000"/>
              <a:buFont typeface="Wingdings" panose="05000000000000000000" pitchFamily="2" charset="2"/>
              <a:buNone/>
              <a:defRPr sz="14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50000"/>
                </a:schemeClr>
              </a:buClr>
              <a:buFont typeface="+mj-lt"/>
              <a:buNone/>
              <a:tabLst>
                <a:tab pos="269875" algn="l"/>
              </a:tabLst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None/>
              <a:defRPr sz="1600" b="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285750" indent="-28575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1463" indent="-271463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rabicPeriod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2">
              <a:lnSpc>
                <a:spcPct val="130000"/>
              </a:lnSpc>
            </a:pPr>
            <a:r>
              <a:rPr lang="ru-RU" sz="1200" dirty="0"/>
              <a:t>Рисунок 1. Макеты страниц презентации</a:t>
            </a:r>
          </a:p>
        </p:txBody>
      </p:sp>
      <p:sp>
        <p:nvSpPr>
          <p:cNvPr id="12" name="Текст 4">
            <a:extLst>
              <a:ext uri="{FF2B5EF4-FFF2-40B4-BE49-F238E27FC236}">
                <a16:creationId xmlns:a16="http://schemas.microsoft.com/office/drawing/2014/main" id="{04E6BB2B-7383-4D42-9F5F-A83C696F9B83}"/>
              </a:ext>
            </a:extLst>
          </p:cNvPr>
          <p:cNvSpPr txBox="1">
            <a:spLocks/>
          </p:cNvSpPr>
          <p:nvPr/>
        </p:nvSpPr>
        <p:spPr>
          <a:xfrm>
            <a:off x="6456362" y="4057155"/>
            <a:ext cx="4695900" cy="427577"/>
          </a:xfrm>
          <a:prstGeom prst="rect">
            <a:avLst/>
          </a:prstGeom>
        </p:spPr>
        <p:txBody>
          <a:bodyPr vert="horz" lIns="0" tIns="0" rIns="0" bIns="0" numCol="1" spcCol="720000" rtlCol="0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2000" kern="1200">
                <a:solidFill>
                  <a:schemeClr val="tx2">
                    <a:lumMod val="90000"/>
                    <a:lumOff val="1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50000"/>
                </a:schemeClr>
              </a:buClr>
              <a:buSzPct val="120000"/>
              <a:buFont typeface="Wingdings" panose="05000000000000000000" pitchFamily="2" charset="2"/>
              <a:buNone/>
              <a:defRPr sz="14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50000"/>
                </a:schemeClr>
              </a:buClr>
              <a:buFont typeface="+mj-lt"/>
              <a:buNone/>
              <a:tabLst>
                <a:tab pos="269875" algn="l"/>
              </a:tabLst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None/>
              <a:defRPr sz="1600" b="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285750" indent="-28575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1463" indent="-271463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rabicPeriod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2">
              <a:lnSpc>
                <a:spcPct val="130000"/>
              </a:lnSpc>
            </a:pPr>
            <a:r>
              <a:rPr lang="ru-RU" sz="1200" dirty="0"/>
              <a:t>Рисунок 2. Цветовая палитра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35487C46-CD15-46F8-AF80-5F1D2AB723D4}"/>
              </a:ext>
            </a:extLst>
          </p:cNvPr>
          <p:cNvSpPr/>
          <p:nvPr/>
        </p:nvSpPr>
        <p:spPr>
          <a:xfrm>
            <a:off x="7435850" y="1853118"/>
            <a:ext cx="1776975" cy="1965532"/>
          </a:xfrm>
          <a:prstGeom prst="rect">
            <a:avLst/>
          </a:prstGeom>
          <a:noFill/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sz="1000" dirty="0">
              <a:solidFill>
                <a:schemeClr val="tx2"/>
              </a:solidFill>
            </a:endParaRPr>
          </a:p>
        </p:txBody>
      </p:sp>
      <p:pic>
        <p:nvPicPr>
          <p:cNvPr id="15" name="Picture 14" descr="phase_eutecti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1371600"/>
            <a:ext cx="5486400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3198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8">
            <a:extLst>
              <a:ext uri="{FF2B5EF4-FFF2-40B4-BE49-F238E27FC236}">
                <a16:creationId xmlns:a16="http://schemas.microsoft.com/office/drawing/2014/main" id="{F629FCE6-17AE-4664-8F63-4E9A710F8C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Уровень 4. Наномир и Поверхностная энергия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F49452D1-89AA-4C5A-88F0-499C88E1448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50864" y="1341438"/>
            <a:ext cx="5178484" cy="5040312"/>
          </a:xfrm>
        </p:spPr>
        <p:txBody>
          <a:bodyPr>
            <a:normAutofit fontScale="92500" lnSpcReduction="10000"/>
          </a:bodyPr>
          <a:lstStyle/>
          <a:p>
            <a:r>
              <a:t>• Что происходит на границе раздела фаз?</a:t>
            </a:r>
          </a:p>
          <a:p>
            <a:r>
              <a:t>• Атомы на поверхности имеют оборванные связи (им не хватает соседей).</a:t>
            </a:r>
          </a:p>
          <a:p>
            <a:r>
              <a:t>• Это создает избыточную энергию — поверхностное натяжение σ.</a:t>
            </a:r>
          </a:p>
          <a:p>
            <a:r>
              <a:t>• Для наночастиц доля поверхностных атомов огромна!</a:t>
            </a:r>
          </a:p>
        </p:txBody>
      </p:sp>
      <p:sp>
        <p:nvSpPr>
          <p:cNvPr id="11" name="Текст 4">
            <a:extLst>
              <a:ext uri="{FF2B5EF4-FFF2-40B4-BE49-F238E27FC236}">
                <a16:creationId xmlns:a16="http://schemas.microsoft.com/office/drawing/2014/main" id="{1423116A-63CA-46CE-8EB6-1F415B1FB93B}"/>
              </a:ext>
            </a:extLst>
          </p:cNvPr>
          <p:cNvSpPr txBox="1">
            <a:spLocks/>
          </p:cNvSpPr>
          <p:nvPr/>
        </p:nvSpPr>
        <p:spPr>
          <a:xfrm>
            <a:off x="6456364" y="1286776"/>
            <a:ext cx="3249293" cy="427579"/>
          </a:xfrm>
          <a:prstGeom prst="rect">
            <a:avLst/>
          </a:prstGeom>
        </p:spPr>
        <p:txBody>
          <a:bodyPr vert="horz" lIns="0" tIns="0" rIns="0" bIns="0" numCol="1" spcCol="720000" rtlCol="0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2000" kern="1200">
                <a:solidFill>
                  <a:schemeClr val="tx2">
                    <a:lumMod val="90000"/>
                    <a:lumOff val="1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50000"/>
                </a:schemeClr>
              </a:buClr>
              <a:buSzPct val="120000"/>
              <a:buFont typeface="Wingdings" panose="05000000000000000000" pitchFamily="2" charset="2"/>
              <a:buNone/>
              <a:defRPr sz="14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50000"/>
                </a:schemeClr>
              </a:buClr>
              <a:buFont typeface="+mj-lt"/>
              <a:buNone/>
              <a:tabLst>
                <a:tab pos="269875" algn="l"/>
              </a:tabLst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None/>
              <a:defRPr sz="1600" b="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285750" indent="-28575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1463" indent="-271463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rabicPeriod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2">
              <a:lnSpc>
                <a:spcPct val="130000"/>
              </a:lnSpc>
            </a:pPr>
            <a:r>
              <a:rPr lang="ru-RU" sz="1200" dirty="0"/>
              <a:t>Рисунок 1. Макеты страниц презентации</a:t>
            </a:r>
          </a:p>
        </p:txBody>
      </p:sp>
      <p:sp>
        <p:nvSpPr>
          <p:cNvPr id="12" name="Текст 4">
            <a:extLst>
              <a:ext uri="{FF2B5EF4-FFF2-40B4-BE49-F238E27FC236}">
                <a16:creationId xmlns:a16="http://schemas.microsoft.com/office/drawing/2014/main" id="{04E6BB2B-7383-4D42-9F5F-A83C696F9B83}"/>
              </a:ext>
            </a:extLst>
          </p:cNvPr>
          <p:cNvSpPr txBox="1">
            <a:spLocks/>
          </p:cNvSpPr>
          <p:nvPr/>
        </p:nvSpPr>
        <p:spPr>
          <a:xfrm>
            <a:off x="6456362" y="4057155"/>
            <a:ext cx="4695900" cy="427577"/>
          </a:xfrm>
          <a:prstGeom prst="rect">
            <a:avLst/>
          </a:prstGeom>
        </p:spPr>
        <p:txBody>
          <a:bodyPr vert="horz" lIns="0" tIns="0" rIns="0" bIns="0" numCol="1" spcCol="720000" rtlCol="0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2000" kern="1200">
                <a:solidFill>
                  <a:schemeClr val="tx2">
                    <a:lumMod val="90000"/>
                    <a:lumOff val="1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50000"/>
                </a:schemeClr>
              </a:buClr>
              <a:buSzPct val="120000"/>
              <a:buFont typeface="Wingdings" panose="05000000000000000000" pitchFamily="2" charset="2"/>
              <a:buNone/>
              <a:defRPr sz="14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50000"/>
                </a:schemeClr>
              </a:buClr>
              <a:buFont typeface="+mj-lt"/>
              <a:buNone/>
              <a:tabLst>
                <a:tab pos="269875" algn="l"/>
              </a:tabLst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None/>
              <a:defRPr sz="1600" b="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285750" indent="-28575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1463" indent="-271463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rabicPeriod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2">
              <a:lnSpc>
                <a:spcPct val="130000"/>
              </a:lnSpc>
            </a:pPr>
            <a:r>
              <a:rPr lang="ru-RU" sz="1200" dirty="0"/>
              <a:t>Рисунок 2. Цветовая палитра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35487C46-CD15-46F8-AF80-5F1D2AB723D4}"/>
              </a:ext>
            </a:extLst>
          </p:cNvPr>
          <p:cNvSpPr/>
          <p:nvPr/>
        </p:nvSpPr>
        <p:spPr>
          <a:xfrm>
            <a:off x="7435850" y="1853118"/>
            <a:ext cx="1776975" cy="1965532"/>
          </a:xfrm>
          <a:prstGeom prst="rect">
            <a:avLst/>
          </a:prstGeom>
          <a:noFill/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sz="1000" dirty="0">
              <a:solidFill>
                <a:schemeClr val="tx2"/>
              </a:solidFill>
            </a:endParaRPr>
          </a:p>
        </p:txBody>
      </p:sp>
      <p:pic>
        <p:nvPicPr>
          <p:cNvPr id="15" name="Picture 14" descr="chart_surface_energ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1371600"/>
            <a:ext cx="5486400" cy="3521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25941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8">
            <a:extLst>
              <a:ext uri="{FF2B5EF4-FFF2-40B4-BE49-F238E27FC236}">
                <a16:creationId xmlns:a16="http://schemas.microsoft.com/office/drawing/2014/main" id="{F629FCE6-17AE-4664-8F63-4E9A710F8C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Зародышеобразование (Барьер)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F49452D1-89AA-4C5A-88F0-499C88E1448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50864" y="1341438"/>
            <a:ext cx="5178484" cy="5040312"/>
          </a:xfrm>
        </p:spPr>
        <p:txBody>
          <a:bodyPr>
            <a:normAutofit fontScale="92500" lnSpcReduction="10000"/>
          </a:bodyPr>
          <a:lstStyle/>
          <a:p>
            <a:r>
              <a:t>• При кристаллизации объем новой фазы дает выигрыш энергии (ΔG_v &lt; 0).</a:t>
            </a:r>
          </a:p>
          <a:p>
            <a:r>
              <a:t>• Но создание новой поверхности требует затрат энергии (σ &gt; 0).</a:t>
            </a:r>
          </a:p>
          <a:p>
            <a:r>
              <a:t>• Возникает барьер. Только частицы крупнее критического радиуса r* могут стабильно расти.</a:t>
            </a:r>
          </a:p>
        </p:txBody>
      </p:sp>
      <p:sp>
        <p:nvSpPr>
          <p:cNvPr id="11" name="Текст 4">
            <a:extLst>
              <a:ext uri="{FF2B5EF4-FFF2-40B4-BE49-F238E27FC236}">
                <a16:creationId xmlns:a16="http://schemas.microsoft.com/office/drawing/2014/main" id="{1423116A-63CA-46CE-8EB6-1F415B1FB93B}"/>
              </a:ext>
            </a:extLst>
          </p:cNvPr>
          <p:cNvSpPr txBox="1">
            <a:spLocks/>
          </p:cNvSpPr>
          <p:nvPr/>
        </p:nvSpPr>
        <p:spPr>
          <a:xfrm>
            <a:off x="6456364" y="1286776"/>
            <a:ext cx="3249293" cy="427579"/>
          </a:xfrm>
          <a:prstGeom prst="rect">
            <a:avLst/>
          </a:prstGeom>
        </p:spPr>
        <p:txBody>
          <a:bodyPr vert="horz" lIns="0" tIns="0" rIns="0" bIns="0" numCol="1" spcCol="720000" rtlCol="0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2000" kern="1200">
                <a:solidFill>
                  <a:schemeClr val="tx2">
                    <a:lumMod val="90000"/>
                    <a:lumOff val="1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50000"/>
                </a:schemeClr>
              </a:buClr>
              <a:buSzPct val="120000"/>
              <a:buFont typeface="Wingdings" panose="05000000000000000000" pitchFamily="2" charset="2"/>
              <a:buNone/>
              <a:defRPr sz="14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50000"/>
                </a:schemeClr>
              </a:buClr>
              <a:buFont typeface="+mj-lt"/>
              <a:buNone/>
              <a:tabLst>
                <a:tab pos="269875" algn="l"/>
              </a:tabLst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None/>
              <a:defRPr sz="1600" b="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285750" indent="-28575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1463" indent="-271463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rabicPeriod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2">
              <a:lnSpc>
                <a:spcPct val="130000"/>
              </a:lnSpc>
            </a:pPr>
            <a:r>
              <a:rPr lang="ru-RU" sz="1200" dirty="0"/>
              <a:t>Рисунок 1. Макеты страниц презентации</a:t>
            </a:r>
          </a:p>
        </p:txBody>
      </p:sp>
      <p:sp>
        <p:nvSpPr>
          <p:cNvPr id="12" name="Текст 4">
            <a:extLst>
              <a:ext uri="{FF2B5EF4-FFF2-40B4-BE49-F238E27FC236}">
                <a16:creationId xmlns:a16="http://schemas.microsoft.com/office/drawing/2014/main" id="{04E6BB2B-7383-4D42-9F5F-A83C696F9B83}"/>
              </a:ext>
            </a:extLst>
          </p:cNvPr>
          <p:cNvSpPr txBox="1">
            <a:spLocks/>
          </p:cNvSpPr>
          <p:nvPr/>
        </p:nvSpPr>
        <p:spPr>
          <a:xfrm>
            <a:off x="6456362" y="4057155"/>
            <a:ext cx="4695900" cy="427577"/>
          </a:xfrm>
          <a:prstGeom prst="rect">
            <a:avLst/>
          </a:prstGeom>
        </p:spPr>
        <p:txBody>
          <a:bodyPr vert="horz" lIns="0" tIns="0" rIns="0" bIns="0" numCol="1" spcCol="720000" rtlCol="0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2000" kern="1200">
                <a:solidFill>
                  <a:schemeClr val="tx2">
                    <a:lumMod val="90000"/>
                    <a:lumOff val="1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50000"/>
                </a:schemeClr>
              </a:buClr>
              <a:buSzPct val="120000"/>
              <a:buFont typeface="Wingdings" panose="05000000000000000000" pitchFamily="2" charset="2"/>
              <a:buNone/>
              <a:defRPr sz="14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50000"/>
                </a:schemeClr>
              </a:buClr>
              <a:buFont typeface="+mj-lt"/>
              <a:buNone/>
              <a:tabLst>
                <a:tab pos="269875" algn="l"/>
              </a:tabLst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None/>
              <a:defRPr sz="1600" b="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285750" indent="-28575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1463" indent="-271463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rabicPeriod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2">
              <a:lnSpc>
                <a:spcPct val="130000"/>
              </a:lnSpc>
            </a:pPr>
            <a:r>
              <a:rPr lang="ru-RU" sz="1200" dirty="0"/>
              <a:t>Рисунок 2. Цветовая палитра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35487C46-CD15-46F8-AF80-5F1D2AB723D4}"/>
              </a:ext>
            </a:extLst>
          </p:cNvPr>
          <p:cNvSpPr/>
          <p:nvPr/>
        </p:nvSpPr>
        <p:spPr>
          <a:xfrm>
            <a:off x="7435850" y="1853118"/>
            <a:ext cx="1776975" cy="1965532"/>
          </a:xfrm>
          <a:prstGeom prst="rect">
            <a:avLst/>
          </a:prstGeom>
          <a:noFill/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sz="1000" dirty="0">
              <a:solidFill>
                <a:schemeClr val="tx2"/>
              </a:solidFill>
            </a:endParaRPr>
          </a:p>
        </p:txBody>
      </p:sp>
      <p:pic>
        <p:nvPicPr>
          <p:cNvPr id="15" name="Picture 14" descr="chart_nucle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1371600"/>
            <a:ext cx="5486400" cy="3545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74950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8">
            <a:extLst>
              <a:ext uri="{FF2B5EF4-FFF2-40B4-BE49-F238E27FC236}">
                <a16:creationId xmlns:a16="http://schemas.microsoft.com/office/drawing/2014/main" id="{F629FCE6-17AE-4664-8F63-4E9A710F8C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Размерный эффект плавления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F49452D1-89AA-4C5A-88F0-499C88E1448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50864" y="1341438"/>
            <a:ext cx="5178484" cy="5040312"/>
          </a:xfrm>
        </p:spPr>
        <p:txBody>
          <a:bodyPr>
            <a:normAutofit fontScale="92500" lnSpcReduction="10000"/>
          </a:bodyPr>
          <a:lstStyle/>
          <a:p>
            <a:r>
              <a:t>• Эффект Гиббса-Томсона.</a:t>
            </a:r>
          </a:p>
          <a:p>
            <a:r>
              <a:t>• Из-за огромного искривления поверхности наночастицы испытывают колоссальное внутреннее давление (давление Лапласа).</a:t>
            </a:r>
          </a:p>
          <a:p>
            <a:r>
              <a:t>• Это буквально "выдавливает" атомы из решетки при нагреве.</a:t>
            </a:r>
          </a:p>
        </p:txBody>
      </p:sp>
      <p:sp>
        <p:nvSpPr>
          <p:cNvPr id="11" name="Текст 4">
            <a:extLst>
              <a:ext uri="{FF2B5EF4-FFF2-40B4-BE49-F238E27FC236}">
                <a16:creationId xmlns:a16="http://schemas.microsoft.com/office/drawing/2014/main" id="{1423116A-63CA-46CE-8EB6-1F415B1FB93B}"/>
              </a:ext>
            </a:extLst>
          </p:cNvPr>
          <p:cNvSpPr txBox="1">
            <a:spLocks/>
          </p:cNvSpPr>
          <p:nvPr/>
        </p:nvSpPr>
        <p:spPr>
          <a:xfrm>
            <a:off x="6456364" y="1286776"/>
            <a:ext cx="3249293" cy="427579"/>
          </a:xfrm>
          <a:prstGeom prst="rect">
            <a:avLst/>
          </a:prstGeom>
        </p:spPr>
        <p:txBody>
          <a:bodyPr vert="horz" lIns="0" tIns="0" rIns="0" bIns="0" numCol="1" spcCol="720000" rtlCol="0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2000" kern="1200">
                <a:solidFill>
                  <a:schemeClr val="tx2">
                    <a:lumMod val="90000"/>
                    <a:lumOff val="1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50000"/>
                </a:schemeClr>
              </a:buClr>
              <a:buSzPct val="120000"/>
              <a:buFont typeface="Wingdings" panose="05000000000000000000" pitchFamily="2" charset="2"/>
              <a:buNone/>
              <a:defRPr sz="14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50000"/>
                </a:schemeClr>
              </a:buClr>
              <a:buFont typeface="+mj-lt"/>
              <a:buNone/>
              <a:tabLst>
                <a:tab pos="269875" algn="l"/>
              </a:tabLst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None/>
              <a:defRPr sz="1600" b="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285750" indent="-28575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1463" indent="-271463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rabicPeriod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2">
              <a:lnSpc>
                <a:spcPct val="130000"/>
              </a:lnSpc>
            </a:pPr>
            <a:r>
              <a:rPr lang="ru-RU" sz="1200" dirty="0"/>
              <a:t>Рисунок 1. Макеты страниц презентации</a:t>
            </a:r>
          </a:p>
        </p:txBody>
      </p:sp>
      <p:sp>
        <p:nvSpPr>
          <p:cNvPr id="12" name="Текст 4">
            <a:extLst>
              <a:ext uri="{FF2B5EF4-FFF2-40B4-BE49-F238E27FC236}">
                <a16:creationId xmlns:a16="http://schemas.microsoft.com/office/drawing/2014/main" id="{04E6BB2B-7383-4D42-9F5F-A83C696F9B83}"/>
              </a:ext>
            </a:extLst>
          </p:cNvPr>
          <p:cNvSpPr txBox="1">
            <a:spLocks/>
          </p:cNvSpPr>
          <p:nvPr/>
        </p:nvSpPr>
        <p:spPr>
          <a:xfrm>
            <a:off x="6456362" y="4057155"/>
            <a:ext cx="4695900" cy="427577"/>
          </a:xfrm>
          <a:prstGeom prst="rect">
            <a:avLst/>
          </a:prstGeom>
        </p:spPr>
        <p:txBody>
          <a:bodyPr vert="horz" lIns="0" tIns="0" rIns="0" bIns="0" numCol="1" spcCol="720000" rtlCol="0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2000" kern="1200">
                <a:solidFill>
                  <a:schemeClr val="tx2">
                    <a:lumMod val="90000"/>
                    <a:lumOff val="1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50000"/>
                </a:schemeClr>
              </a:buClr>
              <a:buSzPct val="120000"/>
              <a:buFont typeface="Wingdings" panose="05000000000000000000" pitchFamily="2" charset="2"/>
              <a:buNone/>
              <a:defRPr sz="14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50000"/>
                </a:schemeClr>
              </a:buClr>
              <a:buFont typeface="+mj-lt"/>
              <a:buNone/>
              <a:tabLst>
                <a:tab pos="269875" algn="l"/>
              </a:tabLst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None/>
              <a:defRPr sz="1600" b="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285750" indent="-28575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1463" indent="-271463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rabicPeriod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2">
              <a:lnSpc>
                <a:spcPct val="130000"/>
              </a:lnSpc>
            </a:pPr>
            <a:r>
              <a:rPr lang="ru-RU" sz="1200" dirty="0"/>
              <a:t>Рисунок 2. Цветовая палитра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35487C46-CD15-46F8-AF80-5F1D2AB723D4}"/>
              </a:ext>
            </a:extLst>
          </p:cNvPr>
          <p:cNvSpPr/>
          <p:nvPr/>
        </p:nvSpPr>
        <p:spPr>
          <a:xfrm>
            <a:off x="7435850" y="1853118"/>
            <a:ext cx="1776975" cy="1965532"/>
          </a:xfrm>
          <a:prstGeom prst="rect">
            <a:avLst/>
          </a:prstGeom>
          <a:noFill/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sz="10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72347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8">
            <a:extLst>
              <a:ext uri="{FF2B5EF4-FFF2-40B4-BE49-F238E27FC236}">
                <a16:creationId xmlns:a16="http://schemas.microsoft.com/office/drawing/2014/main" id="{F629FCE6-17AE-4664-8F63-4E9A710F8C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Связь с практикой (Синтез в лаборатории)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F49452D1-89AA-4C5A-88F0-499C88E1448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50864" y="1341438"/>
            <a:ext cx="5178484" cy="5040312"/>
          </a:xfrm>
        </p:spPr>
        <p:txBody>
          <a:bodyPr>
            <a:normAutofit fontScale="92500" lnSpcReduction="10000"/>
          </a:bodyPr>
          <a:lstStyle/>
          <a:p>
            <a:r>
              <a:t>• График показывает, что наночастицы золота (&lt; 5 нм) плавятся при 380 °C вместо 1064 °C!</a:t>
            </a:r>
          </a:p>
          <a:p>
            <a:r>
              <a:t>• Эти термодинамические эффекты — фундамент ваших лабораторных работ №1-3.</a:t>
            </a:r>
          </a:p>
          <a:p>
            <a:r>
              <a:t>• Мы управляем барьером зародышеобразования, чтобы получить частицы нужного размера.</a:t>
            </a:r>
          </a:p>
        </p:txBody>
      </p:sp>
      <p:sp>
        <p:nvSpPr>
          <p:cNvPr id="11" name="Текст 4">
            <a:extLst>
              <a:ext uri="{FF2B5EF4-FFF2-40B4-BE49-F238E27FC236}">
                <a16:creationId xmlns:a16="http://schemas.microsoft.com/office/drawing/2014/main" id="{1423116A-63CA-46CE-8EB6-1F415B1FB93B}"/>
              </a:ext>
            </a:extLst>
          </p:cNvPr>
          <p:cNvSpPr txBox="1">
            <a:spLocks/>
          </p:cNvSpPr>
          <p:nvPr/>
        </p:nvSpPr>
        <p:spPr>
          <a:xfrm>
            <a:off x="6456364" y="1286776"/>
            <a:ext cx="3249293" cy="427579"/>
          </a:xfrm>
          <a:prstGeom prst="rect">
            <a:avLst/>
          </a:prstGeom>
        </p:spPr>
        <p:txBody>
          <a:bodyPr vert="horz" lIns="0" tIns="0" rIns="0" bIns="0" numCol="1" spcCol="720000" rtlCol="0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2000" kern="1200">
                <a:solidFill>
                  <a:schemeClr val="tx2">
                    <a:lumMod val="90000"/>
                    <a:lumOff val="1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50000"/>
                </a:schemeClr>
              </a:buClr>
              <a:buSzPct val="120000"/>
              <a:buFont typeface="Wingdings" panose="05000000000000000000" pitchFamily="2" charset="2"/>
              <a:buNone/>
              <a:defRPr sz="14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50000"/>
                </a:schemeClr>
              </a:buClr>
              <a:buFont typeface="+mj-lt"/>
              <a:buNone/>
              <a:tabLst>
                <a:tab pos="269875" algn="l"/>
              </a:tabLst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None/>
              <a:defRPr sz="1600" b="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285750" indent="-28575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1463" indent="-271463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rabicPeriod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2">
              <a:lnSpc>
                <a:spcPct val="130000"/>
              </a:lnSpc>
            </a:pPr>
            <a:r>
              <a:rPr lang="ru-RU" sz="1200" dirty="0"/>
              <a:t>Рисунок 1. Макеты страниц презентации</a:t>
            </a:r>
          </a:p>
        </p:txBody>
      </p:sp>
      <p:sp>
        <p:nvSpPr>
          <p:cNvPr id="12" name="Текст 4">
            <a:extLst>
              <a:ext uri="{FF2B5EF4-FFF2-40B4-BE49-F238E27FC236}">
                <a16:creationId xmlns:a16="http://schemas.microsoft.com/office/drawing/2014/main" id="{04E6BB2B-7383-4D42-9F5F-A83C696F9B83}"/>
              </a:ext>
            </a:extLst>
          </p:cNvPr>
          <p:cNvSpPr txBox="1">
            <a:spLocks/>
          </p:cNvSpPr>
          <p:nvPr/>
        </p:nvSpPr>
        <p:spPr>
          <a:xfrm>
            <a:off x="6456362" y="4057155"/>
            <a:ext cx="4695900" cy="427577"/>
          </a:xfrm>
          <a:prstGeom prst="rect">
            <a:avLst/>
          </a:prstGeom>
        </p:spPr>
        <p:txBody>
          <a:bodyPr vert="horz" lIns="0" tIns="0" rIns="0" bIns="0" numCol="1" spcCol="720000" rtlCol="0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2000" kern="1200">
                <a:solidFill>
                  <a:schemeClr val="tx2">
                    <a:lumMod val="90000"/>
                    <a:lumOff val="1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50000"/>
                </a:schemeClr>
              </a:buClr>
              <a:buSzPct val="120000"/>
              <a:buFont typeface="Wingdings" panose="05000000000000000000" pitchFamily="2" charset="2"/>
              <a:buNone/>
              <a:defRPr sz="14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50000"/>
                </a:schemeClr>
              </a:buClr>
              <a:buFont typeface="+mj-lt"/>
              <a:buNone/>
              <a:tabLst>
                <a:tab pos="269875" algn="l"/>
              </a:tabLst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None/>
              <a:defRPr sz="1600" b="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285750" indent="-28575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1463" indent="-271463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rabicPeriod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2">
              <a:lnSpc>
                <a:spcPct val="130000"/>
              </a:lnSpc>
            </a:pPr>
            <a:r>
              <a:rPr lang="ru-RU" sz="1200" dirty="0"/>
              <a:t>Рисунок 2. Цветовая палитра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35487C46-CD15-46F8-AF80-5F1D2AB723D4}"/>
              </a:ext>
            </a:extLst>
          </p:cNvPr>
          <p:cNvSpPr/>
          <p:nvPr/>
        </p:nvSpPr>
        <p:spPr>
          <a:xfrm>
            <a:off x="7435850" y="1853118"/>
            <a:ext cx="1776975" cy="1965532"/>
          </a:xfrm>
          <a:prstGeom prst="rect">
            <a:avLst/>
          </a:prstGeom>
          <a:noFill/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sz="1000" dirty="0">
              <a:solidFill>
                <a:schemeClr val="tx2"/>
              </a:solidFill>
            </a:endParaRPr>
          </a:p>
        </p:txBody>
      </p:sp>
      <p:pic>
        <p:nvPicPr>
          <p:cNvPr id="15" name="Picture 14" descr="chart_gibbs_thom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1371600"/>
            <a:ext cx="5486400" cy="3545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557919"/>
      </p:ext>
    </p:extLst>
  </p:cSld>
  <p:clrMapOvr>
    <a:masterClrMapping/>
  </p:clrMapOvr>
</p:sld>
</file>

<file path=ppt/theme/theme1.xml><?xml version="1.0" encoding="utf-8"?>
<a:theme xmlns:a="http://schemas.openxmlformats.org/drawingml/2006/main" name="Титульная страница">
  <a:themeElements>
    <a:clrScheme name="Палитра ГУАП">
      <a:dk1>
        <a:srgbClr val="242834"/>
      </a:dk1>
      <a:lt1>
        <a:srgbClr val="FFFFFF"/>
      </a:lt1>
      <a:dk2>
        <a:srgbClr val="002C5F"/>
      </a:dk2>
      <a:lt2>
        <a:srgbClr val="FFFFFF"/>
      </a:lt2>
      <a:accent1>
        <a:srgbClr val="005AAA"/>
      </a:accent1>
      <a:accent2>
        <a:srgbClr val="E70F47"/>
      </a:accent2>
      <a:accent3>
        <a:srgbClr val="00BEF3"/>
      </a:accent3>
      <a:accent4>
        <a:srgbClr val="9269C9"/>
      </a:accent4>
      <a:accent5>
        <a:srgbClr val="FF6418"/>
      </a:accent5>
      <a:accent6>
        <a:srgbClr val="009A49"/>
      </a:accent6>
      <a:hlink>
        <a:srgbClr val="4E41CC"/>
      </a:hlink>
      <a:folHlink>
        <a:srgbClr val="D65D86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ГУАП презентация курса.potx" id="{0DF838E0-DD05-488A-AC6B-E98ACB4C24AD}" vid="{75426110-BF82-4921-B51E-81780A536C48}"/>
    </a:ext>
  </a:extLst>
</a:theme>
</file>

<file path=ppt/theme/theme2.xml><?xml version="1.0" encoding="utf-8"?>
<a:theme xmlns:a="http://schemas.openxmlformats.org/drawingml/2006/main" name="Текстовые блоки">
  <a:themeElements>
    <a:clrScheme name="Палитра ГУАП">
      <a:dk1>
        <a:srgbClr val="242834"/>
      </a:dk1>
      <a:lt1>
        <a:srgbClr val="FFFFFF"/>
      </a:lt1>
      <a:dk2>
        <a:srgbClr val="002C5F"/>
      </a:dk2>
      <a:lt2>
        <a:srgbClr val="FFFFFF"/>
      </a:lt2>
      <a:accent1>
        <a:srgbClr val="005AAA"/>
      </a:accent1>
      <a:accent2>
        <a:srgbClr val="E70F47"/>
      </a:accent2>
      <a:accent3>
        <a:srgbClr val="00BEF3"/>
      </a:accent3>
      <a:accent4>
        <a:srgbClr val="9269C9"/>
      </a:accent4>
      <a:accent5>
        <a:srgbClr val="FF6418"/>
      </a:accent5>
      <a:accent6>
        <a:srgbClr val="009A49"/>
      </a:accent6>
      <a:hlink>
        <a:srgbClr val="4E41CC"/>
      </a:hlink>
      <a:folHlink>
        <a:srgbClr val="D65D86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0">
              <a:schemeClr val="accent1">
                <a:tint val="66000"/>
                <a:satMod val="160000"/>
              </a:schemeClr>
            </a:gs>
            <a:gs pos="50000">
              <a:schemeClr val="accent1">
                <a:tint val="44500"/>
                <a:satMod val="160000"/>
              </a:schemeClr>
            </a:gs>
            <a:gs pos="100000">
              <a:schemeClr val="accent1">
                <a:tint val="23500"/>
                <a:satMod val="160000"/>
              </a:schemeClr>
            </a:gs>
          </a:gsLst>
          <a:lin ang="16200000" scaled="1"/>
          <a:tileRect/>
        </a:gradFill>
        <a:ln/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000" dirty="0">
            <a:solidFill>
              <a:schemeClr val="tx2"/>
            </a:solidFill>
          </a:defRPr>
        </a:defPPr>
      </a:lstStyle>
      <a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a:style>
    </a:spDef>
  </a:objectDefaults>
  <a:extraClrSchemeLst/>
  <a:extLst>
    <a:ext uri="{05A4C25C-085E-4340-85A3-A5531E510DB2}">
      <thm15:themeFamily xmlns:thm15="http://schemas.microsoft.com/office/thememl/2012/main" name="ГУАП презентация курса.potx" id="{0DF838E0-DD05-488A-AC6B-E98ACB4C24AD}" vid="{8C20C85A-CFD0-4C40-80A0-6689F915CE1B}"/>
    </a:ext>
  </a:extLst>
</a:theme>
</file>

<file path=ppt/theme/theme3.xml><?xml version="1.0" encoding="utf-8"?>
<a:theme xmlns:a="http://schemas.openxmlformats.org/drawingml/2006/main" name="Универсальные блоки - таблицы, рисунки, диаграммы">
  <a:themeElements>
    <a:clrScheme name="Палитра ГУАП">
      <a:dk1>
        <a:srgbClr val="242834"/>
      </a:dk1>
      <a:lt1>
        <a:srgbClr val="FFFFFF"/>
      </a:lt1>
      <a:dk2>
        <a:srgbClr val="002C5F"/>
      </a:dk2>
      <a:lt2>
        <a:srgbClr val="FFFFFF"/>
      </a:lt2>
      <a:accent1>
        <a:srgbClr val="005AAA"/>
      </a:accent1>
      <a:accent2>
        <a:srgbClr val="E70F47"/>
      </a:accent2>
      <a:accent3>
        <a:srgbClr val="00BEF3"/>
      </a:accent3>
      <a:accent4>
        <a:srgbClr val="9269C9"/>
      </a:accent4>
      <a:accent5>
        <a:srgbClr val="FF6418"/>
      </a:accent5>
      <a:accent6>
        <a:srgbClr val="009A49"/>
      </a:accent6>
      <a:hlink>
        <a:srgbClr val="4E41CC"/>
      </a:hlink>
      <a:folHlink>
        <a:srgbClr val="D65D86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0">
              <a:schemeClr val="accent1">
                <a:tint val="66000"/>
                <a:satMod val="160000"/>
              </a:schemeClr>
            </a:gs>
            <a:gs pos="50000">
              <a:schemeClr val="accent1">
                <a:tint val="44500"/>
                <a:satMod val="160000"/>
              </a:schemeClr>
            </a:gs>
            <a:gs pos="100000">
              <a:schemeClr val="accent1">
                <a:tint val="23500"/>
                <a:satMod val="160000"/>
              </a:schemeClr>
            </a:gs>
          </a:gsLst>
          <a:lin ang="16200000" scaled="1"/>
          <a:tileRect/>
        </a:gradFill>
        <a:ln/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000" dirty="0">
            <a:solidFill>
              <a:schemeClr val="tx2"/>
            </a:solidFill>
          </a:defRPr>
        </a:defPPr>
      </a:lstStyle>
      <a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a:style>
    </a:spDef>
  </a:objectDefaults>
  <a:extraClrSchemeLst/>
  <a:extLst>
    <a:ext uri="{05A4C25C-085E-4340-85A3-A5531E510DB2}">
      <thm15:themeFamily xmlns:thm15="http://schemas.microsoft.com/office/thememl/2012/main" name="ГУАП презентация курса.potx" id="{0DF838E0-DD05-488A-AC6B-E98ACB4C24AD}" vid="{001A831C-BEEC-4D03-A706-230513593B8E}"/>
    </a:ext>
  </a:extLst>
</a:theme>
</file>

<file path=ppt/theme/theme4.xml><?xml version="1.0" encoding="utf-8"?>
<a:theme xmlns:a="http://schemas.openxmlformats.org/drawingml/2006/main" name="Дополнительные блоки">
  <a:themeElements>
    <a:clrScheme name="Палитра ГУАП">
      <a:dk1>
        <a:srgbClr val="242834"/>
      </a:dk1>
      <a:lt1>
        <a:srgbClr val="FFFFFF"/>
      </a:lt1>
      <a:dk2>
        <a:srgbClr val="002C5F"/>
      </a:dk2>
      <a:lt2>
        <a:srgbClr val="FFFFFF"/>
      </a:lt2>
      <a:accent1>
        <a:srgbClr val="005AAA"/>
      </a:accent1>
      <a:accent2>
        <a:srgbClr val="E70F47"/>
      </a:accent2>
      <a:accent3>
        <a:srgbClr val="00BEF3"/>
      </a:accent3>
      <a:accent4>
        <a:srgbClr val="9269C9"/>
      </a:accent4>
      <a:accent5>
        <a:srgbClr val="FF6418"/>
      </a:accent5>
      <a:accent6>
        <a:srgbClr val="009A49"/>
      </a:accent6>
      <a:hlink>
        <a:srgbClr val="4E41CC"/>
      </a:hlink>
      <a:folHlink>
        <a:srgbClr val="D65D86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0">
              <a:schemeClr val="accent1">
                <a:tint val="66000"/>
                <a:satMod val="160000"/>
              </a:schemeClr>
            </a:gs>
            <a:gs pos="50000">
              <a:schemeClr val="accent1">
                <a:tint val="44500"/>
                <a:satMod val="160000"/>
              </a:schemeClr>
            </a:gs>
            <a:gs pos="100000">
              <a:schemeClr val="accent1">
                <a:tint val="23500"/>
                <a:satMod val="160000"/>
              </a:schemeClr>
            </a:gs>
          </a:gsLst>
          <a:lin ang="16200000" scaled="1"/>
          <a:tileRect/>
        </a:gradFill>
        <a:ln/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000" dirty="0">
            <a:solidFill>
              <a:schemeClr val="tx2"/>
            </a:solidFill>
          </a:defRPr>
        </a:defPPr>
      </a:lstStyle>
      <a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a:style>
    </a:spDef>
  </a:objectDefaults>
  <a:extraClrSchemeLst/>
  <a:extLst>
    <a:ext uri="{05A4C25C-085E-4340-85A3-A5531E510DB2}">
      <thm15:themeFamily xmlns:thm15="http://schemas.microsoft.com/office/thememl/2012/main" name="ГУАП презентация курса.potx" id="{0DF838E0-DD05-488A-AC6B-E98ACB4C24AD}" vid="{AFBC0B84-8B15-49D7-9C5E-B813409B8E8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ГУАП презентация курса - шаблон</Template>
  <TotalTime>160</TotalTime>
  <Words>647</Words>
  <Application>Microsoft Office PowerPoint</Application>
  <PresentationFormat>Широкоэкранный</PresentationFormat>
  <Paragraphs>81</Paragraphs>
  <Slides>11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4</vt:i4>
      </vt:variant>
      <vt:variant>
        <vt:lpstr>Заголовки слайдов</vt:lpstr>
      </vt:variant>
      <vt:variant>
        <vt:i4>11</vt:i4>
      </vt:variant>
    </vt:vector>
  </HeadingPairs>
  <TitlesOfParts>
    <vt:vector size="18" baseType="lpstr">
      <vt:lpstr>Calibri</vt:lpstr>
      <vt:lpstr>Wingdings</vt:lpstr>
      <vt:lpstr>Arial</vt:lpstr>
      <vt:lpstr>Титульная страница</vt:lpstr>
      <vt:lpstr>Текстовые блоки</vt:lpstr>
      <vt:lpstr>Универсальные блоки - таблицы, рисунки, диаграммы</vt:lpstr>
      <vt:lpstr>Дополнительные блоки</vt:lpstr>
      <vt:lpstr>Термодинамика наноструктур</vt:lpstr>
      <vt:lpstr>Уровень 1. Энергия, Теплота и Работа</vt:lpstr>
      <vt:lpstr>Начала термодинамики и Энтропия</vt:lpstr>
      <vt:lpstr>Уровень 2. Энергия Гиббса</vt:lpstr>
      <vt:lpstr>Химический потенциал и Равновесие</vt:lpstr>
      <vt:lpstr>Уровень 3. Фазовые равновесия</vt:lpstr>
      <vt:lpstr>Бинарные системы и Эвтектика</vt:lpstr>
      <vt:lpstr>Уровень 4. Наномир и Поверхностная энергия</vt:lpstr>
      <vt:lpstr>Зародышеобразование (Барьер)</vt:lpstr>
      <vt:lpstr>Размерный эффект плавления</vt:lpstr>
      <vt:lpstr>Связь с практикой (Синтез в лаборатории)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Фирменный стиль  презентаций</dc:title>
  <dc:subject/>
  <dc:creator>Алексей Малышев</dc:creator>
  <cp:keywords/>
  <dc:description/>
  <cp:lastModifiedBy>Дмитрий Попов</cp:lastModifiedBy>
  <cp:revision>4</cp:revision>
  <dcterms:created xsi:type="dcterms:W3CDTF">2023-06-16T08:15:39Z</dcterms:created>
  <dcterms:modified xsi:type="dcterms:W3CDTF">2026-09-16T07:25:41Z</dcterms:modified>
  <cp:category/>
</cp:coreProperties>
</file>