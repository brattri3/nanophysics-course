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43"/>
  </p:notesMasterIdLst>
  <p:handoutMasterIdLst>
    <p:handoutMasterId r:id="rId44"/>
  </p:handoutMasterIdLst>
  <p:sldIdLst>
    <p:sldId id="1171" r:id="rId5"/>
    <p:sldId id="1173" r:id="rId7"/>
    <p:sldId id="1207" r:id="rId8"/>
    <p:sldId id="1206" r:id="rId9"/>
    <p:sldId id="1205" r:id="rId10"/>
    <p:sldId id="1204" r:id="rId11"/>
    <p:sldId id="1203" r:id="rId12"/>
    <p:sldId id="1202" r:id="rId13"/>
    <p:sldId id="1201" r:id="rId14"/>
    <p:sldId id="1200" r:id="rId15"/>
    <p:sldId id="1199" r:id="rId16"/>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207"/>
            <p14:sldId id="1206"/>
            <p14:sldId id="1205"/>
            <p14:sldId id="1204"/>
            <p14:sldId id="1203"/>
            <p14:sldId id="1202"/>
            <p14:sldId id="1201"/>
            <p14:sldId id="1200"/>
            <p14:sldId id="1199"/>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35" autoAdjust="0"/>
    <p:restoredTop sz="90520" autoAdjust="0"/>
  </p:normalViewPr>
  <p:slideViewPr>
    <p:cSldViewPr snapToGrid="0" snapToObjects="1">
      <p:cViewPr varScale="1">
        <p:scale>
          <a:sx n="61" d="100"/>
          <a:sy n="61" d="100"/>
        </p:scale>
        <p:origin x="102" y="18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notesMaster" Target="notesMasters/notesMaster1.xml"/><Relationship Id="rId44" Type="http://schemas.openxmlformats.org/officeDocument/2006/relationships/handoutMaster" Target="handoutMasters/handoutMaster1.xml"/><Relationship Id="rId45" Type="http://schemas.openxmlformats.org/officeDocument/2006/relationships/commentAuthors" Target="commentAuthors.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7</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8</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9</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10</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13</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14</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15</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20</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21</a:t>
            </a:fld>
            <a:endParaRPr lang="ru-RU" dirty="0"/>
          </a:p>
        </p:txBody>
      </p:sp>
    </p:spTree>
    <p:extLst>
      <p:ext uri="{BB962C8B-B14F-4D97-AF65-F5344CB8AC3E}">
        <p14:creationId xmlns:p14="http://schemas.microsoft.com/office/powerpoint/2010/main" val="31794755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sv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svg"/><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sv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theme" Target="../theme/theme2.xml"/><Relationship Id="rId5" Type="http://schemas.openxmlformats.org/officeDocument/2006/relationships/image" Target="../media/image3.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slideLayout" Target="../slideLayouts/slideLayout6.xml"/><Relationship Id="rId3" Type="http://schemas.openxmlformats.org/officeDocument/2006/relationships/slideLayout" Target="../slideLayouts/slideLayout7.xml"/><Relationship Id="rId4" Type="http://schemas.openxmlformats.org/officeDocument/2006/relationships/slideLayout" Target="../slideLayouts/slideLayout8.xml"/><Relationship Id="rId5" Type="http://schemas.openxmlformats.org/officeDocument/2006/relationships/theme" Target="../theme/theme3.xml"/><Relationship Id="rId6" Type="http://schemas.openxmlformats.org/officeDocument/2006/relationships/image" Target="../media/image3.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theme" Target="../theme/theme4.xml"/><Relationship Id="rId8"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6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6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6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6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6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6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3.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jpg"/><Relationship Id="rId3" Type="http://schemas.openxmlformats.org/officeDocument/2006/relationships/image" Target="../media/image14.svg"/><Relationship Id="rId4" Type="http://schemas.openxmlformats.org/officeDocument/2006/relationships/image" Target="../media/image15.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jpg"/><Relationship Id="rId3" Type="http://schemas.openxmlformats.org/officeDocument/2006/relationships/image" Target="../media/image14.svg"/><Relationship Id="rId4" Type="http://schemas.openxmlformats.org/officeDocument/2006/relationships/image" Target="../media/image15.sv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svg"/><Relationship Id="rId3" Type="http://schemas.openxmlformats.org/officeDocument/2006/relationships/image" Target="../media/image17.svg"/><Relationship Id="rId4" Type="http://schemas.openxmlformats.org/officeDocument/2006/relationships/image" Target="../media/image18.svg"/><Relationship Id="rId5" Type="http://schemas.openxmlformats.org/officeDocument/2006/relationships/image" Target="../media/image19.svg"/><Relationship Id="rId6" Type="http://schemas.openxmlformats.org/officeDocument/2006/relationships/image" Target="../media/image20.svg"/><Relationship Id="rId7" Type="http://schemas.openxmlformats.org/officeDocument/2006/relationships/image" Target="../media/image21.svg"/><Relationship Id="rId8" Type="http://schemas.openxmlformats.org/officeDocument/2006/relationships/image" Target="../media/image22.svg"/><Relationship Id="rId9" Type="http://schemas.openxmlformats.org/officeDocument/2006/relationships/image" Target="../media/image23.svg"/><Relationship Id="rId10" Type="http://schemas.openxmlformats.org/officeDocument/2006/relationships/image" Target="../media/image24.svg"/><Relationship Id="rId11" Type="http://schemas.openxmlformats.org/officeDocument/2006/relationships/image" Target="../media/image25.svg"/><Relationship Id="rId12" Type="http://schemas.openxmlformats.org/officeDocument/2006/relationships/image" Target="../media/image26.svg"/><Relationship Id="rId13" Type="http://schemas.openxmlformats.org/officeDocument/2006/relationships/image" Target="../media/image27.svg"/><Relationship Id="rId14" Type="http://schemas.openxmlformats.org/officeDocument/2006/relationships/image" Target="../media/image28.svg"/><Relationship Id="rId15" Type="http://schemas.openxmlformats.org/officeDocument/2006/relationships/image" Target="../media/image29.svg"/><Relationship Id="rId16" Type="http://schemas.openxmlformats.org/officeDocument/2006/relationships/image" Target="../media/image30.svg"/><Relationship Id="rId17" Type="http://schemas.openxmlformats.org/officeDocument/2006/relationships/image" Target="../media/image31.svg"/><Relationship Id="rId18" Type="http://schemas.openxmlformats.org/officeDocument/2006/relationships/image" Target="../media/image32.svg"/><Relationship Id="rId19" Type="http://schemas.openxmlformats.org/officeDocument/2006/relationships/image" Target="../media/image33.svg"/><Relationship Id="rId20" Type="http://schemas.openxmlformats.org/officeDocument/2006/relationships/image" Target="../media/image34.svg"/><Relationship Id="rId21" Type="http://schemas.openxmlformats.org/officeDocument/2006/relationships/image" Target="../media/image35.svg"/><Relationship Id="rId22" Type="http://schemas.openxmlformats.org/officeDocument/2006/relationships/image" Target="../media/image36.svg"/><Relationship Id="rId23" Type="http://schemas.openxmlformats.org/officeDocument/2006/relationships/image" Target="../media/image37.svg"/><Relationship Id="rId24" Type="http://schemas.openxmlformats.org/officeDocument/2006/relationships/image" Target="../media/image38.svg"/><Relationship Id="rId25" Type="http://schemas.openxmlformats.org/officeDocument/2006/relationships/image" Target="../media/image39.sv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40.svg"/><Relationship Id="rId3" Type="http://schemas.openxmlformats.org/officeDocument/2006/relationships/image" Target="../media/image41.svg"/><Relationship Id="rId4" Type="http://schemas.openxmlformats.org/officeDocument/2006/relationships/image" Target="../media/image42.svg"/><Relationship Id="rId5" Type="http://schemas.openxmlformats.org/officeDocument/2006/relationships/image" Target="../media/image43.svg"/><Relationship Id="rId6" Type="http://schemas.openxmlformats.org/officeDocument/2006/relationships/image" Target="../media/image44.svg"/><Relationship Id="rId7" Type="http://schemas.openxmlformats.org/officeDocument/2006/relationships/image" Target="../media/image45.svg"/><Relationship Id="rId8" Type="http://schemas.openxmlformats.org/officeDocument/2006/relationships/image" Target="../media/image46.svg"/><Relationship Id="rId9" Type="http://schemas.openxmlformats.org/officeDocument/2006/relationships/image" Target="../media/image47.svg"/><Relationship Id="rId10" Type="http://schemas.openxmlformats.org/officeDocument/2006/relationships/image" Target="../media/image48.svg"/><Relationship Id="rId11" Type="http://schemas.openxmlformats.org/officeDocument/2006/relationships/image" Target="../media/image49.svg"/><Relationship Id="rId12" Type="http://schemas.openxmlformats.org/officeDocument/2006/relationships/image" Target="../media/image50.svg"/><Relationship Id="rId13" Type="http://schemas.openxmlformats.org/officeDocument/2006/relationships/image" Target="../media/image51.svg"/><Relationship Id="rId14" Type="http://schemas.openxmlformats.org/officeDocument/2006/relationships/image" Target="../media/image52.svg"/><Relationship Id="rId15" Type="http://schemas.openxmlformats.org/officeDocument/2006/relationships/image" Target="../media/image53.svg"/><Relationship Id="rId16" Type="http://schemas.openxmlformats.org/officeDocument/2006/relationships/image" Target="../media/image54.svg"/><Relationship Id="rId17" Type="http://schemas.openxmlformats.org/officeDocument/2006/relationships/image" Target="../media/image55.svg"/><Relationship Id="rId18" Type="http://schemas.openxmlformats.org/officeDocument/2006/relationships/image" Target="../media/image56.svg"/><Relationship Id="rId19" Type="http://schemas.openxmlformats.org/officeDocument/2006/relationships/image" Target="../media/image57.svg"/><Relationship Id="rId20" Type="http://schemas.openxmlformats.org/officeDocument/2006/relationships/image" Target="../media/image58.svg"/><Relationship Id="rId21" Type="http://schemas.openxmlformats.org/officeDocument/2006/relationships/image" Target="../media/image59.svg"/><Relationship Id="rId22" Type="http://schemas.openxmlformats.org/officeDocument/2006/relationships/image" Target="../media/image60.svg"/><Relationship Id="rId23" Type="http://schemas.openxmlformats.org/officeDocument/2006/relationships/image" Target="../media/image61.svg"/><Relationship Id="rId24" Type="http://schemas.openxmlformats.org/officeDocument/2006/relationships/image" Target="../media/image62.svg"/><Relationship Id="rId25" Type="http://schemas.openxmlformats.org/officeDocument/2006/relationships/image" Target="../media/image63.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t>Термодинамика наноструктур</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t>Лекция №2 (Расширенная)</a:t>
            </a:r>
          </a:p>
          <a:p>
            <a:r>
              <a:t>От основ до наномира</a:t>
            </a:r>
          </a:p>
          <a:p>
            <a:r>
              <a:t>Преподаватель: Попов Д.А.</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r>
              <a:t>2026</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Уровень 1. Энергия, Теплота и Работа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Внутренняя энергия U — сумма кинетической энергии молекул и потенциальной энергии их взаимодействия.</a:t>
            </a:r>
          </a:p>
          <a:p>
            <a:r>
              <a:t>• Теплота Q и Работа A — способы передачи энергии.</a:t>
            </a:r>
          </a:p>
          <a:p>
            <a:r>
              <a:t>• В школе мы изучали Q = cmΔT и A = FΔx.</a:t>
            </a:r>
          </a:p>
          <a:p>
            <a:r>
              <a:t>• В термодинамике они неразрывно связаны.</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Начала термодинамики и Энтропия</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Закон сохранения энергии (I начало): dQ = dU + dA</a:t>
            </a:r>
          </a:p>
          <a:p>
            <a:r>
              <a:t>• Почему тепло не идет от холодного к горячему?</a:t>
            </a:r>
          </a:p>
          <a:p>
            <a:r>
              <a:t>• Энтропия S — мера хаоса в системе.</a:t>
            </a:r>
          </a:p>
          <a:p>
            <a:r>
              <a:t>• Все системы стремятся увеличить свой хаос (II начало).</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Picture 14" descr="chart_entropy.png"/>
          <p:cNvPicPr>
            <a:picLocks noChangeAspect="1"/>
          </p:cNvPicPr>
          <p:nvPr/>
        </p:nvPicPr>
        <p:blipFill>
          <a:blip r:embed="rId5"/>
          <a:stretch>
            <a:fillRect/>
          </a:stretch>
        </p:blipFill>
        <p:spPr>
          <a:xfrm>
            <a:off x="5029200" y="1371600"/>
            <a:ext cx="5486400" cy="2708476"/>
          </a:xfrm>
          <a:prstGeom prst="rect">
            <a:avLst/>
          </a:prstGeom>
        </p:spPr>
      </p:pic>
    </p:spTree>
    <p:extLst>
      <p:ext uri="{BB962C8B-B14F-4D97-AF65-F5344CB8AC3E}">
        <p14:creationId xmlns:p14="http://schemas.microsoft.com/office/powerpoint/2010/main" val="4270557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Уровень 2. Энергия Гиббса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Как предсказать, пойдет ли реакция, не считая энтропию всей Вселенной?</a:t>
            </a:r>
          </a:p>
          <a:p>
            <a:r>
              <a:t>• G = H - TS (Энергия Гиббса)</a:t>
            </a:r>
          </a:p>
          <a:p>
            <a:r>
              <a:t>• Это баланс между стремлением к минимуму энергии (энтальпия H) и максимуму хаоса (энтропия S).</a:t>
            </a:r>
          </a:p>
          <a:p>
            <a:r>
              <a:t>• Процесс идет самопроизвольно, если ΔG &lt; 0.</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4103833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Химический потенциал и Равновесие</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Химический потенциал μ — это порция энергии Гиббса, приходящаяся на 1 моль вещества.</a:t>
            </a:r>
          </a:p>
          <a:p>
            <a:r>
              <a:t>• Почему лед плавится ровно при 0 °C?</a:t>
            </a:r>
          </a:p>
          <a:p>
            <a:r>
              <a:t>• При 0 °C химические потенциалы льда и жидкой воды равны: μ_solid = μ_liquid.</a:t>
            </a:r>
          </a:p>
          <a:p>
            <a:r>
              <a:t>• В равновесии система не хочет менять фазу.</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3001617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Уровень 3. Фазовые равновесия</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Правило фаз Гиббса: f = k - φ + 2</a:t>
            </a:r>
          </a:p>
          <a:p>
            <a:r>
              <a:t>• k — число компонентов, φ — число фаз.</a:t>
            </a:r>
          </a:p>
          <a:p>
            <a:r>
              <a:t>• P-T диаграмма воды: линии показывают условия, где две фазы существуют вместе.</a:t>
            </a:r>
          </a:p>
          <a:p>
            <a:r>
              <a:t>• Тройная точка (0.01 °C) — сосуществуют сразу 3 фазы (f = 0).</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Picture 14" descr="phase_water.png"/>
          <p:cNvPicPr>
            <a:picLocks noChangeAspect="1"/>
          </p:cNvPicPr>
          <p:nvPr/>
        </p:nvPicPr>
        <p:blipFill>
          <a:blip r:embed="rId5"/>
          <a:stretch>
            <a:fillRect/>
          </a:stretch>
        </p:blipFill>
        <p:spPr>
          <a:xfrm>
            <a:off x="5029200" y="1371600"/>
            <a:ext cx="5486400" cy="4114800"/>
          </a:xfrm>
          <a:prstGeom prst="rect">
            <a:avLst/>
          </a:prstGeom>
        </p:spPr>
      </p:pic>
    </p:spTree>
    <p:extLst>
      <p:ext uri="{BB962C8B-B14F-4D97-AF65-F5344CB8AC3E}">
        <p14:creationId xmlns:p14="http://schemas.microsoft.com/office/powerpoint/2010/main" val="890496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Бинарные системы и Эвтектика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Смесь двух компонентов (например, металлов). k = 2.</a:t>
            </a:r>
          </a:p>
          <a:p>
            <a:r>
              <a:t>• Эвтектика — точка, где жидкость кристаллизуется сразу в две твердые фазы при минимальной температуре.</a:t>
            </a:r>
          </a:p>
          <a:p>
            <a:r>
              <a:t>• Правило рычага позволяет по графику определить долю каждой фазы в смеси.</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Picture 14" descr="phase_eutectic.png"/>
          <p:cNvPicPr>
            <a:picLocks noChangeAspect="1"/>
          </p:cNvPicPr>
          <p:nvPr/>
        </p:nvPicPr>
        <p:blipFill>
          <a:blip r:embed="rId5"/>
          <a:stretch>
            <a:fillRect/>
          </a:stretch>
        </p:blipFill>
        <p:spPr>
          <a:xfrm>
            <a:off x="5029200" y="1371600"/>
            <a:ext cx="5486400" cy="4114800"/>
          </a:xfrm>
          <a:prstGeom prst="rect">
            <a:avLst/>
          </a:prstGeom>
        </p:spPr>
      </p:pic>
    </p:spTree>
    <p:extLst>
      <p:ext uri="{BB962C8B-B14F-4D97-AF65-F5344CB8AC3E}">
        <p14:creationId xmlns:p14="http://schemas.microsoft.com/office/powerpoint/2010/main" val="2503198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Уровень 4. Наномир и Поверхностная энергия</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Что происходит на границе раздела фаз?</a:t>
            </a:r>
          </a:p>
          <a:p>
            <a:r>
              <a:t>• Атомы на поверхности имеют оборванные связи (им не хватает соседей).</a:t>
            </a:r>
          </a:p>
          <a:p>
            <a:r>
              <a:t>• Это создает избыточную энергию — поверхностное натяжение σ.</a:t>
            </a:r>
          </a:p>
          <a:p>
            <a:r>
              <a:t>• Для наночастиц доля поверхностных атомов огромна!</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Picture 14" descr="chart_surface_energy.png"/>
          <p:cNvPicPr>
            <a:picLocks noChangeAspect="1"/>
          </p:cNvPicPr>
          <p:nvPr/>
        </p:nvPicPr>
        <p:blipFill>
          <a:blip r:embed="rId5"/>
          <a:stretch>
            <a:fillRect/>
          </a:stretch>
        </p:blipFill>
        <p:spPr>
          <a:xfrm>
            <a:off x="5029200" y="1371600"/>
            <a:ext cx="5486400" cy="3521215"/>
          </a:xfrm>
          <a:prstGeom prst="rect">
            <a:avLst/>
          </a:prstGeom>
        </p:spPr>
      </p:pic>
    </p:spTree>
    <p:extLst>
      <p:ext uri="{BB962C8B-B14F-4D97-AF65-F5344CB8AC3E}">
        <p14:creationId xmlns:p14="http://schemas.microsoft.com/office/powerpoint/2010/main" val="11325941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Зародышеобразование (Барьер)</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При кристаллизации объем новой фазы дает выигрыш энергии (ΔG_v &lt; 0).</a:t>
            </a:r>
          </a:p>
          <a:p>
            <a:r>
              <a:t>• Но создание новой поверхности требует затрат энергии (σ &gt; 0).</a:t>
            </a:r>
          </a:p>
          <a:p>
            <a:r>
              <a:t>• Возникает барьер. Только частицы крупнее критического радиуса r* могут стабильно расти.</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Picture 14" descr="chart_nucleation.png"/>
          <p:cNvPicPr>
            <a:picLocks noChangeAspect="1"/>
          </p:cNvPicPr>
          <p:nvPr/>
        </p:nvPicPr>
        <p:blipFill>
          <a:blip r:embed="rId5"/>
          <a:stretch>
            <a:fillRect/>
          </a:stretch>
        </p:blipFill>
        <p:spPr>
          <a:xfrm>
            <a:off x="5029200" y="1371600"/>
            <a:ext cx="5486400" cy="3545058"/>
          </a:xfrm>
          <a:prstGeom prst="rect">
            <a:avLst/>
          </a:prstGeom>
        </p:spPr>
      </p:pic>
    </p:spTree>
    <p:extLst>
      <p:ext uri="{BB962C8B-B14F-4D97-AF65-F5344CB8AC3E}">
        <p14:creationId xmlns:p14="http://schemas.microsoft.com/office/powerpoint/2010/main" val="3887495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Размерный эффект плавления</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Эффект Гиббса-Томсона.</a:t>
            </a:r>
          </a:p>
          <a:p>
            <a:r>
              <a:t>• Из-за огромного искривления поверхности наночастицы испытывают колоссальное внутреннее давление (давление Лапласа).</a:t>
            </a:r>
          </a:p>
          <a:p>
            <a:r>
              <a:t>• Это буквально "выдавливает" атомы из решетки при нагреве.</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8672347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t>Связь с практикой (Синтез в лаборатории)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t>• График показывает, что наночастицы золота (&lt; 5 нм) плавятся при 380 °C вместо 1064 °C!</a:t>
            </a:r>
          </a:p>
          <a:p>
            <a:r>
              <a:t>• Эти термодинамические эффекты — фундамент ваших лабораторных работ №1-3.</a:t>
            </a:r>
          </a:p>
          <a:p>
            <a:r>
              <a:t>• Мы управляем барьером зародышеобразования, чтобы получить частицы нужного размера.</a:t>
            </a:r>
          </a:p>
        </p:txBody>
      </p:sp>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Picture 14" descr="chart_gibbs_thomson.png"/>
          <p:cNvPicPr>
            <a:picLocks noChangeAspect="1"/>
          </p:cNvPicPr>
          <p:nvPr/>
        </p:nvPicPr>
        <p:blipFill>
          <a:blip r:embed="rId5"/>
          <a:stretch>
            <a:fillRect/>
          </a:stretch>
        </p:blipFill>
        <p:spPr>
          <a:xfrm>
            <a:off x="5029200" y="1371600"/>
            <a:ext cx="5486400" cy="3545058"/>
          </a:xfrm>
          <a:prstGeom prst="rect">
            <a:avLst/>
          </a:prstGeom>
        </p:spPr>
      </p:pic>
    </p:spTree>
    <p:extLst>
      <p:ext uri="{BB962C8B-B14F-4D97-AF65-F5344CB8AC3E}">
        <p14:creationId xmlns:p14="http://schemas.microsoft.com/office/powerpoint/2010/main" val="162557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2</TotalTime>
  <Words>2498</Words>
  <Application>Microsoft Office PowerPoint</Application>
  <PresentationFormat>Широкоэкранный</PresentationFormat>
  <Paragraphs>275</Paragraphs>
  <Slides>38</Slides>
  <Notes>16</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38</vt:i4>
      </vt:variant>
    </vt:vector>
  </HeadingPairs>
  <TitlesOfParts>
    <vt:vector size="45" baseType="lpstr">
      <vt:lpstr>Wingdings</vt:lpstr>
      <vt:lpstr>Arial</vt:lpstr>
      <vt:lpstr>Calibri</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макеты и цветовая палитра</vt:lpstr>
      <vt:lpstr>Основные правила: макеты и цветовая палитра</vt:lpstr>
      <vt:lpstr>Основные правила: макеты и цветовая палитра</vt:lpstr>
      <vt:lpstr>Основные правила: макеты и цветовая палитра</vt:lpstr>
      <vt:lpstr>Основные правила: макеты и цветовая палитра</vt:lpstr>
      <vt:lpstr>Основные правила: макеты и цветовая палитра</vt:lpstr>
      <vt:lpstr>Основные правила: макеты и цветовая палитра</vt:lpstr>
      <vt:lpstr>Основные правила: макеты и цветовая палитра</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3</cp:revision>
  <dcterms:created xsi:type="dcterms:W3CDTF">2023-06-16T08:15:39Z</dcterms:created>
  <dcterms:modified xsi:type="dcterms:W3CDTF">2026-09-16T00:02:50Z</dcterms:modified>
  <cp:category/>
</cp:coreProperties>
</file>